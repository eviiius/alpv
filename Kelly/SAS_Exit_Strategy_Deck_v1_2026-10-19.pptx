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2728A82-4E35-4F92-B39A-1E583D262425}">
          <p14:sldIdLst>
            <p14:sldId id="256"/>
            <p14:sldId id="257"/>
          </p14:sldIdLst>
        </p14:section>
        <p14:section name="The Exit Plan" id="{11665D47-8060-450E-B7CB-80F030945BAF}">
          <p14:sldIdLst>
            <p14:sldId id="258"/>
            <p14:sldId id="259"/>
            <p14:sldId id="270"/>
            <p14:sldId id="261"/>
            <p14:sldId id="262"/>
          </p14:sldIdLst>
        </p14:section>
        <p14:section name="Running It" id="{1EB2F9C4-8D45-446C-953D-F7508DF10CAD}">
          <p14:sldIdLst>
            <p14:sldId id="263"/>
            <p14:sldId id="264"/>
            <p14:sldId id="265"/>
            <p14:sldId id="266"/>
            <p14:sldId id="267"/>
          </p14:sldIdLst>
        </p14:section>
        <p14:section name="Appendix" id="{336BB4D9-1049-4793-882A-8E62F12E9317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5DEF66-B605-4A21-B0F8-707916684005}" v="1" dt="2026-10-20T03:39:36.7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0661" autoAdjust="0"/>
  </p:normalViewPr>
  <p:slideViewPr>
    <p:cSldViewPr snapToGrid="0" snapToObjects="1">
      <p:cViewPr varScale="1">
        <p:scale>
          <a:sx n="38" d="100"/>
          <a:sy n="38" d="100"/>
        </p:scale>
        <p:origin x="174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Sanchez" userId="26f73c70b2efd3e2" providerId="LiveId" clId="{66FAA10A-858A-4901-9BC4-4A708FC6DA4A}"/>
    <pc:docChg chg="undo custSel addSld delSld modSld addMainMaster delMainMaster modMainMaster delSection modSection modNotesMaster">
      <pc:chgData name="Victor Sanchez" userId="26f73c70b2efd3e2" providerId="LiveId" clId="{66FAA10A-858A-4901-9BC4-4A708FC6DA4A}" dt="2026-10-20T03:40:31.814" v="1584" actId="6549"/>
      <pc:docMkLst>
        <pc:docMk/>
      </pc:docMkLst>
      <pc:sldChg chg="modNotesTx">
        <pc:chgData name="Victor Sanchez" userId="26f73c70b2efd3e2" providerId="LiveId" clId="{66FAA10A-858A-4901-9BC4-4A708FC6DA4A}" dt="2026-10-20T03:39:54.187" v="1571" actId="6549"/>
        <pc:sldMkLst>
          <pc:docMk/>
          <pc:sldMk cId="0" sldId="256"/>
        </pc:sldMkLst>
      </pc:sldChg>
      <pc:sldChg chg="modSp mod modClrScheme chgLayout modNotesTx">
        <pc:chgData name="Victor Sanchez" userId="26f73c70b2efd3e2" providerId="LiveId" clId="{66FAA10A-858A-4901-9BC4-4A708FC6DA4A}" dt="2026-10-20T03:39:57.943" v="1572" actId="6549"/>
        <pc:sldMkLst>
          <pc:docMk/>
          <pc:sldMk cId="0" sldId="257"/>
        </pc:sldMkLst>
        <pc:spChg chg="mod">
          <ac:chgData name="Victor Sanchez" userId="26f73c70b2efd3e2" providerId="LiveId" clId="{66FAA10A-858A-4901-9BC4-4A708FC6DA4A}" dt="2026-10-15T23:27:47.068" v="87" actId="26606"/>
          <ac:spMkLst>
            <pc:docMk/>
            <pc:sldMk cId="0" sldId="257"/>
            <ac:spMk id="2" creationId="{00000000-0000-0000-0000-000000000000}"/>
          </ac:spMkLst>
        </pc:spChg>
      </pc:sldChg>
      <pc:sldChg chg="modSp mod modClrScheme chgLayout modNotesTx">
        <pc:chgData name="Victor Sanchez" userId="26f73c70b2efd3e2" providerId="LiveId" clId="{66FAA10A-858A-4901-9BC4-4A708FC6DA4A}" dt="2026-10-20T03:40:03.355" v="1573" actId="6549"/>
        <pc:sldMkLst>
          <pc:docMk/>
          <pc:sldMk cId="0" sldId="258"/>
        </pc:sldMkLst>
        <pc:spChg chg="mod">
          <ac:chgData name="Victor Sanchez" userId="26f73c70b2efd3e2" providerId="LiveId" clId="{66FAA10A-858A-4901-9BC4-4A708FC6DA4A}" dt="2026-10-15T23:27:47.068" v="87" actId="26606"/>
          <ac:spMkLst>
            <pc:docMk/>
            <pc:sldMk cId="0" sldId="258"/>
            <ac:spMk id="2" creationId="{00000000-0000-0000-0000-000000000000}"/>
          </ac:spMkLst>
        </pc:spChg>
      </pc:sldChg>
      <pc:sldChg chg="modSp mod modClrScheme chgLayout modNotesTx">
        <pc:chgData name="Victor Sanchez" userId="26f73c70b2efd3e2" providerId="LiveId" clId="{66FAA10A-858A-4901-9BC4-4A708FC6DA4A}" dt="2026-10-20T03:40:05.294" v="1574" actId="6549"/>
        <pc:sldMkLst>
          <pc:docMk/>
          <pc:sldMk cId="0" sldId="259"/>
        </pc:sldMkLst>
        <pc:spChg chg="mod">
          <ac:chgData name="Victor Sanchez" userId="26f73c70b2efd3e2" providerId="LiveId" clId="{66FAA10A-858A-4901-9BC4-4A708FC6DA4A}" dt="2026-10-15T23:27:47.068" v="87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Victor Sanchez" userId="26f73c70b2efd3e2" providerId="LiveId" clId="{66FAA10A-858A-4901-9BC4-4A708FC6DA4A}" dt="2026-10-20T03:23:47.120" v="1558" actId="20577"/>
          <ac:spMkLst>
            <pc:docMk/>
            <pc:sldMk cId="0" sldId="259"/>
            <ac:spMk id="226" creationId="{00000000-0000-0000-0000-000000000000}"/>
          </ac:spMkLst>
        </pc:spChg>
      </pc:sldChg>
      <pc:sldChg chg="modSp del mod modClrScheme chgLayout">
        <pc:chgData name="Victor Sanchez" userId="26f73c70b2efd3e2" providerId="LiveId" clId="{66FAA10A-858A-4901-9BC4-4A708FC6DA4A}" dt="2026-10-20T03:39:40.300" v="1570" actId="47"/>
        <pc:sldMkLst>
          <pc:docMk/>
          <pc:sldMk cId="0" sldId="260"/>
        </pc:sldMkLst>
      </pc:sldChg>
      <pc:sldChg chg="modSp mod modClrScheme chgLayout modNotesTx">
        <pc:chgData name="Victor Sanchez" userId="26f73c70b2efd3e2" providerId="LiveId" clId="{66FAA10A-858A-4901-9BC4-4A708FC6DA4A}" dt="2026-10-20T03:40:09.557" v="1576" actId="6549"/>
        <pc:sldMkLst>
          <pc:docMk/>
          <pc:sldMk cId="0" sldId="261"/>
        </pc:sldMkLst>
        <pc:spChg chg="mod">
          <ac:chgData name="Victor Sanchez" userId="26f73c70b2efd3e2" providerId="LiveId" clId="{66FAA10A-858A-4901-9BC4-4A708FC6DA4A}" dt="2026-10-15T23:27:47.068" v="87" actId="26606"/>
          <ac:spMkLst>
            <pc:docMk/>
            <pc:sldMk cId="0" sldId="261"/>
            <ac:spMk id="2" creationId="{00000000-0000-0000-0000-000000000000}"/>
          </ac:spMkLst>
        </pc:spChg>
      </pc:sldChg>
      <pc:sldChg chg="modSp mod modClrScheme chgLayout modNotesTx">
        <pc:chgData name="Victor Sanchez" userId="26f73c70b2efd3e2" providerId="LiveId" clId="{66FAA10A-858A-4901-9BC4-4A708FC6DA4A}" dt="2026-10-20T03:40:11.632" v="1577" actId="6549"/>
        <pc:sldMkLst>
          <pc:docMk/>
          <pc:sldMk cId="0" sldId="262"/>
        </pc:sldMkLst>
        <pc:spChg chg="mod">
          <ac:chgData name="Victor Sanchez" userId="26f73c70b2efd3e2" providerId="LiveId" clId="{66FAA10A-858A-4901-9BC4-4A708FC6DA4A}" dt="2026-10-15T23:27:47.068" v="87" actId="26606"/>
          <ac:spMkLst>
            <pc:docMk/>
            <pc:sldMk cId="0" sldId="262"/>
            <ac:spMk id="2" creationId="{00000000-0000-0000-0000-000000000000}"/>
          </ac:spMkLst>
        </pc:spChg>
      </pc:sldChg>
      <pc:sldChg chg="modSp mod modClrScheme chgLayout modNotesTx">
        <pc:chgData name="Victor Sanchez" userId="26f73c70b2efd3e2" providerId="LiveId" clId="{66FAA10A-858A-4901-9BC4-4A708FC6DA4A}" dt="2026-10-20T03:40:15.684" v="1578" actId="6549"/>
        <pc:sldMkLst>
          <pc:docMk/>
          <pc:sldMk cId="0" sldId="263"/>
        </pc:sldMkLst>
        <pc:spChg chg="mod">
          <ac:chgData name="Victor Sanchez" userId="26f73c70b2efd3e2" providerId="LiveId" clId="{66FAA10A-858A-4901-9BC4-4A708FC6DA4A}" dt="2026-10-15T23:27:47.068" v="87" actId="26606"/>
          <ac:spMkLst>
            <pc:docMk/>
            <pc:sldMk cId="0" sldId="263"/>
            <ac:spMk id="2" creationId="{00000000-0000-0000-0000-000000000000}"/>
          </ac:spMkLst>
        </pc:spChg>
      </pc:sldChg>
      <pc:sldChg chg="modSp mod modClrScheme chgLayout modNotesTx">
        <pc:chgData name="Victor Sanchez" userId="26f73c70b2efd3e2" providerId="LiveId" clId="{66FAA10A-858A-4901-9BC4-4A708FC6DA4A}" dt="2026-10-20T03:40:18.561" v="1579" actId="6549"/>
        <pc:sldMkLst>
          <pc:docMk/>
          <pc:sldMk cId="0" sldId="264"/>
        </pc:sldMkLst>
        <pc:spChg chg="mod">
          <ac:chgData name="Victor Sanchez" userId="26f73c70b2efd3e2" providerId="LiveId" clId="{66FAA10A-858A-4901-9BC4-4A708FC6DA4A}" dt="2026-10-15T23:27:47.068" v="87" actId="26606"/>
          <ac:spMkLst>
            <pc:docMk/>
            <pc:sldMk cId="0" sldId="264"/>
            <ac:spMk id="2" creationId="{00000000-0000-0000-0000-000000000000}"/>
          </ac:spMkLst>
        </pc:spChg>
      </pc:sldChg>
      <pc:sldChg chg="addSp modSp mod modClrScheme chgLayout modNotesTx">
        <pc:chgData name="Victor Sanchez" userId="26f73c70b2efd3e2" providerId="LiveId" clId="{66FAA10A-858A-4901-9BC4-4A708FC6DA4A}" dt="2026-10-20T03:40:20.599" v="1580" actId="6549"/>
        <pc:sldMkLst>
          <pc:docMk/>
          <pc:sldMk cId="0" sldId="265"/>
        </pc:sldMkLst>
        <pc:spChg chg="mod">
          <ac:chgData name="Victor Sanchez" userId="26f73c70b2efd3e2" providerId="LiveId" clId="{66FAA10A-858A-4901-9BC4-4A708FC6DA4A}" dt="2026-10-16T01:32:12.620" v="1164" actId="6549"/>
          <ac:spMkLst>
            <pc:docMk/>
            <pc:sldMk cId="0" sldId="265"/>
            <ac:spMk id="2" creationId="{00000000-0000-0000-0000-000000000000}"/>
          </ac:spMkLst>
        </pc:spChg>
        <pc:spChg chg="mod">
          <ac:chgData name="Victor Sanchez" userId="26f73c70b2efd3e2" providerId="LiveId" clId="{66FAA10A-858A-4901-9BC4-4A708FC6DA4A}" dt="2026-10-20T03:30:15.707" v="1562" actId="20577"/>
          <ac:spMkLst>
            <pc:docMk/>
            <pc:sldMk cId="0" sldId="265"/>
            <ac:spMk id="222" creationId="{00000000-0000-0000-0000-000000000000}"/>
          </ac:spMkLst>
        </pc:spChg>
      </pc:sldChg>
      <pc:sldChg chg="addSp delSp modSp mod modClrScheme chgLayout modNotesTx">
        <pc:chgData name="Victor Sanchez" userId="26f73c70b2efd3e2" providerId="LiveId" clId="{66FAA10A-858A-4901-9BC4-4A708FC6DA4A}" dt="2026-10-20T03:40:24.346" v="1581" actId="6549"/>
        <pc:sldMkLst>
          <pc:docMk/>
          <pc:sldMk cId="0" sldId="266"/>
        </pc:sldMkLst>
        <pc:spChg chg="mod">
          <ac:chgData name="Victor Sanchez" userId="26f73c70b2efd3e2" providerId="LiveId" clId="{66FAA10A-858A-4901-9BC4-4A708FC6DA4A}" dt="2026-10-15T23:27:47.068" v="87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Victor Sanchez" userId="26f73c70b2efd3e2" providerId="LiveId" clId="{66FAA10A-858A-4901-9BC4-4A708FC6DA4A}" dt="2026-10-20T03:30:49.282" v="1566" actId="20577"/>
          <ac:spMkLst>
            <pc:docMk/>
            <pc:sldMk cId="0" sldId="266"/>
            <ac:spMk id="209" creationId="{00000000-0000-0000-0000-000000000000}"/>
          </ac:spMkLst>
        </pc:spChg>
      </pc:sldChg>
      <pc:sldChg chg="modSp mod modClrScheme chgLayout modNotesTx">
        <pc:chgData name="Victor Sanchez" userId="26f73c70b2efd3e2" providerId="LiveId" clId="{66FAA10A-858A-4901-9BC4-4A708FC6DA4A}" dt="2026-10-20T03:40:26.869" v="1582" actId="6549"/>
        <pc:sldMkLst>
          <pc:docMk/>
          <pc:sldMk cId="0" sldId="267"/>
        </pc:sldMkLst>
        <pc:spChg chg="mod">
          <ac:chgData name="Victor Sanchez" userId="26f73c70b2efd3e2" providerId="LiveId" clId="{66FAA10A-858A-4901-9BC4-4A708FC6DA4A}" dt="2026-10-16T02:46:36.370" v="1535"/>
          <ac:spMkLst>
            <pc:docMk/>
            <pc:sldMk cId="0" sldId="267"/>
            <ac:spMk id="2" creationId="{00000000-0000-0000-0000-000000000000}"/>
          </ac:spMkLst>
        </pc:spChg>
      </pc:sldChg>
      <pc:sldChg chg="modSp mod modClrScheme chgLayout modNotesTx">
        <pc:chgData name="Victor Sanchez" userId="26f73c70b2efd3e2" providerId="LiveId" clId="{66FAA10A-858A-4901-9BC4-4A708FC6DA4A}" dt="2026-10-20T03:40:29.967" v="1583" actId="6549"/>
        <pc:sldMkLst>
          <pc:docMk/>
          <pc:sldMk cId="0" sldId="268"/>
        </pc:sldMkLst>
        <pc:spChg chg="mod">
          <ac:chgData name="Victor Sanchez" userId="26f73c70b2efd3e2" providerId="LiveId" clId="{66FAA10A-858A-4901-9BC4-4A708FC6DA4A}" dt="2026-10-15T23:27:47.068" v="87" actId="26606"/>
          <ac:spMkLst>
            <pc:docMk/>
            <pc:sldMk cId="0" sldId="268"/>
            <ac:spMk id="2" creationId="{00000000-0000-0000-0000-000000000000}"/>
          </ac:spMkLst>
        </pc:spChg>
      </pc:sldChg>
      <pc:sldChg chg="modSp mod modClrScheme chgLayout modNotesTx">
        <pc:chgData name="Victor Sanchez" userId="26f73c70b2efd3e2" providerId="LiveId" clId="{66FAA10A-858A-4901-9BC4-4A708FC6DA4A}" dt="2026-10-20T03:40:31.814" v="1584" actId="6549"/>
        <pc:sldMkLst>
          <pc:docMk/>
          <pc:sldMk cId="0" sldId="269"/>
        </pc:sldMkLst>
        <pc:spChg chg="mod">
          <ac:chgData name="Victor Sanchez" userId="26f73c70b2efd3e2" providerId="LiveId" clId="{66FAA10A-858A-4901-9BC4-4A708FC6DA4A}" dt="2026-10-15T23:27:47.068" v="87" actId="26606"/>
          <ac:spMkLst>
            <pc:docMk/>
            <pc:sldMk cId="0" sldId="269"/>
            <ac:spMk id="2" creationId="{00000000-0000-0000-0000-000000000000}"/>
          </ac:spMkLst>
        </pc:spChg>
        <pc:spChg chg="mod">
          <ac:chgData name="Victor Sanchez" userId="26f73c70b2efd3e2" providerId="LiveId" clId="{66FAA10A-858A-4901-9BC4-4A708FC6DA4A}" dt="2026-10-20T03:32:12.319" v="1568" actId="20577"/>
          <ac:spMkLst>
            <pc:docMk/>
            <pc:sldMk cId="0" sldId="269"/>
            <ac:spMk id="216" creationId="{00000000-0000-0000-0000-000000000000}"/>
          </ac:spMkLst>
        </pc:spChg>
      </pc:sldChg>
      <pc:sldChg chg="add modNotesTx">
        <pc:chgData name="Victor Sanchez" userId="26f73c70b2efd3e2" providerId="LiveId" clId="{66FAA10A-858A-4901-9BC4-4A708FC6DA4A}" dt="2026-10-20T03:40:07.731" v="1575" actId="6549"/>
        <pc:sldMkLst>
          <pc:docMk/>
          <pc:sldMk cId="0" sldId="270"/>
        </pc:sldMkLst>
      </pc:sldChg>
      <pc:sldMasterChg chg="add modSldLayout sldLayoutOrd">
        <pc:chgData name="Victor Sanchez" userId="26f73c70b2efd3e2" providerId="LiveId" clId="{66FAA10A-858A-4901-9BC4-4A708FC6DA4A}" dt="2026-10-15T23:27:47.068" v="87" actId="26606"/>
        <pc:sldMasterMkLst>
          <pc:docMk/>
          <pc:sldMasterMk cId="0" sldId="2147483648"/>
        </pc:sldMasterMkLst>
        <pc:sldLayoutChg chg="mod ord">
          <pc:chgData name="Victor Sanchez" userId="26f73c70b2efd3e2" providerId="LiveId" clId="{66FAA10A-858A-4901-9BC4-4A708FC6DA4A}" dt="2026-10-15T23:27:47.068" v="87" actId="26606"/>
          <pc:sldLayoutMkLst>
            <pc:docMk/>
            <pc:sldMasterMk cId="0" sldId="2147483648"/>
            <pc:sldLayoutMk cId="0" sldId="2147483649"/>
          </pc:sldLayoutMkLst>
        </pc:sldLayoutChg>
        <pc:sldLayoutChg chg="modSp mod ord">
          <pc:chgData name="Victor Sanchez" userId="26f73c70b2efd3e2" providerId="LiveId" clId="{66FAA10A-858A-4901-9BC4-4A708FC6DA4A}" dt="2026-10-15T23:27:47.068" v="87" actId="26606"/>
          <pc:sldLayoutMkLst>
            <pc:docMk/>
            <pc:sldMasterMk cId="0" sldId="2147483648"/>
            <pc:sldLayoutMk cId="0" sldId="2147483650"/>
          </pc:sldLayoutMkLst>
          <pc:spChg chg="mod">
            <ac:chgData name="Victor Sanchez" userId="26f73c70b2efd3e2" providerId="LiveId" clId="{66FAA10A-858A-4901-9BC4-4A708FC6DA4A}" dt="2026-10-15T23:27:47.068" v="87" actId="26606"/>
            <ac:spMkLst>
              <pc:docMk/>
              <pc:sldMasterMk cId="0" sldId="2147483648"/>
              <pc:sldLayoutMk cId="0" sldId="2147483650"/>
              <ac:spMk id="2" creationId="{00000000-0000-0000-0000-000000000000}"/>
            </ac:spMkLst>
          </pc:spChg>
          <pc:spChg chg="mod">
            <ac:chgData name="Victor Sanchez" userId="26f73c70b2efd3e2" providerId="LiveId" clId="{66FAA10A-858A-4901-9BC4-4A708FC6DA4A}" dt="2026-10-15T23:27:47.068" v="87" actId="26606"/>
            <ac:spMkLst>
              <pc:docMk/>
              <pc:sldMasterMk cId="0" sldId="2147483648"/>
              <pc:sldLayoutMk cId="0" sldId="2147483650"/>
              <ac:spMk id="3" creationId="{00000000-0000-0000-0000-000000000000}"/>
            </ac:spMkLst>
          </pc:spChg>
        </pc:sldLayoutChg>
        <pc:sldLayoutChg chg="modSp mod ord">
          <pc:chgData name="Victor Sanchez" userId="26f73c70b2efd3e2" providerId="LiveId" clId="{66FAA10A-858A-4901-9BC4-4A708FC6DA4A}" dt="2026-10-15T23:27:47.068" v="87" actId="26606"/>
          <pc:sldLayoutMkLst>
            <pc:docMk/>
            <pc:sldMasterMk cId="0" sldId="2147483648"/>
            <pc:sldLayoutMk cId="0" sldId="2147483651"/>
          </pc:sldLayoutMkLst>
          <pc:spChg chg="mod">
            <ac:chgData name="Victor Sanchez" userId="26f73c70b2efd3e2" providerId="LiveId" clId="{66FAA10A-858A-4901-9BC4-4A708FC6DA4A}" dt="2026-10-15T23:27:47.068" v="87" actId="26606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Victor Sanchez" userId="26f73c70b2efd3e2" providerId="LiveId" clId="{66FAA10A-858A-4901-9BC4-4A708FC6DA4A}" dt="2026-10-15T23:27:47.068" v="87" actId="26606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</pc:sldLayoutChg>
        <pc:sldLayoutChg chg="modSp add mod ord">
          <pc:chgData name="Victor Sanchez" userId="26f73c70b2efd3e2" providerId="LiveId" clId="{66FAA10A-858A-4901-9BC4-4A708FC6DA4A}" dt="2026-10-15T23:27:24.825" v="85" actId="26606"/>
          <pc:sldLayoutMkLst>
            <pc:docMk/>
            <pc:sldMasterMk cId="0" sldId="2147483648"/>
            <pc:sldLayoutMk cId="0" sldId="2147483652"/>
          </pc:sldLayoutMkLst>
          <pc:spChg chg="mod">
            <ac:chgData name="Victor Sanchez" userId="26f73c70b2efd3e2" providerId="LiveId" clId="{66FAA10A-858A-4901-9BC4-4A708FC6DA4A}" dt="2026-10-15T23:27:24.825" v="85" actId="26606"/>
            <ac:spMkLst>
              <pc:docMk/>
              <pc:sldMasterMk cId="0" sldId="2147483648"/>
              <pc:sldLayoutMk cId="0" sldId="2147483652"/>
              <ac:spMk id="2" creationId="{00000000-0000-0000-0000-000000000000}"/>
            </ac:spMkLst>
          </pc:spChg>
          <pc:spChg chg="mod">
            <ac:chgData name="Victor Sanchez" userId="26f73c70b2efd3e2" providerId="LiveId" clId="{66FAA10A-858A-4901-9BC4-4A708FC6DA4A}" dt="2026-10-15T23:27:24.825" v="85" actId="26606"/>
            <ac:spMkLst>
              <pc:docMk/>
              <pc:sldMasterMk cId="0" sldId="2147483648"/>
              <pc:sldLayoutMk cId="0" sldId="2147483652"/>
              <ac:spMk id="25" creationId="{00000000-0000-0000-0000-000000000000}"/>
            </ac:spMkLst>
          </pc:spChg>
        </pc:sldLayoutChg>
        <pc:sldLayoutChg chg="modSp add mod ord">
          <pc:chgData name="Victor Sanchez" userId="26f73c70b2efd3e2" providerId="LiveId" clId="{66FAA10A-858A-4901-9BC4-4A708FC6DA4A}" dt="2026-10-15T23:27:24.825" v="85" actId="26606"/>
          <pc:sldLayoutMkLst>
            <pc:docMk/>
            <pc:sldMasterMk cId="0" sldId="2147483648"/>
            <pc:sldLayoutMk cId="0" sldId="2147483653"/>
          </pc:sldLayoutMkLst>
          <pc:spChg chg="mod">
            <ac:chgData name="Victor Sanchez" userId="26f73c70b2efd3e2" providerId="LiveId" clId="{66FAA10A-858A-4901-9BC4-4A708FC6DA4A}" dt="2026-10-15T23:27:24.825" v="85" actId="26606"/>
            <ac:spMkLst>
              <pc:docMk/>
              <pc:sldMasterMk cId="0" sldId="2147483648"/>
              <pc:sldLayoutMk cId="0" sldId="2147483653"/>
              <ac:spMk id="2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19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292608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246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tx2"/>
                </a:solidFill>
              </a:rPr>
              <a:t>SAS exit strategy · Working draft for leadership discussion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wrap="square" lIns="0" tIns="0" rIns="0" bIns="0" rtlCol="0" anchor="b"/>
          <a:lstStyle/>
          <a:p>
            <a:r>
              <a:t>SAS Exit Strategy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 wrap="square" lIns="0" tIns="0" rIns="0" bIns="0" rtlCol="0" anchor="t"/>
          <a:lstStyle/>
          <a:p>
            <a:r>
              <a:t>What runs on SAS, how critical it is, and how we get off it</a:t>
            </a:r>
          </a:p>
        </p:txBody>
      </p:sp>
      <p:cxnSp>
        <p:nvCxnSpPr>
          <p:cNvPr id="201" name="Phase line"/>
          <p:cNvCxnSpPr/>
          <p:nvPr/>
        </p:nvCxnSpPr>
        <p:spPr>
          <a:xfrm>
            <a:off x="960120" y="4572000"/>
            <a:ext cx="85953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cxnSp>
      <p:sp>
        <p:nvSpPr>
          <p:cNvPr id="202" name="Number 1"/>
          <p:cNvSpPr txBox="1"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03" name="Phase label"/>
          <p:cNvSpPr txBox="1"/>
          <p:nvPr/>
        </p:nvSpPr>
        <p:spPr>
          <a:xfrm>
            <a:off x="182880" y="489204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Inventory use cases</a:t>
            </a:r>
            <a:endParaRPr lang="en-US" sz="1300" dirty="0"/>
          </a:p>
        </p:txBody>
      </p:sp>
      <p:sp>
        <p:nvSpPr>
          <p:cNvPr id="204" name="Number 2"/>
          <p:cNvSpPr txBox="1"/>
          <p:nvPr/>
        </p:nvSpPr>
        <p:spPr>
          <a:xfrm>
            <a:off x="2880360" y="43434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05" name="Phase label"/>
          <p:cNvSpPr txBox="1"/>
          <p:nvPr/>
        </p:nvSpPr>
        <p:spPr>
          <a:xfrm>
            <a:off x="2331720" y="489204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Assess criticality</a:t>
            </a:r>
            <a:endParaRPr lang="en-US" sz="1300" dirty="0"/>
          </a:p>
        </p:txBody>
      </p:sp>
      <p:sp>
        <p:nvSpPr>
          <p:cNvPr id="206" name="Number 3"/>
          <p:cNvSpPr txBox="1"/>
          <p:nvPr/>
        </p:nvSpPr>
        <p:spPr>
          <a:xfrm>
            <a:off x="5029200" y="43434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7" name="Phase label"/>
          <p:cNvSpPr txBox="1"/>
          <p:nvPr/>
        </p:nvSpPr>
        <p:spPr>
          <a:xfrm>
            <a:off x="4480560" y="489204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Confirm exit paths</a:t>
            </a:r>
            <a:endParaRPr lang="en-US" sz="1300" dirty="0"/>
          </a:p>
        </p:txBody>
      </p:sp>
      <p:sp>
        <p:nvSpPr>
          <p:cNvPr id="208" name="Number 4"/>
          <p:cNvSpPr txBox="1"/>
          <p:nvPr/>
        </p:nvSpPr>
        <p:spPr>
          <a:xfrm>
            <a:off x="7178040" y="43434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9" name="Phase label"/>
          <p:cNvSpPr txBox="1"/>
          <p:nvPr/>
        </p:nvSpPr>
        <p:spPr>
          <a:xfrm>
            <a:off x="6629400" y="489204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Migrate or retire</a:t>
            </a:r>
            <a:endParaRPr lang="en-US" sz="1300" dirty="0"/>
          </a:p>
        </p:txBody>
      </p:sp>
      <p:sp>
        <p:nvSpPr>
          <p:cNvPr id="210" name="Number 5"/>
          <p:cNvSpPr txBox="1"/>
          <p:nvPr/>
        </p:nvSpPr>
        <p:spPr>
          <a:xfrm>
            <a:off x="9326880" y="4343400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1" name="Phase label"/>
          <p:cNvSpPr txBox="1"/>
          <p:nvPr/>
        </p:nvSpPr>
        <p:spPr>
          <a:xfrm>
            <a:off x="8778240" y="489204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Decommission SAS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wrap="square" lIns="0" tIns="0" rIns="0" bIns="0" rtlCol="0" anchor="t"/>
          <a:lstStyle/>
          <a:p>
            <a:r>
              <a:t>Our Goal: A Complete, Low-Risk Exit from SAS</a:t>
            </a:r>
          </a:p>
        </p:txBody>
      </p:sp>
      <p:sp>
        <p:nvSpPr>
          <p:cNvPr id="201" name="Section tag"/>
          <p:cNvSpPr txBox="1"/>
          <p:nvPr/>
        </p:nvSpPr>
        <p:spPr>
          <a:xfrm>
            <a:off x="548640" y="274320"/>
            <a:ext cx="896112" cy="27432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spc="150" dirty="0">
                <a:solidFill>
                  <a:schemeClr val="bg1"/>
                </a:solidFill>
              </a:rPr>
              <a:t>SUMMARY</a:t>
            </a:r>
            <a:endParaRPr lang="en-US" sz="1000" dirty="0"/>
          </a:p>
        </p:txBody>
      </p:sp>
      <p:sp>
        <p:nvSpPr>
          <p:cNvPr id="202" name="Card"/>
          <p:cNvSpPr/>
          <p:nvPr/>
        </p:nvSpPr>
        <p:spPr>
          <a:xfrm>
            <a:off x="548640" y="1600200"/>
            <a:ext cx="7269480" cy="822960"/>
          </a:xfrm>
          <a:prstGeom prst="roundRect">
            <a:avLst>
              <a:gd name="adj" fmla="val 8888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3" name="Text"/>
          <p:cNvSpPr txBox="1"/>
          <p:nvPr/>
        </p:nvSpPr>
        <p:spPr>
          <a:xfrm>
            <a:off x="749808" y="1600200"/>
            <a:ext cx="14173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The Goal</a:t>
            </a:r>
            <a:endParaRPr lang="en-US" sz="1500" dirty="0"/>
          </a:p>
        </p:txBody>
      </p:sp>
      <p:sp>
        <p:nvSpPr>
          <p:cNvPr id="204" name="Text"/>
          <p:cNvSpPr txBox="1"/>
          <p:nvPr/>
        </p:nvSpPr>
        <p:spPr>
          <a:xfrm>
            <a:off x="2240280" y="1600200"/>
            <a:ext cx="54406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Remove every Corporate Risk dependency on SAS and fully exit the platform, without disrupting critical risk processes.</a:t>
            </a:r>
            <a:endParaRPr lang="en-US" sz="1300" dirty="0"/>
          </a:p>
        </p:txBody>
      </p:sp>
      <p:sp>
        <p:nvSpPr>
          <p:cNvPr id="205" name="Card"/>
          <p:cNvSpPr/>
          <p:nvPr/>
        </p:nvSpPr>
        <p:spPr>
          <a:xfrm>
            <a:off x="548640" y="2514600"/>
            <a:ext cx="7269480" cy="822960"/>
          </a:xfrm>
          <a:prstGeom prst="roundRect">
            <a:avLst>
              <a:gd name="adj" fmla="val 8888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6" name="Text"/>
          <p:cNvSpPr txBox="1"/>
          <p:nvPr/>
        </p:nvSpPr>
        <p:spPr>
          <a:xfrm>
            <a:off x="749808" y="2514600"/>
            <a:ext cx="14173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4"/>
                </a:solidFill>
              </a:rPr>
              <a:t>Why Now</a:t>
            </a:r>
            <a:endParaRPr lang="en-US" sz="1500" dirty="0"/>
          </a:p>
        </p:txBody>
      </p:sp>
      <p:sp>
        <p:nvSpPr>
          <p:cNvPr id="207" name="Text"/>
          <p:cNvSpPr txBox="1"/>
          <p:nvPr/>
        </p:nvSpPr>
        <p:spPr>
          <a:xfrm>
            <a:off x="2240280" y="2514600"/>
            <a:ext cx="54406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Given SAS contract concerns, leadership has asked us to plan a full exit. Corporate Risk is the largest SAS user, so we lead the assessment of timeline and effort.</a:t>
            </a:r>
            <a:endParaRPr lang="en-US" sz="1300" dirty="0"/>
          </a:p>
        </p:txBody>
      </p:sp>
      <p:sp>
        <p:nvSpPr>
          <p:cNvPr id="208" name="Card"/>
          <p:cNvSpPr/>
          <p:nvPr/>
        </p:nvSpPr>
        <p:spPr>
          <a:xfrm>
            <a:off x="548640" y="3429000"/>
            <a:ext cx="7269480" cy="822960"/>
          </a:xfrm>
          <a:prstGeom prst="roundRect">
            <a:avLst>
              <a:gd name="adj" fmla="val 8888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9" name="Text"/>
          <p:cNvSpPr txBox="1"/>
          <p:nvPr/>
        </p:nvSpPr>
        <p:spPr>
          <a:xfrm>
            <a:off x="749808" y="3429000"/>
            <a:ext cx="14173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Key Questions</a:t>
            </a:r>
            <a:endParaRPr lang="en-US" sz="1500" dirty="0"/>
          </a:p>
        </p:txBody>
      </p:sp>
      <p:sp>
        <p:nvSpPr>
          <p:cNvPr id="210" name="Text"/>
          <p:cNvSpPr txBox="1"/>
          <p:nvPr/>
        </p:nvSpPr>
        <p:spPr>
          <a:xfrm>
            <a:off x="2240280" y="3429000"/>
            <a:ext cx="54406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What runs on SAS and how critical is it? Does each use case have an exit strategy, and when? If not, who must build one?</a:t>
            </a:r>
            <a:endParaRPr lang="en-US" sz="1300" dirty="0"/>
          </a:p>
        </p:txBody>
      </p:sp>
      <p:sp>
        <p:nvSpPr>
          <p:cNvPr id="211" name="Card"/>
          <p:cNvSpPr/>
          <p:nvPr/>
        </p:nvSpPr>
        <p:spPr>
          <a:xfrm>
            <a:off x="548640" y="4343400"/>
            <a:ext cx="7269480" cy="822960"/>
          </a:xfrm>
          <a:prstGeom prst="roundRect">
            <a:avLst>
              <a:gd name="adj" fmla="val 8888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2" name="Text"/>
          <p:cNvSpPr txBox="1"/>
          <p:nvPr/>
        </p:nvSpPr>
        <p:spPr>
          <a:xfrm>
            <a:off x="749808" y="4343400"/>
            <a:ext cx="14173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The Approach</a:t>
            </a:r>
            <a:endParaRPr lang="en-US" sz="1500" dirty="0"/>
          </a:p>
        </p:txBody>
      </p:sp>
      <p:sp>
        <p:nvSpPr>
          <p:cNvPr id="213" name="Text"/>
          <p:cNvSpPr txBox="1"/>
          <p:nvPr/>
        </p:nvSpPr>
        <p:spPr>
          <a:xfrm>
            <a:off x="2240280" y="4343400"/>
            <a:ext cx="54406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Track 1</a:t>
            </a:r>
            <a:r>
              <a:rPr lang="en-US" sz="1300" dirty="0">
                <a:solidFill>
                  <a:schemeClr val="tx1"/>
                </a:solidFill>
              </a:rPr>
              <a:t> inventories, prioritizes and exits each use case. </a:t>
            </a:r>
            <a:r>
              <a:rPr lang="en-US" sz="1300" b="1" dirty="0">
                <a:solidFill>
                  <a:schemeClr val="tx1"/>
                </a:solidFill>
              </a:rPr>
              <a:t>Track 2</a:t>
            </a:r>
            <a:r>
              <a:rPr lang="en-US" sz="1300" dirty="0">
                <a:solidFill>
                  <a:schemeClr val="tx1"/>
                </a:solidFill>
              </a:rPr>
              <a:t> cleans up unused storage and access to cut cost while we exit.</a:t>
            </a:r>
            <a:endParaRPr lang="en-US" sz="1300" dirty="0"/>
          </a:p>
        </p:txBody>
      </p:sp>
      <p:sp>
        <p:nvSpPr>
          <p:cNvPr id="214" name="Card"/>
          <p:cNvSpPr/>
          <p:nvPr/>
        </p:nvSpPr>
        <p:spPr>
          <a:xfrm>
            <a:off x="548640" y="5257800"/>
            <a:ext cx="7269480" cy="822960"/>
          </a:xfrm>
          <a:prstGeom prst="roundRect">
            <a:avLst>
              <a:gd name="adj" fmla="val 8888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5" name="Text"/>
          <p:cNvSpPr txBox="1"/>
          <p:nvPr/>
        </p:nvSpPr>
        <p:spPr>
          <a:xfrm>
            <a:off x="749808" y="5257800"/>
            <a:ext cx="14173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The Payoff</a:t>
            </a:r>
            <a:endParaRPr lang="en-US" sz="1500" dirty="0"/>
          </a:p>
        </p:txBody>
      </p:sp>
      <p:sp>
        <p:nvSpPr>
          <p:cNvPr id="216" name="Text"/>
          <p:cNvSpPr txBox="1"/>
          <p:nvPr/>
        </p:nvSpPr>
        <p:spPr>
          <a:xfrm>
            <a:off x="2240280" y="5257800"/>
            <a:ext cx="54406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No SAS dependency risk at the end. Along the way, an estimated 550,074 GB (~$1.6M a year) of storage savings, once validated.</a:t>
            </a:r>
            <a:endParaRPr lang="en-US" sz="1300" dirty="0"/>
          </a:p>
        </p:txBody>
      </p:sp>
      <p:sp>
        <p:nvSpPr>
          <p:cNvPr id="217" name="Label"/>
          <p:cNvSpPr txBox="1"/>
          <p:nvPr/>
        </p:nvSpPr>
        <p:spPr>
          <a:xfrm>
            <a:off x="8183880" y="1600200"/>
            <a:ext cx="345643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2"/>
                </a:solidFill>
              </a:rPr>
              <a:t>THE THREE QUESTIONS WE MUST ANSWER</a:t>
            </a:r>
            <a:endParaRPr lang="en-US" sz="1100" dirty="0"/>
          </a:p>
        </p:txBody>
      </p:sp>
      <p:sp>
        <p:nvSpPr>
          <p:cNvPr id="218" name="Card"/>
          <p:cNvSpPr/>
          <p:nvPr/>
        </p:nvSpPr>
        <p:spPr>
          <a:xfrm>
            <a:off x="8183880" y="1920240"/>
            <a:ext cx="3456432" cy="1325880"/>
          </a:xfrm>
          <a:prstGeom prst="roundRect">
            <a:avLst>
              <a:gd name="adj" fmla="val 5517"/>
            </a:avLst>
          </a:prstGeom>
          <a:solidFill>
            <a:schemeClr val="accent3">
              <a:alpha val="18000"/>
            </a:schemeClr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9" name="Text"/>
          <p:cNvSpPr txBox="1"/>
          <p:nvPr/>
        </p:nvSpPr>
        <p:spPr>
          <a:xfrm>
            <a:off x="8348472" y="1920240"/>
            <a:ext cx="315468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1  What runs on SAS?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Use cases, owners and criticality</a:t>
            </a:r>
            <a:endParaRPr lang="en-US" sz="12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What each use case does, who relies on it, and what breaks if it stops.</a:t>
            </a:r>
            <a:endParaRPr lang="en-US" sz="1300" dirty="0"/>
          </a:p>
        </p:txBody>
      </p:sp>
      <p:sp>
        <p:nvSpPr>
          <p:cNvPr id="220" name="Card"/>
          <p:cNvSpPr/>
          <p:nvPr/>
        </p:nvSpPr>
        <p:spPr>
          <a:xfrm>
            <a:off x="8183880" y="3355848"/>
            <a:ext cx="3456432" cy="1325880"/>
          </a:xfrm>
          <a:prstGeom prst="roundRect">
            <a:avLst>
              <a:gd name="adj" fmla="val 5517"/>
            </a:avLst>
          </a:prstGeom>
          <a:solidFill>
            <a:schemeClr val="accent3">
              <a:alpha val="18000"/>
            </a:schemeClr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1" name="Text"/>
          <p:cNvSpPr txBox="1"/>
          <p:nvPr/>
        </p:nvSpPr>
        <p:spPr>
          <a:xfrm>
            <a:off x="8348472" y="3355848"/>
            <a:ext cx="315468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2  Is there an exit plan?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If yes: where it moves, and when</a:t>
            </a:r>
            <a:endParaRPr lang="en-US" sz="12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A named target, owner, effort and date, sequenced by criticality.</a:t>
            </a:r>
            <a:endParaRPr lang="en-US" sz="1300" dirty="0"/>
          </a:p>
        </p:txBody>
      </p:sp>
      <p:sp>
        <p:nvSpPr>
          <p:cNvPr id="222" name="Card"/>
          <p:cNvSpPr/>
          <p:nvPr/>
        </p:nvSpPr>
        <p:spPr>
          <a:xfrm>
            <a:off x="8183880" y="4791456"/>
            <a:ext cx="3456432" cy="1325880"/>
          </a:xfrm>
          <a:prstGeom prst="roundRect">
            <a:avLst>
              <a:gd name="adj" fmla="val 5517"/>
            </a:avLst>
          </a:prstGeom>
          <a:solidFill>
            <a:schemeClr val="accent3">
              <a:alpha val="18000"/>
            </a:schemeClr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3" name="Text"/>
          <p:cNvSpPr txBox="1"/>
          <p:nvPr/>
        </p:nvSpPr>
        <p:spPr>
          <a:xfrm>
            <a:off x="8348472" y="4791456"/>
            <a:ext cx="315468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3  If not, who builds it?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The right people in the room</a:t>
            </a:r>
            <a:endParaRPr lang="en-US" sz="12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Business owner, SAS platform, architecture and Controls agree a path and date.</a:t>
            </a:r>
            <a:endParaRPr lang="en-US" sz="1300" dirty="0"/>
          </a:p>
        </p:txBody>
      </p:sp>
      <p:sp>
        <p:nvSpPr>
          <p:cNvPr id="22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wrap="square" lIns="0" tIns="0" rIns="0" bIns="0" rtlCol="0" anchor="t"/>
          <a:lstStyle/>
          <a:p>
            <a:r>
              <a:t>Every SAS Use Case Needs an Exit Path, a Date and an Owner</a:t>
            </a:r>
          </a:p>
        </p:txBody>
      </p:sp>
      <p:sp>
        <p:nvSpPr>
          <p:cNvPr id="201" name="Section tag"/>
          <p:cNvSpPr txBox="1"/>
          <p:nvPr/>
        </p:nvSpPr>
        <p:spPr>
          <a:xfrm>
            <a:off x="548640" y="274320"/>
            <a:ext cx="1792224" cy="27432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spc="150" dirty="0">
                <a:solidFill>
                  <a:schemeClr val="bg1"/>
                </a:solidFill>
              </a:rPr>
              <a:t>THE EXIT QUESTIONS</a:t>
            </a:r>
            <a:endParaRPr lang="en-US" sz="1000" dirty="0"/>
          </a:p>
        </p:txBody>
      </p:sp>
      <p:sp>
        <p:nvSpPr>
          <p:cNvPr id="202" name="Start"/>
          <p:cNvSpPr/>
          <p:nvPr/>
        </p:nvSpPr>
        <p:spPr>
          <a:xfrm>
            <a:off x="548640" y="1600200"/>
            <a:ext cx="150876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spc="100" dirty="0">
                <a:solidFill>
                  <a:schemeClr val="bg2"/>
                </a:solidFill>
              </a:rPr>
              <a:t>START</a:t>
            </a:r>
            <a:endParaRPr lang="en-US" sz="1000" dirty="0"/>
          </a:p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</a:rPr>
              <a:t>Each SAS use case in the inventory</a:t>
            </a:r>
            <a:endParaRPr lang="en-US" sz="1500" dirty="0"/>
          </a:p>
        </p:txBody>
      </p:sp>
      <p:cxnSp>
        <p:nvCxnSpPr>
          <p:cNvPr id="203" name="Connector"/>
          <p:cNvCxnSpPr/>
          <p:nvPr/>
        </p:nvCxnSpPr>
        <p:spPr>
          <a:xfrm>
            <a:off x="2057400" y="224028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 w="med" len="med"/>
          </a:ln>
        </p:spPr>
      </p:cxnSp>
      <p:sp>
        <p:nvSpPr>
          <p:cNvPr id="204" name="Question 1"/>
          <p:cNvSpPr/>
          <p:nvPr/>
        </p:nvSpPr>
        <p:spPr>
          <a:xfrm>
            <a:off x="2286000" y="1600200"/>
            <a:ext cx="274320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spc="100" dirty="0">
                <a:solidFill>
                  <a:schemeClr val="accent1"/>
                </a:solidFill>
              </a:rPr>
              <a:t>QUESTION 1</a:t>
            </a:r>
            <a:endParaRPr lang="en-US" sz="1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What does it do, and how critical is it?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Owner, purpose, data in and out, who relies on it, criticality tier</a:t>
            </a:r>
            <a:endParaRPr lang="en-US" sz="1200" dirty="0"/>
          </a:p>
        </p:txBody>
      </p:sp>
      <p:cxnSp>
        <p:nvCxnSpPr>
          <p:cNvPr id="205" name="Connector"/>
          <p:cNvCxnSpPr/>
          <p:nvPr/>
        </p:nvCxnSpPr>
        <p:spPr>
          <a:xfrm>
            <a:off x="5029200" y="224028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 w="med" len="med"/>
          </a:ln>
        </p:spPr>
      </p:cxnSp>
      <p:sp>
        <p:nvSpPr>
          <p:cNvPr id="206" name="Question 2"/>
          <p:cNvSpPr/>
          <p:nvPr/>
        </p:nvSpPr>
        <p:spPr>
          <a:xfrm>
            <a:off x="5257800" y="1600200"/>
            <a:ext cx="274320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spc="100" dirty="0">
                <a:solidFill>
                  <a:schemeClr val="accent1"/>
                </a:solidFill>
              </a:rPr>
              <a:t>QUESTION 2</a:t>
            </a:r>
            <a:endParaRPr lang="en-US" sz="1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Is there an exit strategy?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A named target platform, owner, effort and timeline</a:t>
            </a:r>
            <a:endParaRPr lang="en-US" sz="1200" dirty="0"/>
          </a:p>
        </p:txBody>
      </p:sp>
      <p:cxnSp>
        <p:nvCxnSpPr>
          <p:cNvPr id="207" name="Connector"/>
          <p:cNvCxnSpPr/>
          <p:nvPr/>
        </p:nvCxnSpPr>
        <p:spPr>
          <a:xfrm>
            <a:off x="8001000" y="2240280"/>
            <a:ext cx="2743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208" name="Text"/>
          <p:cNvSpPr txBox="1"/>
          <p:nvPr/>
        </p:nvSpPr>
        <p:spPr>
          <a:xfrm>
            <a:off x="7955280" y="1965960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Yes</a:t>
            </a:r>
            <a:endParaRPr lang="en-US" sz="1100" dirty="0"/>
          </a:p>
        </p:txBody>
      </p:sp>
      <p:sp>
        <p:nvSpPr>
          <p:cNvPr id="209" name="Yes path"/>
          <p:cNvSpPr/>
          <p:nvPr/>
        </p:nvSpPr>
        <p:spPr>
          <a:xfrm>
            <a:off x="8275320" y="1600200"/>
            <a:ext cx="3364992" cy="1280160"/>
          </a:xfrm>
          <a:prstGeom prst="roundRect">
            <a:avLst>
              <a:gd name="adj" fmla="val 5714"/>
            </a:avLst>
          </a:prstGeom>
          <a:solidFill>
            <a:schemeClr val="accent1">
              <a:alpha val="10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spc="100" dirty="0">
                <a:solidFill>
                  <a:schemeClr val="accent1"/>
                </a:solidFill>
              </a:rPr>
              <a:t>YES · CONFIRM WHEN</a:t>
            </a:r>
            <a:endParaRPr lang="en-US" sz="1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Lock the date and the effort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Agree the target, migration effort, dependencies and a fallback; add it to an exit wave.</a:t>
            </a:r>
            <a:endParaRPr lang="en-US" sz="1200" dirty="0"/>
          </a:p>
        </p:txBody>
      </p:sp>
      <p:cxnSp>
        <p:nvCxnSpPr>
          <p:cNvPr id="210" name="Connector"/>
          <p:cNvCxnSpPr/>
          <p:nvPr/>
        </p:nvCxnSpPr>
        <p:spPr>
          <a:xfrm>
            <a:off x="3657600" y="2880360"/>
            <a:ext cx="0" cy="3657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 w="med" len="med"/>
          </a:ln>
        </p:spPr>
      </p:cxnSp>
      <p:sp>
        <p:nvSpPr>
          <p:cNvPr id="211" name="Text"/>
          <p:cNvSpPr txBox="1"/>
          <p:nvPr/>
        </p:nvSpPr>
        <p:spPr>
          <a:xfrm>
            <a:off x="3749040" y="295351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2"/>
                </a:solidFill>
              </a:rPr>
              <a:t>Not needed</a:t>
            </a:r>
            <a:endParaRPr lang="en-US" sz="1100" dirty="0"/>
          </a:p>
        </p:txBody>
      </p:sp>
      <p:cxnSp>
        <p:nvCxnSpPr>
          <p:cNvPr id="212" name="Connector"/>
          <p:cNvCxnSpPr/>
          <p:nvPr/>
        </p:nvCxnSpPr>
        <p:spPr>
          <a:xfrm>
            <a:off x="6629400" y="2880360"/>
            <a:ext cx="0" cy="36576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 w="med" len="med"/>
          </a:ln>
        </p:spPr>
      </p:cxnSp>
      <p:sp>
        <p:nvSpPr>
          <p:cNvPr id="213" name="Text"/>
          <p:cNvSpPr txBox="1"/>
          <p:nvPr/>
        </p:nvSpPr>
        <p:spPr>
          <a:xfrm>
            <a:off x="6720840" y="295351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4"/>
                </a:solidFill>
              </a:rPr>
              <a:t>No</a:t>
            </a:r>
            <a:endParaRPr lang="en-US" sz="1100" dirty="0"/>
          </a:p>
        </p:txBody>
      </p:sp>
      <p:cxnSp>
        <p:nvCxnSpPr>
          <p:cNvPr id="214" name="Connector"/>
          <p:cNvCxnSpPr/>
          <p:nvPr/>
        </p:nvCxnSpPr>
        <p:spPr>
          <a:xfrm>
            <a:off x="9957816" y="2880360"/>
            <a:ext cx="0" cy="3657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215" name="Retire path"/>
          <p:cNvSpPr/>
          <p:nvPr/>
        </p:nvSpPr>
        <p:spPr>
          <a:xfrm>
            <a:off x="2286000" y="3246120"/>
            <a:ext cx="274320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spc="100" dirty="0">
                <a:solidFill>
                  <a:schemeClr val="tx2"/>
                </a:solidFill>
              </a:rPr>
              <a:t>NOT NEEDED · RETIRE</a:t>
            </a:r>
            <a:endParaRPr lang="en-US" sz="1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Archive it and switch it off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Inactive, obsolete or duplicated work: keep only what retention rules require, then shut it down.</a:t>
            </a:r>
            <a:endParaRPr lang="en-US" sz="1200" dirty="0"/>
          </a:p>
        </p:txBody>
      </p:sp>
      <p:sp>
        <p:nvSpPr>
          <p:cNvPr id="216" name="No path"/>
          <p:cNvSpPr/>
          <p:nvPr/>
        </p:nvSpPr>
        <p:spPr>
          <a:xfrm>
            <a:off x="5257800" y="3246120"/>
            <a:ext cx="2743200" cy="1508760"/>
          </a:xfrm>
          <a:prstGeom prst="roundRect">
            <a:avLst>
              <a:gd name="adj" fmla="val 4848"/>
            </a:avLst>
          </a:prstGeom>
          <a:solidFill>
            <a:schemeClr val="accent4">
              <a:alpha val="10000"/>
            </a:schemeClr>
          </a:solidFill>
          <a:ln w="15875">
            <a:solidFill>
              <a:schemeClr val="accent4"/>
            </a:solidFill>
            <a:prstDash val="solid"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spc="100" dirty="0">
                <a:solidFill>
                  <a:schemeClr val="accent4"/>
                </a:solidFill>
              </a:rPr>
              <a:t>NO · BUILD ONE</a:t>
            </a:r>
            <a:endParaRPr lang="en-US" sz="1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Get the right people in the room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Business owner, SAS platform team, target architecture, Finance and Controls agree a target, owner and date.</a:t>
            </a:r>
            <a:endParaRPr lang="en-US" sz="1200" dirty="0"/>
          </a:p>
        </p:txBody>
      </p:sp>
      <p:cxnSp>
        <p:nvCxnSpPr>
          <p:cNvPr id="217" name="Connector"/>
          <p:cNvCxnSpPr/>
          <p:nvPr/>
        </p:nvCxnSpPr>
        <p:spPr>
          <a:xfrm>
            <a:off x="8001000" y="4000500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 w="med" len="med"/>
          </a:ln>
        </p:spPr>
      </p:cxnSp>
      <p:sp>
        <p:nvSpPr>
          <p:cNvPr id="218" name="Execute"/>
          <p:cNvSpPr/>
          <p:nvPr/>
        </p:nvSpPr>
        <p:spPr>
          <a:xfrm>
            <a:off x="8275320" y="3246120"/>
            <a:ext cx="3364992" cy="1508760"/>
          </a:xfrm>
          <a:prstGeom prst="roundRect">
            <a:avLst>
              <a:gd name="adj" fmla="val 4848"/>
            </a:avLst>
          </a:prstGeom>
          <a:solidFill>
            <a:schemeClr val="accent5"/>
          </a:solidFill>
          <a:ln>
            <a:noFill/>
          </a:ln>
        </p:spPr>
        <p:txBody>
          <a:bodyPr wrap="square" lIns="146304" tIns="109728" rIns="146304" bIns="109728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spc="100" dirty="0">
                <a:solidFill>
                  <a:schemeClr val="bg2"/>
                </a:solidFill>
              </a:rPr>
              <a:t>THEN · EXECUTE THE EXIT</a:t>
            </a:r>
            <a:endParaRPr lang="en-US" sz="1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Migrate, test, cut over, decommission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Build and parallel-run on the target, switch over, then remove SAS jobs, access and storage.</a:t>
            </a:r>
            <a:endParaRPr lang="en-US" sz="1200" dirty="0"/>
          </a:p>
        </p:txBody>
      </p:sp>
      <p:sp>
        <p:nvSpPr>
          <p:cNvPr id="219" name="Card"/>
          <p:cNvSpPr/>
          <p:nvPr/>
        </p:nvSpPr>
        <p:spPr>
          <a:xfrm>
            <a:off x="548640" y="4956048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rgbClr val="C9D0D8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0" name="Bar text"/>
          <p:cNvSpPr txBox="1"/>
          <p:nvPr/>
        </p:nvSpPr>
        <p:spPr>
          <a:xfrm>
            <a:off x="749808" y="4956048"/>
            <a:ext cx="1068933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1"/>
                </a:solidFill>
              </a:rPr>
              <a:t>What counts as an exit strategy: </a:t>
            </a:r>
            <a:r>
              <a:rPr lang="en-US" sz="1200" dirty="0">
                <a:solidFill>
                  <a:schemeClr val="tx1"/>
                </a:solidFill>
              </a:rPr>
              <a:t>a named target platform, an accountable owner, an effort estimate, a timeline with dependencies, and a fallback if the date slips.</a:t>
            </a:r>
            <a:endParaRPr lang="en-US" sz="1200" dirty="0"/>
          </a:p>
        </p:txBody>
      </p:sp>
      <p:sp>
        <p:nvSpPr>
          <p:cNvPr id="221" name="Card"/>
          <p:cNvSpPr/>
          <p:nvPr/>
        </p:nvSpPr>
        <p:spPr>
          <a:xfrm>
            <a:off x="548640" y="5650992"/>
            <a:ext cx="11091672" cy="475488"/>
          </a:xfrm>
          <a:prstGeom prst="roundRect">
            <a:avLst>
              <a:gd name="adj" fmla="val 15384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2" name="Bar text"/>
          <p:cNvSpPr txBox="1"/>
          <p:nvPr/>
        </p:nvSpPr>
        <p:spPr>
          <a:xfrm>
            <a:off x="749808" y="5650992"/>
            <a:ext cx="1068933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</a:rPr>
              <a:t>Outcome: one exit register showing every SAS use case with its owner, criticality, exit path, target date and blockers.</a:t>
            </a:r>
            <a:endParaRPr lang="en-US" sz="1300" dirty="0"/>
          </a:p>
        </p:txBody>
      </p:sp>
      <p:sp>
        <p:nvSpPr>
          <p:cNvPr id="2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wrap="square" lIns="0" tIns="0" rIns="0" bIns="0" rtlCol="0" anchor="t"/>
          <a:lstStyle/>
          <a:p>
            <a:r>
              <a:t>Each Use Case Lands in One of Five Exit Statuses</a:t>
            </a:r>
          </a:p>
        </p:txBody>
      </p:sp>
      <p:sp>
        <p:nvSpPr>
          <p:cNvPr id="201" name="Section tag"/>
          <p:cNvSpPr txBox="1"/>
          <p:nvPr/>
        </p:nvSpPr>
        <p:spPr>
          <a:xfrm>
            <a:off x="548640" y="274320"/>
            <a:ext cx="1225296" cy="27432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spc="150" dirty="0">
                <a:solidFill>
                  <a:schemeClr val="bg1"/>
                </a:solidFill>
              </a:rPr>
              <a:t>EXIT STATUS</a:t>
            </a:r>
            <a:endParaRPr lang="en-US" sz="1000" dirty="0"/>
          </a:p>
        </p:txBody>
      </p:sp>
      <p:sp>
        <p:nvSpPr>
          <p:cNvPr id="202" name="Label"/>
          <p:cNvSpPr txBox="1"/>
          <p:nvPr/>
        </p:nvSpPr>
        <p:spPr>
          <a:xfrm>
            <a:off x="749808" y="1481328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2"/>
                </a:solidFill>
              </a:rPr>
              <a:t>STATUS</a:t>
            </a:r>
            <a:endParaRPr lang="en-US" sz="1100" dirty="0"/>
          </a:p>
        </p:txBody>
      </p:sp>
      <p:sp>
        <p:nvSpPr>
          <p:cNvPr id="203" name="Label"/>
          <p:cNvSpPr txBox="1"/>
          <p:nvPr/>
        </p:nvSpPr>
        <p:spPr>
          <a:xfrm>
            <a:off x="3063240" y="1481328"/>
            <a:ext cx="4023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2"/>
                </a:solidFill>
              </a:rPr>
              <a:t>WHAT IT MEANS</a:t>
            </a:r>
            <a:endParaRPr lang="en-US" sz="1100" dirty="0"/>
          </a:p>
        </p:txBody>
      </p:sp>
      <p:sp>
        <p:nvSpPr>
          <p:cNvPr id="204" name="Label"/>
          <p:cNvSpPr txBox="1"/>
          <p:nvPr/>
        </p:nvSpPr>
        <p:spPr>
          <a:xfrm>
            <a:off x="7360920" y="1481328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2"/>
                </a:solidFill>
              </a:rPr>
              <a:t>WHAT HAPPENS NEXT</a:t>
            </a:r>
            <a:endParaRPr lang="en-US" sz="1100" dirty="0"/>
          </a:p>
        </p:txBody>
      </p:sp>
      <p:sp>
        <p:nvSpPr>
          <p:cNvPr id="205" name="Card"/>
          <p:cNvSpPr/>
          <p:nvPr/>
        </p:nvSpPr>
        <p:spPr>
          <a:xfrm>
            <a:off x="548640" y="178308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6" name="Chip"/>
          <p:cNvSpPr txBox="1"/>
          <p:nvPr/>
        </p:nvSpPr>
        <p:spPr>
          <a:xfrm>
            <a:off x="713232" y="1938528"/>
            <a:ext cx="2103120" cy="402336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EXIT CONFIRMED</a:t>
            </a:r>
            <a:endParaRPr lang="en-US" sz="1200" dirty="0"/>
          </a:p>
        </p:txBody>
      </p:sp>
      <p:sp>
        <p:nvSpPr>
          <p:cNvPr id="207" name="Text"/>
          <p:cNvSpPr txBox="1"/>
          <p:nvPr/>
        </p:nvSpPr>
        <p:spPr>
          <a:xfrm>
            <a:off x="3063240" y="1783080"/>
            <a:ext cx="40690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Target platform, owner and date are agreed; effort and dependencies are understood.</a:t>
            </a:r>
            <a:endParaRPr lang="en-US" sz="1300" dirty="0"/>
          </a:p>
        </p:txBody>
      </p:sp>
      <p:sp>
        <p:nvSpPr>
          <p:cNvPr id="208" name="Text"/>
          <p:cNvSpPr txBox="1"/>
          <p:nvPr/>
        </p:nvSpPr>
        <p:spPr>
          <a:xfrm>
            <a:off x="7360920" y="1783080"/>
            <a:ext cx="41148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Schedule into an exit wave and track to the date.</a:t>
            </a:r>
            <a:endParaRPr lang="en-US" sz="1300" dirty="0"/>
          </a:p>
        </p:txBody>
      </p:sp>
      <p:sp>
        <p:nvSpPr>
          <p:cNvPr id="209" name="Card"/>
          <p:cNvSpPr/>
          <p:nvPr/>
        </p:nvSpPr>
        <p:spPr>
          <a:xfrm>
            <a:off x="548640" y="2587752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0" name="Chip"/>
          <p:cNvSpPr txBox="1"/>
          <p:nvPr/>
        </p:nvSpPr>
        <p:spPr>
          <a:xfrm>
            <a:off x="713232" y="2743200"/>
            <a:ext cx="2103120" cy="402336"/>
          </a:xfrm>
          <a:prstGeom prst="roundRect">
            <a:avLst>
              <a:gd name="adj" fmla="val 13636"/>
            </a:avLst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PATH KNOWN · NO DATE</a:t>
            </a:r>
            <a:endParaRPr lang="en-US" sz="1200" dirty="0"/>
          </a:p>
        </p:txBody>
      </p:sp>
      <p:sp>
        <p:nvSpPr>
          <p:cNvPr id="211" name="Text"/>
          <p:cNvSpPr txBox="1"/>
          <p:nvPr/>
        </p:nvSpPr>
        <p:spPr>
          <a:xfrm>
            <a:off x="3063240" y="2587752"/>
            <a:ext cx="40690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A likely target exists, but timeline, funding or capacity is not confirmed.</a:t>
            </a:r>
            <a:endParaRPr lang="en-US" sz="1300" dirty="0"/>
          </a:p>
        </p:txBody>
      </p:sp>
      <p:sp>
        <p:nvSpPr>
          <p:cNvPr id="212" name="Text"/>
          <p:cNvSpPr txBox="1"/>
          <p:nvPr/>
        </p:nvSpPr>
        <p:spPr>
          <a:xfrm>
            <a:off x="7360920" y="2587752"/>
            <a:ext cx="41148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Confirm effort, funding and a date with the target-platform owner.</a:t>
            </a:r>
            <a:endParaRPr lang="en-US" sz="1300" dirty="0"/>
          </a:p>
        </p:txBody>
      </p:sp>
      <p:sp>
        <p:nvSpPr>
          <p:cNvPr id="213" name="Card"/>
          <p:cNvSpPr/>
          <p:nvPr/>
        </p:nvSpPr>
        <p:spPr>
          <a:xfrm>
            <a:off x="548640" y="3392424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4" name="Chip"/>
          <p:cNvSpPr txBox="1"/>
          <p:nvPr/>
        </p:nvSpPr>
        <p:spPr>
          <a:xfrm>
            <a:off x="713232" y="3547872"/>
            <a:ext cx="2103120" cy="402336"/>
          </a:xfrm>
          <a:prstGeom prst="roundRect">
            <a:avLst>
              <a:gd name="adj" fmla="val 13636"/>
            </a:avLst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NO EXIT STRATEGY</a:t>
            </a:r>
            <a:endParaRPr lang="en-US" sz="1200" dirty="0"/>
          </a:p>
        </p:txBody>
      </p:sp>
      <p:sp>
        <p:nvSpPr>
          <p:cNvPr id="215" name="Text"/>
          <p:cNvSpPr txBox="1"/>
          <p:nvPr/>
        </p:nvSpPr>
        <p:spPr>
          <a:xfrm>
            <a:off x="3063240" y="3392424"/>
            <a:ext cx="40690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No viable target yet, or the logic is tightly tied to SAS.</a:t>
            </a:r>
            <a:endParaRPr lang="en-US" sz="1300" dirty="0"/>
          </a:p>
        </p:txBody>
      </p:sp>
      <p:sp>
        <p:nvSpPr>
          <p:cNvPr id="216" name="Text"/>
          <p:cNvSpPr txBox="1"/>
          <p:nvPr/>
        </p:nvSpPr>
        <p:spPr>
          <a:xfrm>
            <a:off x="7360920" y="3392424"/>
            <a:ext cx="41148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Convene the owner, SAS platform, architecture and Controls to design one.</a:t>
            </a:r>
            <a:endParaRPr lang="en-US" sz="1300" dirty="0"/>
          </a:p>
        </p:txBody>
      </p:sp>
      <p:sp>
        <p:nvSpPr>
          <p:cNvPr id="217" name="Card"/>
          <p:cNvSpPr/>
          <p:nvPr/>
        </p:nvSpPr>
        <p:spPr>
          <a:xfrm>
            <a:off x="548640" y="4197096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8" name="Chip"/>
          <p:cNvSpPr txBox="1"/>
          <p:nvPr/>
        </p:nvSpPr>
        <p:spPr>
          <a:xfrm>
            <a:off x="713232" y="4352544"/>
            <a:ext cx="2103120" cy="402336"/>
          </a:xfrm>
          <a:prstGeom prst="roundRect">
            <a:avLst>
              <a:gd name="adj" fmla="val 13636"/>
            </a:avLst>
          </a:prstGeom>
          <a:solidFill>
            <a:schemeClr val="tx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RETIRE</a:t>
            </a:r>
            <a:endParaRPr lang="en-US" sz="1200" dirty="0"/>
          </a:p>
        </p:txBody>
      </p:sp>
      <p:sp>
        <p:nvSpPr>
          <p:cNvPr id="219" name="Text"/>
          <p:cNvSpPr txBox="1"/>
          <p:nvPr/>
        </p:nvSpPr>
        <p:spPr>
          <a:xfrm>
            <a:off x="3063240" y="4197096"/>
            <a:ext cx="40690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Inactive, obsolete or duplicated; nothing downstream depends on it.</a:t>
            </a:r>
            <a:endParaRPr lang="en-US" sz="1300" dirty="0"/>
          </a:p>
        </p:txBody>
      </p:sp>
      <p:sp>
        <p:nvSpPr>
          <p:cNvPr id="220" name="Text"/>
          <p:cNvSpPr txBox="1"/>
          <p:nvPr/>
        </p:nvSpPr>
        <p:spPr>
          <a:xfrm>
            <a:off x="7360920" y="4197096"/>
            <a:ext cx="41148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Confirm retention, archive what must be kept, then shut it down.</a:t>
            </a:r>
            <a:endParaRPr lang="en-US" sz="1300" dirty="0"/>
          </a:p>
        </p:txBody>
      </p:sp>
      <p:sp>
        <p:nvSpPr>
          <p:cNvPr id="221" name="Card"/>
          <p:cNvSpPr/>
          <p:nvPr/>
        </p:nvSpPr>
        <p:spPr>
          <a:xfrm>
            <a:off x="548640" y="5001768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2" name="Chip"/>
          <p:cNvSpPr txBox="1"/>
          <p:nvPr/>
        </p:nvSpPr>
        <p:spPr>
          <a:xfrm>
            <a:off x="713232" y="5157216"/>
            <a:ext cx="2103120" cy="402336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OWNER UNKNOWN</a:t>
            </a:r>
            <a:endParaRPr lang="en-US" sz="1200" dirty="0"/>
          </a:p>
        </p:txBody>
      </p:sp>
      <p:sp>
        <p:nvSpPr>
          <p:cNvPr id="223" name="Text"/>
          <p:cNvSpPr txBox="1"/>
          <p:nvPr/>
        </p:nvSpPr>
        <p:spPr>
          <a:xfrm>
            <a:off x="3063240" y="5001768"/>
            <a:ext cx="40690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No confirmed owner, or its purpose and consumers are not documented.</a:t>
            </a:r>
            <a:endParaRPr lang="en-US" sz="1300" dirty="0"/>
          </a:p>
        </p:txBody>
      </p:sp>
      <p:sp>
        <p:nvSpPr>
          <p:cNvPr id="224" name="Text"/>
          <p:cNvSpPr txBox="1"/>
          <p:nvPr/>
        </p:nvSpPr>
        <p:spPr>
          <a:xfrm>
            <a:off x="7360920" y="5001768"/>
            <a:ext cx="41148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Trace the owner through job logs and access lists; escalate if unclaimed.</a:t>
            </a:r>
            <a:endParaRPr lang="en-US" sz="1300" dirty="0"/>
          </a:p>
        </p:txBody>
      </p:sp>
      <p:sp>
        <p:nvSpPr>
          <p:cNvPr id="225" name="Card"/>
          <p:cNvSpPr/>
          <p:nvPr/>
        </p:nvSpPr>
        <p:spPr>
          <a:xfrm>
            <a:off x="548640" y="5833872"/>
            <a:ext cx="11091672" cy="438912"/>
          </a:xfrm>
          <a:prstGeom prst="roundRect">
            <a:avLst>
              <a:gd name="adj" fmla="val 16666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6" name="Bar text"/>
          <p:cNvSpPr txBox="1"/>
          <p:nvPr/>
        </p:nvSpPr>
        <p:spPr>
          <a:xfrm>
            <a:off x="749808" y="5833872"/>
            <a:ext cx="10689336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</a:rPr>
              <a:t>Leadership readout: the number of use cases in each status, critical (T1/T2) first, with target dates and blockers.</a:t>
            </a:r>
            <a:endParaRPr lang="en-US" sz="1300" dirty="0"/>
          </a:p>
        </p:txBody>
      </p:sp>
      <p:sp>
        <p:nvSpPr>
          <p:cNvPr id="2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wrap="square" lIns="0" tIns="0" rIns="0" bIns="0" rtlCol="0" anchor="t"/>
          <a:lstStyle/>
          <a:p>
            <a:r>
              <a:t>Criticality Sets the Order and the Care of Each Exit</a:t>
            </a:r>
          </a:p>
        </p:txBody>
      </p:sp>
      <p:sp>
        <p:nvSpPr>
          <p:cNvPr id="201" name="Section tag"/>
          <p:cNvSpPr txBox="1"/>
          <p:nvPr/>
        </p:nvSpPr>
        <p:spPr>
          <a:xfrm>
            <a:off x="548640" y="274320"/>
            <a:ext cx="1472184" cy="27432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spc="150" dirty="0">
                <a:solidFill>
                  <a:schemeClr val="bg1"/>
                </a:solidFill>
              </a:rPr>
              <a:t>PRIORITIZATION</a:t>
            </a:r>
            <a:endParaRPr lang="en-US" sz="1000" dirty="0"/>
          </a:p>
        </p:txBody>
      </p:sp>
      <p:sp>
        <p:nvSpPr>
          <p:cNvPr id="202" name="Label"/>
          <p:cNvSpPr txBox="1"/>
          <p:nvPr/>
        </p:nvSpPr>
        <p:spPr>
          <a:xfrm>
            <a:off x="749808" y="1481328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2"/>
                </a:solidFill>
              </a:rPr>
              <a:t>TIER</a:t>
            </a:r>
            <a:endParaRPr lang="en-US" sz="1100" dirty="0"/>
          </a:p>
        </p:txBody>
      </p:sp>
      <p:sp>
        <p:nvSpPr>
          <p:cNvPr id="203" name="Label"/>
          <p:cNvSpPr txBox="1"/>
          <p:nvPr/>
        </p:nvSpPr>
        <p:spPr>
          <a:xfrm>
            <a:off x="2514600" y="1481328"/>
            <a:ext cx="4434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2"/>
                </a:solidFill>
              </a:rPr>
              <a:t>WHAT IT COVERS</a:t>
            </a:r>
            <a:endParaRPr lang="en-US" sz="1100" dirty="0"/>
          </a:p>
        </p:txBody>
      </p:sp>
      <p:sp>
        <p:nvSpPr>
          <p:cNvPr id="204" name="Label"/>
          <p:cNvSpPr txBox="1"/>
          <p:nvPr/>
        </p:nvSpPr>
        <p:spPr>
          <a:xfrm>
            <a:off x="7223760" y="1481328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2"/>
                </a:solidFill>
              </a:rPr>
              <a:t>HOW WE EXIT</a:t>
            </a:r>
            <a:endParaRPr lang="en-US" sz="1100" dirty="0"/>
          </a:p>
        </p:txBody>
      </p:sp>
      <p:sp>
        <p:nvSpPr>
          <p:cNvPr id="205" name="Card"/>
          <p:cNvSpPr/>
          <p:nvPr/>
        </p:nvSpPr>
        <p:spPr>
          <a:xfrm>
            <a:off x="548640" y="1783080"/>
            <a:ext cx="11091672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6" name="Chip"/>
          <p:cNvSpPr txBox="1"/>
          <p:nvPr/>
        </p:nvSpPr>
        <p:spPr>
          <a:xfrm>
            <a:off x="713232" y="2057400"/>
            <a:ext cx="1600200" cy="438912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T1  CRITICAL</a:t>
            </a:r>
            <a:endParaRPr lang="en-US" sz="1300" dirty="0"/>
          </a:p>
        </p:txBody>
      </p:sp>
      <p:sp>
        <p:nvSpPr>
          <p:cNvPr id="207" name="Text"/>
          <p:cNvSpPr txBox="1"/>
          <p:nvPr/>
        </p:nvSpPr>
        <p:spPr>
          <a:xfrm>
            <a:off x="2514600" y="1783080"/>
            <a:ext cx="4434840" cy="987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Regulatory filings, capital and allowance, production risk models, material reporting and decisions, daily monitoring, key controls and deadline-driven pipelines</a:t>
            </a:r>
            <a:endParaRPr lang="en-US" sz="1300" dirty="0"/>
          </a:p>
        </p:txBody>
      </p:sp>
      <p:sp>
        <p:nvSpPr>
          <p:cNvPr id="208" name="Text"/>
          <p:cNvSpPr txBox="1"/>
          <p:nvPr/>
        </p:nvSpPr>
        <p:spPr>
          <a:xfrm>
            <a:off x="7223760" y="1783080"/>
            <a:ext cx="4251960" cy="987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Plan first: executive visibility, a full dependency map and a fallback. Prove a tested replacement with clear service levels in a parallel run before cutover.</a:t>
            </a:r>
            <a:endParaRPr lang="en-US" sz="1300" dirty="0"/>
          </a:p>
        </p:txBody>
      </p:sp>
      <p:sp>
        <p:nvSpPr>
          <p:cNvPr id="209" name="Card"/>
          <p:cNvSpPr/>
          <p:nvPr/>
        </p:nvSpPr>
        <p:spPr>
          <a:xfrm>
            <a:off x="548640" y="2907792"/>
            <a:ext cx="11091672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0" name="Chip"/>
          <p:cNvSpPr txBox="1"/>
          <p:nvPr/>
        </p:nvSpPr>
        <p:spPr>
          <a:xfrm>
            <a:off x="713232" y="3182112"/>
            <a:ext cx="1600200" cy="438912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T2  MEDIUM</a:t>
            </a:r>
            <a:endParaRPr lang="en-US" sz="1300" dirty="0"/>
          </a:p>
        </p:txBody>
      </p:sp>
      <p:sp>
        <p:nvSpPr>
          <p:cNvPr id="211" name="Text"/>
          <p:cNvSpPr txBox="1"/>
          <p:nvPr/>
        </p:nvSpPr>
        <p:spPr>
          <a:xfrm>
            <a:off x="2514600" y="2907792"/>
            <a:ext cx="4434840" cy="987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Recurring analytics, internal reporting and analytical data preparation</a:t>
            </a:r>
            <a:endParaRPr lang="en-US" sz="1300" dirty="0"/>
          </a:p>
        </p:txBody>
      </p:sp>
      <p:sp>
        <p:nvSpPr>
          <p:cNvPr id="212" name="Text"/>
          <p:cNvSpPr txBox="1"/>
          <p:nvPr/>
        </p:nvSpPr>
        <p:spPr>
          <a:xfrm>
            <a:off x="7223760" y="2907792"/>
            <a:ext cx="4251960" cy="987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Migrate or consolidate in waves, based on target readiness and value.</a:t>
            </a:r>
            <a:endParaRPr lang="en-US" sz="1300" dirty="0"/>
          </a:p>
        </p:txBody>
      </p:sp>
      <p:sp>
        <p:nvSpPr>
          <p:cNvPr id="213" name="Card"/>
          <p:cNvSpPr/>
          <p:nvPr/>
        </p:nvSpPr>
        <p:spPr>
          <a:xfrm>
            <a:off x="548640" y="4032504"/>
            <a:ext cx="11091672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4" name="Chip"/>
          <p:cNvSpPr txBox="1"/>
          <p:nvPr/>
        </p:nvSpPr>
        <p:spPr>
          <a:xfrm>
            <a:off x="713232" y="4306824"/>
            <a:ext cx="1600200" cy="438912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T3  LOW</a:t>
            </a:r>
            <a:endParaRPr lang="en-US" sz="1300" dirty="0"/>
          </a:p>
        </p:txBody>
      </p:sp>
      <p:sp>
        <p:nvSpPr>
          <p:cNvPr id="215" name="Text"/>
          <p:cNvSpPr txBox="1"/>
          <p:nvPr/>
        </p:nvSpPr>
        <p:spPr>
          <a:xfrm>
            <a:off x="2514600" y="4032504"/>
            <a:ext cx="4434840" cy="987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Ad hoc, inactive, obsolete or duplicated work</a:t>
            </a:r>
            <a:endParaRPr lang="en-US" sz="1300" dirty="0"/>
          </a:p>
        </p:txBody>
      </p:sp>
      <p:sp>
        <p:nvSpPr>
          <p:cNvPr id="216" name="Text"/>
          <p:cNvSpPr txBox="1"/>
          <p:nvPr/>
        </p:nvSpPr>
        <p:spPr>
          <a:xfrm>
            <a:off x="7223760" y="4032504"/>
            <a:ext cx="4251960" cy="987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Retire or archive once retention and dependencies are confirmed.</a:t>
            </a:r>
            <a:endParaRPr lang="en-US" sz="1300" dirty="0"/>
          </a:p>
        </p:txBody>
      </p:sp>
      <p:sp>
        <p:nvSpPr>
          <p:cNvPr id="217" name="Card"/>
          <p:cNvSpPr/>
          <p:nvPr/>
        </p:nvSpPr>
        <p:spPr>
          <a:xfrm>
            <a:off x="548640" y="5248656"/>
            <a:ext cx="11091672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rgbClr val="C9D0D8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8" name="Bar text"/>
          <p:cNvSpPr txBox="1"/>
          <p:nvPr/>
        </p:nvSpPr>
        <p:spPr>
          <a:xfrm>
            <a:off x="749808" y="5248656"/>
            <a:ext cx="1068933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Why not rank by storage use? </a:t>
            </a:r>
            <a:r>
              <a:rPr lang="en-US" sz="1300" dirty="0">
                <a:solidFill>
                  <a:schemeClr val="tx1"/>
                </a:solidFill>
              </a:rPr>
              <a:t>Low usage is not low importance: a quarterly regulatory job can sit idle for weeks and still be critical.</a:t>
            </a:r>
            <a:endParaRPr lang="en-US" sz="1300" dirty="0"/>
          </a:p>
        </p:txBody>
      </p:sp>
      <p:sp>
        <p:nvSpPr>
          <p:cNvPr id="219" name="Card"/>
          <p:cNvSpPr/>
          <p:nvPr/>
        </p:nvSpPr>
        <p:spPr>
          <a:xfrm>
            <a:off x="548640" y="5833872"/>
            <a:ext cx="11091672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0" name="Bar text"/>
          <p:cNvSpPr txBox="1"/>
          <p:nvPr/>
        </p:nvSpPr>
        <p:spPr>
          <a:xfrm>
            <a:off x="749808" y="5833872"/>
            <a:ext cx="1068933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</a:rPr>
              <a:t>Override rule: any regulatory or controlled workload gets executive review, regardless of usage or savings.</a:t>
            </a:r>
            <a:endParaRPr lang="en-US" sz="1300" dirty="0"/>
          </a:p>
        </p:txBody>
      </p:sp>
      <p:sp>
        <p:nvSpPr>
          <p:cNvPr id="2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wrap="square" lIns="0" tIns="0" rIns="0" bIns="0" rtlCol="0" anchor="t"/>
          <a:lstStyle/>
          <a:p>
            <a:r>
              <a:t>Two Connected Tracks: Exit First, Clean Up Along the Way</a:t>
            </a:r>
          </a:p>
        </p:txBody>
      </p:sp>
      <p:sp>
        <p:nvSpPr>
          <p:cNvPr id="201" name="Section tag"/>
          <p:cNvSpPr txBox="1"/>
          <p:nvPr/>
        </p:nvSpPr>
        <p:spPr>
          <a:xfrm>
            <a:off x="548640" y="274320"/>
            <a:ext cx="978408" cy="27432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spc="150" dirty="0">
                <a:solidFill>
                  <a:schemeClr val="bg1"/>
                </a:solidFill>
              </a:rPr>
              <a:t>APPROACH</a:t>
            </a:r>
            <a:endParaRPr lang="en-US" sz="1000" dirty="0"/>
          </a:p>
        </p:txBody>
      </p:sp>
      <p:sp>
        <p:nvSpPr>
          <p:cNvPr id="202" name="Goal"/>
          <p:cNvSpPr/>
          <p:nvPr/>
        </p:nvSpPr>
        <p:spPr>
          <a:xfrm>
            <a:off x="548640" y="1417320"/>
            <a:ext cx="11091672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Program goal: know what runs on SAS, why it matters, and how and when each use case exits.</a:t>
            </a:r>
            <a:endParaRPr lang="en-US" sz="1600" dirty="0"/>
          </a:p>
        </p:txBody>
      </p:sp>
      <p:sp>
        <p:nvSpPr>
          <p:cNvPr id="203" name="Card"/>
          <p:cNvSpPr/>
          <p:nvPr/>
        </p:nvSpPr>
        <p:spPr>
          <a:xfrm>
            <a:off x="548640" y="2057400"/>
            <a:ext cx="5431536" cy="2697480"/>
          </a:xfrm>
          <a:prstGeom prst="roundRect">
            <a:avLst>
              <a:gd name="adj" fmla="val 2711"/>
            </a:avLst>
          </a:prstGeom>
          <a:solidFill>
            <a:schemeClr val="accent1">
              <a:alpha val="10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4" name="Card"/>
          <p:cNvSpPr/>
          <p:nvPr/>
        </p:nvSpPr>
        <p:spPr>
          <a:xfrm>
            <a:off x="548640" y="2057400"/>
            <a:ext cx="5431536" cy="658368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5" name="Text"/>
          <p:cNvSpPr txBox="1"/>
          <p:nvPr/>
        </p:nvSpPr>
        <p:spPr>
          <a:xfrm>
            <a:off x="749808" y="2057400"/>
            <a:ext cx="50292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spc="100" dirty="0">
                <a:solidFill>
                  <a:schemeClr val="bg1"/>
                </a:solidFill>
              </a:rPr>
              <a:t>TRACK 1 · PRIMARY</a:t>
            </a:r>
            <a:endParaRPr lang="en-US" sz="1000" dirty="0"/>
          </a:p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Use-Case Exit Readiness</a:t>
            </a:r>
            <a:endParaRPr lang="en-US" sz="1600" dirty="0"/>
          </a:p>
        </p:txBody>
      </p:sp>
      <p:sp>
        <p:nvSpPr>
          <p:cNvPr id="206" name="Text"/>
          <p:cNvSpPr txBox="1"/>
          <p:nvPr/>
        </p:nvSpPr>
        <p:spPr>
          <a:xfrm>
            <a:off x="749808" y="2852928"/>
            <a:ext cx="502920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Map each workspace to its use cases and business outcomes</a:t>
            </a:r>
            <a:endParaRPr lang="en-US" sz="13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Assess criticality, dependencies and controls</a:t>
            </a:r>
            <a:endParaRPr lang="en-US" sz="13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Confirm an exit path, target date and owner for each use case</a:t>
            </a:r>
            <a:endParaRPr lang="en-US" sz="13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Group exits into funded, owned migration waves</a:t>
            </a:r>
            <a:endParaRPr lang="en-US" sz="13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Decommission SAS once each wave is verified</a:t>
            </a:r>
            <a:endParaRPr lang="en-US" sz="1300" dirty="0"/>
          </a:p>
        </p:txBody>
      </p:sp>
      <p:cxnSp>
        <p:nvCxnSpPr>
          <p:cNvPr id="207" name="Divider"/>
          <p:cNvCxnSpPr/>
          <p:nvPr/>
        </p:nvCxnSpPr>
        <p:spPr>
          <a:xfrm>
            <a:off x="749808" y="4279392"/>
            <a:ext cx="5029200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cxnSp>
      <p:sp>
        <p:nvSpPr>
          <p:cNvPr id="208" name="Text"/>
          <p:cNvSpPr txBox="1"/>
          <p:nvPr/>
        </p:nvSpPr>
        <p:spPr>
          <a:xfrm>
            <a:off x="749808" y="4334256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spc="100" dirty="0">
                <a:solidFill>
                  <a:schemeClr val="accent1"/>
                </a:solidFill>
              </a:rPr>
              <a:t>OUTPUT   </a:t>
            </a:r>
            <a:r>
              <a:rPr lang="en-US" sz="1300" b="1" dirty="0">
                <a:solidFill>
                  <a:schemeClr val="tx1"/>
                </a:solidFill>
              </a:rPr>
              <a:t>Exit register, timeline and migration waves</a:t>
            </a:r>
            <a:endParaRPr lang="en-US" sz="1300" dirty="0"/>
          </a:p>
        </p:txBody>
      </p:sp>
      <p:sp>
        <p:nvSpPr>
          <p:cNvPr id="209" name="Card"/>
          <p:cNvSpPr/>
          <p:nvPr/>
        </p:nvSpPr>
        <p:spPr>
          <a:xfrm>
            <a:off x="6208776" y="2057400"/>
            <a:ext cx="5431536" cy="2697480"/>
          </a:xfrm>
          <a:prstGeom prst="roundRect">
            <a:avLst>
              <a:gd name="adj" fmla="val 2711"/>
            </a:avLst>
          </a:prstGeom>
          <a:solidFill>
            <a:schemeClr val="accent2">
              <a:alpha val="10000"/>
            </a:schemeClr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0" name="Card"/>
          <p:cNvSpPr/>
          <p:nvPr/>
        </p:nvSpPr>
        <p:spPr>
          <a:xfrm>
            <a:off x="6208776" y="2057400"/>
            <a:ext cx="5431536" cy="658368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1" name="Text"/>
          <p:cNvSpPr txBox="1"/>
          <p:nvPr/>
        </p:nvSpPr>
        <p:spPr>
          <a:xfrm>
            <a:off x="6409944" y="2057400"/>
            <a:ext cx="50292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spc="100" dirty="0">
                <a:solidFill>
                  <a:schemeClr val="bg1"/>
                </a:solidFill>
              </a:rPr>
              <a:t>TRACK 2 · SUPPORTING</a:t>
            </a:r>
            <a:endParaRPr lang="en-US" sz="1000" dirty="0"/>
          </a:p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Storage &amp; Access Clean-Up</a:t>
            </a:r>
            <a:endParaRPr lang="en-US" sz="1600" dirty="0"/>
          </a:p>
        </p:txBody>
      </p:sp>
      <p:sp>
        <p:nvSpPr>
          <p:cNvPr id="212" name="Text"/>
          <p:cNvSpPr txBox="1"/>
          <p:nvPr/>
        </p:nvSpPr>
        <p:spPr>
          <a:xfrm>
            <a:off x="6409944" y="2852928"/>
            <a:ext cx="502920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Validate empty (0%) and low-use (under 60%) storage allocations</a:t>
            </a:r>
            <a:endParaRPr lang="en-US" sz="13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Right-size or consolidate approved allocations</a:t>
            </a:r>
            <a:endParaRPr lang="en-US" sz="13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Remove access that is no longer needed, as a separate step</a:t>
            </a:r>
            <a:endParaRPr lang="en-US" sz="13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Confirm de-allocation and the billing impact</a:t>
            </a:r>
            <a:endParaRPr lang="en-US" sz="1300" dirty="0"/>
          </a:p>
        </p:txBody>
      </p:sp>
      <p:cxnSp>
        <p:nvCxnSpPr>
          <p:cNvPr id="213" name="Divider"/>
          <p:cNvCxnSpPr/>
          <p:nvPr/>
        </p:nvCxnSpPr>
        <p:spPr>
          <a:xfrm>
            <a:off x="6409944" y="4279392"/>
            <a:ext cx="50292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cxnSp>
      <p:sp>
        <p:nvSpPr>
          <p:cNvPr id="214" name="Text"/>
          <p:cNvSpPr txBox="1"/>
          <p:nvPr/>
        </p:nvSpPr>
        <p:spPr>
          <a:xfrm>
            <a:off x="6409944" y="4334256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spc="100" dirty="0">
                <a:solidFill>
                  <a:schemeClr val="accent2"/>
                </a:solidFill>
              </a:rPr>
              <a:t>OUTPUT   </a:t>
            </a:r>
            <a:r>
              <a:rPr lang="en-US" sz="1300" b="1" dirty="0">
                <a:solidFill>
                  <a:schemeClr val="tx1"/>
                </a:solidFill>
              </a:rPr>
              <a:t>Lower run cost and a smaller footprint to migrate</a:t>
            </a:r>
            <a:endParaRPr lang="en-US" sz="1300" dirty="0"/>
          </a:p>
        </p:txBody>
      </p:sp>
      <p:sp>
        <p:nvSpPr>
          <p:cNvPr id="215" name="Card"/>
          <p:cNvSpPr/>
          <p:nvPr/>
        </p:nvSpPr>
        <p:spPr>
          <a:xfrm>
            <a:off x="548640" y="4901184"/>
            <a:ext cx="11091672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rgbClr val="C9D0D8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6" name="Bar text"/>
          <p:cNvSpPr txBox="1"/>
          <p:nvPr/>
        </p:nvSpPr>
        <p:spPr>
          <a:xfrm>
            <a:off x="749808" y="4901184"/>
            <a:ext cx="1068933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How they connect: </a:t>
            </a:r>
            <a:r>
              <a:rPr lang="en-US" sz="1300" dirty="0">
                <a:solidFill>
                  <a:schemeClr val="tx1"/>
                </a:solidFill>
              </a:rPr>
              <a:t>clean-up findings feed the exit plan. Unused storage often points to use cases we can retire instead of migrate.</a:t>
            </a:r>
            <a:endParaRPr lang="en-US" sz="1300" dirty="0"/>
          </a:p>
        </p:txBody>
      </p:sp>
      <p:sp>
        <p:nvSpPr>
          <p:cNvPr id="217" name="Card"/>
          <p:cNvSpPr/>
          <p:nvPr/>
        </p:nvSpPr>
        <p:spPr>
          <a:xfrm>
            <a:off x="548640" y="5486400"/>
            <a:ext cx="11091672" cy="603504"/>
          </a:xfrm>
          <a:prstGeom prst="roundRect">
            <a:avLst>
              <a:gd name="adj" fmla="val 12121"/>
            </a:avLst>
          </a:prstGeom>
          <a:solidFill>
            <a:schemeClr val="accent4">
              <a:alpha val="10000"/>
            </a:schemeClr>
          </a:solidFill>
          <a:ln w="15875">
            <a:solidFill>
              <a:schemeClr val="accent4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8" name="Bar text"/>
          <p:cNvSpPr txBox="1"/>
          <p:nvPr/>
        </p:nvSpPr>
        <p:spPr>
          <a:xfrm>
            <a:off x="749808" y="5486400"/>
            <a:ext cx="1068933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accent4"/>
                </a:solidFill>
              </a:rPr>
              <a:t>Guardrail: </a:t>
            </a:r>
            <a:r>
              <a:rPr lang="en-US" sz="1300" dirty="0">
                <a:solidFill>
                  <a:schemeClr val="tx1"/>
                </a:solidFill>
              </a:rPr>
              <a:t>nothing is retired or reduced only because usage looks low. Owners first confirm purpose, seasonality, retention and downstream consumers.</a:t>
            </a:r>
            <a:endParaRPr lang="en-US" sz="1300" dirty="0"/>
          </a:p>
        </p:txBody>
      </p:sp>
      <p:sp>
        <p:nvSpPr>
          <p:cNvPr id="2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wrap="square" lIns="0" tIns="0" rIns="0" bIns="0" rtlCol="0" anchor="t"/>
          <a:lstStyle/>
          <a:p>
            <a:r>
              <a:t>From Inventory to Decommission: Five Steps for Every Use Case</a:t>
            </a:r>
          </a:p>
        </p:txBody>
      </p:sp>
      <p:sp>
        <p:nvSpPr>
          <p:cNvPr id="201" name="Section tag"/>
          <p:cNvSpPr txBox="1"/>
          <p:nvPr/>
        </p:nvSpPr>
        <p:spPr>
          <a:xfrm>
            <a:off x="548640" y="274320"/>
            <a:ext cx="1060704" cy="27432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spc="150" dirty="0">
                <a:solidFill>
                  <a:schemeClr val="bg1"/>
                </a:solidFill>
              </a:rPr>
              <a:t>EXIT FLOW</a:t>
            </a:r>
            <a:endParaRPr lang="en-US" sz="1000" dirty="0"/>
          </a:p>
        </p:txBody>
      </p:sp>
      <p:sp>
        <p:nvSpPr>
          <p:cNvPr id="202" name="Label"/>
          <p:cNvSpPr txBox="1"/>
          <p:nvPr/>
        </p:nvSpPr>
        <p:spPr>
          <a:xfrm>
            <a:off x="548640" y="1572768"/>
            <a:ext cx="881481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EXIT READINESS · STEPS 1–4</a:t>
            </a:r>
            <a:endParaRPr lang="en-US" sz="1100" dirty="0"/>
          </a:p>
        </p:txBody>
      </p:sp>
      <p:cxnSp>
        <p:nvCxnSpPr>
          <p:cNvPr id="203" name="Bracket"/>
          <p:cNvCxnSpPr/>
          <p:nvPr/>
        </p:nvCxnSpPr>
        <p:spPr>
          <a:xfrm>
            <a:off x="548640" y="1883664"/>
            <a:ext cx="881481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cxnSp>
      <p:sp>
        <p:nvSpPr>
          <p:cNvPr id="204" name="Label"/>
          <p:cNvSpPr txBox="1"/>
          <p:nvPr/>
        </p:nvSpPr>
        <p:spPr>
          <a:xfrm>
            <a:off x="9674352" y="1572768"/>
            <a:ext cx="1965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5"/>
                </a:solidFill>
              </a:rPr>
              <a:t>THE PAYOFF</a:t>
            </a:r>
            <a:endParaRPr lang="en-US" sz="1100" dirty="0"/>
          </a:p>
        </p:txBody>
      </p:sp>
      <p:cxnSp>
        <p:nvCxnSpPr>
          <p:cNvPr id="205" name="Bracket"/>
          <p:cNvCxnSpPr/>
          <p:nvPr/>
        </p:nvCxnSpPr>
        <p:spPr>
          <a:xfrm>
            <a:off x="9674352" y="1883664"/>
            <a:ext cx="19659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cxnSp>
      <p:sp>
        <p:nvSpPr>
          <p:cNvPr id="206" name="Card"/>
          <p:cNvSpPr/>
          <p:nvPr/>
        </p:nvSpPr>
        <p:spPr>
          <a:xfrm>
            <a:off x="548640" y="2057400"/>
            <a:ext cx="1965960" cy="3200400"/>
          </a:xfrm>
          <a:prstGeom prst="roundRect">
            <a:avLst>
              <a:gd name="adj" fmla="val 372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7" name="Card"/>
          <p:cNvSpPr/>
          <p:nvPr/>
        </p:nvSpPr>
        <p:spPr>
          <a:xfrm>
            <a:off x="548640" y="2057400"/>
            <a:ext cx="1965960" cy="749808"/>
          </a:xfrm>
          <a:prstGeom prst="roundRect">
            <a:avLst>
              <a:gd name="adj" fmla="val 9756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8" name="Number 1"/>
          <p:cNvSpPr txBox="1"/>
          <p:nvPr/>
        </p:nvSpPr>
        <p:spPr>
          <a:xfrm>
            <a:off x="676656" y="2231136"/>
            <a:ext cx="402336" cy="4023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209" name="Text"/>
          <p:cNvSpPr txBox="1"/>
          <p:nvPr/>
        </p:nvSpPr>
        <p:spPr>
          <a:xfrm>
            <a:off x="1170432" y="2057400"/>
            <a:ext cx="128016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</a:rPr>
              <a:t>Baseline</a:t>
            </a:r>
            <a:endParaRPr lang="en-US" sz="1500" dirty="0"/>
          </a:p>
        </p:txBody>
      </p:sp>
      <p:sp>
        <p:nvSpPr>
          <p:cNvPr id="210" name="Text"/>
          <p:cNvSpPr txBox="1"/>
          <p:nvPr/>
        </p:nvSpPr>
        <p:spPr>
          <a:xfrm>
            <a:off x="694944" y="2935224"/>
            <a:ext cx="1673352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Confirm every workspace, owner, environment, user, storage allocation and recent activity.</a:t>
            </a:r>
            <a:endParaRPr lang="en-US" sz="1300" dirty="0"/>
          </a:p>
        </p:txBody>
      </p:sp>
      <p:sp>
        <p:nvSpPr>
          <p:cNvPr id="211" name="Card"/>
          <p:cNvSpPr/>
          <p:nvPr/>
        </p:nvSpPr>
        <p:spPr>
          <a:xfrm>
            <a:off x="658368" y="4361688"/>
            <a:ext cx="1746504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2" name="Text"/>
          <p:cNvSpPr txBox="1"/>
          <p:nvPr/>
        </p:nvSpPr>
        <p:spPr>
          <a:xfrm>
            <a:off x="768096" y="4416552"/>
            <a:ext cx="152704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spc="100" dirty="0">
                <a:solidFill>
                  <a:schemeClr val="tx2"/>
                </a:solidFill>
              </a:rPr>
              <a:t>GATE</a:t>
            </a:r>
            <a:endParaRPr lang="en-US" sz="10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Inventory reconciled to platform data</a:t>
            </a:r>
            <a:endParaRPr lang="en-US" sz="1200" dirty="0"/>
          </a:p>
        </p:txBody>
      </p:sp>
      <p:sp>
        <p:nvSpPr>
          <p:cNvPr id="213" name="Arrow"/>
          <p:cNvSpPr/>
          <p:nvPr/>
        </p:nvSpPr>
        <p:spPr>
          <a:xfrm>
            <a:off x="2569464" y="3520440"/>
            <a:ext cx="201168" cy="27432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4" name="Card"/>
          <p:cNvSpPr/>
          <p:nvPr/>
        </p:nvSpPr>
        <p:spPr>
          <a:xfrm>
            <a:off x="2825496" y="2057400"/>
            <a:ext cx="1965960" cy="3200400"/>
          </a:xfrm>
          <a:prstGeom prst="roundRect">
            <a:avLst>
              <a:gd name="adj" fmla="val 372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5" name="Card"/>
          <p:cNvSpPr/>
          <p:nvPr/>
        </p:nvSpPr>
        <p:spPr>
          <a:xfrm>
            <a:off x="2825496" y="2057400"/>
            <a:ext cx="1965960" cy="749808"/>
          </a:xfrm>
          <a:prstGeom prst="roundRect">
            <a:avLst>
              <a:gd name="adj" fmla="val 9756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6" name="Number 2"/>
          <p:cNvSpPr txBox="1"/>
          <p:nvPr/>
        </p:nvSpPr>
        <p:spPr>
          <a:xfrm>
            <a:off x="2953512" y="2231136"/>
            <a:ext cx="402336" cy="4023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217" name="Text"/>
          <p:cNvSpPr txBox="1"/>
          <p:nvPr/>
        </p:nvSpPr>
        <p:spPr>
          <a:xfrm>
            <a:off x="3447288" y="2057400"/>
            <a:ext cx="128016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</a:rPr>
              <a:t>Discover</a:t>
            </a:r>
            <a:endParaRPr lang="en-US" sz="1500" dirty="0"/>
          </a:p>
        </p:txBody>
      </p:sp>
      <p:sp>
        <p:nvSpPr>
          <p:cNvPr id="218" name="Text"/>
          <p:cNvSpPr txBox="1"/>
          <p:nvPr/>
        </p:nvSpPr>
        <p:spPr>
          <a:xfrm>
            <a:off x="2971800" y="2935224"/>
            <a:ext cx="1673352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Document what each use case does: purpose, sources, jobs, outputs, consumers and run calendar.</a:t>
            </a:r>
            <a:endParaRPr lang="en-US" sz="1300" dirty="0"/>
          </a:p>
        </p:txBody>
      </p:sp>
      <p:sp>
        <p:nvSpPr>
          <p:cNvPr id="219" name="Card"/>
          <p:cNvSpPr/>
          <p:nvPr/>
        </p:nvSpPr>
        <p:spPr>
          <a:xfrm>
            <a:off x="2935224" y="4361688"/>
            <a:ext cx="1746504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0" name="Text"/>
          <p:cNvSpPr txBox="1"/>
          <p:nvPr/>
        </p:nvSpPr>
        <p:spPr>
          <a:xfrm>
            <a:off x="3044952" y="4416552"/>
            <a:ext cx="152704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spc="100" dirty="0">
                <a:solidFill>
                  <a:schemeClr val="tx2"/>
                </a:solidFill>
              </a:rPr>
              <a:t>GATE</a:t>
            </a:r>
            <a:endParaRPr lang="en-US" sz="10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Owner has confirmed the use case</a:t>
            </a:r>
            <a:endParaRPr lang="en-US" sz="1200" dirty="0"/>
          </a:p>
        </p:txBody>
      </p:sp>
      <p:sp>
        <p:nvSpPr>
          <p:cNvPr id="221" name="Arrow"/>
          <p:cNvSpPr/>
          <p:nvPr/>
        </p:nvSpPr>
        <p:spPr>
          <a:xfrm>
            <a:off x="4846320" y="3520440"/>
            <a:ext cx="201168" cy="27432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2" name="Card"/>
          <p:cNvSpPr/>
          <p:nvPr/>
        </p:nvSpPr>
        <p:spPr>
          <a:xfrm>
            <a:off x="5111496" y="2057400"/>
            <a:ext cx="1965960" cy="3200400"/>
          </a:xfrm>
          <a:prstGeom prst="roundRect">
            <a:avLst>
              <a:gd name="adj" fmla="val 372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3" name="Card"/>
          <p:cNvSpPr/>
          <p:nvPr/>
        </p:nvSpPr>
        <p:spPr>
          <a:xfrm>
            <a:off x="5111496" y="2057400"/>
            <a:ext cx="1965960" cy="749808"/>
          </a:xfrm>
          <a:prstGeom prst="roundRect">
            <a:avLst>
              <a:gd name="adj" fmla="val 9756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4" name="Number 3"/>
          <p:cNvSpPr txBox="1"/>
          <p:nvPr/>
        </p:nvSpPr>
        <p:spPr>
          <a:xfrm>
            <a:off x="5239512" y="2231136"/>
            <a:ext cx="402336" cy="4023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225" name="Text"/>
          <p:cNvSpPr txBox="1"/>
          <p:nvPr/>
        </p:nvSpPr>
        <p:spPr>
          <a:xfrm>
            <a:off x="5733288" y="2057400"/>
            <a:ext cx="128016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</a:rPr>
              <a:t>Assess</a:t>
            </a:r>
            <a:endParaRPr lang="en-US" sz="1500" dirty="0"/>
          </a:p>
        </p:txBody>
      </p:sp>
      <p:sp>
        <p:nvSpPr>
          <p:cNvPr id="226" name="Text"/>
          <p:cNvSpPr txBox="1"/>
          <p:nvPr/>
        </p:nvSpPr>
        <p:spPr>
          <a:xfrm>
            <a:off x="5257800" y="2935224"/>
            <a:ext cx="1673352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Rate criticality and map regulatory, model and control obligations and dependencies.</a:t>
            </a:r>
            <a:endParaRPr lang="en-US" sz="1300" dirty="0"/>
          </a:p>
        </p:txBody>
      </p:sp>
      <p:sp>
        <p:nvSpPr>
          <p:cNvPr id="227" name="Card"/>
          <p:cNvSpPr/>
          <p:nvPr/>
        </p:nvSpPr>
        <p:spPr>
          <a:xfrm>
            <a:off x="5221224" y="4361688"/>
            <a:ext cx="1746504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8" name="Text"/>
          <p:cNvSpPr txBox="1"/>
          <p:nvPr/>
        </p:nvSpPr>
        <p:spPr>
          <a:xfrm>
            <a:off x="5330952" y="4416552"/>
            <a:ext cx="152704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spc="100" dirty="0">
                <a:solidFill>
                  <a:schemeClr val="tx2"/>
                </a:solidFill>
              </a:rPr>
              <a:t>GATE</a:t>
            </a:r>
            <a:endParaRPr lang="en-US" sz="10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Criticality tier agreed</a:t>
            </a:r>
            <a:endParaRPr lang="en-US" sz="1200" dirty="0"/>
          </a:p>
        </p:txBody>
      </p:sp>
      <p:sp>
        <p:nvSpPr>
          <p:cNvPr id="229" name="Arrow"/>
          <p:cNvSpPr/>
          <p:nvPr/>
        </p:nvSpPr>
        <p:spPr>
          <a:xfrm>
            <a:off x="7132320" y="3520440"/>
            <a:ext cx="201168" cy="27432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30" name="Card"/>
          <p:cNvSpPr/>
          <p:nvPr/>
        </p:nvSpPr>
        <p:spPr>
          <a:xfrm>
            <a:off x="7388352" y="2057400"/>
            <a:ext cx="1965960" cy="3200400"/>
          </a:xfrm>
          <a:prstGeom prst="roundRect">
            <a:avLst>
              <a:gd name="adj" fmla="val 372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31" name="Card"/>
          <p:cNvSpPr/>
          <p:nvPr/>
        </p:nvSpPr>
        <p:spPr>
          <a:xfrm>
            <a:off x="7388352" y="2057400"/>
            <a:ext cx="1965960" cy="749808"/>
          </a:xfrm>
          <a:prstGeom prst="roundRect">
            <a:avLst>
              <a:gd name="adj" fmla="val 9756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32" name="Number 4"/>
          <p:cNvSpPr txBox="1"/>
          <p:nvPr/>
        </p:nvSpPr>
        <p:spPr>
          <a:xfrm>
            <a:off x="7516368" y="2231136"/>
            <a:ext cx="402336" cy="4023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233" name="Text"/>
          <p:cNvSpPr txBox="1"/>
          <p:nvPr/>
        </p:nvSpPr>
        <p:spPr>
          <a:xfrm>
            <a:off x="8010144" y="2057400"/>
            <a:ext cx="128016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</a:rPr>
              <a:t>Decide</a:t>
            </a:r>
            <a:endParaRPr lang="en-US" sz="1500" dirty="0"/>
          </a:p>
        </p:txBody>
      </p:sp>
      <p:sp>
        <p:nvSpPr>
          <p:cNvPr id="234" name="Text"/>
          <p:cNvSpPr txBox="1"/>
          <p:nvPr/>
        </p:nvSpPr>
        <p:spPr>
          <a:xfrm>
            <a:off x="7534656" y="2935224"/>
            <a:ext cx="1673352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Pick the exit path: migrate, consolidate, replace, retire, or retain briefly with an end date.</a:t>
            </a:r>
            <a:endParaRPr lang="en-US" sz="1300" dirty="0"/>
          </a:p>
        </p:txBody>
      </p:sp>
      <p:sp>
        <p:nvSpPr>
          <p:cNvPr id="235" name="Card"/>
          <p:cNvSpPr/>
          <p:nvPr/>
        </p:nvSpPr>
        <p:spPr>
          <a:xfrm>
            <a:off x="7498080" y="4361688"/>
            <a:ext cx="1746504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36" name="Text"/>
          <p:cNvSpPr txBox="1"/>
          <p:nvPr/>
        </p:nvSpPr>
        <p:spPr>
          <a:xfrm>
            <a:off x="7607808" y="4416552"/>
            <a:ext cx="152704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spc="100" dirty="0">
                <a:solidFill>
                  <a:schemeClr val="tx2"/>
                </a:solidFill>
              </a:rPr>
              <a:t>GATE</a:t>
            </a:r>
            <a:endParaRPr lang="en-US" sz="10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Target, owner and date approved</a:t>
            </a:r>
            <a:endParaRPr lang="en-US" sz="1200" dirty="0"/>
          </a:p>
        </p:txBody>
      </p:sp>
      <p:sp>
        <p:nvSpPr>
          <p:cNvPr id="237" name="Arrow"/>
          <p:cNvSpPr/>
          <p:nvPr/>
        </p:nvSpPr>
        <p:spPr>
          <a:xfrm>
            <a:off x="9409176" y="3520440"/>
            <a:ext cx="201168" cy="274320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38" name="Card"/>
          <p:cNvSpPr/>
          <p:nvPr/>
        </p:nvSpPr>
        <p:spPr>
          <a:xfrm>
            <a:off x="9674352" y="2057400"/>
            <a:ext cx="1965960" cy="3200400"/>
          </a:xfrm>
          <a:prstGeom prst="roundRect">
            <a:avLst>
              <a:gd name="adj" fmla="val 3720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39" name="Card"/>
          <p:cNvSpPr/>
          <p:nvPr/>
        </p:nvSpPr>
        <p:spPr>
          <a:xfrm>
            <a:off x="9674352" y="2057400"/>
            <a:ext cx="1965960" cy="749808"/>
          </a:xfrm>
          <a:prstGeom prst="roundRect">
            <a:avLst>
              <a:gd name="adj" fmla="val 9756"/>
            </a:avLst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40" name="Number 5"/>
          <p:cNvSpPr txBox="1"/>
          <p:nvPr/>
        </p:nvSpPr>
        <p:spPr>
          <a:xfrm>
            <a:off x="9802368" y="2231136"/>
            <a:ext cx="402336" cy="4023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5"/>
                </a:solidFill>
              </a:rPr>
              <a:t>5</a:t>
            </a:r>
            <a:endParaRPr lang="en-US" sz="1500" dirty="0"/>
          </a:p>
        </p:txBody>
      </p:sp>
      <p:sp>
        <p:nvSpPr>
          <p:cNvPr id="241" name="Text"/>
          <p:cNvSpPr txBox="1"/>
          <p:nvPr/>
        </p:nvSpPr>
        <p:spPr>
          <a:xfrm>
            <a:off x="10296144" y="2057400"/>
            <a:ext cx="128016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</a:rPr>
              <a:t>Execute &amp; Exit</a:t>
            </a:r>
            <a:endParaRPr lang="en-US" sz="1500" dirty="0"/>
          </a:p>
        </p:txBody>
      </p:sp>
      <p:sp>
        <p:nvSpPr>
          <p:cNvPr id="242" name="Text"/>
          <p:cNvSpPr txBox="1"/>
          <p:nvPr/>
        </p:nvSpPr>
        <p:spPr>
          <a:xfrm>
            <a:off x="9820656" y="2935224"/>
            <a:ext cx="1673352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Build and parallel-run on the target, cut over, then remove SAS jobs, access and storage.</a:t>
            </a:r>
            <a:endParaRPr lang="en-US" sz="1300" dirty="0"/>
          </a:p>
        </p:txBody>
      </p:sp>
      <p:sp>
        <p:nvSpPr>
          <p:cNvPr id="243" name="Card"/>
          <p:cNvSpPr/>
          <p:nvPr/>
        </p:nvSpPr>
        <p:spPr>
          <a:xfrm>
            <a:off x="9784080" y="4361688"/>
            <a:ext cx="1746504" cy="786384"/>
          </a:xfrm>
          <a:prstGeom prst="roundRect">
            <a:avLst>
              <a:gd name="adj" fmla="val 9302"/>
            </a:avLst>
          </a:prstGeom>
          <a:solidFill>
            <a:schemeClr val="accent5">
              <a:alpha val="15000"/>
            </a:schemeClr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44" name="Text"/>
          <p:cNvSpPr txBox="1"/>
          <p:nvPr/>
        </p:nvSpPr>
        <p:spPr>
          <a:xfrm>
            <a:off x="9893808" y="4416552"/>
            <a:ext cx="152704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spc="100" dirty="0">
                <a:solidFill>
                  <a:schemeClr val="tx2"/>
                </a:solidFill>
              </a:rPr>
              <a:t>THEN</a:t>
            </a:r>
            <a:endParaRPr lang="en-US" sz="10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SAS dependency removed and verified</a:t>
            </a:r>
            <a:endParaRPr lang="en-US" sz="1200" dirty="0"/>
          </a:p>
        </p:txBody>
      </p:sp>
      <p:sp>
        <p:nvSpPr>
          <p:cNvPr id="245" name="Card"/>
          <p:cNvSpPr/>
          <p:nvPr/>
        </p:nvSpPr>
        <p:spPr>
          <a:xfrm>
            <a:off x="548640" y="5486400"/>
            <a:ext cx="11091672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rgbClr val="C9D0D8"/>
            </a:solidFill>
            <a:prstDash val="dash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46" name="Text"/>
          <p:cNvSpPr txBox="1"/>
          <p:nvPr/>
        </p:nvSpPr>
        <p:spPr>
          <a:xfrm>
            <a:off x="749808" y="5486400"/>
            <a:ext cx="106984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Decision gate: </a:t>
            </a:r>
            <a:r>
              <a:rPr lang="en-US" sz="1400" dirty="0">
                <a:solidFill>
                  <a:schemeClr val="tx1"/>
                </a:solidFill>
              </a:rPr>
              <a:t>a use case moves to execution only when its owner, criticality, dependencies, target readiness and control evidence are understood.</a:t>
            </a:r>
            <a:endParaRPr lang="en-US" sz="1400" dirty="0"/>
          </a:p>
        </p:txBody>
      </p:sp>
      <p:sp>
        <p:nvSpPr>
          <p:cNvPr id="2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wrap="square" lIns="0" tIns="0" rIns="0" bIns="0" rtlCol="0" anchor="t"/>
          <a:lstStyle/>
          <a:p>
            <a:r>
              <a:t>Who Needs to Be in the Room to Build Each Exit Strategy</a:t>
            </a:r>
          </a:p>
        </p:txBody>
      </p:sp>
      <p:sp>
        <p:nvSpPr>
          <p:cNvPr id="201" name="Section tag"/>
          <p:cNvSpPr txBox="1"/>
          <p:nvPr/>
        </p:nvSpPr>
        <p:spPr>
          <a:xfrm>
            <a:off x="548640" y="274320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spc="150" dirty="0">
                <a:solidFill>
                  <a:schemeClr val="bg1"/>
                </a:solidFill>
              </a:rPr>
              <a:t>OPERATING MODEL</a:t>
            </a:r>
            <a:endParaRPr lang="en-US" sz="1000" dirty="0"/>
          </a:p>
        </p:txBody>
      </p:sp>
      <p:sp>
        <p:nvSpPr>
          <p:cNvPr id="202" name="Card"/>
          <p:cNvSpPr/>
          <p:nvPr/>
        </p:nvSpPr>
        <p:spPr>
          <a:xfrm>
            <a:off x="548640" y="1600200"/>
            <a:ext cx="5431536" cy="1005840"/>
          </a:xfrm>
          <a:prstGeom prst="roundRect">
            <a:avLst>
              <a:gd name="adj" fmla="val 7272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3" name="Text"/>
          <p:cNvSpPr txBox="1"/>
          <p:nvPr/>
        </p:nvSpPr>
        <p:spPr>
          <a:xfrm>
            <a:off x="749808" y="160020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Executive sponsor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Technology leadership</a:t>
            </a:r>
            <a:endParaRPr lang="en-US" sz="1200" dirty="0"/>
          </a:p>
        </p:txBody>
      </p:sp>
      <p:sp>
        <p:nvSpPr>
          <p:cNvPr id="204" name="Text"/>
          <p:cNvSpPr txBox="1"/>
          <p:nvPr/>
        </p:nvSpPr>
        <p:spPr>
          <a:xfrm>
            <a:off x="2971800" y="1600200"/>
            <a:ext cx="2852928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Sets urgency and the exit deadline; decides exit-versus-retain trade-offs; clears cross-team blockers.</a:t>
            </a:r>
            <a:endParaRPr lang="en-US" sz="1300" dirty="0"/>
          </a:p>
        </p:txBody>
      </p:sp>
      <p:sp>
        <p:nvSpPr>
          <p:cNvPr id="205" name="Card"/>
          <p:cNvSpPr/>
          <p:nvPr/>
        </p:nvSpPr>
        <p:spPr>
          <a:xfrm>
            <a:off x="6208776" y="1600200"/>
            <a:ext cx="5431536" cy="1005840"/>
          </a:xfrm>
          <a:prstGeom prst="roundRect">
            <a:avLst>
              <a:gd name="adj" fmla="val 7272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6" name="Text"/>
          <p:cNvSpPr txBox="1"/>
          <p:nvPr/>
        </p:nvSpPr>
        <p:spPr>
          <a:xfrm>
            <a:off x="6409944" y="160020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Corporate Risk program lead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Accountable owner</a:t>
            </a:r>
            <a:endParaRPr lang="en-US" sz="1200" dirty="0"/>
          </a:p>
        </p:txBody>
      </p:sp>
      <p:sp>
        <p:nvSpPr>
          <p:cNvPr id="207" name="Text"/>
          <p:cNvSpPr txBox="1"/>
          <p:nvPr/>
        </p:nvSpPr>
        <p:spPr>
          <a:xfrm>
            <a:off x="8631936" y="1600200"/>
            <a:ext cx="2852928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Owns the consolidated use-case review and recommends an exit path for each use case.</a:t>
            </a:r>
            <a:endParaRPr lang="en-US" sz="1300" dirty="0"/>
          </a:p>
        </p:txBody>
      </p:sp>
      <p:sp>
        <p:nvSpPr>
          <p:cNvPr id="208" name="Card"/>
          <p:cNvSpPr/>
          <p:nvPr/>
        </p:nvSpPr>
        <p:spPr>
          <a:xfrm>
            <a:off x="548640" y="2715768"/>
            <a:ext cx="5431536" cy="1005840"/>
          </a:xfrm>
          <a:prstGeom prst="roundRect">
            <a:avLst>
              <a:gd name="adj" fmla="val 7272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9" name="Text"/>
          <p:cNvSpPr txBox="1"/>
          <p:nvPr/>
        </p:nvSpPr>
        <p:spPr>
          <a:xfrm>
            <a:off x="749808" y="2715768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Data management PMO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Program office</a:t>
            </a:r>
            <a:endParaRPr lang="en-US" sz="1200" dirty="0"/>
          </a:p>
        </p:txBody>
      </p:sp>
      <p:sp>
        <p:nvSpPr>
          <p:cNvPr id="210" name="Text"/>
          <p:cNvSpPr txBox="1"/>
          <p:nvPr/>
        </p:nvSpPr>
        <p:spPr>
          <a:xfrm>
            <a:off x="2971800" y="2715768"/>
            <a:ext cx="2852928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Mobilizes owners, runs the exit register and tracker, keeps evidence and escalates delays.</a:t>
            </a:r>
            <a:endParaRPr lang="en-US" sz="1300" dirty="0"/>
          </a:p>
        </p:txBody>
      </p:sp>
      <p:sp>
        <p:nvSpPr>
          <p:cNvPr id="211" name="Card"/>
          <p:cNvSpPr/>
          <p:nvPr/>
        </p:nvSpPr>
        <p:spPr>
          <a:xfrm>
            <a:off x="6208776" y="2715768"/>
            <a:ext cx="5431536" cy="1005840"/>
          </a:xfrm>
          <a:prstGeom prst="roundRect">
            <a:avLst>
              <a:gd name="adj" fmla="val 7272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2" name="Text"/>
          <p:cNvSpPr txBox="1"/>
          <p:nvPr/>
        </p:nvSpPr>
        <p:spPr>
          <a:xfrm>
            <a:off x="6409944" y="2715768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SAS platform team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Technology</a:t>
            </a:r>
            <a:endParaRPr lang="en-US" sz="1200" dirty="0"/>
          </a:p>
        </p:txBody>
      </p:sp>
      <p:sp>
        <p:nvSpPr>
          <p:cNvPr id="213" name="Text"/>
          <p:cNvSpPr txBox="1"/>
          <p:nvPr/>
        </p:nvSpPr>
        <p:spPr>
          <a:xfrm>
            <a:off x="8631936" y="2715768"/>
            <a:ext cx="2852928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Provides inventories, job logs and dependencies; makes allocation changes and shuts down workloads.</a:t>
            </a:r>
            <a:endParaRPr lang="en-US" sz="1300" dirty="0"/>
          </a:p>
        </p:txBody>
      </p:sp>
      <p:sp>
        <p:nvSpPr>
          <p:cNvPr id="214" name="Card"/>
          <p:cNvSpPr/>
          <p:nvPr/>
        </p:nvSpPr>
        <p:spPr>
          <a:xfrm>
            <a:off x="548640" y="3831336"/>
            <a:ext cx="5431536" cy="1005840"/>
          </a:xfrm>
          <a:prstGeom prst="roundRect">
            <a:avLst>
              <a:gd name="adj" fmla="val 7272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5" name="Text"/>
          <p:cNvSpPr txBox="1"/>
          <p:nvPr/>
        </p:nvSpPr>
        <p:spPr>
          <a:xfrm>
            <a:off x="749808" y="3831336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Business, model and report owners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Use-case owners</a:t>
            </a:r>
            <a:endParaRPr lang="en-US" sz="1200" dirty="0"/>
          </a:p>
        </p:txBody>
      </p:sp>
      <p:sp>
        <p:nvSpPr>
          <p:cNvPr id="216" name="Text"/>
          <p:cNvSpPr txBox="1"/>
          <p:nvPr/>
        </p:nvSpPr>
        <p:spPr>
          <a:xfrm>
            <a:off x="2971800" y="3831336"/>
            <a:ext cx="2852928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Confirm purpose, criticality and downstream impact; accept the target and sign off cutover.</a:t>
            </a:r>
            <a:endParaRPr lang="en-US" sz="1300" dirty="0"/>
          </a:p>
        </p:txBody>
      </p:sp>
      <p:sp>
        <p:nvSpPr>
          <p:cNvPr id="217" name="Card"/>
          <p:cNvSpPr/>
          <p:nvPr/>
        </p:nvSpPr>
        <p:spPr>
          <a:xfrm>
            <a:off x="6208776" y="3831336"/>
            <a:ext cx="5431536" cy="1005840"/>
          </a:xfrm>
          <a:prstGeom prst="roundRect">
            <a:avLst>
              <a:gd name="adj" fmla="val 7272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8" name="Text"/>
          <p:cNvSpPr txBox="1"/>
          <p:nvPr/>
        </p:nvSpPr>
        <p:spPr>
          <a:xfrm>
            <a:off x="6409944" y="3831336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Architecture, Finance and Controls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Target and oversight</a:t>
            </a:r>
            <a:endParaRPr lang="en-US" sz="1200" dirty="0"/>
          </a:p>
        </p:txBody>
      </p:sp>
      <p:sp>
        <p:nvSpPr>
          <p:cNvPr id="219" name="Text"/>
          <p:cNvSpPr txBox="1"/>
          <p:nvPr/>
        </p:nvSpPr>
        <p:spPr>
          <a:xfrm>
            <a:off x="8631936" y="3831336"/>
            <a:ext cx="2852928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Approve target platforms, cost, data sourcing, retention, security, and model and report controls.</a:t>
            </a:r>
            <a:endParaRPr lang="en-US" sz="1300" dirty="0"/>
          </a:p>
        </p:txBody>
      </p:sp>
      <p:sp>
        <p:nvSpPr>
          <p:cNvPr id="220" name="Card"/>
          <p:cNvSpPr/>
          <p:nvPr/>
        </p:nvSpPr>
        <p:spPr>
          <a:xfrm>
            <a:off x="548640" y="4992624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rgbClr val="C9D0D8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1" name="Bar text"/>
          <p:cNvSpPr txBox="1"/>
          <p:nvPr/>
        </p:nvSpPr>
        <p:spPr>
          <a:xfrm>
            <a:off x="749808" y="4992624"/>
            <a:ext cx="1068933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No exit strategy yet? </a:t>
            </a:r>
            <a:r>
              <a:rPr lang="en-US" sz="1300" dirty="0">
                <a:solidFill>
                  <a:schemeClr val="tx1"/>
                </a:solidFill>
              </a:rPr>
              <a:t>The business owner, SAS platform team, target architecture and Controls meet together to agree a target, an owner and a date.</a:t>
            </a:r>
            <a:endParaRPr lang="en-US" sz="1300" dirty="0"/>
          </a:p>
        </p:txBody>
      </p:sp>
      <p:sp>
        <p:nvSpPr>
          <p:cNvPr id="222" name="Card"/>
          <p:cNvSpPr/>
          <p:nvPr/>
        </p:nvSpPr>
        <p:spPr>
          <a:xfrm>
            <a:off x="548640" y="5705856"/>
            <a:ext cx="11091672" cy="475488"/>
          </a:xfrm>
          <a:prstGeom prst="roundRect">
            <a:avLst>
              <a:gd name="adj" fmla="val 15384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3" name="Bar text"/>
          <p:cNvSpPr txBox="1"/>
          <p:nvPr/>
        </p:nvSpPr>
        <p:spPr>
          <a:xfrm>
            <a:off x="749808" y="5705856"/>
            <a:ext cx="1068933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</a:rPr>
              <a:t>Immediate decision: name the accountable Corporate Risk program lead and a target-platform owner for each exit path.</a:t>
            </a:r>
            <a:endParaRPr lang="en-US" sz="1300" dirty="0"/>
          </a:p>
        </p:txBody>
      </p:sp>
      <p:sp>
        <p:nvSpPr>
          <p:cNvPr id="22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wrap="square" lIns="0" tIns="0" rIns="0" bIns="0" rtlCol="0" anchor="t"/>
          <a:lstStyle/>
          <a:p>
            <a:r>
              <a:t>Storage Clean-Up Lowers Cost While We Exit</a:t>
            </a:r>
          </a:p>
        </p:txBody>
      </p:sp>
      <p:sp>
        <p:nvSpPr>
          <p:cNvPr id="201" name="Section tag"/>
          <p:cNvSpPr txBox="1"/>
          <p:nvPr/>
        </p:nvSpPr>
        <p:spPr>
          <a:xfrm>
            <a:off x="548640" y="274320"/>
            <a:ext cx="1636776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spc="150" dirty="0">
                <a:solidFill>
                  <a:schemeClr val="bg1"/>
                </a:solidFill>
              </a:rPr>
              <a:t>SUPPORTING TRACK</a:t>
            </a:r>
            <a:endParaRPr lang="en-US" sz="1000" dirty="0"/>
          </a:p>
        </p:txBody>
      </p:sp>
      <p:sp>
        <p:nvSpPr>
          <p:cNvPr id="202" name="Card"/>
          <p:cNvSpPr/>
          <p:nvPr/>
        </p:nvSpPr>
        <p:spPr>
          <a:xfrm>
            <a:off x="548640" y="1600200"/>
            <a:ext cx="2601468" cy="1536192"/>
          </a:xfrm>
          <a:prstGeom prst="roundRect">
            <a:avLst>
              <a:gd name="adj" fmla="val 4761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3" name="Text"/>
          <p:cNvSpPr txBox="1"/>
          <p:nvPr/>
        </p:nvSpPr>
        <p:spPr>
          <a:xfrm>
            <a:off x="731520" y="1737360"/>
            <a:ext cx="224028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3000" b="1" dirty="0">
                <a:solidFill>
                  <a:schemeClr val="tx1"/>
                </a:solidFill>
              </a:rPr>
              <a:t>550,074 GB</a:t>
            </a:r>
            <a:endParaRPr lang="en-US" sz="3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Potential storage reduction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Allocations that are empty or under 60% used</a:t>
            </a:r>
            <a:endParaRPr lang="en-US" sz="1200" dirty="0"/>
          </a:p>
        </p:txBody>
      </p:sp>
      <p:sp>
        <p:nvSpPr>
          <p:cNvPr id="204" name="Card"/>
          <p:cNvSpPr/>
          <p:nvPr/>
        </p:nvSpPr>
        <p:spPr>
          <a:xfrm>
            <a:off x="3378708" y="1600200"/>
            <a:ext cx="2601468" cy="1536192"/>
          </a:xfrm>
          <a:prstGeom prst="roundRect">
            <a:avLst>
              <a:gd name="adj" fmla="val 4761"/>
            </a:avLst>
          </a:prstGeom>
          <a:solidFill>
            <a:schemeClr val="accent3">
              <a:alpha val="18000"/>
            </a:schemeClr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5" name="Text"/>
          <p:cNvSpPr txBox="1"/>
          <p:nvPr/>
        </p:nvSpPr>
        <p:spPr>
          <a:xfrm>
            <a:off x="3561588" y="1737360"/>
            <a:ext cx="224028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3000" b="1" dirty="0">
                <a:solidFill>
                  <a:schemeClr val="accent3"/>
                </a:solidFill>
              </a:rPr>
              <a:t>~$1.6M</a:t>
            </a:r>
            <a:endParaRPr lang="en-US" sz="3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Potential annual savings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Annualized using the platform team’s storage cost estimate</a:t>
            </a:r>
            <a:endParaRPr lang="en-US" sz="1200" dirty="0"/>
          </a:p>
        </p:txBody>
      </p:sp>
      <p:sp>
        <p:nvSpPr>
          <p:cNvPr id="206" name="Card"/>
          <p:cNvSpPr/>
          <p:nvPr/>
        </p:nvSpPr>
        <p:spPr>
          <a:xfrm>
            <a:off x="6208776" y="1600200"/>
            <a:ext cx="2601468" cy="1536192"/>
          </a:xfrm>
          <a:prstGeom prst="roundRect">
            <a:avLst>
              <a:gd name="adj" fmla="val 4761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7" name="Text"/>
          <p:cNvSpPr txBox="1"/>
          <p:nvPr/>
        </p:nvSpPr>
        <p:spPr>
          <a:xfrm>
            <a:off x="6391656" y="1737360"/>
            <a:ext cx="224028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3000" b="1" dirty="0">
                <a:solidFill>
                  <a:schemeClr val="tx1"/>
                </a:solidFill>
              </a:rPr>
              <a:t>&lt;60%</a:t>
            </a:r>
            <a:endParaRPr lang="en-US" sz="3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Utilization threshold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Below this, an allocation is reviewed; owners confirm headroom first</a:t>
            </a:r>
            <a:endParaRPr lang="en-US" sz="1200" dirty="0"/>
          </a:p>
        </p:txBody>
      </p:sp>
      <p:sp>
        <p:nvSpPr>
          <p:cNvPr id="208" name="Card"/>
          <p:cNvSpPr/>
          <p:nvPr/>
        </p:nvSpPr>
        <p:spPr>
          <a:xfrm>
            <a:off x="9038844" y="1600200"/>
            <a:ext cx="2601468" cy="1536192"/>
          </a:xfrm>
          <a:prstGeom prst="roundRect">
            <a:avLst>
              <a:gd name="adj" fmla="val 4761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9" name="Text"/>
          <p:cNvSpPr txBox="1"/>
          <p:nvPr/>
        </p:nvSpPr>
        <p:spPr>
          <a:xfrm>
            <a:off x="9221724" y="1737360"/>
            <a:ext cx="224028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3000" b="1" dirty="0">
                <a:solidFill>
                  <a:schemeClr val="tx1"/>
                </a:solidFill>
              </a:rPr>
              <a:t>4×</a:t>
            </a:r>
            <a:endParaRPr lang="en-US" sz="3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Storage footprint factor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Each allocated GB also carries snapshot and business-continuity copies</a:t>
            </a:r>
            <a:endParaRPr lang="en-US" sz="1200" dirty="0"/>
          </a:p>
        </p:txBody>
      </p:sp>
      <p:sp>
        <p:nvSpPr>
          <p:cNvPr id="210" name="Label"/>
          <p:cNvSpPr txBox="1"/>
          <p:nvPr/>
        </p:nvSpPr>
        <p:spPr>
          <a:xfrm>
            <a:off x="548640" y="3273552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2"/>
                </a:solidFill>
              </a:rPr>
              <a:t>HOW SAVINGS BECOME REAL</a:t>
            </a:r>
            <a:endParaRPr lang="en-US" sz="1100" dirty="0"/>
          </a:p>
        </p:txBody>
      </p:sp>
      <p:sp>
        <p:nvSpPr>
          <p:cNvPr id="211" name="Card"/>
          <p:cNvSpPr/>
          <p:nvPr/>
        </p:nvSpPr>
        <p:spPr>
          <a:xfrm>
            <a:off x="548640" y="3584448"/>
            <a:ext cx="1998878" cy="1298448"/>
          </a:xfrm>
          <a:prstGeom prst="roundRect">
            <a:avLst>
              <a:gd name="adj" fmla="val 5633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2" name="Number 1"/>
          <p:cNvSpPr txBox="1"/>
          <p:nvPr/>
        </p:nvSpPr>
        <p:spPr>
          <a:xfrm>
            <a:off x="676656" y="3712464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13" name="Text"/>
          <p:cNvSpPr txBox="1"/>
          <p:nvPr/>
        </p:nvSpPr>
        <p:spPr>
          <a:xfrm>
            <a:off x="1133856" y="3712464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Identify</a:t>
            </a:r>
            <a:endParaRPr lang="en-US" sz="1400" dirty="0"/>
          </a:p>
        </p:txBody>
      </p:sp>
      <p:sp>
        <p:nvSpPr>
          <p:cNvPr id="214" name="Text"/>
          <p:cNvSpPr txBox="1"/>
          <p:nvPr/>
        </p:nvSpPr>
        <p:spPr>
          <a:xfrm>
            <a:off x="676656" y="4197096"/>
            <a:ext cx="174284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Empty and low-use allocations; owners with several workspaces</a:t>
            </a:r>
            <a:endParaRPr lang="en-US" sz="1200" dirty="0"/>
          </a:p>
        </p:txBody>
      </p:sp>
      <p:sp>
        <p:nvSpPr>
          <p:cNvPr id="215" name="Arrow"/>
          <p:cNvSpPr/>
          <p:nvPr/>
        </p:nvSpPr>
        <p:spPr>
          <a:xfrm>
            <a:off x="2611526" y="4123944"/>
            <a:ext cx="146304" cy="219456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6" name="Card"/>
          <p:cNvSpPr/>
          <p:nvPr/>
        </p:nvSpPr>
        <p:spPr>
          <a:xfrm>
            <a:off x="2821838" y="3584448"/>
            <a:ext cx="1998878" cy="1298448"/>
          </a:xfrm>
          <a:prstGeom prst="roundRect">
            <a:avLst>
              <a:gd name="adj" fmla="val 5633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7" name="Number 2"/>
          <p:cNvSpPr txBox="1"/>
          <p:nvPr/>
        </p:nvSpPr>
        <p:spPr>
          <a:xfrm>
            <a:off x="2949854" y="3712464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18" name="Text"/>
          <p:cNvSpPr txBox="1"/>
          <p:nvPr/>
        </p:nvSpPr>
        <p:spPr>
          <a:xfrm>
            <a:off x="3407054" y="3712464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Validate</a:t>
            </a:r>
            <a:endParaRPr lang="en-US" sz="1400" dirty="0"/>
          </a:p>
        </p:txBody>
      </p:sp>
      <p:sp>
        <p:nvSpPr>
          <p:cNvPr id="219" name="Text"/>
          <p:cNvSpPr txBox="1"/>
          <p:nvPr/>
        </p:nvSpPr>
        <p:spPr>
          <a:xfrm>
            <a:off x="2949854" y="4197096"/>
            <a:ext cx="174284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Business use, peak cycles, jobs, outputs and retention</a:t>
            </a:r>
            <a:endParaRPr lang="en-US" sz="1200" dirty="0"/>
          </a:p>
        </p:txBody>
      </p:sp>
      <p:sp>
        <p:nvSpPr>
          <p:cNvPr id="220" name="Arrow"/>
          <p:cNvSpPr/>
          <p:nvPr/>
        </p:nvSpPr>
        <p:spPr>
          <a:xfrm>
            <a:off x="4884725" y="4123944"/>
            <a:ext cx="146304" cy="219456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1" name="Card"/>
          <p:cNvSpPr/>
          <p:nvPr/>
        </p:nvSpPr>
        <p:spPr>
          <a:xfrm>
            <a:off x="5095037" y="3584448"/>
            <a:ext cx="1998878" cy="1298448"/>
          </a:xfrm>
          <a:prstGeom prst="roundRect">
            <a:avLst>
              <a:gd name="adj" fmla="val 5633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2" name="Number 3"/>
          <p:cNvSpPr txBox="1"/>
          <p:nvPr/>
        </p:nvSpPr>
        <p:spPr>
          <a:xfrm>
            <a:off x="5223053" y="3712464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3" name="Text"/>
          <p:cNvSpPr txBox="1"/>
          <p:nvPr/>
        </p:nvSpPr>
        <p:spPr>
          <a:xfrm>
            <a:off x="5680253" y="3712464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Approve</a:t>
            </a:r>
            <a:endParaRPr lang="en-US" sz="1400" dirty="0"/>
          </a:p>
        </p:txBody>
      </p:sp>
      <p:sp>
        <p:nvSpPr>
          <p:cNvPr id="224" name="Text"/>
          <p:cNvSpPr txBox="1"/>
          <p:nvPr/>
        </p:nvSpPr>
        <p:spPr>
          <a:xfrm>
            <a:off x="5223053" y="4197096"/>
            <a:ext cx="174284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Owner signs off a target size with room to grow</a:t>
            </a:r>
            <a:endParaRPr lang="en-US" sz="1200" dirty="0"/>
          </a:p>
        </p:txBody>
      </p:sp>
      <p:sp>
        <p:nvSpPr>
          <p:cNvPr id="225" name="Arrow"/>
          <p:cNvSpPr/>
          <p:nvPr/>
        </p:nvSpPr>
        <p:spPr>
          <a:xfrm>
            <a:off x="7157923" y="4123944"/>
            <a:ext cx="146304" cy="219456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6" name="Card"/>
          <p:cNvSpPr/>
          <p:nvPr/>
        </p:nvSpPr>
        <p:spPr>
          <a:xfrm>
            <a:off x="7368235" y="3584448"/>
            <a:ext cx="1998878" cy="1298448"/>
          </a:xfrm>
          <a:prstGeom prst="roundRect">
            <a:avLst>
              <a:gd name="adj" fmla="val 5633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7" name="Number 4"/>
          <p:cNvSpPr txBox="1"/>
          <p:nvPr/>
        </p:nvSpPr>
        <p:spPr>
          <a:xfrm>
            <a:off x="7496251" y="3712464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28" name="Text"/>
          <p:cNvSpPr txBox="1"/>
          <p:nvPr/>
        </p:nvSpPr>
        <p:spPr>
          <a:xfrm>
            <a:off x="7953451" y="3712464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Reduce</a:t>
            </a:r>
            <a:endParaRPr lang="en-US" sz="1400" dirty="0"/>
          </a:p>
        </p:txBody>
      </p:sp>
      <p:sp>
        <p:nvSpPr>
          <p:cNvPr id="229" name="Text"/>
          <p:cNvSpPr txBox="1"/>
          <p:nvPr/>
        </p:nvSpPr>
        <p:spPr>
          <a:xfrm>
            <a:off x="7496251" y="4197096"/>
            <a:ext cx="174284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Archive or delete approved data; platform releases storage</a:t>
            </a:r>
            <a:endParaRPr lang="en-US" sz="1200" dirty="0"/>
          </a:p>
        </p:txBody>
      </p:sp>
      <p:sp>
        <p:nvSpPr>
          <p:cNvPr id="230" name="Arrow"/>
          <p:cNvSpPr/>
          <p:nvPr/>
        </p:nvSpPr>
        <p:spPr>
          <a:xfrm>
            <a:off x="9431122" y="4123944"/>
            <a:ext cx="146304" cy="219456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31" name="Card"/>
          <p:cNvSpPr/>
          <p:nvPr/>
        </p:nvSpPr>
        <p:spPr>
          <a:xfrm>
            <a:off x="9641434" y="3584448"/>
            <a:ext cx="1998878" cy="1298448"/>
          </a:xfrm>
          <a:prstGeom prst="roundRect">
            <a:avLst>
              <a:gd name="adj" fmla="val 5633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32" name="Number 5"/>
          <p:cNvSpPr txBox="1"/>
          <p:nvPr/>
        </p:nvSpPr>
        <p:spPr>
          <a:xfrm>
            <a:off x="9769450" y="3712464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33" name="Text"/>
          <p:cNvSpPr txBox="1"/>
          <p:nvPr/>
        </p:nvSpPr>
        <p:spPr>
          <a:xfrm>
            <a:off x="10226650" y="3712464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Verify</a:t>
            </a:r>
            <a:endParaRPr lang="en-US" sz="1400" dirty="0"/>
          </a:p>
        </p:txBody>
      </p:sp>
      <p:sp>
        <p:nvSpPr>
          <p:cNvPr id="234" name="Text"/>
          <p:cNvSpPr txBox="1"/>
          <p:nvPr/>
        </p:nvSpPr>
        <p:spPr>
          <a:xfrm>
            <a:off x="9769450" y="4197096"/>
            <a:ext cx="174284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Smaller allocation and billing impact confirmed</a:t>
            </a:r>
            <a:endParaRPr lang="en-US" sz="1200" dirty="0"/>
          </a:p>
        </p:txBody>
      </p:sp>
      <p:sp>
        <p:nvSpPr>
          <p:cNvPr id="235" name="Card"/>
          <p:cNvSpPr/>
          <p:nvPr/>
        </p:nvSpPr>
        <p:spPr>
          <a:xfrm>
            <a:off x="548640" y="5029200"/>
            <a:ext cx="11091672" cy="822960"/>
          </a:xfrm>
          <a:prstGeom prst="roundRect">
            <a:avLst>
              <a:gd name="adj" fmla="val 8888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36" name="Text"/>
          <p:cNvSpPr txBox="1"/>
          <p:nvPr/>
        </p:nvSpPr>
        <p:spPr>
          <a:xfrm>
            <a:off x="749808" y="5029200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spc="100" dirty="0">
                <a:solidFill>
                  <a:schemeClr val="bg2"/>
                </a:solidFill>
              </a:rPr>
              <a:t>HOW TO POSITION THE NUMBER</a:t>
            </a:r>
            <a:endParaRPr lang="en-US" sz="1000" dirty="0"/>
          </a:p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An opportunity estimate, not realized savings: it counts only after owner review, dependency checks, approved allocation changes and confirmed billing impact.</a:t>
            </a:r>
            <a:endParaRPr lang="en-US" sz="1400" dirty="0"/>
          </a:p>
        </p:txBody>
      </p:sp>
      <p:sp>
        <p:nvSpPr>
          <p:cNvPr id="237" name="Text"/>
          <p:cNvSpPr txBox="1"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1"/>
                </a:solidFill>
              </a:rPr>
              <a:t>Excel model: </a:t>
            </a:r>
            <a:r>
              <a:rPr lang="en-US" sz="1200" dirty="0">
                <a:solidFill>
                  <a:schemeClr val="tx2"/>
                </a:solidFill>
              </a:rPr>
              <a:t>supports workspace-level sizing and scenarios; the 550,074 GB figure remains the leadership baseline.</a:t>
            </a:r>
            <a:endParaRPr lang="en-US" sz="1200" dirty="0"/>
          </a:p>
        </p:txBody>
      </p:sp>
      <p:sp>
        <p:nvSpPr>
          <p:cNvPr id="2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wrap="square" lIns="0" tIns="0" rIns="0" bIns="0" rtlCol="0" anchor="t"/>
          <a:lstStyle/>
          <a:p>
            <a:r>
              <a:t>How We Run It: Cadence and Decision Products</a:t>
            </a:r>
          </a:p>
        </p:txBody>
      </p:sp>
      <p:sp>
        <p:nvSpPr>
          <p:cNvPr id="201" name="Section tag"/>
          <p:cNvSpPr txBox="1"/>
          <p:nvPr/>
        </p:nvSpPr>
        <p:spPr>
          <a:xfrm>
            <a:off x="548640" y="274320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spc="150" dirty="0">
                <a:solidFill>
                  <a:schemeClr val="bg1"/>
                </a:solidFill>
              </a:rPr>
              <a:t>GOVERNANCE</a:t>
            </a:r>
            <a:endParaRPr lang="en-US" sz="1000" dirty="0"/>
          </a:p>
        </p:txBody>
      </p:sp>
      <p:sp>
        <p:nvSpPr>
          <p:cNvPr id="202" name="Label"/>
          <p:cNvSpPr txBox="1"/>
          <p:nvPr/>
        </p:nvSpPr>
        <p:spPr>
          <a:xfrm>
            <a:off x="749808" y="1481328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2"/>
                </a:solidFill>
              </a:rPr>
              <a:t>FORUM</a:t>
            </a:r>
            <a:endParaRPr lang="en-US" sz="1100" dirty="0"/>
          </a:p>
        </p:txBody>
      </p:sp>
      <p:sp>
        <p:nvSpPr>
          <p:cNvPr id="203" name="Label"/>
          <p:cNvSpPr txBox="1"/>
          <p:nvPr/>
        </p:nvSpPr>
        <p:spPr>
          <a:xfrm>
            <a:off x="3611880" y="1481328"/>
            <a:ext cx="4663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2"/>
                </a:solidFill>
              </a:rPr>
              <a:t>WHAT WE COVER</a:t>
            </a:r>
            <a:endParaRPr lang="en-US" sz="1100" dirty="0"/>
          </a:p>
        </p:txBody>
      </p:sp>
      <p:sp>
        <p:nvSpPr>
          <p:cNvPr id="204" name="Label"/>
          <p:cNvSpPr txBox="1"/>
          <p:nvPr/>
        </p:nvSpPr>
        <p:spPr>
          <a:xfrm>
            <a:off x="8549640" y="1481328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2"/>
                </a:solidFill>
              </a:rPr>
              <a:t>OUTPUT</a:t>
            </a:r>
            <a:endParaRPr lang="en-US" sz="1100" dirty="0"/>
          </a:p>
        </p:txBody>
      </p:sp>
      <p:sp>
        <p:nvSpPr>
          <p:cNvPr id="205" name="Card"/>
          <p:cNvSpPr/>
          <p:nvPr/>
        </p:nvSpPr>
        <p:spPr>
          <a:xfrm>
            <a:off x="548640" y="178308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6" name="Text"/>
          <p:cNvSpPr txBox="1"/>
          <p:nvPr/>
        </p:nvSpPr>
        <p:spPr>
          <a:xfrm>
            <a:off x="749808" y="1783080"/>
            <a:ext cx="26974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Twice-weekly working session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Program team, owners, platform</a:t>
            </a:r>
            <a:endParaRPr lang="en-US" sz="1200" dirty="0"/>
          </a:p>
        </p:txBody>
      </p:sp>
      <p:sp>
        <p:nvSpPr>
          <p:cNvPr id="207" name="Text"/>
          <p:cNvSpPr txBox="1"/>
          <p:nvPr/>
        </p:nvSpPr>
        <p:spPr>
          <a:xfrm>
            <a:off x="3611880" y="1783080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Owner outreach, unknown workloads, platform questions, dependencies and issues.</a:t>
            </a:r>
            <a:endParaRPr lang="en-US" sz="1300" dirty="0"/>
          </a:p>
        </p:txBody>
      </p:sp>
      <p:sp>
        <p:nvSpPr>
          <p:cNvPr id="208" name="Text"/>
          <p:cNvSpPr txBox="1"/>
          <p:nvPr/>
        </p:nvSpPr>
        <p:spPr>
          <a:xfrm>
            <a:off x="8549640" y="1783080"/>
            <a:ext cx="29260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Updated exit register and issue log</a:t>
            </a:r>
            <a:endParaRPr lang="en-US" sz="1300" dirty="0"/>
          </a:p>
        </p:txBody>
      </p:sp>
      <p:sp>
        <p:nvSpPr>
          <p:cNvPr id="209" name="Card"/>
          <p:cNvSpPr/>
          <p:nvPr/>
        </p:nvSpPr>
        <p:spPr>
          <a:xfrm>
            <a:off x="548640" y="2761488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0" name="Text"/>
          <p:cNvSpPr txBox="1"/>
          <p:nvPr/>
        </p:nvSpPr>
        <p:spPr>
          <a:xfrm>
            <a:off x="749808" y="2761488"/>
            <a:ext cx="26974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Weekly leadership readout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Program lead to sponsor</a:t>
            </a:r>
            <a:endParaRPr lang="en-US" sz="1200" dirty="0"/>
          </a:p>
        </p:txBody>
      </p:sp>
      <p:sp>
        <p:nvSpPr>
          <p:cNvPr id="211" name="Text"/>
          <p:cNvSpPr txBox="1"/>
          <p:nvPr/>
        </p:nvSpPr>
        <p:spPr>
          <a:xfrm>
            <a:off x="3611880" y="2761488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Use cases mapped, critical exposures, exit status, storage progress and blockers.</a:t>
            </a:r>
            <a:endParaRPr lang="en-US" sz="1300" dirty="0"/>
          </a:p>
        </p:txBody>
      </p:sp>
      <p:sp>
        <p:nvSpPr>
          <p:cNvPr id="212" name="Text"/>
          <p:cNvSpPr txBox="1"/>
          <p:nvPr/>
        </p:nvSpPr>
        <p:spPr>
          <a:xfrm>
            <a:off x="8549640" y="2761488"/>
            <a:ext cx="29260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One-page status for leadership</a:t>
            </a:r>
            <a:endParaRPr lang="en-US" sz="1300" dirty="0"/>
          </a:p>
        </p:txBody>
      </p:sp>
      <p:sp>
        <p:nvSpPr>
          <p:cNvPr id="213" name="Card"/>
          <p:cNvSpPr/>
          <p:nvPr/>
        </p:nvSpPr>
        <p:spPr>
          <a:xfrm>
            <a:off x="548640" y="3739896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4" name="Text"/>
          <p:cNvSpPr txBox="1"/>
          <p:nvPr/>
        </p:nvSpPr>
        <p:spPr>
          <a:xfrm>
            <a:off x="749808" y="3739896"/>
            <a:ext cx="26974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Biweekly architecture review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Architecture, platform, target owners</a:t>
            </a:r>
            <a:endParaRPr lang="en-US" sz="1200" dirty="0"/>
          </a:p>
        </p:txBody>
      </p:sp>
      <p:sp>
        <p:nvSpPr>
          <p:cNvPr id="215" name="Text"/>
          <p:cNvSpPr txBox="1"/>
          <p:nvPr/>
        </p:nvSpPr>
        <p:spPr>
          <a:xfrm>
            <a:off x="3611880" y="3739896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Target platforms, shared migration patterns, data sourcing and control dependencies.</a:t>
            </a:r>
            <a:endParaRPr lang="en-US" sz="1300" dirty="0"/>
          </a:p>
        </p:txBody>
      </p:sp>
      <p:sp>
        <p:nvSpPr>
          <p:cNvPr id="216" name="Text"/>
          <p:cNvSpPr txBox="1"/>
          <p:nvPr/>
        </p:nvSpPr>
        <p:spPr>
          <a:xfrm>
            <a:off x="8549640" y="3739896"/>
            <a:ext cx="29260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Approved exit paths and patterns</a:t>
            </a:r>
            <a:endParaRPr lang="en-US" sz="1300" dirty="0"/>
          </a:p>
        </p:txBody>
      </p:sp>
      <p:sp>
        <p:nvSpPr>
          <p:cNvPr id="217" name="Card"/>
          <p:cNvSpPr/>
          <p:nvPr/>
        </p:nvSpPr>
        <p:spPr>
          <a:xfrm>
            <a:off x="548640" y="4718304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8" name="Text"/>
          <p:cNvSpPr txBox="1"/>
          <p:nvPr/>
        </p:nvSpPr>
        <p:spPr>
          <a:xfrm>
            <a:off x="749808" y="4718304"/>
            <a:ext cx="26974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Monthly steering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Executive sponsor and leads</a:t>
            </a:r>
            <a:endParaRPr lang="en-US" sz="1200" dirty="0"/>
          </a:p>
        </p:txBody>
      </p:sp>
      <p:sp>
        <p:nvSpPr>
          <p:cNvPr id="219" name="Text"/>
          <p:cNvSpPr txBox="1"/>
          <p:nvPr/>
        </p:nvSpPr>
        <p:spPr>
          <a:xfrm>
            <a:off x="3611880" y="4718304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Exit waves, funding, exceptions, SAS contract decisions and realized savings.</a:t>
            </a:r>
            <a:endParaRPr lang="en-US" sz="1300" dirty="0"/>
          </a:p>
        </p:txBody>
      </p:sp>
      <p:sp>
        <p:nvSpPr>
          <p:cNvPr id="220" name="Text"/>
          <p:cNvSpPr txBox="1"/>
          <p:nvPr/>
        </p:nvSpPr>
        <p:spPr>
          <a:xfrm>
            <a:off x="8549640" y="4718304"/>
            <a:ext cx="29260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Decisions and escalations recorded</a:t>
            </a:r>
            <a:endParaRPr lang="en-US" sz="1300" dirty="0"/>
          </a:p>
        </p:txBody>
      </p:sp>
      <p:sp>
        <p:nvSpPr>
          <p:cNvPr id="221" name="Card"/>
          <p:cNvSpPr/>
          <p:nvPr/>
        </p:nvSpPr>
        <p:spPr>
          <a:xfrm>
            <a:off x="548640" y="5724144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2" name="Bar text"/>
          <p:cNvSpPr txBox="1"/>
          <p:nvPr/>
        </p:nvSpPr>
        <p:spPr>
          <a:xfrm>
            <a:off x="749808" y="5724144"/>
            <a:ext cx="1068933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</a:rPr>
              <a:t>Core dashboard: </a:t>
            </a:r>
            <a:r>
              <a:rPr lang="en-US" sz="1300" dirty="0">
                <a:solidFill>
                  <a:schemeClr val="bg1"/>
                </a:solidFill>
              </a:rPr>
              <a:t>use cases mapped • criticality • exit status • target dates • T1/T2 exposure • GB approved to reclaim • realized savings • blockers</a:t>
            </a:r>
            <a:endParaRPr lang="en-US" sz="1300" dirty="0"/>
          </a:p>
        </p:txBody>
      </p:sp>
      <p:sp>
        <p:nvSpPr>
          <p:cNvPr id="2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wrap="square" lIns="0" tIns="0" rIns="0" bIns="0" rtlCol="0" anchor="t"/>
          <a:lstStyle/>
          <a:p>
            <a:r>
              <a:t>First 30 Business Days: Tangible Outputs</a:t>
            </a:r>
          </a:p>
        </p:txBody>
      </p:sp>
      <p:sp>
        <p:nvSpPr>
          <p:cNvPr id="201" name="Section tag"/>
          <p:cNvSpPr txBox="1"/>
          <p:nvPr/>
        </p:nvSpPr>
        <p:spPr>
          <a:xfrm>
            <a:off x="548640" y="274320"/>
            <a:ext cx="1307592" cy="27432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spc="150" dirty="0">
                <a:solidFill>
                  <a:schemeClr val="bg1"/>
                </a:solidFill>
              </a:rPr>
              <a:t>MOBILIZATION</a:t>
            </a:r>
            <a:endParaRPr lang="en-US" sz="1000" dirty="0"/>
          </a:p>
        </p:txBody>
      </p:sp>
      <p:sp>
        <p:nvSpPr>
          <p:cNvPr id="202" name="Card"/>
          <p:cNvSpPr/>
          <p:nvPr/>
        </p:nvSpPr>
        <p:spPr>
          <a:xfrm>
            <a:off x="548640" y="1600200"/>
            <a:ext cx="3547872" cy="3017520"/>
          </a:xfrm>
          <a:prstGeom prst="roundRect">
            <a:avLst>
              <a:gd name="adj" fmla="val 2424"/>
            </a:avLst>
          </a:prstGeom>
          <a:solidFill>
            <a:schemeClr val="accent1">
              <a:alpha val="10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3" name="Card"/>
          <p:cNvSpPr/>
          <p:nvPr/>
        </p:nvSpPr>
        <p:spPr>
          <a:xfrm>
            <a:off x="548640" y="1600200"/>
            <a:ext cx="3547872" cy="658368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4" name="Text"/>
          <p:cNvSpPr txBox="1"/>
          <p:nvPr/>
        </p:nvSpPr>
        <p:spPr>
          <a:xfrm>
            <a:off x="731520" y="1600200"/>
            <a:ext cx="3182112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spc="100" dirty="0">
                <a:solidFill>
                  <a:schemeClr val="bg1"/>
                </a:solidFill>
              </a:rPr>
              <a:t>WEEKS 1–2</a:t>
            </a:r>
            <a:endParaRPr lang="en-US" sz="1000" dirty="0"/>
          </a:p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Baseline &amp; Control</a:t>
            </a:r>
            <a:endParaRPr lang="en-US" sz="1600" dirty="0"/>
          </a:p>
        </p:txBody>
      </p:sp>
      <p:sp>
        <p:nvSpPr>
          <p:cNvPr id="205" name="Text"/>
          <p:cNvSpPr txBox="1"/>
          <p:nvPr/>
        </p:nvSpPr>
        <p:spPr>
          <a:xfrm>
            <a:off x="731520" y="2423160"/>
            <a:ext cx="320040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Confirm scope, decision makers and the escalation route</a:t>
            </a:r>
            <a:endParaRPr lang="en-US" sz="13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Reconcile workspace, owner, user and platform data</a:t>
            </a:r>
            <a:endParaRPr lang="en-US" sz="13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Collect job and run history; flag unknown workloads</a:t>
            </a:r>
            <a:endParaRPr lang="en-US" sz="13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Stand up the exit register and the weekly leadership readout</a:t>
            </a:r>
            <a:endParaRPr lang="en-US" sz="1300" dirty="0"/>
          </a:p>
        </p:txBody>
      </p:sp>
      <p:sp>
        <p:nvSpPr>
          <p:cNvPr id="206" name="Card"/>
          <p:cNvSpPr/>
          <p:nvPr/>
        </p:nvSpPr>
        <p:spPr>
          <a:xfrm>
            <a:off x="4320540" y="1600200"/>
            <a:ext cx="3547872" cy="3017520"/>
          </a:xfrm>
          <a:prstGeom prst="roundRect">
            <a:avLst>
              <a:gd name="adj" fmla="val 2424"/>
            </a:avLst>
          </a:prstGeom>
          <a:solidFill>
            <a:schemeClr val="accent2">
              <a:alpha val="10000"/>
            </a:schemeClr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7" name="Card"/>
          <p:cNvSpPr/>
          <p:nvPr/>
        </p:nvSpPr>
        <p:spPr>
          <a:xfrm>
            <a:off x="4320540" y="1600200"/>
            <a:ext cx="3547872" cy="658368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8" name="Text"/>
          <p:cNvSpPr txBox="1"/>
          <p:nvPr/>
        </p:nvSpPr>
        <p:spPr>
          <a:xfrm>
            <a:off x="4503420" y="1600200"/>
            <a:ext cx="3182112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spc="100" dirty="0">
                <a:solidFill>
                  <a:schemeClr val="bg1"/>
                </a:solidFill>
              </a:rPr>
              <a:t>WEEKS 3–4</a:t>
            </a:r>
            <a:endParaRPr lang="en-US" sz="1000" dirty="0"/>
          </a:p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Discovery &amp; Priority</a:t>
            </a:r>
            <a:endParaRPr lang="en-US" sz="1600" dirty="0"/>
          </a:p>
        </p:txBody>
      </p:sp>
      <p:sp>
        <p:nvSpPr>
          <p:cNvPr id="209" name="Text"/>
          <p:cNvSpPr txBox="1"/>
          <p:nvPr/>
        </p:nvSpPr>
        <p:spPr>
          <a:xfrm>
            <a:off x="4503420" y="2423160"/>
            <a:ext cx="320040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Send a standard use-case intake to every owner</a:t>
            </a:r>
            <a:endParaRPr lang="en-US" sz="13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Triage critical (T1/T2) workloads and the largest storage users first</a:t>
            </a:r>
            <a:endParaRPr lang="en-US" sz="13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Map sources, outputs, consumers and control obligations</a:t>
            </a:r>
            <a:endParaRPr lang="en-US" sz="13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Start exit-strategy sessions for critical use cases that have none</a:t>
            </a:r>
            <a:endParaRPr lang="en-US" sz="1300" dirty="0"/>
          </a:p>
        </p:txBody>
      </p:sp>
      <p:sp>
        <p:nvSpPr>
          <p:cNvPr id="210" name="Card"/>
          <p:cNvSpPr/>
          <p:nvPr/>
        </p:nvSpPr>
        <p:spPr>
          <a:xfrm>
            <a:off x="8092440" y="1600200"/>
            <a:ext cx="3547872" cy="3017520"/>
          </a:xfrm>
          <a:prstGeom prst="roundRect">
            <a:avLst>
              <a:gd name="adj" fmla="val 2424"/>
            </a:avLst>
          </a:prstGeom>
          <a:solidFill>
            <a:schemeClr val="accent3">
              <a:alpha val="10000"/>
            </a:schemeClr>
          </a:solidFill>
          <a:ln w="15875">
            <a:solidFill>
              <a:schemeClr val="accent3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1" name="Card"/>
          <p:cNvSpPr/>
          <p:nvPr/>
        </p:nvSpPr>
        <p:spPr>
          <a:xfrm>
            <a:off x="8092440" y="1600200"/>
            <a:ext cx="3547872" cy="658368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2" name="Text"/>
          <p:cNvSpPr txBox="1"/>
          <p:nvPr/>
        </p:nvSpPr>
        <p:spPr>
          <a:xfrm>
            <a:off x="8275320" y="1600200"/>
            <a:ext cx="3182112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spc="100" dirty="0">
                <a:solidFill>
                  <a:schemeClr val="bg1"/>
                </a:solidFill>
              </a:rPr>
              <a:t>WEEKS 5–6</a:t>
            </a:r>
            <a:endParaRPr lang="en-US" sz="1000" dirty="0"/>
          </a:p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Decision &amp; Action</a:t>
            </a:r>
            <a:endParaRPr lang="en-US" sz="1600" dirty="0"/>
          </a:p>
        </p:txBody>
      </p:sp>
      <p:sp>
        <p:nvSpPr>
          <p:cNvPr id="213" name="Text"/>
          <p:cNvSpPr txBox="1"/>
          <p:nvPr/>
        </p:nvSpPr>
        <p:spPr>
          <a:xfrm>
            <a:off x="8275320" y="2423160"/>
            <a:ext cx="320040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Give each use case an exit status and target readiness</a:t>
            </a:r>
            <a:endParaRPr lang="en-US" sz="13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Agree how de-allocation and access removal will work</a:t>
            </a:r>
            <a:endParaRPr lang="en-US" sz="13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Propose the first exit wave and its target-platform owners</a:t>
            </a:r>
            <a:endParaRPr lang="en-US" sz="13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Publish the first steering pack with blockers and asks</a:t>
            </a:r>
            <a:endParaRPr lang="en-US" sz="1300" dirty="0"/>
          </a:p>
        </p:txBody>
      </p:sp>
      <p:sp>
        <p:nvSpPr>
          <p:cNvPr id="214" name="Card"/>
          <p:cNvSpPr/>
          <p:nvPr/>
        </p:nvSpPr>
        <p:spPr>
          <a:xfrm>
            <a:off x="548640" y="4800600"/>
            <a:ext cx="11091672" cy="1243584"/>
          </a:xfrm>
          <a:prstGeom prst="roundRect">
            <a:avLst>
              <a:gd name="adj" fmla="val 5882"/>
            </a:avLst>
          </a:prstGeom>
          <a:solidFill>
            <a:schemeClr val="accent3">
              <a:alpha val="18000"/>
            </a:schemeClr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5" name="Text"/>
          <p:cNvSpPr txBox="1"/>
          <p:nvPr/>
        </p:nvSpPr>
        <p:spPr>
          <a:xfrm>
            <a:off x="749808" y="4800600"/>
            <a:ext cx="2103120" cy="12435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100" dirty="0">
                <a:solidFill>
                  <a:schemeClr val="accent3"/>
                </a:solidFill>
              </a:rPr>
              <a:t>LEADERSHIP OUTPUT</a:t>
            </a:r>
            <a:endParaRPr lang="en-US" sz="1100" dirty="0"/>
          </a:p>
          <a:p>
            <a:pPr marL="0" indent="0" algn="l">
              <a:buNone/>
            </a:pPr>
            <a:r>
              <a:rPr lang="en-US" sz="1300" b="1" dirty="0">
                <a:solidFill>
                  <a:schemeClr val="accent3"/>
                </a:solidFill>
              </a:rPr>
              <a:t>at day 30</a:t>
            </a:r>
            <a:endParaRPr lang="en-US" sz="1300" dirty="0"/>
          </a:p>
        </p:txBody>
      </p:sp>
      <p:sp>
        <p:nvSpPr>
          <p:cNvPr id="216" name="Text"/>
          <p:cNvSpPr txBox="1"/>
          <p:nvPr/>
        </p:nvSpPr>
        <p:spPr>
          <a:xfrm>
            <a:off x="2971800" y="4800600"/>
            <a:ext cx="8503920" cy="12435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177800" indent="-177800" algn="l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in-scope use case with an owner, criticality tier and exit status</a:t>
            </a:r>
            <a:endParaRPr lang="en-US" sz="1300" dirty="0"/>
          </a:p>
          <a:p>
            <a:pPr marL="177800" indent="-177800" algn="l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list of use cases with no exit strategy, and who must build each one</a:t>
            </a:r>
            <a:endParaRPr lang="en-US" sz="1300" dirty="0"/>
          </a:p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Draft exit waves and timeline, plus validated storage and access actions</a:t>
            </a:r>
            <a:endParaRPr lang="en-US" sz="1300" dirty="0"/>
          </a:p>
        </p:txBody>
      </p:sp>
      <p:sp>
        <p:nvSpPr>
          <p:cNvPr id="2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wrap="square" lIns="0" tIns="0" rIns="0" bIns="0" rtlCol="0" anchor="t"/>
          <a:lstStyle/>
          <a:p>
            <a:r>
              <a:t>What We Need From Leadership Now</a:t>
            </a:r>
          </a:p>
        </p:txBody>
      </p:sp>
      <p:sp>
        <p:nvSpPr>
          <p:cNvPr id="201" name="Section tag"/>
          <p:cNvSpPr txBox="1"/>
          <p:nvPr/>
        </p:nvSpPr>
        <p:spPr>
          <a:xfrm>
            <a:off x="548640" y="274320"/>
            <a:ext cx="1956816" cy="27432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spc="150" dirty="0">
                <a:solidFill>
                  <a:schemeClr val="bg1"/>
                </a:solidFill>
              </a:rPr>
              <a:t>LEADERSHIP DECISIONS</a:t>
            </a:r>
            <a:endParaRPr lang="en-US" sz="1000" dirty="0"/>
          </a:p>
        </p:txBody>
      </p:sp>
      <p:sp>
        <p:nvSpPr>
          <p:cNvPr id="202" name="Card"/>
          <p:cNvSpPr/>
          <p:nvPr/>
        </p:nvSpPr>
        <p:spPr>
          <a:xfrm>
            <a:off x="548640" y="160020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3" name="Number 1"/>
          <p:cNvSpPr txBox="1"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204" name="Text"/>
          <p:cNvSpPr txBox="1"/>
          <p:nvPr/>
        </p:nvSpPr>
        <p:spPr>
          <a:xfrm>
            <a:off x="1371600" y="1600200"/>
            <a:ext cx="32461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Confirm the mandate and timeline</a:t>
            </a:r>
            <a:endParaRPr lang="en-US" sz="15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b="1" spc="100" dirty="0">
                <a:solidFill>
                  <a:schemeClr val="accent4"/>
                </a:solidFill>
              </a:rPr>
              <a:t>NEEDED FIRST</a:t>
            </a:r>
            <a:endParaRPr lang="en-US" sz="1000" dirty="0"/>
          </a:p>
        </p:txBody>
      </p:sp>
      <p:sp>
        <p:nvSpPr>
          <p:cNvPr id="205" name="Text"/>
          <p:cNvSpPr txBox="1"/>
          <p:nvPr/>
        </p:nvSpPr>
        <p:spPr>
          <a:xfrm>
            <a:off x="4754880" y="1600200"/>
            <a:ext cx="6702552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Full SAS exit as the goal; which environments are in scope; the target exit date; and what counts as an acceptable exit strategy.</a:t>
            </a:r>
            <a:endParaRPr lang="en-US" sz="1300" dirty="0"/>
          </a:p>
        </p:txBody>
      </p:sp>
      <p:sp>
        <p:nvSpPr>
          <p:cNvPr id="206" name="Card"/>
          <p:cNvSpPr/>
          <p:nvPr/>
        </p:nvSpPr>
        <p:spPr>
          <a:xfrm>
            <a:off x="548640" y="242316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7" name="Number 2"/>
          <p:cNvSpPr txBox="1"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208" name="Text"/>
          <p:cNvSpPr txBox="1"/>
          <p:nvPr/>
        </p:nvSpPr>
        <p:spPr>
          <a:xfrm>
            <a:off x="1371600" y="2423160"/>
            <a:ext cx="32461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Name accountable leaders</a:t>
            </a:r>
            <a:endParaRPr lang="en-US" sz="150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b="1" spc="100" dirty="0">
                <a:solidFill>
                  <a:schemeClr val="accent4"/>
                </a:solidFill>
              </a:rPr>
              <a:t>NEEDED FIRST</a:t>
            </a:r>
            <a:endParaRPr lang="en-US" sz="1000" dirty="0"/>
          </a:p>
        </p:txBody>
      </p:sp>
      <p:sp>
        <p:nvSpPr>
          <p:cNvPr id="209" name="Text"/>
          <p:cNvSpPr txBox="1"/>
          <p:nvPr/>
        </p:nvSpPr>
        <p:spPr>
          <a:xfrm>
            <a:off x="4754880" y="2423160"/>
            <a:ext cx="6702552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Corporate Risk program lead, technology platform lead, Finance/FinOps partner and the escalation route.</a:t>
            </a:r>
            <a:endParaRPr lang="en-US" sz="1300" dirty="0"/>
          </a:p>
        </p:txBody>
      </p:sp>
      <p:sp>
        <p:nvSpPr>
          <p:cNvPr id="210" name="Card"/>
          <p:cNvSpPr/>
          <p:nvPr/>
        </p:nvSpPr>
        <p:spPr>
          <a:xfrm>
            <a:off x="548640" y="3246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1" name="Number 3"/>
          <p:cNvSpPr txBox="1"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12" name="Text"/>
          <p:cNvSpPr txBox="1"/>
          <p:nvPr/>
        </p:nvSpPr>
        <p:spPr>
          <a:xfrm>
            <a:off x="1371600" y="3246120"/>
            <a:ext cx="32461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Approve how we prioritize</a:t>
            </a:r>
            <a:endParaRPr lang="en-US" sz="1500" dirty="0"/>
          </a:p>
        </p:txBody>
      </p:sp>
      <p:sp>
        <p:nvSpPr>
          <p:cNvPr id="213" name="Text"/>
          <p:cNvSpPr txBox="1"/>
          <p:nvPr/>
        </p:nvSpPr>
        <p:spPr>
          <a:xfrm>
            <a:off x="4754880" y="3246120"/>
            <a:ext cx="6702552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Criticality and target readiness set the order; storage savings inform but do not drive it.</a:t>
            </a:r>
            <a:endParaRPr lang="en-US" sz="1300" dirty="0"/>
          </a:p>
        </p:txBody>
      </p:sp>
      <p:sp>
        <p:nvSpPr>
          <p:cNvPr id="214" name="Card"/>
          <p:cNvSpPr/>
          <p:nvPr/>
        </p:nvSpPr>
        <p:spPr>
          <a:xfrm>
            <a:off x="548640" y="406908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5" name="Number 4"/>
          <p:cNvSpPr txBox="1"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16" name="Text"/>
          <p:cNvSpPr txBox="1"/>
          <p:nvPr/>
        </p:nvSpPr>
        <p:spPr>
          <a:xfrm>
            <a:off x="1371600" y="4069080"/>
            <a:ext cx="32461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Authorize owner outreach</a:t>
            </a:r>
            <a:endParaRPr lang="en-US" sz="1500" dirty="0"/>
          </a:p>
        </p:txBody>
      </p:sp>
      <p:sp>
        <p:nvSpPr>
          <p:cNvPr id="217" name="Text"/>
          <p:cNvSpPr txBox="1"/>
          <p:nvPr/>
        </p:nvSpPr>
        <p:spPr>
          <a:xfrm>
            <a:off x="4754880" y="4069080"/>
            <a:ext cx="6702552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Standard intake to every workspace owner; focused discovery for critical (T0/T1) and the largest workloads.</a:t>
            </a:r>
            <a:endParaRPr lang="en-US" sz="1300" dirty="0"/>
          </a:p>
        </p:txBody>
      </p:sp>
      <p:sp>
        <p:nvSpPr>
          <p:cNvPr id="218" name="Card"/>
          <p:cNvSpPr/>
          <p:nvPr/>
        </p:nvSpPr>
        <p:spPr>
          <a:xfrm>
            <a:off x="548640" y="489204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9" name="Number 5"/>
          <p:cNvSpPr txBox="1"/>
          <p:nvPr/>
        </p:nvSpPr>
        <p:spPr>
          <a:xfrm>
            <a:off x="731520" y="50292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20" name="Text"/>
          <p:cNvSpPr txBox="1"/>
          <p:nvPr/>
        </p:nvSpPr>
        <p:spPr>
          <a:xfrm>
            <a:off x="1371600" y="4892040"/>
            <a:ext cx="32461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Unblock execution</a:t>
            </a:r>
            <a:endParaRPr lang="en-US" sz="1500" dirty="0"/>
          </a:p>
        </p:txBody>
      </p:sp>
      <p:sp>
        <p:nvSpPr>
          <p:cNvPr id="221" name="Text"/>
          <p:cNvSpPr txBox="1"/>
          <p:nvPr/>
        </p:nvSpPr>
        <p:spPr>
          <a:xfrm>
            <a:off x="4754880" y="4892040"/>
            <a:ext cx="6702552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Confirm the processes for archive and deletion, allocation reduction, access removal and savings evidence.</a:t>
            </a:r>
            <a:endParaRPr lang="en-US" sz="1300" dirty="0"/>
          </a:p>
        </p:txBody>
      </p:sp>
      <p:sp>
        <p:nvSpPr>
          <p:cNvPr id="222" name="Card"/>
          <p:cNvSpPr/>
          <p:nvPr/>
        </p:nvSpPr>
        <p:spPr>
          <a:xfrm>
            <a:off x="548640" y="5760720"/>
            <a:ext cx="11091672" cy="512064"/>
          </a:xfrm>
          <a:prstGeom prst="roundRect">
            <a:avLst>
              <a:gd name="adj" fmla="val 14285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3" name="Bar text"/>
          <p:cNvSpPr txBox="1"/>
          <p:nvPr/>
        </p:nvSpPr>
        <p:spPr>
          <a:xfrm>
            <a:off x="749808" y="5760720"/>
            <a:ext cx="10689336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Recommended approval: proceed with the exit-led program, and use 550,074 GB / ~$1.6M as the current storage-savings baseline.</a:t>
            </a:r>
            <a:endParaRPr lang="en-US" sz="1400" dirty="0"/>
          </a:p>
        </p:txBody>
      </p:sp>
      <p:sp>
        <p:nvSpPr>
          <p:cNvPr id="22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wrap="square" lIns="0" tIns="0" rIns="0" bIns="0" rtlCol="0" anchor="b"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 wrap="square" lIns="0" tIns="0" rIns="0" bIns="0" rtlCol="0" anchor="t"/>
          <a:lstStyle/>
          <a:p>
            <a:r>
              <a:t>Key terms used in this deck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wrap="square" lIns="0" tIns="0" rIns="0" bIns="0" rtlCol="0" anchor="t"/>
          <a:lstStyle/>
          <a:p>
            <a:r>
              <a:t>Key Terms Used in This Deck</a:t>
            </a:r>
          </a:p>
        </p:txBody>
      </p:sp>
      <p:sp>
        <p:nvSpPr>
          <p:cNvPr id="201" name="Section tag"/>
          <p:cNvSpPr txBox="1"/>
          <p:nvPr/>
        </p:nvSpPr>
        <p:spPr>
          <a:xfrm>
            <a:off x="548640" y="274320"/>
            <a:ext cx="978408" cy="27432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spc="150" dirty="0">
                <a:solidFill>
                  <a:schemeClr val="bg1"/>
                </a:solidFill>
              </a:rPr>
              <a:t>APPENDIX</a:t>
            </a:r>
            <a:endParaRPr lang="en-US" sz="1000" dirty="0"/>
          </a:p>
        </p:txBody>
      </p:sp>
      <p:sp>
        <p:nvSpPr>
          <p:cNvPr id="202" name="Card"/>
          <p:cNvSpPr/>
          <p:nvPr/>
        </p:nvSpPr>
        <p:spPr>
          <a:xfrm>
            <a:off x="548640" y="1600200"/>
            <a:ext cx="5431536" cy="804672"/>
          </a:xfrm>
          <a:prstGeom prst="roundRect">
            <a:avLst>
              <a:gd name="adj" fmla="val 909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3" name="Text"/>
          <p:cNvSpPr txBox="1"/>
          <p:nvPr/>
        </p:nvSpPr>
        <p:spPr>
          <a:xfrm>
            <a:off x="731520" y="1600200"/>
            <a:ext cx="160020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SAS use case</a:t>
            </a:r>
            <a:endParaRPr lang="en-US" sz="1400" dirty="0"/>
          </a:p>
        </p:txBody>
      </p:sp>
      <p:sp>
        <p:nvSpPr>
          <p:cNvPr id="204" name="Text"/>
          <p:cNvSpPr txBox="1"/>
          <p:nvPr/>
        </p:nvSpPr>
        <p:spPr>
          <a:xfrm>
            <a:off x="2423160" y="1600200"/>
            <a:ext cx="338328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A business process that runs on SAS, such as a model, report or data job, with an owner and consumers.</a:t>
            </a:r>
            <a:endParaRPr lang="en-US" sz="1200" dirty="0"/>
          </a:p>
        </p:txBody>
      </p:sp>
      <p:sp>
        <p:nvSpPr>
          <p:cNvPr id="205" name="Card"/>
          <p:cNvSpPr/>
          <p:nvPr/>
        </p:nvSpPr>
        <p:spPr>
          <a:xfrm>
            <a:off x="6208776" y="1600200"/>
            <a:ext cx="5431536" cy="804672"/>
          </a:xfrm>
          <a:prstGeom prst="roundRect">
            <a:avLst>
              <a:gd name="adj" fmla="val 909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6" name="Text"/>
          <p:cNvSpPr txBox="1"/>
          <p:nvPr/>
        </p:nvSpPr>
        <p:spPr>
          <a:xfrm>
            <a:off x="6391656" y="1600200"/>
            <a:ext cx="160020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Exit strategy</a:t>
            </a:r>
            <a:endParaRPr lang="en-US" sz="1400" dirty="0"/>
          </a:p>
        </p:txBody>
      </p:sp>
      <p:sp>
        <p:nvSpPr>
          <p:cNvPr id="207" name="Text"/>
          <p:cNvSpPr txBox="1"/>
          <p:nvPr/>
        </p:nvSpPr>
        <p:spPr>
          <a:xfrm>
            <a:off x="8083296" y="1600200"/>
            <a:ext cx="338328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A named target platform, owner, effort estimate, timeline and fallback for moving one use case off SAS.</a:t>
            </a:r>
            <a:endParaRPr lang="en-US" sz="1200" dirty="0"/>
          </a:p>
        </p:txBody>
      </p:sp>
      <p:sp>
        <p:nvSpPr>
          <p:cNvPr id="208" name="Card"/>
          <p:cNvSpPr/>
          <p:nvPr/>
        </p:nvSpPr>
        <p:spPr>
          <a:xfrm>
            <a:off x="548640" y="2496312"/>
            <a:ext cx="5431536" cy="804672"/>
          </a:xfrm>
          <a:prstGeom prst="roundRect">
            <a:avLst>
              <a:gd name="adj" fmla="val 909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9" name="Text"/>
          <p:cNvSpPr txBox="1"/>
          <p:nvPr/>
        </p:nvSpPr>
        <p:spPr>
          <a:xfrm>
            <a:off x="731520" y="2496312"/>
            <a:ext cx="160020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Workspace</a:t>
            </a:r>
            <a:endParaRPr lang="en-US" sz="1400" dirty="0"/>
          </a:p>
        </p:txBody>
      </p:sp>
      <p:sp>
        <p:nvSpPr>
          <p:cNvPr id="210" name="Text"/>
          <p:cNvSpPr txBox="1"/>
          <p:nvPr/>
        </p:nvSpPr>
        <p:spPr>
          <a:xfrm>
            <a:off x="2423160" y="2496312"/>
            <a:ext cx="338328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A SAS project area with its own storage, users and jobs; one use case can span several.</a:t>
            </a:r>
            <a:endParaRPr lang="en-US" sz="1200" dirty="0"/>
          </a:p>
        </p:txBody>
      </p:sp>
      <p:sp>
        <p:nvSpPr>
          <p:cNvPr id="211" name="Card"/>
          <p:cNvSpPr/>
          <p:nvPr/>
        </p:nvSpPr>
        <p:spPr>
          <a:xfrm>
            <a:off x="6208776" y="2496312"/>
            <a:ext cx="5431536" cy="804672"/>
          </a:xfrm>
          <a:prstGeom prst="roundRect">
            <a:avLst>
              <a:gd name="adj" fmla="val 909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2" name="Text"/>
          <p:cNvSpPr txBox="1"/>
          <p:nvPr/>
        </p:nvSpPr>
        <p:spPr>
          <a:xfrm>
            <a:off x="6391656" y="2496312"/>
            <a:ext cx="160020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Exit status</a:t>
            </a:r>
            <a:endParaRPr lang="en-US" sz="1400" dirty="0"/>
          </a:p>
        </p:txBody>
      </p:sp>
      <p:sp>
        <p:nvSpPr>
          <p:cNvPr id="213" name="Text"/>
          <p:cNvSpPr txBox="1"/>
          <p:nvPr/>
        </p:nvSpPr>
        <p:spPr>
          <a:xfrm>
            <a:off x="8083296" y="2496312"/>
            <a:ext cx="338328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Where a use case stands: confirmed, path known with no date, no strategy, retire, or owner unknown.</a:t>
            </a:r>
            <a:endParaRPr lang="en-US" sz="1200" dirty="0"/>
          </a:p>
        </p:txBody>
      </p:sp>
      <p:sp>
        <p:nvSpPr>
          <p:cNvPr id="214" name="Card"/>
          <p:cNvSpPr/>
          <p:nvPr/>
        </p:nvSpPr>
        <p:spPr>
          <a:xfrm>
            <a:off x="548640" y="3392424"/>
            <a:ext cx="5431536" cy="804672"/>
          </a:xfrm>
          <a:prstGeom prst="roundRect">
            <a:avLst>
              <a:gd name="adj" fmla="val 909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5" name="Text"/>
          <p:cNvSpPr txBox="1"/>
          <p:nvPr/>
        </p:nvSpPr>
        <p:spPr>
          <a:xfrm>
            <a:off x="731520" y="3392424"/>
            <a:ext cx="160020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Criticality tier</a:t>
            </a:r>
            <a:endParaRPr lang="en-US" sz="1400" dirty="0"/>
          </a:p>
        </p:txBody>
      </p:sp>
      <p:sp>
        <p:nvSpPr>
          <p:cNvPr id="216" name="Text"/>
          <p:cNvSpPr txBox="1"/>
          <p:nvPr/>
        </p:nvSpPr>
        <p:spPr>
          <a:xfrm>
            <a:off x="2423160" y="3392424"/>
            <a:ext cx="338328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T1 (critical) to T3 (low): the business impact if the use case stopped working.</a:t>
            </a:r>
            <a:endParaRPr lang="en-US" sz="1200" dirty="0"/>
          </a:p>
        </p:txBody>
      </p:sp>
      <p:sp>
        <p:nvSpPr>
          <p:cNvPr id="217" name="Card"/>
          <p:cNvSpPr/>
          <p:nvPr/>
        </p:nvSpPr>
        <p:spPr>
          <a:xfrm>
            <a:off x="6208776" y="3392424"/>
            <a:ext cx="5431536" cy="804672"/>
          </a:xfrm>
          <a:prstGeom prst="roundRect">
            <a:avLst>
              <a:gd name="adj" fmla="val 909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8" name="Text"/>
          <p:cNvSpPr txBox="1"/>
          <p:nvPr/>
        </p:nvSpPr>
        <p:spPr>
          <a:xfrm>
            <a:off x="6391656" y="3392424"/>
            <a:ext cx="160020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Disposition</a:t>
            </a:r>
            <a:endParaRPr lang="en-US" sz="1400" dirty="0"/>
          </a:p>
        </p:txBody>
      </p:sp>
      <p:sp>
        <p:nvSpPr>
          <p:cNvPr id="219" name="Text"/>
          <p:cNvSpPr txBox="1"/>
          <p:nvPr/>
        </p:nvSpPr>
        <p:spPr>
          <a:xfrm>
            <a:off x="8083296" y="3392424"/>
            <a:ext cx="338328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The decision for a use case: migrate, consolidate, replace, retire, or retain briefly with an end date.</a:t>
            </a:r>
            <a:endParaRPr lang="en-US" sz="1200" dirty="0"/>
          </a:p>
        </p:txBody>
      </p:sp>
      <p:sp>
        <p:nvSpPr>
          <p:cNvPr id="220" name="Card"/>
          <p:cNvSpPr/>
          <p:nvPr/>
        </p:nvSpPr>
        <p:spPr>
          <a:xfrm>
            <a:off x="548640" y="4288536"/>
            <a:ext cx="5431536" cy="804672"/>
          </a:xfrm>
          <a:prstGeom prst="roundRect">
            <a:avLst>
              <a:gd name="adj" fmla="val 909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1" name="Text"/>
          <p:cNvSpPr txBox="1"/>
          <p:nvPr/>
        </p:nvSpPr>
        <p:spPr>
          <a:xfrm>
            <a:off x="731520" y="4288536"/>
            <a:ext cx="160020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Allocation</a:t>
            </a:r>
            <a:endParaRPr lang="en-US" sz="1400" dirty="0"/>
          </a:p>
        </p:txBody>
      </p:sp>
      <p:sp>
        <p:nvSpPr>
          <p:cNvPr id="222" name="Text"/>
          <p:cNvSpPr txBox="1"/>
          <p:nvPr/>
        </p:nvSpPr>
        <p:spPr>
          <a:xfrm>
            <a:off x="2423160" y="4288536"/>
            <a:ext cx="338328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Storage reserved for a workspace. Utilization is the share of it actually used.</a:t>
            </a:r>
            <a:endParaRPr lang="en-US" sz="1200" dirty="0"/>
          </a:p>
        </p:txBody>
      </p:sp>
      <p:sp>
        <p:nvSpPr>
          <p:cNvPr id="223" name="Card"/>
          <p:cNvSpPr/>
          <p:nvPr/>
        </p:nvSpPr>
        <p:spPr>
          <a:xfrm>
            <a:off x="6208776" y="4288536"/>
            <a:ext cx="5431536" cy="804672"/>
          </a:xfrm>
          <a:prstGeom prst="roundRect">
            <a:avLst>
              <a:gd name="adj" fmla="val 909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4" name="Text"/>
          <p:cNvSpPr txBox="1"/>
          <p:nvPr/>
        </p:nvSpPr>
        <p:spPr>
          <a:xfrm>
            <a:off x="6391656" y="4288536"/>
            <a:ext cx="160020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De-allocation</a:t>
            </a:r>
            <a:endParaRPr lang="en-US" sz="1400" dirty="0"/>
          </a:p>
        </p:txBody>
      </p:sp>
      <p:sp>
        <p:nvSpPr>
          <p:cNvPr id="225" name="Text"/>
          <p:cNvSpPr txBox="1"/>
          <p:nvPr/>
        </p:nvSpPr>
        <p:spPr>
          <a:xfrm>
            <a:off x="8083296" y="4288536"/>
            <a:ext cx="338328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The platform team releases reserved storage so it is no longer billed.</a:t>
            </a:r>
            <a:endParaRPr lang="en-US" sz="1200" dirty="0"/>
          </a:p>
        </p:txBody>
      </p:sp>
      <p:sp>
        <p:nvSpPr>
          <p:cNvPr id="226" name="Card"/>
          <p:cNvSpPr/>
          <p:nvPr/>
        </p:nvSpPr>
        <p:spPr>
          <a:xfrm>
            <a:off x="548640" y="5184648"/>
            <a:ext cx="5431536" cy="804672"/>
          </a:xfrm>
          <a:prstGeom prst="roundRect">
            <a:avLst>
              <a:gd name="adj" fmla="val 909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7" name="Text"/>
          <p:cNvSpPr txBox="1"/>
          <p:nvPr/>
        </p:nvSpPr>
        <p:spPr>
          <a:xfrm>
            <a:off x="731520" y="5184648"/>
            <a:ext cx="160020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Entitlement</a:t>
            </a:r>
            <a:endParaRPr lang="en-US" sz="1400" dirty="0"/>
          </a:p>
        </p:txBody>
      </p:sp>
      <p:sp>
        <p:nvSpPr>
          <p:cNvPr id="228" name="Text"/>
          <p:cNvSpPr txBox="1"/>
          <p:nvPr/>
        </p:nvSpPr>
        <p:spPr>
          <a:xfrm>
            <a:off x="2423160" y="5184648"/>
            <a:ext cx="338328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A person’s access to a workspace; removing unused access lowers risk and cost.</a:t>
            </a:r>
            <a:endParaRPr lang="en-US" sz="1200" dirty="0"/>
          </a:p>
        </p:txBody>
      </p:sp>
      <p:sp>
        <p:nvSpPr>
          <p:cNvPr id="229" name="Card"/>
          <p:cNvSpPr/>
          <p:nvPr/>
        </p:nvSpPr>
        <p:spPr>
          <a:xfrm>
            <a:off x="6208776" y="5184648"/>
            <a:ext cx="5431536" cy="804672"/>
          </a:xfrm>
          <a:prstGeom prst="roundRect">
            <a:avLst>
              <a:gd name="adj" fmla="val 909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30" name="Text"/>
          <p:cNvSpPr txBox="1"/>
          <p:nvPr/>
        </p:nvSpPr>
        <p:spPr>
          <a:xfrm>
            <a:off x="6391656" y="5184648"/>
            <a:ext cx="160020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Parallel run</a:t>
            </a:r>
            <a:endParaRPr lang="en-US" sz="1400" dirty="0"/>
          </a:p>
        </p:txBody>
      </p:sp>
      <p:sp>
        <p:nvSpPr>
          <p:cNvPr id="231" name="Text"/>
          <p:cNvSpPr txBox="1"/>
          <p:nvPr/>
        </p:nvSpPr>
        <p:spPr>
          <a:xfrm>
            <a:off x="8083296" y="5184648"/>
            <a:ext cx="338328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Running SAS and the new platform side by side to prove matching results before cutover.</a:t>
            </a:r>
            <a:endParaRPr lang="en-US" sz="1200" dirty="0"/>
          </a:p>
        </p:txBody>
      </p:sp>
      <p:sp>
        <p:nvSpPr>
          <p:cNvPr id="2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sk Data Sourcing">
  <a:themeElements>
    <a:clrScheme name="Risk Data Sourcing">
      <a:dk1>
        <a:srgbClr val="1B2631"/>
      </a:dk1>
      <a:lt1>
        <a:srgbClr val="FFFFFF"/>
      </a:lt1>
      <a:dk2>
        <a:srgbClr val="5A6472"/>
      </a:dk2>
      <a:lt2>
        <a:srgbClr val="F4F6F8"/>
      </a:lt2>
      <a:accent1>
        <a:srgbClr val="1F6F5C"/>
      </a:accent1>
      <a:accent2>
        <a:srgbClr val="2F5D8A"/>
      </a:accent2>
      <a:accent3>
        <a:srgbClr val="A86A12"/>
      </a:accent3>
      <a:accent4>
        <a:srgbClr val="9A3B32"/>
      </a:accent4>
      <a:accent5>
        <a:srgbClr val="2B3F7E"/>
      </a:accent5>
      <a:accent6>
        <a:srgbClr val="5E6670"/>
      </a:accent6>
      <a:hlink>
        <a:srgbClr val="2F5D8A"/>
      </a:hlink>
      <a:folHlink>
        <a:srgbClr val="2B3F7E"/>
      </a:folHlink>
    </a:clrScheme>
    <a:fontScheme name="Risk Data Sourcin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2364</Words>
  <Application>Microsoft Office PowerPoint</Application>
  <PresentationFormat>Widescreen</PresentationFormat>
  <Paragraphs>306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Risk Data Sourcing</vt:lpstr>
      <vt:lpstr>SAS Exit Strategy</vt:lpstr>
      <vt:lpstr>Our Goal: A Complete, Low-Risk Exit from SAS</vt:lpstr>
      <vt:lpstr>Every SAS Use Case Needs an Exit Path, a Date and an Owner</vt:lpstr>
      <vt:lpstr>Each Use Case Lands in One of Five Exit Statuses</vt:lpstr>
      <vt:lpstr>Criticality Sets the Order and the Care of Each Exit</vt:lpstr>
      <vt:lpstr>Two Connected Tracks: Exit First, Clean Up Along the Way</vt:lpstr>
      <vt:lpstr>From Inventory to Decommission: Five Steps for Every Use Case</vt:lpstr>
      <vt:lpstr>Who Needs to Be in the Room to Build Each Exit Strategy</vt:lpstr>
      <vt:lpstr>Storage Clean-Up Lowers Cost While We Exit</vt:lpstr>
      <vt:lpstr>How We Run It: Cadence and Decision Products</vt:lpstr>
      <vt:lpstr>First 30 Business Days: Tangible Outputs</vt:lpstr>
      <vt:lpstr>What We Need From Leadership Now</vt:lpstr>
      <vt:lpstr>Appendix</vt:lpstr>
      <vt:lpstr>Key Terms Used in This Deck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SAS Exit Strategy</dc:title>
  <dc:subject>What runs on SAS, how critical it is, and how we get off it</dc:subject>
  <dc:creator>Victor Sanchez</dc:creator>
  <cp:lastModifiedBy>Victor Sanchez</cp:lastModifiedBy>
  <cp:revision>1</cp:revision>
  <dcterms:created xsi:type="dcterms:W3CDTF">2026-10-15T22:14:50Z</dcterms:created>
  <dcterms:modified xsi:type="dcterms:W3CDTF">2026-10-20T03:40:32Z</dcterms:modified>
</cp:coreProperties>
</file>