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e57d1fe-4909-a624-8baa-1c9634a25ba0}">
          <p14:sldIdLst>
            <p14:sldId id="256"/>
            <p14:sldId id="257"/>
            <p14:sldId id="258"/>
            <p14:sldId id="259"/>
            <p14:sldId id="260"/>
          </p14:sldIdLst>
        </p14:section>
        <p14:section name="Pillar 1" id="{4c397169-b326-0e26-0e3b-60fe7aea208f}">
          <p14:sldIdLst>
            <p14:sldId id="261"/>
            <p14:sldId id="262"/>
          </p14:sldIdLst>
        </p14:section>
        <p14:section name="Pillar 2" id="{3671d210-f7a5-65f1-090b-69ada82a6c80}">
          <p14:sldIdLst>
            <p14:sldId id="263"/>
            <p14:sldId id="264"/>
          </p14:sldIdLst>
        </p14:section>
        <p14:section name="Pillar 3" id="{016c7b75-72bc-9b0d-c4c5-a9608c0f9aa4}">
          <p14:sldIdLst>
            <p14:sldId id="265"/>
            <p14:sldId id="266"/>
            <p14:sldId id="267"/>
            <p14:sldId id="268"/>
            <p14:sldId id="269"/>
          </p14:sldIdLst>
        </p14:section>
        <p14:section name="DPC migration" id="{f8c22ae8-76d8-d272-f4db-48dc8114b4fe}">
          <p14:sldIdLst>
            <p14:sldId id="270"/>
          </p14:sldIdLst>
        </p14:section>
        <p14:section name="Decisions and next steps" id="{48959139-f4d5-7f8f-c81a-3194adc4062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Restructured after the October 13 deck review with Kevin. The pillars changed: Pillar 1 (Data Plane Enablement) is now the tooling we need on the plane, Pillar 2 (RDS Rationalization) stays the existing RDS baseline, and Pillar 3 (Demand Intake &amp; Sourcing) merges the old usage/BRD pillar with net new sourcing into one intake-to-sourcing path. DPC migration sits underneath all three as a dependency, not a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goal and the new structure. AI use cases are the overarching driver. Pillar 1 is the tooling we need on the plane, Pillar 2 is what is already in RDS, and Pillar 3 is how new requests get from intake to sourced data. DPC migration is a dependency underneath, tracked on Ryan's existing timeline. The asks are on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grounding slide Kevin wants to lead with. AI use cases are the overarching driver. The old Pillar 1 (know usage through BRDs) and Pillar 3 (net new sourcing) ran in tandem, so they are merged into Pillar 3 as one decision path. That frees Pillar 1 for the tools we need to do the job: intake tool, DataHub, lineage, ADA, and an assessment of today's tooling. DPC readiness is not a pillar; it runs underneath, and before and after the move the pillars still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liked this slide: phases 1 to 5, with AI data use as the payoff. Under the new structure these are the steps each Pillar 3 workstream goes through. Phase 2 now starts by checking what RDS already has, which is where Pillar 2's baseline comes in. Steps can differ by workstream (FCI vs. ORM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overlay for the new pillars. Pillar 3 leads phases 1 to 4 for each prioritized use case. Pillar 2 leads where the data is already in RDS: the baseline in phase 1 and moving legacy feeds to strategic sources in phase 3. Pillar 1 does not lead a phase; it supplies the tools every phase depends on. DPC is the platform under phases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is new. It is everything on the plane we need to do the job effectively. Today Kevin is using Copilot in Excel on Ryan's RDS dumps, which isn't sustainable. We are not doing the build; we act as product managers of the plane: say what needs to be built in DPC, track it, and escalate when Pillar 1 goes sideways, because that keeps Pillars 2 and 3 from moving well. Pillar 1 and Pillar 3 depend on each other for requirements, so the Pillar 3 leads drive the requirements technology builds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and Vic expanded Pillar 1 beyond managing technology: assessing current-state tooling has never been done. Right now we don't know what is being pulled into RDS, why, or what happens to it. Putting guardrails on the RDS request intake means each request has to say what it is for, and gets routed to the right Pillar 3 lead. Pillar 3 keeps running manually in the meantime, but Pillar 1 needs to get going as soon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stays the existing RDS work: dig into what is in RDS today, how many raw tables, whether we use all of it, and build a clean, reusable baseline instead of ad hoc pulls. Credit 360 belongs here because it is already in RDS, right or wrong. Asking Credit 360 to fill out our template would just frustrate them. Kevin sees this as a body of work someone can run largely on their own, made easier once Pillar 1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360 fits Pillar 2 today because it is already there; we analyze it rather than send them the template. FCTDS current-state analysis also sits here; earlier analysis found about 98 financial crimes sources, all from outside the domain. Sentinel splits: Kevin's rough numbers are that about 75% of the data the Sentinel models need was already in FCDS and is being migrated into FCTDS (so it is in place for DPC), and about 25% is new to FCRM. Those percentages are rough and should be confirmed with Yaginesh and Nick. MARS and CORS wait until their API and lower-environment issues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merged pillar: the old Pillar 1 (understand usage through BRDs and our template) and old Pillar 3 (net new sourcing) as one decision tree. For new sourcing initiatives Jacqueline prioritizes: get the business requirements first, check whether the data is in RDS, and if not, determine the target source. Kevin added a fourth category for legacy sourcing that needs evaluating, such as existing sourcing being re-plumbed, which goes back to Pillar 2. Kevin won't ignore upstream ADSs, but he makes the call on what's acceptable for the data plane, and the lead has to tell the story from the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critique of how requirements come in, especially from financial crimes: requesters say they need elements without saying when or why. Scenario requirements (for example, an investigator only needs a system for deposit cases) should be built into the conformance layer or the AI prompt, so the AI pulls from the conformed zone instead of raw, duplicated data. ORM has the same problem at a smaller scale. A side benefit: we learn why each group is doing what it's doing and can call out nonsense when we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is project-based, with a workstream per prioritized use case and sub-owners under each. The three in flight are the two financial crimes use cases (FCI and Sentinel) and ORM AI as a lower-priority test case; those are what we're pressure-testing the process on. Kevin has slides with the FCI strategic / justified tactical / escalated breakdown to drop in. Sentinel numbers are rough; get a summary from Yaginesh and Nick. eGRC becomes a Pillar 3 workstream once we know who to talk to. The open question for Jacqueline: what else should we prioritize, so it doesn't look like we're doing nothing for credit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high-level ORM view, kept from the earlier draft. ORM is the example Kevin wants for how each Pillar 3 workstream will be planned and tracked. The next slide breaks it into a tracker. Dates are a working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asked for a project-plan view, not a superficial roadmap: workstreams in rows with tasks, owners, due dates, and red/yellow/green status, plus an overall summary, today's blockers, and progress since the last meeting. If a task isn't done, we talk about why. This is the shell, using ORM as the example; dates and status are illustrative. Each workstream lead keeps their own tracker, and the pillar leads bring it to a weekly status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liked the earlier framing that DPC migration underpins all of this. Everything runs in parallel with the year-end DPC timeline, and before and after the move the three pillars are still how we think about the work. We don't need new tracking for this: keep updating Ryan's timeline slide and show it as the dependency. ACTION FOR JAKE/VIC: drop Ryan's current DPC timeline slide in right after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conversation when Jacqueline is back: align on the pillars, then on what goes in which team's box, and only then on people. The first two asks unblock everything else. Roles and proposed owners are deliberately not in this version; they come after the pillars are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items from the October 13 review that carry forward past the Jacqueline conversation. The deck rework itself (Vic and Jake) is this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still open after the October 13 review. Several depend on Jacqueline, Jennifer, and the eGRC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731520" y="2926080"/>
            <a:ext cx="10698480" cy="64008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r>
              <a:rPr lang="en-US" sz="2400" dirty="0">
                <a:solidFill>
                  <a:schemeClr val="bg2"/>
                </a:solidFill>
              </a:rPr>
              <a:t>Subtitle</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1672" cy="65836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Title</a:t>
            </a:r>
            <a:endParaRPr lang="en-US" sz="2800" dirty="0"/>
          </a:p>
        </p:txBody>
      </p:sp>
      <p:sp>
        <p:nvSpPr>
          <p:cNvPr id="3" name="Text 0"/>
          <p:cNvSpPr/>
          <p:nvPr/>
        </p:nvSpPr>
        <p:spPr>
          <a:xfrm>
            <a:off x="548640" y="6419088"/>
            <a:ext cx="7315200" cy="256032"/>
          </a:xfrm>
          <a:prstGeom prst="rect">
            <a:avLst/>
          </a:prstGeom>
          <a:noFill/>
          <a:ln/>
        </p:spPr>
        <p:txBody>
          <a:bodyPr wrap="square" lIns="0" tIns="0" rIns="0" bIns="0" rtlCol="0" anchor="t"/>
          <a:lstStyle/>
          <a:p>
            <a:pPr indent="0" marL="0">
              <a:buNone/>
            </a:pPr>
            <a:r>
              <a:rPr lang="en-US" sz="1000" dirty="0">
                <a:solidFill>
                  <a:schemeClr val="tx2"/>
                </a:solidFill>
              </a:rPr>
              <a:t>Risk data sourcing · Working draft for discussion</a:t>
            </a:r>
            <a:endParaRPr lang="en-US" sz="10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34440"/>
            <a:ext cx="7315200" cy="274320"/>
          </a:xfrm>
          <a:prstGeom prst="rect">
            <a:avLst/>
          </a:prstGeom>
          <a:noFill/>
          <a:ln/>
        </p:spPr>
        <p:txBody>
          <a:bodyPr wrap="square" lIns="0" tIns="0" rIns="0" bIns="0" rtlCol="0" anchor="t"/>
          <a:lstStyle/>
          <a:p>
            <a:pPr indent="0" marL="0">
              <a:buNone/>
            </a:pPr>
            <a:r>
              <a:rPr lang="en-US" sz="1100" b="1" spc="200" kern="0" dirty="0">
                <a:solidFill>
                  <a:schemeClr val="bg2"/>
                </a:solidFill>
              </a:rPr>
              <a:t>WORKING DRAFT FOR DISCUSSION</a:t>
            </a:r>
            <a:endParaRPr lang="en-US" sz="1100" dirty="0"/>
          </a:p>
        </p:txBody>
      </p:sp>
      <p:sp>
        <p:nvSpPr>
          <p:cNvPr id="3" name="Text 0"/>
          <p:cNvSpPr/>
          <p:nvPr>
            <p:ph idx="100" type="title" hasCustomPrompt="1"/>
          </p:nvPr>
        </p:nvSpPr>
        <p:spPr>
          <a:xfrm>
            <a:off x="731520" y="1737360"/>
            <a:ext cx="10698480" cy="1097280"/>
          </a:xfrm>
          <a:prstGeom prst="rect">
            <a:avLst/>
          </a:prstGeom>
          <a:noFill/>
          <a:ln/>
        </p:spPr>
        <p:txBody>
          <a:bodyPr wrap="square" lIns="0" tIns="0" rIns="0" bIns="0" rtlCol="0" anchor="b"/>
          <a:lstStyle/>
          <a:p>
            <a:pPr algn="l" indent="0" marL="0">
              <a:buNone/>
            </a:pPr>
            <a:r>
              <a:rPr lang="en-US" sz="4800" b="1" dirty="0">
                <a:solidFill>
                  <a:schemeClr val="bg1"/>
                </a:solidFill>
              </a:rPr>
              <a:t>Risk Data Sourcing Strategy</a:t>
            </a:r>
            <a:endParaRPr lang="en-US" sz="4800" dirty="0"/>
          </a:p>
        </p:txBody>
      </p:sp>
      <p:sp>
        <p:nvSpPr>
          <p:cNvPr id="4" name="Text 0"/>
          <p:cNvSpPr/>
          <p:nvPr>
            <p:ph idx="101" type="body" hasCustomPrompt="1"/>
          </p:nvPr>
        </p:nvSpPr>
        <p:spPr>
          <a:xfrm>
            <a:off x="731520" y="2926080"/>
            <a:ext cx="10698480" cy="640080"/>
          </a:xfrm>
          <a:prstGeom prst="rect">
            <a:avLst/>
          </a:prstGeom>
          <a:noFill/>
          <a:ln/>
        </p:spPr>
        <p:txBody>
          <a:bodyPr wrap="square" lIns="0" tIns="0" rIns="0" bIns="0" rtlCol="0" anchor="t"/>
          <a:lstStyle/>
          <a:p>
            <a:pPr algn="l" indent="0" marL="0">
              <a:buNone/>
            </a:pPr>
            <a:r>
              <a:rPr lang="en-US" sz="2400" dirty="0">
                <a:solidFill>
                  <a:schemeClr val="bg2"/>
                </a:solidFill>
              </a:rPr>
              <a:t>Three pillars to get risk data ready for AI use cases</a:t>
            </a:r>
            <a:endParaRPr lang="en-US" sz="2400" dirty="0"/>
          </a:p>
        </p:txBody>
      </p:sp>
      <p:sp>
        <p:nvSpPr>
          <p:cNvPr id="5" name="Pillar 1 chip"/>
          <p:cNvSpPr/>
          <p:nvPr/>
        </p:nvSpPr>
        <p:spPr>
          <a:xfrm>
            <a:off x="731520" y="3977640"/>
            <a:ext cx="3383280" cy="822960"/>
          </a:xfrm>
          <a:prstGeom prst="roundRect">
            <a:avLst>
              <a:gd name="adj" fmla="val 8889"/>
            </a:avLst>
          </a:prstGeom>
          <a:solidFill>
            <a:schemeClr val="accent1"/>
          </a:solidFill>
          <a:ln/>
        </p:spPr>
      </p:sp>
      <p:sp>
        <p:nvSpPr>
          <p:cNvPr id="6" name="Text 4"/>
          <p:cNvSpPr txBox="1"/>
          <p:nvPr/>
        </p:nvSpPr>
        <p:spPr>
          <a:xfrm>
            <a:off x="932688" y="3977640"/>
            <a:ext cx="3017520" cy="822960"/>
          </a:xfrm>
          <a:prstGeom prst="rect">
            <a:avLst/>
          </a:prstGeom>
          <a:noFill/>
          <a:ln/>
        </p:spPr>
        <p:txBody>
          <a:bodyPr wrap="square" lIns="0" tIns="0" rIns="0" bIns="0" rtlCol="0" anchor="ctr"/>
          <a:lstStyle/>
          <a:p>
            <a:pPr indent="0" marL="0">
              <a:buNone/>
            </a:pPr>
            <a:r>
              <a:rPr lang="en-US" sz="1000" b="1" spc="150" kern="0" dirty="0">
                <a:solidFill>
                  <a:schemeClr val="bg1"/>
                </a:solidFill>
              </a:rPr>
              <a:t>PILLAR 1</a:t>
            </a:r>
            <a:endParaRPr lang="en-US" sz="1300" dirty="0"/>
          </a:p>
          <a:p>
            <a:pPr indent="0" marL="0">
              <a:buNone/>
            </a:pPr>
            <a:r>
              <a:rPr lang="en-US" sz="1600" b="1" dirty="0">
                <a:solidFill>
                  <a:schemeClr val="bg1"/>
                </a:solidFill>
              </a:rPr>
              <a:t>Data Plane Enablement</a:t>
            </a:r>
            <a:endParaRPr lang="en-US" sz="1300" dirty="0"/>
          </a:p>
        </p:txBody>
      </p:sp>
      <p:sp>
        <p:nvSpPr>
          <p:cNvPr id="7" name="Pillar 2 chip"/>
          <p:cNvSpPr/>
          <p:nvPr/>
        </p:nvSpPr>
        <p:spPr>
          <a:xfrm>
            <a:off x="4389120" y="3977640"/>
            <a:ext cx="3383280" cy="822960"/>
          </a:xfrm>
          <a:prstGeom prst="roundRect">
            <a:avLst>
              <a:gd name="adj" fmla="val 8889"/>
            </a:avLst>
          </a:prstGeom>
          <a:solidFill>
            <a:schemeClr val="accent2"/>
          </a:solidFill>
          <a:ln/>
        </p:spPr>
      </p:sp>
      <p:sp>
        <p:nvSpPr>
          <p:cNvPr id="8" name="Text 6"/>
          <p:cNvSpPr txBox="1"/>
          <p:nvPr/>
        </p:nvSpPr>
        <p:spPr>
          <a:xfrm>
            <a:off x="4590288" y="3977640"/>
            <a:ext cx="3017520" cy="822960"/>
          </a:xfrm>
          <a:prstGeom prst="rect">
            <a:avLst/>
          </a:prstGeom>
          <a:noFill/>
          <a:ln/>
        </p:spPr>
        <p:txBody>
          <a:bodyPr wrap="square" lIns="0" tIns="0" rIns="0" bIns="0" rtlCol="0" anchor="ctr"/>
          <a:lstStyle/>
          <a:p>
            <a:pPr indent="0" marL="0">
              <a:buNone/>
            </a:pPr>
            <a:r>
              <a:rPr lang="en-US" sz="1000" b="1" spc="150" kern="0" dirty="0">
                <a:solidFill>
                  <a:schemeClr val="bg1"/>
                </a:solidFill>
              </a:rPr>
              <a:t>PILLAR 2</a:t>
            </a:r>
            <a:endParaRPr lang="en-US" sz="1300" dirty="0"/>
          </a:p>
          <a:p>
            <a:pPr indent="0" marL="0">
              <a:buNone/>
            </a:pPr>
            <a:r>
              <a:rPr lang="en-US" sz="1600" b="1" dirty="0">
                <a:solidFill>
                  <a:schemeClr val="bg1"/>
                </a:solidFill>
              </a:rPr>
              <a:t>RDS Rationalization</a:t>
            </a:r>
            <a:endParaRPr lang="en-US" sz="1300" dirty="0"/>
          </a:p>
        </p:txBody>
      </p:sp>
      <p:sp>
        <p:nvSpPr>
          <p:cNvPr id="9" name="Pillar 3 chip"/>
          <p:cNvSpPr/>
          <p:nvPr/>
        </p:nvSpPr>
        <p:spPr>
          <a:xfrm>
            <a:off x="8046720" y="3977640"/>
            <a:ext cx="3383280" cy="822960"/>
          </a:xfrm>
          <a:prstGeom prst="roundRect">
            <a:avLst>
              <a:gd name="adj" fmla="val 8889"/>
            </a:avLst>
          </a:prstGeom>
          <a:solidFill>
            <a:schemeClr val="accent3"/>
          </a:solidFill>
          <a:ln/>
        </p:spPr>
      </p:sp>
      <p:sp>
        <p:nvSpPr>
          <p:cNvPr id="10" name="Text 8"/>
          <p:cNvSpPr txBox="1"/>
          <p:nvPr/>
        </p:nvSpPr>
        <p:spPr>
          <a:xfrm>
            <a:off x="8247888" y="3977640"/>
            <a:ext cx="3017520" cy="822960"/>
          </a:xfrm>
          <a:prstGeom prst="rect">
            <a:avLst/>
          </a:prstGeom>
          <a:noFill/>
          <a:ln/>
        </p:spPr>
        <p:txBody>
          <a:bodyPr wrap="square" lIns="0" tIns="0" rIns="0" bIns="0" rtlCol="0" anchor="ctr"/>
          <a:lstStyle/>
          <a:p>
            <a:pPr indent="0" marL="0">
              <a:buNone/>
            </a:pPr>
            <a:r>
              <a:rPr lang="en-US" sz="1000" b="1" spc="150" kern="0" dirty="0">
                <a:solidFill>
                  <a:schemeClr val="bg1"/>
                </a:solidFill>
              </a:rPr>
              <a:t>PILLAR 3</a:t>
            </a:r>
            <a:endParaRPr lang="en-US" sz="1300" dirty="0"/>
          </a:p>
          <a:p>
            <a:pPr indent="0" marL="0">
              <a:buNone/>
            </a:pPr>
            <a:r>
              <a:rPr lang="en-US" sz="1600" b="1" dirty="0">
                <a:solidFill>
                  <a:schemeClr val="bg1"/>
                </a:solidFill>
              </a:rPr>
              <a:t>Demand Intake &amp; Sourcing</a:t>
            </a:r>
            <a:endParaRPr lang="en-US" sz="1300" dirty="0"/>
          </a:p>
        </p:txBody>
      </p:sp>
      <p:sp>
        <p:nvSpPr>
          <p:cNvPr id="11" name="DPC bar"/>
          <p:cNvSpPr/>
          <p:nvPr/>
        </p:nvSpPr>
        <p:spPr>
          <a:xfrm>
            <a:off x="731520" y="4956048"/>
            <a:ext cx="10698480" cy="384048"/>
          </a:xfrm>
          <a:prstGeom prst="roundRect">
            <a:avLst>
              <a:gd name="adj" fmla="val 14286"/>
            </a:avLst>
          </a:prstGeom>
          <a:solidFill>
            <a:schemeClr val="accent4"/>
          </a:solidFill>
          <a:ln/>
        </p:spPr>
      </p:sp>
      <p:sp>
        <p:nvSpPr>
          <p:cNvPr id="12" name="Text 10"/>
          <p:cNvSpPr txBox="1"/>
          <p:nvPr/>
        </p:nvSpPr>
        <p:spPr>
          <a:xfrm>
            <a:off x="731520" y="4956048"/>
            <a:ext cx="10698480" cy="384048"/>
          </a:xfrm>
          <a:prstGeom prst="rect">
            <a:avLst/>
          </a:prstGeom>
          <a:noFill/>
          <a:ln/>
        </p:spPr>
        <p:txBody>
          <a:bodyPr wrap="square" lIns="0" tIns="0" rIns="0" bIns="0" rtlCol="0" anchor="ctr"/>
          <a:lstStyle/>
          <a:p>
            <a:pPr algn="ctr" indent="0" marL="0">
              <a:buNone/>
            </a:pPr>
            <a:r>
              <a:rPr lang="en-US" sz="1300" b="1" dirty="0">
                <a:solidFill>
                  <a:schemeClr val="bg1"/>
                </a:solidFill>
              </a:rPr>
              <a:t>Underneath all three: </a:t>
            </a:r>
            <a:pPr algn="ctr" indent="0" marL="0">
              <a:buNone/>
            </a:pPr>
            <a:r>
              <a:rPr lang="en-US" sz="1300" dirty="0">
                <a:solidFill>
                  <a:schemeClr val="bg1"/>
                </a:solidFill>
              </a:rPr>
              <a:t>DPC migration readiness, before and after the move</a:t>
            </a:r>
            <a:endParaRPr lang="en-US" sz="1300" dirty="0"/>
          </a:p>
        </p:txBody>
      </p:sp>
      <p:sp>
        <p:nvSpPr>
          <p:cNvPr id="13" name="Text 11"/>
          <p:cNvSpPr txBox="1"/>
          <p:nvPr/>
        </p:nvSpPr>
        <p:spPr>
          <a:xfrm>
            <a:off x="731520" y="5897880"/>
            <a:ext cx="9144000" cy="274320"/>
          </a:xfrm>
          <a:prstGeom prst="rect">
            <a:avLst/>
          </a:prstGeom>
          <a:noFill/>
          <a:ln/>
        </p:spPr>
        <p:txBody>
          <a:bodyPr wrap="square" lIns="0" tIns="0" rIns="0" bIns="0" rtlCol="0" anchor="t"/>
          <a:lstStyle/>
          <a:p>
            <a:pPr indent="0" marL="0">
              <a:buNone/>
            </a:pPr>
            <a:r>
              <a:rPr lang="en-US" sz="1300" dirty="0">
                <a:solidFill>
                  <a:schemeClr val="bg2"/>
                </a:solidFill>
              </a:rPr>
              <a:t>Prepared by Jake and Vic (Kevin's team) for Jacqueline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txBox="1"/>
          <p:nvPr/>
        </p:nvSpPr>
        <p:spPr>
          <a:xfrm>
            <a:off x="548640" y="274320"/>
            <a:ext cx="88331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SUMMARY</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Three pillars get risk data ready for AI, with DPC underneath</a:t>
            </a:r>
            <a:endParaRPr lang="en-US" sz="2800" dirty="0"/>
          </a:p>
        </p:txBody>
      </p:sp>
      <p:sp>
        <p:nvSpPr>
          <p:cNvPr id="4" name="Summary row"/>
          <p:cNvSpPr/>
          <p:nvPr/>
        </p:nvSpPr>
        <p:spPr>
          <a:xfrm>
            <a:off x="548640" y="1645920"/>
            <a:ext cx="7223760" cy="786384"/>
          </a:xfrm>
          <a:prstGeom prst="roundRect">
            <a:avLst>
              <a:gd name="adj" fmla="val 9302"/>
            </a:avLst>
          </a:prstGeom>
          <a:solidFill>
            <a:schemeClr val="bg2"/>
          </a:solidFill>
          <a:ln/>
        </p:spPr>
      </p:sp>
      <p:sp>
        <p:nvSpPr>
          <p:cNvPr id="5" name="Text 3"/>
          <p:cNvSpPr txBox="1"/>
          <p:nvPr/>
        </p:nvSpPr>
        <p:spPr>
          <a:xfrm>
            <a:off x="731520" y="1645920"/>
            <a:ext cx="1417320" cy="786384"/>
          </a:xfrm>
          <a:prstGeom prst="rect">
            <a:avLst/>
          </a:prstGeom>
          <a:noFill/>
          <a:ln/>
        </p:spPr>
        <p:txBody>
          <a:bodyPr wrap="square" lIns="0" tIns="0" rIns="0" bIns="0" rtlCol="0" anchor="ctr"/>
          <a:lstStyle/>
          <a:p>
            <a:pPr indent="0" marL="0">
              <a:buNone/>
            </a:pPr>
            <a:r>
              <a:rPr lang="en-US" sz="1400" b="1" dirty="0">
                <a:solidFill>
                  <a:schemeClr val="accent1"/>
                </a:solidFill>
              </a:rPr>
              <a:t>The goal</a:t>
            </a:r>
            <a:endParaRPr lang="en-US" sz="1400" dirty="0"/>
          </a:p>
        </p:txBody>
      </p:sp>
      <p:sp>
        <p:nvSpPr>
          <p:cNvPr id="6" name="Text 4"/>
          <p:cNvSpPr txBox="1"/>
          <p:nvPr/>
        </p:nvSpPr>
        <p:spPr>
          <a:xfrm>
            <a:off x="2240280" y="1645920"/>
            <a:ext cx="5349240" cy="786384"/>
          </a:xfrm>
          <a:prstGeom prst="rect">
            <a:avLst/>
          </a:prstGeom>
          <a:noFill/>
          <a:ln/>
        </p:spPr>
        <p:txBody>
          <a:bodyPr wrap="square" lIns="0" tIns="0" rIns="0" bIns="0" rtlCol="0" anchor="ctr"/>
          <a:lstStyle/>
          <a:p>
            <a:pPr indent="0" marL="0">
              <a:buNone/>
            </a:pPr>
            <a:r>
              <a:rPr lang="en-US" sz="1300" dirty="0">
                <a:solidFill>
                  <a:schemeClr val="tx1"/>
                </a:solidFill>
              </a:rPr>
              <a:t>Risk data ready for AI use cases, plus reporting, analytics, and investigations, from one common data plane instead of siloed copies.</a:t>
            </a:r>
            <a:endParaRPr lang="en-US" sz="1300" dirty="0"/>
          </a:p>
        </p:txBody>
      </p:sp>
      <p:sp>
        <p:nvSpPr>
          <p:cNvPr id="7" name="Summary row"/>
          <p:cNvSpPr/>
          <p:nvPr/>
        </p:nvSpPr>
        <p:spPr>
          <a:xfrm>
            <a:off x="548640" y="2542032"/>
            <a:ext cx="7223760" cy="786384"/>
          </a:xfrm>
          <a:prstGeom prst="roundRect">
            <a:avLst>
              <a:gd name="adj" fmla="val 9302"/>
            </a:avLst>
          </a:prstGeom>
          <a:solidFill>
            <a:schemeClr val="bg2"/>
          </a:solidFill>
          <a:ln/>
        </p:spPr>
      </p:sp>
      <p:sp>
        <p:nvSpPr>
          <p:cNvPr id="8" name="Text 6"/>
          <p:cNvSpPr txBox="1"/>
          <p:nvPr/>
        </p:nvSpPr>
        <p:spPr>
          <a:xfrm>
            <a:off x="731520" y="2542032"/>
            <a:ext cx="1417320" cy="786384"/>
          </a:xfrm>
          <a:prstGeom prst="rect">
            <a:avLst/>
          </a:prstGeom>
          <a:noFill/>
          <a:ln/>
        </p:spPr>
        <p:txBody>
          <a:bodyPr wrap="square" lIns="0" tIns="0" rIns="0" bIns="0" rtlCol="0" anchor="ctr"/>
          <a:lstStyle/>
          <a:p>
            <a:pPr indent="0" marL="0">
              <a:buNone/>
            </a:pPr>
            <a:r>
              <a:rPr lang="en-US" sz="1400" b="1" dirty="0">
                <a:solidFill>
                  <a:schemeClr val="accent1"/>
                </a:solidFill>
              </a:rPr>
              <a:t>The structure</a:t>
            </a:r>
            <a:endParaRPr lang="en-US" sz="1400" dirty="0"/>
          </a:p>
        </p:txBody>
      </p:sp>
      <p:sp>
        <p:nvSpPr>
          <p:cNvPr id="9" name="Text 7"/>
          <p:cNvSpPr txBox="1"/>
          <p:nvPr/>
        </p:nvSpPr>
        <p:spPr>
          <a:xfrm>
            <a:off x="2240280" y="2542032"/>
            <a:ext cx="5349240" cy="786384"/>
          </a:xfrm>
          <a:prstGeom prst="rect">
            <a:avLst/>
          </a:prstGeom>
          <a:noFill/>
          <a:ln/>
        </p:spPr>
        <p:txBody>
          <a:bodyPr wrap="square" lIns="0" tIns="0" rIns="0" bIns="0" rtlCol="0" anchor="ctr"/>
          <a:lstStyle/>
          <a:p>
            <a:pPr indent="0" marL="0">
              <a:buNone/>
            </a:pPr>
            <a:r>
              <a:rPr lang="en-US" sz="1300" dirty="0">
                <a:solidFill>
                  <a:schemeClr val="tx1"/>
                </a:solidFill>
              </a:rPr>
              <a:t>Pillar 1 builds the tools on the plane. Pillar 2 cleans up what is already in RDS. Pillar 3 takes new requests from intake to sourcing. DPC migration runs underneath all three.</a:t>
            </a:r>
            <a:endParaRPr lang="en-US" sz="1300" dirty="0"/>
          </a:p>
        </p:txBody>
      </p:sp>
      <p:sp>
        <p:nvSpPr>
          <p:cNvPr id="10" name="Summary row"/>
          <p:cNvSpPr/>
          <p:nvPr/>
        </p:nvSpPr>
        <p:spPr>
          <a:xfrm>
            <a:off x="548640" y="3438144"/>
            <a:ext cx="7223760" cy="786384"/>
          </a:xfrm>
          <a:prstGeom prst="roundRect">
            <a:avLst>
              <a:gd name="adj" fmla="val 9302"/>
            </a:avLst>
          </a:prstGeom>
          <a:solidFill>
            <a:schemeClr val="bg2"/>
          </a:solidFill>
          <a:ln/>
        </p:spPr>
      </p:sp>
      <p:sp>
        <p:nvSpPr>
          <p:cNvPr id="11" name="Text 9"/>
          <p:cNvSpPr txBox="1"/>
          <p:nvPr/>
        </p:nvSpPr>
        <p:spPr>
          <a:xfrm>
            <a:off x="731520" y="3438144"/>
            <a:ext cx="1417320" cy="786384"/>
          </a:xfrm>
          <a:prstGeom prst="rect">
            <a:avLst/>
          </a:prstGeom>
          <a:noFill/>
          <a:ln/>
        </p:spPr>
        <p:txBody>
          <a:bodyPr wrap="square" lIns="0" tIns="0" rIns="0" bIns="0" rtlCol="0" anchor="ctr"/>
          <a:lstStyle/>
          <a:p>
            <a:pPr indent="0" marL="0">
              <a:buNone/>
            </a:pPr>
            <a:r>
              <a:rPr lang="en-US" sz="1400" b="1" dirty="0">
                <a:solidFill>
                  <a:schemeClr val="accent1"/>
                </a:solidFill>
              </a:rPr>
              <a:t>The priorities</a:t>
            </a:r>
            <a:endParaRPr lang="en-US" sz="1400" dirty="0"/>
          </a:p>
        </p:txBody>
      </p:sp>
      <p:sp>
        <p:nvSpPr>
          <p:cNvPr id="12" name="Text 10"/>
          <p:cNvSpPr txBox="1"/>
          <p:nvPr/>
        </p:nvSpPr>
        <p:spPr>
          <a:xfrm>
            <a:off x="2240280" y="3438144"/>
            <a:ext cx="5349240" cy="786384"/>
          </a:xfrm>
          <a:prstGeom prst="rect">
            <a:avLst/>
          </a:prstGeom>
          <a:noFill/>
          <a:ln/>
        </p:spPr>
        <p:txBody>
          <a:bodyPr wrap="square" lIns="0" tIns="0" rIns="0" bIns="0" rtlCol="0" anchor="ctr"/>
          <a:lstStyle/>
          <a:p>
            <a:pPr indent="0" marL="0">
              <a:buNone/>
            </a:pPr>
            <a:r>
              <a:rPr lang="en-US" sz="1300" dirty="0">
                <a:solidFill>
                  <a:schemeClr val="tx1"/>
                </a:solidFill>
              </a:rPr>
              <a:t>Pillar 3 workstreams for FCI, Sentinel, and ORM AI today, with eGRC later. Jacqueline sets what comes next.</a:t>
            </a:r>
            <a:endParaRPr lang="en-US" sz="1300" dirty="0"/>
          </a:p>
        </p:txBody>
      </p:sp>
      <p:sp>
        <p:nvSpPr>
          <p:cNvPr id="13" name="Summary row"/>
          <p:cNvSpPr/>
          <p:nvPr/>
        </p:nvSpPr>
        <p:spPr>
          <a:xfrm>
            <a:off x="548640" y="4334256"/>
            <a:ext cx="7223760" cy="786384"/>
          </a:xfrm>
          <a:prstGeom prst="roundRect">
            <a:avLst>
              <a:gd name="adj" fmla="val 9302"/>
            </a:avLst>
          </a:prstGeom>
          <a:solidFill>
            <a:schemeClr val="bg2"/>
          </a:solidFill>
          <a:ln/>
        </p:spPr>
      </p:sp>
      <p:sp>
        <p:nvSpPr>
          <p:cNvPr id="14" name="Text 12"/>
          <p:cNvSpPr txBox="1"/>
          <p:nvPr/>
        </p:nvSpPr>
        <p:spPr>
          <a:xfrm>
            <a:off x="731520" y="4334256"/>
            <a:ext cx="1417320" cy="786384"/>
          </a:xfrm>
          <a:prstGeom prst="rect">
            <a:avLst/>
          </a:prstGeom>
          <a:noFill/>
          <a:ln/>
        </p:spPr>
        <p:txBody>
          <a:bodyPr wrap="square" lIns="0" tIns="0" rIns="0" bIns="0" rtlCol="0" anchor="ctr"/>
          <a:lstStyle/>
          <a:p>
            <a:pPr indent="0" marL="0">
              <a:buNone/>
            </a:pPr>
            <a:r>
              <a:rPr lang="en-US" sz="1400" b="1" dirty="0">
                <a:solidFill>
                  <a:schemeClr val="accent1"/>
                </a:solidFill>
              </a:rPr>
              <a:t>How we run it</a:t>
            </a:r>
            <a:endParaRPr lang="en-US" sz="1400" dirty="0"/>
          </a:p>
        </p:txBody>
      </p:sp>
      <p:sp>
        <p:nvSpPr>
          <p:cNvPr id="15" name="Text 13"/>
          <p:cNvSpPr txBox="1"/>
          <p:nvPr/>
        </p:nvSpPr>
        <p:spPr>
          <a:xfrm>
            <a:off x="2240280" y="4334256"/>
            <a:ext cx="5349240" cy="786384"/>
          </a:xfrm>
          <a:prstGeom prst="rect">
            <a:avLst/>
          </a:prstGeom>
          <a:noFill/>
          <a:ln/>
        </p:spPr>
        <p:txBody>
          <a:bodyPr wrap="square" lIns="0" tIns="0" rIns="0" bIns="0" rtlCol="0" anchor="ctr"/>
          <a:lstStyle/>
          <a:p>
            <a:pPr indent="0" marL="0">
              <a:buNone/>
            </a:pPr>
            <a:r>
              <a:rPr lang="en-US" sz="1300" dirty="0">
                <a:solidFill>
                  <a:schemeClr val="tx1"/>
                </a:solidFill>
              </a:rPr>
              <a:t>One owner per pillar, a tracker per workstream with RAG status, and a weekly status review.</a:t>
            </a:r>
            <a:endParaRPr lang="en-US" sz="1300" dirty="0"/>
          </a:p>
        </p:txBody>
      </p:sp>
      <p:sp>
        <p:nvSpPr>
          <p:cNvPr id="16" name="Summary row"/>
          <p:cNvSpPr/>
          <p:nvPr/>
        </p:nvSpPr>
        <p:spPr>
          <a:xfrm>
            <a:off x="548640" y="5230368"/>
            <a:ext cx="7223760" cy="786384"/>
          </a:xfrm>
          <a:prstGeom prst="roundRect">
            <a:avLst>
              <a:gd name="adj" fmla="val 9302"/>
            </a:avLst>
          </a:prstGeom>
          <a:solidFill>
            <a:schemeClr val="bg2"/>
          </a:solidFill>
          <a:ln/>
        </p:spPr>
      </p:sp>
      <p:sp>
        <p:nvSpPr>
          <p:cNvPr id="17" name="Text 15"/>
          <p:cNvSpPr txBox="1"/>
          <p:nvPr/>
        </p:nvSpPr>
        <p:spPr>
          <a:xfrm>
            <a:off x="731520" y="5230368"/>
            <a:ext cx="1417320" cy="786384"/>
          </a:xfrm>
          <a:prstGeom prst="rect">
            <a:avLst/>
          </a:prstGeom>
          <a:noFill/>
          <a:ln/>
        </p:spPr>
        <p:txBody>
          <a:bodyPr wrap="square" lIns="0" tIns="0" rIns="0" bIns="0" rtlCol="0" anchor="ctr"/>
          <a:lstStyle/>
          <a:p>
            <a:pPr indent="0" marL="0">
              <a:buNone/>
            </a:pPr>
            <a:r>
              <a:rPr lang="en-US" sz="1400" b="1" dirty="0">
                <a:solidFill>
                  <a:schemeClr val="accent1"/>
                </a:solidFill>
              </a:rPr>
              <a:t>The asks</a:t>
            </a:r>
            <a:endParaRPr lang="en-US" sz="1400" dirty="0"/>
          </a:p>
        </p:txBody>
      </p:sp>
      <p:sp>
        <p:nvSpPr>
          <p:cNvPr id="18" name="Text 16"/>
          <p:cNvSpPr txBox="1"/>
          <p:nvPr/>
        </p:nvSpPr>
        <p:spPr>
          <a:xfrm>
            <a:off x="2240280" y="5230368"/>
            <a:ext cx="5349240" cy="786384"/>
          </a:xfrm>
          <a:prstGeom prst="rect">
            <a:avLst/>
          </a:prstGeom>
          <a:noFill/>
          <a:ln/>
        </p:spPr>
        <p:txBody>
          <a:bodyPr wrap="square" lIns="0" tIns="0" rIns="0" bIns="0" rtlCol="0" anchor="ctr"/>
          <a:lstStyle/>
          <a:p>
            <a:pPr indent="0" marL="0">
              <a:buNone/>
            </a:pPr>
            <a:r>
              <a:rPr lang="en-US" sz="1300" dirty="0">
                <a:solidFill>
                  <a:schemeClr val="tx1"/>
                </a:solidFill>
              </a:rPr>
              <a:t>Align on the pillars, name what comes after FCI, Sentinel, and ORM AI, and back the Pillar 1 build list with technology.</a:t>
            </a:r>
            <a:endParaRPr lang="en-US" sz="1300" dirty="0"/>
          </a:p>
        </p:txBody>
      </p:sp>
      <p:sp>
        <p:nvSpPr>
          <p:cNvPr id="19" name="Text 17"/>
          <p:cNvSpPr txBox="1"/>
          <p:nvPr/>
        </p:nvSpPr>
        <p:spPr>
          <a:xfrm>
            <a:off x="8183880" y="1645920"/>
            <a:ext cx="3456432" cy="228600"/>
          </a:xfrm>
          <a:prstGeom prst="rect">
            <a:avLst/>
          </a:prstGeom>
          <a:noFill/>
          <a:ln/>
        </p:spPr>
        <p:txBody>
          <a:bodyPr wrap="square" lIns="0" tIns="0" rIns="0" bIns="0" rtlCol="0" anchor="t"/>
          <a:lstStyle/>
          <a:p>
            <a:pPr indent="0" marL="0">
              <a:buNone/>
            </a:pPr>
            <a:r>
              <a:rPr lang="en-US" sz="1000" b="1" spc="150" kern="0" dirty="0">
                <a:solidFill>
                  <a:schemeClr val="tx2"/>
                </a:solidFill>
              </a:rPr>
              <a:t>IN FLIGHT TODAY</a:t>
            </a:r>
            <a:endParaRPr lang="en-US" sz="1000" dirty="0"/>
          </a:p>
        </p:txBody>
      </p:sp>
      <p:sp>
        <p:nvSpPr>
          <p:cNvPr id="20" name="Stat card"/>
          <p:cNvSpPr/>
          <p:nvPr/>
        </p:nvSpPr>
        <p:spPr>
          <a:xfrm>
            <a:off x="8183880" y="2011680"/>
            <a:ext cx="3456432" cy="1207008"/>
          </a:xfrm>
          <a:prstGeom prst="roundRect">
            <a:avLst>
              <a:gd name="adj" fmla="val 6061"/>
            </a:avLst>
          </a:prstGeom>
          <a:solidFill>
            <a:schemeClr val="accent1">
              <a:alpha val="12000"/>
            </a:schemeClr>
          </a:solidFill>
          <a:ln/>
        </p:spPr>
      </p:sp>
      <p:sp>
        <p:nvSpPr>
          <p:cNvPr id="21" name="Text 19"/>
          <p:cNvSpPr txBox="1"/>
          <p:nvPr/>
        </p:nvSpPr>
        <p:spPr>
          <a:xfrm>
            <a:off x="8412480" y="2011680"/>
            <a:ext cx="822960" cy="1207008"/>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22" name="Text 20"/>
          <p:cNvSpPr txBox="1"/>
          <p:nvPr/>
        </p:nvSpPr>
        <p:spPr>
          <a:xfrm>
            <a:off x="9326880" y="2011680"/>
            <a:ext cx="2148840" cy="1207008"/>
          </a:xfrm>
          <a:prstGeom prst="rect">
            <a:avLst/>
          </a:prstGeom>
          <a:noFill/>
          <a:ln/>
        </p:spPr>
        <p:txBody>
          <a:bodyPr wrap="square" lIns="0" tIns="0" rIns="0" bIns="0" rtlCol="0" anchor="ctr"/>
          <a:lstStyle/>
          <a:p>
            <a:pPr indent="0" marL="0">
              <a:buNone/>
            </a:pPr>
            <a:r>
              <a:rPr lang="en-US" sz="1400" dirty="0">
                <a:solidFill>
                  <a:schemeClr val="tx1"/>
                </a:solidFill>
              </a:rPr>
              <a:t>pillars, one owner each</a:t>
            </a:r>
            <a:endParaRPr lang="en-US" sz="1400" dirty="0"/>
          </a:p>
        </p:txBody>
      </p:sp>
      <p:sp>
        <p:nvSpPr>
          <p:cNvPr id="23" name="Stat card"/>
          <p:cNvSpPr/>
          <p:nvPr/>
        </p:nvSpPr>
        <p:spPr>
          <a:xfrm>
            <a:off x="8183880" y="3401568"/>
            <a:ext cx="3456432" cy="1207008"/>
          </a:xfrm>
          <a:prstGeom prst="roundRect">
            <a:avLst>
              <a:gd name="adj" fmla="val 6061"/>
            </a:avLst>
          </a:prstGeom>
          <a:solidFill>
            <a:schemeClr val="accent1">
              <a:alpha val="12000"/>
            </a:schemeClr>
          </a:solidFill>
          <a:ln/>
        </p:spPr>
      </p:sp>
      <p:sp>
        <p:nvSpPr>
          <p:cNvPr id="24" name="Text 22"/>
          <p:cNvSpPr txBox="1"/>
          <p:nvPr/>
        </p:nvSpPr>
        <p:spPr>
          <a:xfrm>
            <a:off x="8412480" y="3401568"/>
            <a:ext cx="822960" cy="1207008"/>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25" name="Text 23"/>
          <p:cNvSpPr txBox="1"/>
          <p:nvPr/>
        </p:nvSpPr>
        <p:spPr>
          <a:xfrm>
            <a:off x="9326880" y="3401568"/>
            <a:ext cx="2148840" cy="1207008"/>
          </a:xfrm>
          <a:prstGeom prst="rect">
            <a:avLst/>
          </a:prstGeom>
          <a:noFill/>
          <a:ln/>
        </p:spPr>
        <p:txBody>
          <a:bodyPr wrap="square" lIns="0" tIns="0" rIns="0" bIns="0" rtlCol="0" anchor="ctr"/>
          <a:lstStyle/>
          <a:p>
            <a:pPr indent="0" marL="0">
              <a:buNone/>
            </a:pPr>
            <a:r>
              <a:rPr lang="en-US" sz="1400" dirty="0">
                <a:solidFill>
                  <a:schemeClr val="tx1"/>
                </a:solidFill>
              </a:rPr>
              <a:t>priority workstreams: FCI, Sentinel, ORM AI</a:t>
            </a:r>
            <a:endParaRPr lang="en-US" sz="1400" dirty="0"/>
          </a:p>
        </p:txBody>
      </p:sp>
      <p:sp>
        <p:nvSpPr>
          <p:cNvPr id="26" name="Stat card"/>
          <p:cNvSpPr/>
          <p:nvPr/>
        </p:nvSpPr>
        <p:spPr>
          <a:xfrm>
            <a:off x="8183880" y="4791456"/>
            <a:ext cx="3456432" cy="1207008"/>
          </a:xfrm>
          <a:prstGeom prst="roundRect">
            <a:avLst>
              <a:gd name="adj" fmla="val 6061"/>
            </a:avLst>
          </a:prstGeom>
          <a:solidFill>
            <a:schemeClr val="accent1">
              <a:alpha val="12000"/>
            </a:schemeClr>
          </a:solidFill>
          <a:ln/>
        </p:spPr>
      </p:sp>
      <p:sp>
        <p:nvSpPr>
          <p:cNvPr id="27" name="Text 25"/>
          <p:cNvSpPr txBox="1"/>
          <p:nvPr/>
        </p:nvSpPr>
        <p:spPr>
          <a:xfrm>
            <a:off x="8412480" y="4791456"/>
            <a:ext cx="822960" cy="1207008"/>
          </a:xfrm>
          <a:prstGeom prst="rect">
            <a:avLst/>
          </a:prstGeom>
          <a:noFill/>
          <a:ln/>
        </p:spPr>
        <p:txBody>
          <a:bodyPr wrap="square" lIns="0" tIns="0" rIns="0" bIns="0" rtlCol="0" anchor="ctr"/>
          <a:lstStyle/>
          <a:p>
            <a:pPr indent="0" marL="0">
              <a:buNone/>
            </a:pPr>
            <a:r>
              <a:rPr lang="en-US" sz="4400" b="1" dirty="0">
                <a:solidFill>
                  <a:schemeClr val="accent1"/>
                </a:solidFill>
              </a:rPr>
              <a:t>1</a:t>
            </a:r>
            <a:endParaRPr lang="en-US" sz="4400" dirty="0"/>
          </a:p>
        </p:txBody>
      </p:sp>
      <p:sp>
        <p:nvSpPr>
          <p:cNvPr id="28" name="Text 26"/>
          <p:cNvSpPr txBox="1"/>
          <p:nvPr/>
        </p:nvSpPr>
        <p:spPr>
          <a:xfrm>
            <a:off x="9326880" y="4791456"/>
            <a:ext cx="2148840" cy="1207008"/>
          </a:xfrm>
          <a:prstGeom prst="rect">
            <a:avLst/>
          </a:prstGeom>
          <a:noFill/>
          <a:ln/>
        </p:spPr>
        <p:txBody>
          <a:bodyPr wrap="square" lIns="0" tIns="0" rIns="0" bIns="0" rtlCol="0" anchor="ctr"/>
          <a:lstStyle/>
          <a:p>
            <a:pPr indent="0" marL="0">
              <a:buNone/>
            </a:pPr>
            <a:r>
              <a:rPr lang="en-US" sz="1400" dirty="0">
                <a:solidFill>
                  <a:schemeClr val="tx1"/>
                </a:solidFill>
              </a:rPr>
              <a:t>dependency underneath: DPC migration by year end</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txBox="1"/>
          <p:nvPr/>
        </p:nvSpPr>
        <p:spPr>
          <a:xfrm>
            <a:off x="548640" y="274320"/>
            <a:ext cx="1044245"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FRAMEWORK</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Three pillars on one common data plane</a:t>
            </a:r>
            <a:endParaRPr lang="en-US" sz="2800" dirty="0"/>
          </a:p>
        </p:txBody>
      </p:sp>
      <p:sp>
        <p:nvSpPr>
          <p:cNvPr id="4" name="Goal band"/>
          <p:cNvSpPr/>
          <p:nvPr/>
        </p:nvSpPr>
        <p:spPr>
          <a:xfrm>
            <a:off x="548640" y="1572768"/>
            <a:ext cx="11091672" cy="731520"/>
          </a:xfrm>
          <a:prstGeom prst="roundRect">
            <a:avLst>
              <a:gd name="adj" fmla="val 10000"/>
            </a:avLst>
          </a:prstGeom>
          <a:solidFill>
            <a:schemeClr val="accent5"/>
          </a:solidFill>
          <a:ln/>
        </p:spPr>
      </p:sp>
      <p:sp>
        <p:nvSpPr>
          <p:cNvPr id="5" name="Text 3"/>
          <p:cNvSpPr txBox="1"/>
          <p:nvPr/>
        </p:nvSpPr>
        <p:spPr>
          <a:xfrm>
            <a:off x="548640" y="1572768"/>
            <a:ext cx="11091672" cy="731520"/>
          </a:xfrm>
          <a:prstGeom prst="rect">
            <a:avLst/>
          </a:prstGeom>
          <a:noFill/>
          <a:ln/>
        </p:spPr>
        <p:txBody>
          <a:bodyPr wrap="square" lIns="0" tIns="0" rIns="0" bIns="0" rtlCol="0" anchor="ctr"/>
          <a:lstStyle/>
          <a:p>
            <a:pPr algn="ctr" indent="0" marL="0">
              <a:buNone/>
            </a:pPr>
            <a:r>
              <a:rPr lang="en-US" sz="1800" b="1" dirty="0">
                <a:solidFill>
                  <a:schemeClr val="bg1"/>
                </a:solidFill>
              </a:rPr>
              <a:t>Goal: risk data ready for AI use cases</a:t>
            </a:r>
            <a:endParaRPr lang="en-US" sz="1300" dirty="0"/>
          </a:p>
          <a:p>
            <a:pPr algn="ctr" indent="0" marL="0">
              <a:buNone/>
            </a:pPr>
            <a:r>
              <a:rPr lang="en-US" sz="1300" dirty="0">
                <a:solidFill>
                  <a:schemeClr val="bg1"/>
                </a:solidFill>
              </a:rPr>
              <a:t>AI use cases drive the work. The same data serves reporting, analytics, and investigations.</a:t>
            </a:r>
            <a:endParaRPr lang="en-US" sz="1300" dirty="0"/>
          </a:p>
        </p:txBody>
      </p:sp>
      <p:sp>
        <p:nvSpPr>
          <p:cNvPr id="6" name="Pillar 1 card"/>
          <p:cNvSpPr/>
          <p:nvPr/>
        </p:nvSpPr>
        <p:spPr>
          <a:xfrm>
            <a:off x="548640" y="2450592"/>
            <a:ext cx="3496056" cy="2240280"/>
          </a:xfrm>
          <a:prstGeom prst="roundRect">
            <a:avLst>
              <a:gd name="adj" fmla="val 3265"/>
            </a:avLst>
          </a:prstGeom>
          <a:solidFill>
            <a:schemeClr val="accent1">
              <a:alpha val="12000"/>
            </a:schemeClr>
          </a:solidFill>
          <a:ln w="15875">
            <a:solidFill>
              <a:schemeClr val="accent1"/>
            </a:solidFill>
            <a:prstDash val="solid"/>
          </a:ln>
        </p:spPr>
      </p:sp>
      <p:sp>
        <p:nvSpPr>
          <p:cNvPr id="7" name="Pillar 1 header"/>
          <p:cNvSpPr/>
          <p:nvPr/>
        </p:nvSpPr>
        <p:spPr>
          <a:xfrm>
            <a:off x="548640" y="2450592"/>
            <a:ext cx="3496056" cy="822960"/>
          </a:xfrm>
          <a:prstGeom prst="roundRect">
            <a:avLst>
              <a:gd name="adj" fmla="val 8889"/>
            </a:avLst>
          </a:prstGeom>
          <a:solidFill>
            <a:schemeClr val="accent1"/>
          </a:solidFill>
          <a:ln/>
        </p:spPr>
      </p:sp>
      <p:sp>
        <p:nvSpPr>
          <p:cNvPr id="8" name="Text 6"/>
          <p:cNvSpPr txBox="1"/>
          <p:nvPr/>
        </p:nvSpPr>
        <p:spPr>
          <a:xfrm>
            <a:off x="731520" y="2560320"/>
            <a:ext cx="3176016" cy="667512"/>
          </a:xfrm>
          <a:prstGeom prst="rect">
            <a:avLst/>
          </a:prstGeom>
          <a:noFill/>
          <a:ln/>
        </p:spPr>
        <p:txBody>
          <a:bodyPr wrap="square" lIns="0" tIns="0" rIns="0" bIns="0" rtlCol="0" anchor="t"/>
          <a:lstStyle/>
          <a:p>
            <a:pPr indent="0" marL="0">
              <a:buNone/>
            </a:pPr>
            <a:r>
              <a:rPr lang="en-US" sz="1000" b="1" spc="150" kern="0" dirty="0">
                <a:solidFill>
                  <a:schemeClr val="bg1"/>
                </a:solidFill>
              </a:rPr>
              <a:t>PILLAR 1</a:t>
            </a:r>
            <a:endParaRPr lang="en-US" sz="1300" dirty="0"/>
          </a:p>
          <a:p>
            <a:pPr indent="0" marL="0">
              <a:buNone/>
            </a:pPr>
            <a:r>
              <a:rPr lang="en-US" sz="1600" b="1" dirty="0">
                <a:solidFill>
                  <a:schemeClr val="bg1"/>
                </a:solidFill>
              </a:rPr>
              <a:t>Data Plane Enablement</a:t>
            </a:r>
            <a:endParaRPr lang="en-US" sz="1300" dirty="0"/>
          </a:p>
          <a:p>
            <a:pPr indent="0" marL="0">
              <a:buNone/>
            </a:pPr>
            <a:r>
              <a:rPr lang="en-US" sz="1200" dirty="0">
                <a:solidFill>
                  <a:schemeClr val="bg1"/>
                </a:solidFill>
              </a:rPr>
              <a:t>Tools on the plane</a:t>
            </a:r>
            <a:endParaRPr lang="en-US" sz="1300" dirty="0"/>
          </a:p>
        </p:txBody>
      </p:sp>
      <p:sp>
        <p:nvSpPr>
          <p:cNvPr id="9" name="Text 7"/>
          <p:cNvSpPr txBox="1"/>
          <p:nvPr/>
        </p:nvSpPr>
        <p:spPr>
          <a:xfrm>
            <a:off x="731520" y="3410712"/>
            <a:ext cx="3176016"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Intake tool to replace spreadsheets</a:t>
            </a:r>
            <a:endParaRPr lang="en-US" sz="1300" dirty="0"/>
          </a:p>
          <a:p>
            <a:pPr marL="177800" indent="-177800">
              <a:spcAft>
                <a:spcPts val="500"/>
              </a:spcAft>
              <a:buSzPct val="100000"/>
              <a:buChar char="•"/>
            </a:pPr>
            <a:r>
              <a:rPr lang="en-US" sz="1300" dirty="0">
                <a:solidFill>
                  <a:schemeClr val="tx1"/>
                </a:solidFill>
              </a:rPr>
              <a:t>DataHub: glossary, source dictionaries</a:t>
            </a:r>
            <a:endParaRPr lang="en-US" sz="1300" dirty="0"/>
          </a:p>
          <a:p>
            <a:pPr marL="177800" indent="-177800">
              <a:spcAft>
                <a:spcPts val="500"/>
              </a:spcAft>
              <a:buSzPct val="100000"/>
              <a:buChar char="•"/>
            </a:pPr>
            <a:r>
              <a:rPr lang="en-US" sz="1300" dirty="0">
                <a:solidFill>
                  <a:schemeClr val="tx1"/>
                </a:solidFill>
              </a:rPr>
              <a:t>Lineage tools and ADA for data quality</a:t>
            </a:r>
            <a:endParaRPr lang="en-US" sz="1300" dirty="0"/>
          </a:p>
          <a:p>
            <a:pPr marL="177800" indent="-177800">
              <a:spcAft>
                <a:spcPts val="500"/>
              </a:spcAft>
              <a:buSzPct val="100000"/>
              <a:buChar char="•"/>
            </a:pPr>
            <a:r>
              <a:rPr lang="en-US" sz="1300" dirty="0">
                <a:solidFill>
                  <a:schemeClr val="tx1"/>
                </a:solidFill>
              </a:rPr>
              <a:t>Assess current-state tooling first</a:t>
            </a:r>
            <a:endParaRPr lang="en-US" sz="1300" dirty="0"/>
          </a:p>
        </p:txBody>
      </p:sp>
      <p:sp>
        <p:nvSpPr>
          <p:cNvPr id="10" name="Pillar 2 card"/>
          <p:cNvSpPr/>
          <p:nvPr/>
        </p:nvSpPr>
        <p:spPr>
          <a:xfrm>
            <a:off x="4346448" y="2450592"/>
            <a:ext cx="3496056" cy="2240280"/>
          </a:xfrm>
          <a:prstGeom prst="roundRect">
            <a:avLst>
              <a:gd name="adj" fmla="val 3265"/>
            </a:avLst>
          </a:prstGeom>
          <a:solidFill>
            <a:schemeClr val="accent2">
              <a:alpha val="12000"/>
            </a:schemeClr>
          </a:solidFill>
          <a:ln w="15875">
            <a:solidFill>
              <a:schemeClr val="accent2"/>
            </a:solidFill>
            <a:prstDash val="solid"/>
          </a:ln>
        </p:spPr>
      </p:sp>
      <p:sp>
        <p:nvSpPr>
          <p:cNvPr id="11" name="Pillar 2 header"/>
          <p:cNvSpPr/>
          <p:nvPr/>
        </p:nvSpPr>
        <p:spPr>
          <a:xfrm>
            <a:off x="4346448" y="2450592"/>
            <a:ext cx="3496056" cy="822960"/>
          </a:xfrm>
          <a:prstGeom prst="roundRect">
            <a:avLst>
              <a:gd name="adj" fmla="val 8889"/>
            </a:avLst>
          </a:prstGeom>
          <a:solidFill>
            <a:schemeClr val="accent2"/>
          </a:solidFill>
          <a:ln/>
        </p:spPr>
      </p:sp>
      <p:sp>
        <p:nvSpPr>
          <p:cNvPr id="12" name="Text 10"/>
          <p:cNvSpPr txBox="1"/>
          <p:nvPr/>
        </p:nvSpPr>
        <p:spPr>
          <a:xfrm>
            <a:off x="4529328" y="2560320"/>
            <a:ext cx="3176016" cy="667512"/>
          </a:xfrm>
          <a:prstGeom prst="rect">
            <a:avLst/>
          </a:prstGeom>
          <a:noFill/>
          <a:ln/>
        </p:spPr>
        <p:txBody>
          <a:bodyPr wrap="square" lIns="0" tIns="0" rIns="0" bIns="0" rtlCol="0" anchor="t"/>
          <a:lstStyle/>
          <a:p>
            <a:pPr indent="0" marL="0">
              <a:buNone/>
            </a:pPr>
            <a:r>
              <a:rPr lang="en-US" sz="1000" b="1" spc="150" kern="0" dirty="0">
                <a:solidFill>
                  <a:schemeClr val="bg1"/>
                </a:solidFill>
              </a:rPr>
              <a:t>PILLAR 2</a:t>
            </a:r>
            <a:endParaRPr lang="en-US" sz="1300" dirty="0"/>
          </a:p>
          <a:p>
            <a:pPr indent="0" marL="0">
              <a:buNone/>
            </a:pPr>
            <a:r>
              <a:rPr lang="en-US" sz="1600" b="1" dirty="0">
                <a:solidFill>
                  <a:schemeClr val="bg1"/>
                </a:solidFill>
              </a:rPr>
              <a:t>RDS Rationalization</a:t>
            </a:r>
            <a:endParaRPr lang="en-US" sz="1300" dirty="0"/>
          </a:p>
          <a:p>
            <a:pPr indent="0" marL="0">
              <a:buNone/>
            </a:pPr>
            <a:r>
              <a:rPr lang="en-US" sz="1200" dirty="0">
                <a:solidFill>
                  <a:schemeClr val="bg1"/>
                </a:solidFill>
              </a:rPr>
              <a:t>Baseline, reconcile, migrate</a:t>
            </a:r>
            <a:endParaRPr lang="en-US" sz="1300" dirty="0"/>
          </a:p>
        </p:txBody>
      </p:sp>
      <p:sp>
        <p:nvSpPr>
          <p:cNvPr id="13" name="Text 11"/>
          <p:cNvSpPr txBox="1"/>
          <p:nvPr/>
        </p:nvSpPr>
        <p:spPr>
          <a:xfrm>
            <a:off x="4529328" y="3410712"/>
            <a:ext cx="3176016"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Clean baseline of what is in RDS</a:t>
            </a:r>
            <a:endParaRPr lang="en-US" sz="1300" dirty="0"/>
          </a:p>
          <a:p>
            <a:pPr marL="177800" indent="-177800">
              <a:spcAft>
                <a:spcPts val="500"/>
              </a:spcAft>
              <a:buSzPct val="100000"/>
              <a:buChar char="•"/>
            </a:pPr>
            <a:r>
              <a:rPr lang="en-US" sz="1300" dirty="0">
                <a:solidFill>
                  <a:schemeClr val="tx1"/>
                </a:solidFill>
              </a:rPr>
              <a:t>Reconcile to upstream apps</a:t>
            </a:r>
            <a:endParaRPr lang="en-US" sz="1300" dirty="0"/>
          </a:p>
          <a:p>
            <a:pPr marL="177800" indent="-177800">
              <a:spcAft>
                <a:spcPts val="500"/>
              </a:spcAft>
              <a:buSzPct val="100000"/>
              <a:buChar char="•"/>
            </a:pPr>
            <a:r>
              <a:rPr lang="en-US" sz="1300" dirty="0">
                <a:solidFill>
                  <a:schemeClr val="tx1"/>
                </a:solidFill>
              </a:rPr>
              <a:t>Credit 360 and FCTDS current state</a:t>
            </a:r>
            <a:endParaRPr lang="en-US" sz="1300" dirty="0"/>
          </a:p>
          <a:p>
            <a:pPr marL="177800" indent="-177800">
              <a:spcAft>
                <a:spcPts val="500"/>
              </a:spcAft>
              <a:buSzPct val="100000"/>
              <a:buChar char="•"/>
            </a:pPr>
            <a:r>
              <a:rPr lang="en-US" sz="1300" dirty="0">
                <a:solidFill>
                  <a:schemeClr val="tx1"/>
                </a:solidFill>
              </a:rPr>
              <a:t>Plan moves to strategic sources</a:t>
            </a:r>
            <a:endParaRPr lang="en-US" sz="1300" dirty="0"/>
          </a:p>
        </p:txBody>
      </p:sp>
      <p:sp>
        <p:nvSpPr>
          <p:cNvPr id="14" name="Pillar 3 card"/>
          <p:cNvSpPr/>
          <p:nvPr/>
        </p:nvSpPr>
        <p:spPr>
          <a:xfrm>
            <a:off x="8144256" y="2450592"/>
            <a:ext cx="3496056" cy="2240280"/>
          </a:xfrm>
          <a:prstGeom prst="roundRect">
            <a:avLst>
              <a:gd name="adj" fmla="val 3265"/>
            </a:avLst>
          </a:prstGeom>
          <a:solidFill>
            <a:schemeClr val="accent3">
              <a:alpha val="12000"/>
            </a:schemeClr>
          </a:solidFill>
          <a:ln w="15875">
            <a:solidFill>
              <a:schemeClr val="accent3"/>
            </a:solidFill>
            <a:prstDash val="solid"/>
          </a:ln>
        </p:spPr>
      </p:sp>
      <p:sp>
        <p:nvSpPr>
          <p:cNvPr id="15" name="Pillar 3 header"/>
          <p:cNvSpPr/>
          <p:nvPr/>
        </p:nvSpPr>
        <p:spPr>
          <a:xfrm>
            <a:off x="8144256" y="2450592"/>
            <a:ext cx="3496056" cy="822960"/>
          </a:xfrm>
          <a:prstGeom prst="roundRect">
            <a:avLst>
              <a:gd name="adj" fmla="val 8889"/>
            </a:avLst>
          </a:prstGeom>
          <a:solidFill>
            <a:schemeClr val="accent3"/>
          </a:solidFill>
          <a:ln/>
        </p:spPr>
      </p:sp>
      <p:sp>
        <p:nvSpPr>
          <p:cNvPr id="16" name="Text 14"/>
          <p:cNvSpPr txBox="1"/>
          <p:nvPr/>
        </p:nvSpPr>
        <p:spPr>
          <a:xfrm>
            <a:off x="8327136" y="2560320"/>
            <a:ext cx="3176016" cy="667512"/>
          </a:xfrm>
          <a:prstGeom prst="rect">
            <a:avLst/>
          </a:prstGeom>
          <a:noFill/>
          <a:ln/>
        </p:spPr>
        <p:txBody>
          <a:bodyPr wrap="square" lIns="0" tIns="0" rIns="0" bIns="0" rtlCol="0" anchor="t"/>
          <a:lstStyle/>
          <a:p>
            <a:pPr indent="0" marL="0">
              <a:buNone/>
            </a:pPr>
            <a:r>
              <a:rPr lang="en-US" sz="1000" b="1" spc="150" kern="0" dirty="0">
                <a:solidFill>
                  <a:schemeClr val="bg1"/>
                </a:solidFill>
              </a:rPr>
              <a:t>PILLAR 3</a:t>
            </a:r>
            <a:endParaRPr lang="en-US" sz="1300" dirty="0"/>
          </a:p>
          <a:p>
            <a:pPr indent="0" marL="0">
              <a:buNone/>
            </a:pPr>
            <a:r>
              <a:rPr lang="en-US" sz="1600" b="1" dirty="0">
                <a:solidFill>
                  <a:schemeClr val="bg1"/>
                </a:solidFill>
              </a:rPr>
              <a:t>Demand Intake &amp; Sourcing</a:t>
            </a:r>
            <a:endParaRPr lang="en-US" sz="1300" dirty="0"/>
          </a:p>
          <a:p>
            <a:pPr indent="0" marL="0">
              <a:buNone/>
            </a:pPr>
            <a:r>
              <a:rPr lang="en-US" sz="1200" dirty="0">
                <a:solidFill>
                  <a:schemeClr val="bg1"/>
                </a:solidFill>
              </a:rPr>
              <a:t>Request to sourced data</a:t>
            </a:r>
            <a:endParaRPr lang="en-US" sz="1300" dirty="0"/>
          </a:p>
        </p:txBody>
      </p:sp>
      <p:sp>
        <p:nvSpPr>
          <p:cNvPr id="17" name="Text 15"/>
          <p:cNvSpPr txBox="1"/>
          <p:nvPr/>
        </p:nvSpPr>
        <p:spPr>
          <a:xfrm>
            <a:off x="8327136" y="3410712"/>
            <a:ext cx="3176016"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Business requirements via the template</a:t>
            </a:r>
            <a:endParaRPr lang="en-US" sz="1300" dirty="0"/>
          </a:p>
          <a:p>
            <a:pPr marL="177800" indent="-177800">
              <a:spcAft>
                <a:spcPts val="500"/>
              </a:spcAft>
              <a:buSzPct val="100000"/>
              <a:buChar char="•"/>
            </a:pPr>
            <a:r>
              <a:rPr lang="en-US" sz="1300" dirty="0">
                <a:solidFill>
                  <a:schemeClr val="tx1"/>
                </a:solidFill>
              </a:rPr>
              <a:t>Check what RDS already has</a:t>
            </a:r>
            <a:endParaRPr lang="en-US" sz="1300" dirty="0"/>
          </a:p>
          <a:p>
            <a:pPr marL="177800" indent="-177800">
              <a:spcAft>
                <a:spcPts val="500"/>
              </a:spcAft>
              <a:buSzPct val="100000"/>
              <a:buChar char="•"/>
            </a:pPr>
            <a:r>
              <a:rPr lang="en-US" sz="1300" dirty="0">
                <a:solidFill>
                  <a:schemeClr val="tx1"/>
                </a:solidFill>
              </a:rPr>
              <a:t>Route: strategic, tactical, or escalate</a:t>
            </a:r>
            <a:endParaRPr lang="en-US" sz="1300" dirty="0"/>
          </a:p>
          <a:p>
            <a:pPr marL="177800" indent="-177800">
              <a:spcAft>
                <a:spcPts val="500"/>
              </a:spcAft>
              <a:buSzPct val="100000"/>
              <a:buChar char="•"/>
            </a:pPr>
            <a:r>
              <a:rPr lang="en-US" sz="1300" dirty="0">
                <a:solidFill>
                  <a:schemeClr val="tx1"/>
                </a:solidFill>
              </a:rPr>
              <a:t>A workstream per priority use case</a:t>
            </a:r>
            <a:endParaRPr lang="en-US" sz="1300" dirty="0"/>
          </a:p>
        </p:txBody>
      </p:sp>
      <p:sp>
        <p:nvSpPr>
          <p:cNvPr id="18" name="Connect row"/>
          <p:cNvSpPr/>
          <p:nvPr/>
        </p:nvSpPr>
        <p:spPr>
          <a:xfrm>
            <a:off x="548640" y="4828032"/>
            <a:ext cx="11091672" cy="384048"/>
          </a:xfrm>
          <a:prstGeom prst="roundRect">
            <a:avLst>
              <a:gd name="adj" fmla="val 19048"/>
            </a:avLst>
          </a:prstGeom>
          <a:solidFill>
            <a:schemeClr val="bg2"/>
          </a:solidFill>
          <a:ln w="12700">
            <a:solidFill>
              <a:schemeClr val="tx2"/>
            </a:solidFill>
            <a:prstDash val="dash"/>
          </a:ln>
        </p:spPr>
      </p:sp>
      <p:sp>
        <p:nvSpPr>
          <p:cNvPr id="19" name="Text 17"/>
          <p:cNvSpPr txBox="1"/>
          <p:nvPr/>
        </p:nvSpPr>
        <p:spPr>
          <a:xfrm>
            <a:off x="731520" y="4828032"/>
            <a:ext cx="10789920" cy="384048"/>
          </a:xfrm>
          <a:prstGeom prst="rect">
            <a:avLst/>
          </a:prstGeom>
          <a:noFill/>
          <a:ln/>
        </p:spPr>
        <p:txBody>
          <a:bodyPr wrap="square" lIns="0" tIns="0" rIns="0" bIns="0" rtlCol="0" anchor="ctr"/>
          <a:lstStyle/>
          <a:p>
            <a:pPr indent="0" marL="0">
              <a:buNone/>
            </a:pPr>
            <a:r>
              <a:rPr lang="en-US" sz="1300" b="1" dirty="0">
                <a:solidFill>
                  <a:schemeClr val="tx1"/>
                </a:solidFill>
              </a:rPr>
              <a:t>How they connect: </a:t>
            </a:r>
            <a:pPr indent="0" marL="0">
              <a:buNone/>
            </a:pPr>
            <a:r>
              <a:rPr lang="en-US" sz="1300" dirty="0">
                <a:solidFill>
                  <a:schemeClr val="tx1"/>
                </a:solidFill>
              </a:rPr>
              <a:t>Pillar 1 tools make Pillars 2 and 3 faster. Pillar 2's baseline answers Pillar 3's first question: is the data already in RDS?</a:t>
            </a:r>
            <a:endParaRPr lang="en-US" sz="1300" dirty="0"/>
          </a:p>
        </p:txBody>
      </p:sp>
      <p:sp>
        <p:nvSpPr>
          <p:cNvPr id="20" name="DPC row"/>
          <p:cNvSpPr/>
          <p:nvPr/>
        </p:nvSpPr>
        <p:spPr>
          <a:xfrm>
            <a:off x="548640" y="5321808"/>
            <a:ext cx="11091672" cy="384048"/>
          </a:xfrm>
          <a:prstGeom prst="roundRect">
            <a:avLst>
              <a:gd name="adj" fmla="val 19048"/>
            </a:avLst>
          </a:prstGeom>
          <a:solidFill>
            <a:schemeClr val="accent4">
              <a:alpha val="10000"/>
            </a:schemeClr>
          </a:solidFill>
          <a:ln w="15875">
            <a:solidFill>
              <a:schemeClr val="accent4"/>
            </a:solidFill>
            <a:prstDash val="solid"/>
          </a:ln>
        </p:spPr>
      </p:sp>
      <p:sp>
        <p:nvSpPr>
          <p:cNvPr id="21" name="Text 19"/>
          <p:cNvSpPr txBox="1"/>
          <p:nvPr/>
        </p:nvSpPr>
        <p:spPr>
          <a:xfrm>
            <a:off x="731520" y="5321808"/>
            <a:ext cx="10789920" cy="384048"/>
          </a:xfrm>
          <a:prstGeom prst="rect">
            <a:avLst/>
          </a:prstGeom>
          <a:noFill/>
          <a:ln/>
        </p:spPr>
        <p:txBody>
          <a:bodyPr wrap="square" lIns="0" tIns="0" rIns="0" bIns="0" rtlCol="0" anchor="ctr"/>
          <a:lstStyle/>
          <a:p>
            <a:pPr indent="0" marL="0">
              <a:buNone/>
            </a:pPr>
            <a:r>
              <a:rPr lang="en-US" sz="1300" b="1" dirty="0">
                <a:solidFill>
                  <a:schemeClr val="accent4"/>
                </a:solidFill>
              </a:rPr>
              <a:t>Underneath: DPC migration</a:t>
            </a:r>
            <a:pPr indent="0" marL="0">
              <a:buNone/>
            </a:pPr>
            <a:r>
              <a:rPr lang="en-US" sz="1300" dirty="0">
                <a:solidFill>
                  <a:schemeClr val="tx1"/>
                </a:solidFill>
              </a:rPr>
              <a:t> · lift and shift by year end · the pillars apply before and after the move · tracked on Ryan's timeline, not a pillar</a:t>
            </a:r>
            <a:endParaRPr lang="en-US" sz="1300" dirty="0"/>
          </a:p>
        </p:txBody>
      </p:sp>
      <p:sp>
        <p:nvSpPr>
          <p:cNvPr id="22" name="Data plane bar"/>
          <p:cNvSpPr/>
          <p:nvPr/>
        </p:nvSpPr>
        <p:spPr>
          <a:xfrm>
            <a:off x="548640" y="5815584"/>
            <a:ext cx="11091672" cy="365760"/>
          </a:xfrm>
          <a:prstGeom prst="roundRect">
            <a:avLst>
              <a:gd name="adj" fmla="val 15000"/>
            </a:avLst>
          </a:prstGeom>
          <a:solidFill>
            <a:schemeClr val="tx1"/>
          </a:solidFill>
          <a:ln/>
        </p:spPr>
      </p:sp>
      <p:sp>
        <p:nvSpPr>
          <p:cNvPr id="23" name="Text 21"/>
          <p:cNvSpPr txBox="1"/>
          <p:nvPr/>
        </p:nvSpPr>
        <p:spPr>
          <a:xfrm>
            <a:off x="548640" y="5815584"/>
            <a:ext cx="11091672" cy="365760"/>
          </a:xfrm>
          <a:prstGeom prst="rect">
            <a:avLst/>
          </a:prstGeom>
          <a:noFill/>
          <a:ln/>
        </p:spPr>
        <p:txBody>
          <a:bodyPr wrap="square" lIns="0" tIns="0" rIns="0" bIns="0" rtlCol="0" anchor="ctr"/>
          <a:lstStyle/>
          <a:p>
            <a:pPr algn="ctr" indent="0" marL="0">
              <a:buNone/>
            </a:pPr>
            <a:r>
              <a:rPr lang="en-US" sz="1300" b="1" dirty="0">
                <a:solidFill>
                  <a:schemeClr val="bg1"/>
                </a:solidFill>
              </a:rPr>
              <a:t>Common data plane (DPC): source once, derive in each area</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48640" y="274320"/>
            <a:ext cx="1366114"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ORDER OF WORK</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AI is the last step: data readiness comes first</a:t>
            </a:r>
            <a:endParaRPr lang="en-US" sz="2800" dirty="0"/>
          </a:p>
        </p:txBody>
      </p:sp>
      <p:sp>
        <p:nvSpPr>
          <p:cNvPr id="4" name="Text 2"/>
          <p:cNvSpPr txBox="1"/>
          <p:nvPr/>
        </p:nvSpPr>
        <p:spPr>
          <a:xfrm>
            <a:off x="548640" y="1572768"/>
            <a:ext cx="8812530" cy="228600"/>
          </a:xfrm>
          <a:prstGeom prst="rect">
            <a:avLst/>
          </a:prstGeom>
          <a:noFill/>
          <a:ln/>
        </p:spPr>
        <p:txBody>
          <a:bodyPr wrap="square" lIns="0" tIns="0" rIns="0" bIns="0" rtlCol="0" anchor="t"/>
          <a:lstStyle/>
          <a:p>
            <a:pPr algn="ctr" indent="0" marL="0">
              <a:buNone/>
            </a:pPr>
            <a:r>
              <a:rPr lang="en-US" sz="1000" b="1" spc="150" kern="0" dirty="0">
                <a:solidFill>
                  <a:schemeClr val="tx1"/>
                </a:solidFill>
              </a:rPr>
              <a:t>DATA STRATEGY WORK · PHASES 1–4</a:t>
            </a:r>
            <a:endParaRPr lang="en-US" sz="1000" dirty="0"/>
          </a:p>
        </p:txBody>
      </p:sp>
      <p:sp>
        <p:nvSpPr>
          <p:cNvPr id="5" name="Shape 3"/>
          <p:cNvSpPr/>
          <p:nvPr/>
        </p:nvSpPr>
        <p:spPr>
          <a:xfrm>
            <a:off x="548640" y="1847088"/>
            <a:ext cx="8812530" cy="0"/>
          </a:xfrm>
          <a:prstGeom prst="line">
            <a:avLst/>
          </a:prstGeom>
          <a:noFill/>
          <a:ln w="19050">
            <a:solidFill>
              <a:schemeClr val="tx1"/>
            </a:solidFill>
            <a:prstDash val="solid"/>
          </a:ln>
        </p:spPr>
      </p:sp>
      <p:sp>
        <p:nvSpPr>
          <p:cNvPr id="6" name="Text 4"/>
          <p:cNvSpPr txBox="1"/>
          <p:nvPr/>
        </p:nvSpPr>
        <p:spPr>
          <a:xfrm>
            <a:off x="9665208" y="1572768"/>
            <a:ext cx="1975104" cy="228600"/>
          </a:xfrm>
          <a:prstGeom prst="rect">
            <a:avLst/>
          </a:prstGeom>
          <a:noFill/>
          <a:ln/>
        </p:spPr>
        <p:txBody>
          <a:bodyPr wrap="square" lIns="0" tIns="0" rIns="0" bIns="0" rtlCol="0" anchor="t"/>
          <a:lstStyle/>
          <a:p>
            <a:pPr algn="ctr" indent="0" marL="0">
              <a:buNone/>
            </a:pPr>
            <a:r>
              <a:rPr lang="en-US" sz="1000" b="1" spc="150" kern="0" dirty="0">
                <a:solidFill>
                  <a:schemeClr val="accent5"/>
                </a:solidFill>
              </a:rPr>
              <a:t>THE PAYOFF</a:t>
            </a:r>
            <a:endParaRPr lang="en-US" sz="1000" dirty="0"/>
          </a:p>
        </p:txBody>
      </p:sp>
      <p:sp>
        <p:nvSpPr>
          <p:cNvPr id="7" name="Shape 5"/>
          <p:cNvSpPr/>
          <p:nvPr/>
        </p:nvSpPr>
        <p:spPr>
          <a:xfrm>
            <a:off x="9665208" y="1847088"/>
            <a:ext cx="1975104" cy="0"/>
          </a:xfrm>
          <a:prstGeom prst="line">
            <a:avLst/>
          </a:prstGeom>
          <a:noFill/>
          <a:ln w="19050">
            <a:solidFill>
              <a:schemeClr val="accent5"/>
            </a:solidFill>
            <a:prstDash val="solid"/>
          </a:ln>
        </p:spPr>
      </p:sp>
      <p:sp>
        <p:nvSpPr>
          <p:cNvPr id="8" name="Phase 1"/>
          <p:cNvSpPr/>
          <p:nvPr/>
        </p:nvSpPr>
        <p:spPr>
          <a:xfrm>
            <a:off x="548640" y="2057400"/>
            <a:ext cx="1975104" cy="3200400"/>
          </a:xfrm>
          <a:prstGeom prst="roundRect">
            <a:avLst>
              <a:gd name="adj" fmla="val 3704"/>
            </a:avLst>
          </a:prstGeom>
          <a:solidFill>
            <a:schemeClr val="bg1"/>
          </a:solidFill>
          <a:ln w="15875">
            <a:solidFill>
              <a:schemeClr val="tx1"/>
            </a:solidFill>
            <a:prstDash val="solid"/>
          </a:ln>
        </p:spPr>
      </p:sp>
      <p:sp>
        <p:nvSpPr>
          <p:cNvPr id="9" name="Phase 1 header"/>
          <p:cNvSpPr/>
          <p:nvPr/>
        </p:nvSpPr>
        <p:spPr>
          <a:xfrm>
            <a:off x="548640" y="2057400"/>
            <a:ext cx="1975104" cy="731520"/>
          </a:xfrm>
          <a:prstGeom prst="roundRect">
            <a:avLst>
              <a:gd name="adj" fmla="val 10000"/>
            </a:avLst>
          </a:prstGeom>
          <a:solidFill>
            <a:schemeClr val="tx1"/>
          </a:solidFill>
          <a:ln/>
        </p:spPr>
      </p:sp>
      <p:sp>
        <p:nvSpPr>
          <p:cNvPr id="10" name="Text 8"/>
          <p:cNvSpPr txBox="1"/>
          <p:nvPr/>
        </p:nvSpPr>
        <p:spPr>
          <a:xfrm>
            <a:off x="658368" y="2240280"/>
            <a:ext cx="365760" cy="365760"/>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1" name="Text 9"/>
          <p:cNvSpPr txBox="1"/>
          <p:nvPr/>
        </p:nvSpPr>
        <p:spPr>
          <a:xfrm>
            <a:off x="1115568" y="2057400"/>
            <a:ext cx="1335024" cy="731520"/>
          </a:xfrm>
          <a:prstGeom prst="rect">
            <a:avLst/>
          </a:prstGeom>
          <a:noFill/>
          <a:ln/>
        </p:spPr>
        <p:txBody>
          <a:bodyPr wrap="square" lIns="0" tIns="0" rIns="0" bIns="0" rtlCol="0" anchor="ctr"/>
          <a:lstStyle/>
          <a:p>
            <a:pPr indent="0" marL="0">
              <a:buNone/>
            </a:pPr>
            <a:r>
              <a:rPr lang="en-US" sz="1400" b="1" dirty="0">
                <a:solidFill>
                  <a:schemeClr val="bg1"/>
                </a:solidFill>
              </a:rPr>
              <a:t>Understand the need</a:t>
            </a:r>
            <a:endParaRPr lang="en-US" sz="1400" dirty="0"/>
          </a:p>
        </p:txBody>
      </p:sp>
      <p:sp>
        <p:nvSpPr>
          <p:cNvPr id="12" name="Text 10"/>
          <p:cNvSpPr txBox="1"/>
          <p:nvPr/>
        </p:nvSpPr>
        <p:spPr>
          <a:xfrm>
            <a:off x="676656" y="2926080"/>
            <a:ext cx="1719072" cy="1463040"/>
          </a:xfrm>
          <a:prstGeom prst="rect">
            <a:avLst/>
          </a:prstGeom>
          <a:noFill/>
          <a:ln/>
        </p:spPr>
        <p:txBody>
          <a:bodyPr wrap="square" lIns="0" tIns="0" rIns="0" bIns="0" rtlCol="0" anchor="t"/>
          <a:lstStyle/>
          <a:p>
            <a:pPr indent="0" marL="0">
              <a:buNone/>
            </a:pPr>
            <a:r>
              <a:rPr lang="en-US" sz="1300" dirty="0">
                <a:solidFill>
                  <a:schemeClr val="tx1"/>
                </a:solidFill>
              </a:rPr>
              <a:t>Collect the use case's business requirements through the intake template: which data, why, and when.</a:t>
            </a:r>
            <a:endParaRPr lang="en-US" sz="1300" dirty="0"/>
          </a:p>
        </p:txBody>
      </p:sp>
      <p:sp>
        <p:nvSpPr>
          <p:cNvPr id="13" name="Gate"/>
          <p:cNvSpPr/>
          <p:nvPr/>
        </p:nvSpPr>
        <p:spPr>
          <a:xfrm>
            <a:off x="640080" y="4325112"/>
            <a:ext cx="1792224" cy="841248"/>
          </a:xfrm>
          <a:prstGeom prst="roundRect">
            <a:avLst>
              <a:gd name="adj" fmla="val 8696"/>
            </a:avLst>
          </a:prstGeom>
          <a:solidFill>
            <a:schemeClr val="bg2"/>
          </a:solidFill>
          <a:ln/>
        </p:spPr>
      </p:sp>
      <p:sp>
        <p:nvSpPr>
          <p:cNvPr id="14" name="Text 12"/>
          <p:cNvSpPr txBox="1"/>
          <p:nvPr/>
        </p:nvSpPr>
        <p:spPr>
          <a:xfrm>
            <a:off x="731520" y="4398264"/>
            <a:ext cx="1609344" cy="713232"/>
          </a:xfrm>
          <a:prstGeom prst="rect">
            <a:avLst/>
          </a:prstGeom>
          <a:noFill/>
          <a:ln/>
        </p:spPr>
        <p:txBody>
          <a:bodyPr wrap="square" lIns="0" tIns="0" rIns="0" bIns="0" rtlCol="0" anchor="t"/>
          <a:lstStyle/>
          <a:p>
            <a:pPr indent="0" marL="0">
              <a:buNone/>
            </a:pPr>
            <a:r>
              <a:rPr lang="en-US" sz="900" b="1" spc="120" kern="0" dirty="0">
                <a:solidFill>
                  <a:schemeClr val="tx2"/>
                </a:solidFill>
              </a:rPr>
              <a:t>GATE</a:t>
            </a:r>
            <a:endParaRPr lang="en-US" sz="1300" dirty="0"/>
          </a:p>
          <a:p>
            <a:pPr indent="0" marL="0">
              <a:buNone/>
            </a:pPr>
            <a:r>
              <a:rPr lang="en-US" sz="1100" dirty="0">
                <a:solidFill>
                  <a:schemeClr val="tx1"/>
                </a:solidFill>
              </a:rPr>
              <a:t>Requirements confirmed by the business</a:t>
            </a:r>
            <a:endParaRPr lang="en-US" sz="1300" dirty="0"/>
          </a:p>
        </p:txBody>
      </p:sp>
      <p:sp>
        <p:nvSpPr>
          <p:cNvPr id="15" name="Shape 13"/>
          <p:cNvSpPr/>
          <p:nvPr/>
        </p:nvSpPr>
        <p:spPr>
          <a:xfrm>
            <a:off x="2584323" y="3520440"/>
            <a:ext cx="182880" cy="237744"/>
          </a:xfrm>
          <a:prstGeom prst="rightArrow">
            <a:avLst/>
          </a:prstGeom>
          <a:solidFill>
            <a:schemeClr val="tx1"/>
          </a:solidFill>
          <a:ln/>
        </p:spPr>
      </p:sp>
      <p:sp>
        <p:nvSpPr>
          <p:cNvPr id="16" name="Phase 2"/>
          <p:cNvSpPr/>
          <p:nvPr/>
        </p:nvSpPr>
        <p:spPr>
          <a:xfrm>
            <a:off x="2827782" y="2057400"/>
            <a:ext cx="1975104" cy="3200400"/>
          </a:xfrm>
          <a:prstGeom prst="roundRect">
            <a:avLst>
              <a:gd name="adj" fmla="val 3704"/>
            </a:avLst>
          </a:prstGeom>
          <a:solidFill>
            <a:schemeClr val="bg1"/>
          </a:solidFill>
          <a:ln w="15875">
            <a:solidFill>
              <a:schemeClr val="tx1"/>
            </a:solidFill>
            <a:prstDash val="solid"/>
          </a:ln>
        </p:spPr>
      </p:sp>
      <p:sp>
        <p:nvSpPr>
          <p:cNvPr id="17" name="Phase 2 header"/>
          <p:cNvSpPr/>
          <p:nvPr/>
        </p:nvSpPr>
        <p:spPr>
          <a:xfrm>
            <a:off x="2827782" y="2057400"/>
            <a:ext cx="1975104" cy="731520"/>
          </a:xfrm>
          <a:prstGeom prst="roundRect">
            <a:avLst>
              <a:gd name="adj" fmla="val 10000"/>
            </a:avLst>
          </a:prstGeom>
          <a:solidFill>
            <a:schemeClr val="tx1"/>
          </a:solidFill>
          <a:ln/>
        </p:spPr>
      </p:sp>
      <p:sp>
        <p:nvSpPr>
          <p:cNvPr id="18" name="Text 16"/>
          <p:cNvSpPr txBox="1"/>
          <p:nvPr/>
        </p:nvSpPr>
        <p:spPr>
          <a:xfrm>
            <a:off x="2937510" y="2240280"/>
            <a:ext cx="365760" cy="365760"/>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3394710" y="2057400"/>
            <a:ext cx="1335024" cy="731520"/>
          </a:xfrm>
          <a:prstGeom prst="rect">
            <a:avLst/>
          </a:prstGeom>
          <a:noFill/>
          <a:ln/>
        </p:spPr>
        <p:txBody>
          <a:bodyPr wrap="square" lIns="0" tIns="0" rIns="0" bIns="0" rtlCol="0" anchor="ctr"/>
          <a:lstStyle/>
          <a:p>
            <a:pPr indent="0" marL="0">
              <a:buNone/>
            </a:pPr>
            <a:r>
              <a:rPr lang="en-US" sz="1400" b="1" dirty="0">
                <a:solidFill>
                  <a:schemeClr val="bg1"/>
                </a:solidFill>
              </a:rPr>
              <a:t>Check and prioritize</a:t>
            </a:r>
            <a:endParaRPr lang="en-US" sz="1400" dirty="0"/>
          </a:p>
        </p:txBody>
      </p:sp>
      <p:sp>
        <p:nvSpPr>
          <p:cNvPr id="20" name="Text 18"/>
          <p:cNvSpPr txBox="1"/>
          <p:nvPr/>
        </p:nvSpPr>
        <p:spPr>
          <a:xfrm>
            <a:off x="2955798" y="2926080"/>
            <a:ext cx="1719072" cy="1463040"/>
          </a:xfrm>
          <a:prstGeom prst="rect">
            <a:avLst/>
          </a:prstGeom>
          <a:noFill/>
          <a:ln/>
        </p:spPr>
        <p:txBody>
          <a:bodyPr wrap="square" lIns="0" tIns="0" rIns="0" bIns="0" rtlCol="0" anchor="t"/>
          <a:lstStyle/>
          <a:p>
            <a:pPr indent="0" marL="0">
              <a:buNone/>
            </a:pPr>
            <a:r>
              <a:rPr lang="en-US" sz="1300" dirty="0">
                <a:solidFill>
                  <a:schemeClr val="tx1"/>
                </a:solidFill>
              </a:rPr>
              <a:t>Check what RDS already has. Rank the gaps by business priority and strategic ADS fit.</a:t>
            </a:r>
            <a:endParaRPr lang="en-US" sz="1300" dirty="0"/>
          </a:p>
        </p:txBody>
      </p:sp>
      <p:sp>
        <p:nvSpPr>
          <p:cNvPr id="21" name="Gate"/>
          <p:cNvSpPr/>
          <p:nvPr/>
        </p:nvSpPr>
        <p:spPr>
          <a:xfrm>
            <a:off x="2919222" y="4325112"/>
            <a:ext cx="1792224" cy="841248"/>
          </a:xfrm>
          <a:prstGeom prst="roundRect">
            <a:avLst>
              <a:gd name="adj" fmla="val 8696"/>
            </a:avLst>
          </a:prstGeom>
          <a:solidFill>
            <a:schemeClr val="bg2"/>
          </a:solidFill>
          <a:ln/>
        </p:spPr>
      </p:sp>
      <p:sp>
        <p:nvSpPr>
          <p:cNvPr id="22" name="Text 20"/>
          <p:cNvSpPr txBox="1"/>
          <p:nvPr/>
        </p:nvSpPr>
        <p:spPr>
          <a:xfrm>
            <a:off x="3010662" y="4398264"/>
            <a:ext cx="1609344" cy="713232"/>
          </a:xfrm>
          <a:prstGeom prst="rect">
            <a:avLst/>
          </a:prstGeom>
          <a:noFill/>
          <a:ln/>
        </p:spPr>
        <p:txBody>
          <a:bodyPr wrap="square" lIns="0" tIns="0" rIns="0" bIns="0" rtlCol="0" anchor="t"/>
          <a:lstStyle/>
          <a:p>
            <a:pPr indent="0" marL="0">
              <a:buNone/>
            </a:pPr>
            <a:r>
              <a:rPr lang="en-US" sz="900" b="1" spc="120" kern="0" dirty="0">
                <a:solidFill>
                  <a:schemeClr val="tx2"/>
                </a:solidFill>
              </a:rPr>
              <a:t>GATE</a:t>
            </a:r>
            <a:endParaRPr lang="en-US" sz="1300" dirty="0"/>
          </a:p>
          <a:p>
            <a:pPr indent="0" marL="0">
              <a:buNone/>
            </a:pPr>
            <a:r>
              <a:rPr lang="en-US" sz="1100" dirty="0">
                <a:solidFill>
                  <a:schemeClr val="tx1"/>
                </a:solidFill>
              </a:rPr>
              <a:t>Priority and first cohort agreed</a:t>
            </a:r>
            <a:endParaRPr lang="en-US" sz="1300" dirty="0"/>
          </a:p>
        </p:txBody>
      </p:sp>
      <p:sp>
        <p:nvSpPr>
          <p:cNvPr id="23" name="Shape 21"/>
          <p:cNvSpPr/>
          <p:nvPr/>
        </p:nvSpPr>
        <p:spPr>
          <a:xfrm>
            <a:off x="4863465" y="3520440"/>
            <a:ext cx="182880" cy="237744"/>
          </a:xfrm>
          <a:prstGeom prst="rightArrow">
            <a:avLst/>
          </a:prstGeom>
          <a:solidFill>
            <a:schemeClr val="tx1"/>
          </a:solidFill>
          <a:ln/>
        </p:spPr>
      </p:sp>
      <p:sp>
        <p:nvSpPr>
          <p:cNvPr id="24" name="Phase 3"/>
          <p:cNvSpPr/>
          <p:nvPr/>
        </p:nvSpPr>
        <p:spPr>
          <a:xfrm>
            <a:off x="5106924" y="2057400"/>
            <a:ext cx="1975104" cy="3200400"/>
          </a:xfrm>
          <a:prstGeom prst="roundRect">
            <a:avLst>
              <a:gd name="adj" fmla="val 3704"/>
            </a:avLst>
          </a:prstGeom>
          <a:solidFill>
            <a:schemeClr val="bg1"/>
          </a:solidFill>
          <a:ln w="15875">
            <a:solidFill>
              <a:schemeClr val="tx1"/>
            </a:solidFill>
            <a:prstDash val="solid"/>
          </a:ln>
        </p:spPr>
      </p:sp>
      <p:sp>
        <p:nvSpPr>
          <p:cNvPr id="25" name="Phase 3 header"/>
          <p:cNvSpPr/>
          <p:nvPr/>
        </p:nvSpPr>
        <p:spPr>
          <a:xfrm>
            <a:off x="5106924" y="2057400"/>
            <a:ext cx="1975104" cy="731520"/>
          </a:xfrm>
          <a:prstGeom prst="roundRect">
            <a:avLst>
              <a:gd name="adj" fmla="val 10000"/>
            </a:avLst>
          </a:prstGeom>
          <a:solidFill>
            <a:schemeClr val="tx1"/>
          </a:solidFill>
          <a:ln/>
        </p:spPr>
      </p:sp>
      <p:sp>
        <p:nvSpPr>
          <p:cNvPr id="26" name="Text 24"/>
          <p:cNvSpPr txBox="1"/>
          <p:nvPr/>
        </p:nvSpPr>
        <p:spPr>
          <a:xfrm>
            <a:off x="5216652" y="2240280"/>
            <a:ext cx="365760" cy="365760"/>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7" name="Text 25"/>
          <p:cNvSpPr txBox="1"/>
          <p:nvPr/>
        </p:nvSpPr>
        <p:spPr>
          <a:xfrm>
            <a:off x="5673852" y="2057400"/>
            <a:ext cx="1335024" cy="731520"/>
          </a:xfrm>
          <a:prstGeom prst="rect">
            <a:avLst/>
          </a:prstGeom>
          <a:noFill/>
          <a:ln/>
        </p:spPr>
        <p:txBody>
          <a:bodyPr wrap="square" lIns="0" tIns="0" rIns="0" bIns="0" rtlCol="0" anchor="ctr"/>
          <a:lstStyle/>
          <a:p>
            <a:pPr indent="0" marL="0">
              <a:buNone/>
            </a:pPr>
            <a:r>
              <a:rPr lang="en-US" sz="1400" b="1" dirty="0">
                <a:solidFill>
                  <a:schemeClr val="bg1"/>
                </a:solidFill>
              </a:rPr>
              <a:t>Source and land</a:t>
            </a:r>
            <a:endParaRPr lang="en-US" sz="1400" dirty="0"/>
          </a:p>
        </p:txBody>
      </p:sp>
      <p:sp>
        <p:nvSpPr>
          <p:cNvPr id="28" name="Text 26"/>
          <p:cNvSpPr txBox="1"/>
          <p:nvPr/>
        </p:nvSpPr>
        <p:spPr>
          <a:xfrm>
            <a:off x="5234940" y="2926080"/>
            <a:ext cx="1719072" cy="1463040"/>
          </a:xfrm>
          <a:prstGeom prst="rect">
            <a:avLst/>
          </a:prstGeom>
          <a:noFill/>
          <a:ln/>
        </p:spPr>
        <p:txBody>
          <a:bodyPr wrap="square" lIns="0" tIns="0" rIns="0" bIns="0" rtlCol="0" anchor="t"/>
          <a:lstStyle/>
          <a:p>
            <a:pPr indent="0" marL="0">
              <a:buNone/>
            </a:pPr>
            <a:r>
              <a:rPr lang="en-US" sz="1300" dirty="0">
                <a:solidFill>
                  <a:schemeClr val="tx1"/>
                </a:solidFill>
              </a:rPr>
              <a:t>Pick the route: strategic, justified tactical, or escalate. Tech partners land data to our requirements.</a:t>
            </a:r>
            <a:endParaRPr lang="en-US" sz="1300" dirty="0"/>
          </a:p>
        </p:txBody>
      </p:sp>
      <p:sp>
        <p:nvSpPr>
          <p:cNvPr id="29" name="Gate"/>
          <p:cNvSpPr/>
          <p:nvPr/>
        </p:nvSpPr>
        <p:spPr>
          <a:xfrm>
            <a:off x="5198364" y="4325112"/>
            <a:ext cx="1792224" cy="841248"/>
          </a:xfrm>
          <a:prstGeom prst="roundRect">
            <a:avLst>
              <a:gd name="adj" fmla="val 8696"/>
            </a:avLst>
          </a:prstGeom>
          <a:solidFill>
            <a:schemeClr val="bg2"/>
          </a:solidFill>
          <a:ln/>
        </p:spPr>
      </p:sp>
      <p:sp>
        <p:nvSpPr>
          <p:cNvPr id="30" name="Text 28"/>
          <p:cNvSpPr txBox="1"/>
          <p:nvPr/>
        </p:nvSpPr>
        <p:spPr>
          <a:xfrm>
            <a:off x="5289804" y="4398264"/>
            <a:ext cx="1609344" cy="713232"/>
          </a:xfrm>
          <a:prstGeom prst="rect">
            <a:avLst/>
          </a:prstGeom>
          <a:noFill/>
          <a:ln/>
        </p:spPr>
        <p:txBody>
          <a:bodyPr wrap="square" lIns="0" tIns="0" rIns="0" bIns="0" rtlCol="0" anchor="t"/>
          <a:lstStyle/>
          <a:p>
            <a:pPr indent="0" marL="0">
              <a:buNone/>
            </a:pPr>
            <a:r>
              <a:rPr lang="en-US" sz="900" b="1" spc="120" kern="0" dirty="0">
                <a:solidFill>
                  <a:schemeClr val="tx2"/>
                </a:solidFill>
              </a:rPr>
              <a:t>GATE</a:t>
            </a:r>
            <a:endParaRPr lang="en-US" sz="1300" dirty="0"/>
          </a:p>
          <a:p>
            <a:pPr indent="0" marL="0">
              <a:buNone/>
            </a:pPr>
            <a:r>
              <a:rPr lang="en-US" sz="1100" dirty="0">
                <a:solidFill>
                  <a:schemeClr val="tx1"/>
                </a:solidFill>
              </a:rPr>
              <a:t>Data landed as specified; checks passed</a:t>
            </a:r>
            <a:endParaRPr lang="en-US" sz="1300" dirty="0"/>
          </a:p>
        </p:txBody>
      </p:sp>
      <p:sp>
        <p:nvSpPr>
          <p:cNvPr id="31" name="Shape 29"/>
          <p:cNvSpPr/>
          <p:nvPr/>
        </p:nvSpPr>
        <p:spPr>
          <a:xfrm>
            <a:off x="7142607" y="3520440"/>
            <a:ext cx="182880" cy="237744"/>
          </a:xfrm>
          <a:prstGeom prst="rightArrow">
            <a:avLst/>
          </a:prstGeom>
          <a:solidFill>
            <a:schemeClr val="tx1"/>
          </a:solidFill>
          <a:ln/>
        </p:spPr>
      </p:sp>
      <p:sp>
        <p:nvSpPr>
          <p:cNvPr id="32" name="Phase 4"/>
          <p:cNvSpPr/>
          <p:nvPr/>
        </p:nvSpPr>
        <p:spPr>
          <a:xfrm>
            <a:off x="7386066" y="2057400"/>
            <a:ext cx="1975104" cy="3200400"/>
          </a:xfrm>
          <a:prstGeom prst="roundRect">
            <a:avLst>
              <a:gd name="adj" fmla="val 3704"/>
            </a:avLst>
          </a:prstGeom>
          <a:solidFill>
            <a:schemeClr val="bg1"/>
          </a:solidFill>
          <a:ln w="15875">
            <a:solidFill>
              <a:schemeClr val="tx1"/>
            </a:solidFill>
            <a:prstDash val="solid"/>
          </a:ln>
        </p:spPr>
      </p:sp>
      <p:sp>
        <p:nvSpPr>
          <p:cNvPr id="33" name="Phase 4 header"/>
          <p:cNvSpPr/>
          <p:nvPr/>
        </p:nvSpPr>
        <p:spPr>
          <a:xfrm>
            <a:off x="7386066" y="2057400"/>
            <a:ext cx="1975104" cy="731520"/>
          </a:xfrm>
          <a:prstGeom prst="roundRect">
            <a:avLst>
              <a:gd name="adj" fmla="val 10000"/>
            </a:avLst>
          </a:prstGeom>
          <a:solidFill>
            <a:schemeClr val="tx1"/>
          </a:solidFill>
          <a:ln/>
        </p:spPr>
      </p:sp>
      <p:sp>
        <p:nvSpPr>
          <p:cNvPr id="34" name="Text 32"/>
          <p:cNvSpPr txBox="1"/>
          <p:nvPr/>
        </p:nvSpPr>
        <p:spPr>
          <a:xfrm>
            <a:off x="7495794" y="2240280"/>
            <a:ext cx="365760" cy="365760"/>
          </a:xfrm>
          <a:prstGeom prst="ellipse">
            <a:avLst/>
          </a:prstGeom>
          <a:solidFill>
            <a:schemeClr val="bg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5" name="Text 33"/>
          <p:cNvSpPr txBox="1"/>
          <p:nvPr/>
        </p:nvSpPr>
        <p:spPr>
          <a:xfrm>
            <a:off x="7952994" y="2057400"/>
            <a:ext cx="1335024" cy="731520"/>
          </a:xfrm>
          <a:prstGeom prst="rect">
            <a:avLst/>
          </a:prstGeom>
          <a:noFill/>
          <a:ln/>
        </p:spPr>
        <p:txBody>
          <a:bodyPr wrap="square" lIns="0" tIns="0" rIns="0" bIns="0" rtlCol="0" anchor="ctr"/>
          <a:lstStyle/>
          <a:p>
            <a:pPr indent="0" marL="0">
              <a:buNone/>
            </a:pPr>
            <a:r>
              <a:rPr lang="en-US" sz="1400" b="1" dirty="0">
                <a:solidFill>
                  <a:schemeClr val="bg1"/>
                </a:solidFill>
              </a:rPr>
              <a:t>Validate and certify</a:t>
            </a:r>
            <a:endParaRPr lang="en-US" sz="1400" dirty="0"/>
          </a:p>
        </p:txBody>
      </p:sp>
      <p:sp>
        <p:nvSpPr>
          <p:cNvPr id="36" name="Text 34"/>
          <p:cNvSpPr txBox="1"/>
          <p:nvPr/>
        </p:nvSpPr>
        <p:spPr>
          <a:xfrm>
            <a:off x="7514082" y="2926080"/>
            <a:ext cx="1719072" cy="1463040"/>
          </a:xfrm>
          <a:prstGeom prst="rect">
            <a:avLst/>
          </a:prstGeom>
          <a:noFill/>
          <a:ln/>
        </p:spPr>
        <p:txBody>
          <a:bodyPr wrap="square" lIns="0" tIns="0" rIns="0" bIns="0" rtlCol="0" anchor="t"/>
          <a:lstStyle/>
          <a:p>
            <a:pPr indent="0" marL="0">
              <a:buNone/>
            </a:pPr>
            <a:r>
              <a:rPr lang="en-US" sz="1300" dirty="0">
                <a:solidFill>
                  <a:schemeClr val="tx1"/>
                </a:solidFill>
              </a:rPr>
              <a:t>Test landed data against requirements and log evidence. Track "covered" and "validated" separately.</a:t>
            </a:r>
            <a:endParaRPr lang="en-US" sz="1300" dirty="0"/>
          </a:p>
        </p:txBody>
      </p:sp>
      <p:sp>
        <p:nvSpPr>
          <p:cNvPr id="37" name="Gate"/>
          <p:cNvSpPr/>
          <p:nvPr/>
        </p:nvSpPr>
        <p:spPr>
          <a:xfrm>
            <a:off x="7477506" y="4325112"/>
            <a:ext cx="1792224" cy="841248"/>
          </a:xfrm>
          <a:prstGeom prst="roundRect">
            <a:avLst>
              <a:gd name="adj" fmla="val 8696"/>
            </a:avLst>
          </a:prstGeom>
          <a:solidFill>
            <a:schemeClr val="bg2"/>
          </a:solidFill>
          <a:ln/>
        </p:spPr>
      </p:sp>
      <p:sp>
        <p:nvSpPr>
          <p:cNvPr id="38" name="Text 36"/>
          <p:cNvSpPr txBox="1"/>
          <p:nvPr/>
        </p:nvSpPr>
        <p:spPr>
          <a:xfrm>
            <a:off x="7568946" y="4398264"/>
            <a:ext cx="1609344" cy="713232"/>
          </a:xfrm>
          <a:prstGeom prst="rect">
            <a:avLst/>
          </a:prstGeom>
          <a:noFill/>
          <a:ln/>
        </p:spPr>
        <p:txBody>
          <a:bodyPr wrap="square" lIns="0" tIns="0" rIns="0" bIns="0" rtlCol="0" anchor="t"/>
          <a:lstStyle/>
          <a:p>
            <a:pPr indent="0" marL="0">
              <a:buNone/>
            </a:pPr>
            <a:r>
              <a:rPr lang="en-US" sz="900" b="1" spc="120" kern="0" dirty="0">
                <a:solidFill>
                  <a:schemeClr val="tx2"/>
                </a:solidFill>
              </a:rPr>
              <a:t>GATE</a:t>
            </a:r>
            <a:endParaRPr lang="en-US" sz="1300" dirty="0"/>
          </a:p>
          <a:p>
            <a:pPr indent="0" marL="0">
              <a:buNone/>
            </a:pPr>
            <a:r>
              <a:rPr lang="en-US" sz="1100" dirty="0">
                <a:solidFill>
                  <a:schemeClr val="tx1"/>
                </a:solidFill>
              </a:rPr>
              <a:t>Business sign-off; evidence logged</a:t>
            </a:r>
            <a:endParaRPr lang="en-US" sz="1300" dirty="0"/>
          </a:p>
        </p:txBody>
      </p:sp>
      <p:sp>
        <p:nvSpPr>
          <p:cNvPr id="39" name="Shape 37"/>
          <p:cNvSpPr/>
          <p:nvPr/>
        </p:nvSpPr>
        <p:spPr>
          <a:xfrm>
            <a:off x="9421749" y="3520440"/>
            <a:ext cx="182880" cy="237744"/>
          </a:xfrm>
          <a:prstGeom prst="rightArrow">
            <a:avLst/>
          </a:prstGeom>
          <a:solidFill>
            <a:schemeClr val="accent5"/>
          </a:solidFill>
          <a:ln/>
        </p:spPr>
      </p:sp>
      <p:sp>
        <p:nvSpPr>
          <p:cNvPr id="40" name="Phase 5"/>
          <p:cNvSpPr/>
          <p:nvPr/>
        </p:nvSpPr>
        <p:spPr>
          <a:xfrm>
            <a:off x="9665208" y="2057400"/>
            <a:ext cx="1975104" cy="3200400"/>
          </a:xfrm>
          <a:prstGeom prst="roundRect">
            <a:avLst>
              <a:gd name="adj" fmla="val 3704"/>
            </a:avLst>
          </a:prstGeom>
          <a:solidFill>
            <a:schemeClr val="bg1"/>
          </a:solidFill>
          <a:ln w="15875">
            <a:solidFill>
              <a:schemeClr val="accent5"/>
            </a:solidFill>
            <a:prstDash val="solid"/>
          </a:ln>
        </p:spPr>
      </p:sp>
      <p:sp>
        <p:nvSpPr>
          <p:cNvPr id="41" name="Phase 5 header"/>
          <p:cNvSpPr/>
          <p:nvPr/>
        </p:nvSpPr>
        <p:spPr>
          <a:xfrm>
            <a:off x="9665208" y="2057400"/>
            <a:ext cx="1975104" cy="731520"/>
          </a:xfrm>
          <a:prstGeom prst="roundRect">
            <a:avLst>
              <a:gd name="adj" fmla="val 10000"/>
            </a:avLst>
          </a:prstGeom>
          <a:solidFill>
            <a:schemeClr val="accent5"/>
          </a:solidFill>
          <a:ln/>
        </p:spPr>
      </p:sp>
      <p:sp>
        <p:nvSpPr>
          <p:cNvPr id="42" name="Text 40"/>
          <p:cNvSpPr txBox="1"/>
          <p:nvPr/>
        </p:nvSpPr>
        <p:spPr>
          <a:xfrm>
            <a:off x="9774936" y="2240280"/>
            <a:ext cx="365760" cy="365760"/>
          </a:xfrm>
          <a:prstGeom prst="ellipse">
            <a:avLst/>
          </a:prstGeom>
          <a:solidFill>
            <a:schemeClr val="bg1"/>
          </a:solidFill>
          <a:ln/>
        </p:spPr>
        <p:txBody>
          <a:bodyPr wrap="square" lIns="0" tIns="0" rIns="0" bIns="0" rtlCol="0" anchor="ctr"/>
          <a:lstStyle/>
          <a:p>
            <a:pPr algn="ctr" indent="0" marL="0">
              <a:buNone/>
            </a:pPr>
            <a:r>
              <a:rPr lang="en-US" sz="1300" b="1" dirty="0">
                <a:solidFill>
                  <a:schemeClr val="accent5"/>
                </a:solidFill>
              </a:rPr>
              <a:t>5</a:t>
            </a:r>
            <a:endParaRPr lang="en-US" sz="1300" dirty="0"/>
          </a:p>
        </p:txBody>
      </p:sp>
      <p:sp>
        <p:nvSpPr>
          <p:cNvPr id="43" name="Text 41"/>
          <p:cNvSpPr txBox="1"/>
          <p:nvPr/>
        </p:nvSpPr>
        <p:spPr>
          <a:xfrm>
            <a:off x="10232136" y="2057400"/>
            <a:ext cx="1335024" cy="731520"/>
          </a:xfrm>
          <a:prstGeom prst="rect">
            <a:avLst/>
          </a:prstGeom>
          <a:noFill/>
          <a:ln/>
        </p:spPr>
        <p:txBody>
          <a:bodyPr wrap="square" lIns="0" tIns="0" rIns="0" bIns="0" rtlCol="0" anchor="ctr"/>
          <a:lstStyle/>
          <a:p>
            <a:pPr indent="0" marL="0">
              <a:buNone/>
            </a:pPr>
            <a:r>
              <a:rPr lang="en-US" sz="1400" b="1" dirty="0">
                <a:solidFill>
                  <a:schemeClr val="bg1"/>
                </a:solidFill>
              </a:rPr>
              <a:t>AI data use</a:t>
            </a:r>
            <a:endParaRPr lang="en-US" sz="1400" dirty="0"/>
          </a:p>
        </p:txBody>
      </p:sp>
      <p:sp>
        <p:nvSpPr>
          <p:cNvPr id="44" name="Text 42"/>
          <p:cNvSpPr txBox="1"/>
          <p:nvPr/>
        </p:nvSpPr>
        <p:spPr>
          <a:xfrm>
            <a:off x="9793224" y="2926080"/>
            <a:ext cx="1719072" cy="1463040"/>
          </a:xfrm>
          <a:prstGeom prst="rect">
            <a:avLst/>
          </a:prstGeom>
          <a:noFill/>
          <a:ln/>
        </p:spPr>
        <p:txBody>
          <a:bodyPr wrap="square" lIns="0" tIns="0" rIns="0" bIns="0" rtlCol="0" anchor="t"/>
          <a:lstStyle/>
          <a:p>
            <a:pPr indent="0" marL="0">
              <a:buNone/>
            </a:pPr>
            <a:r>
              <a:rPr lang="en-US" sz="1300" dirty="0">
                <a:solidFill>
                  <a:schemeClr val="tx1"/>
                </a:solidFill>
              </a:rPr>
              <a:t>AI use cases consume landed, validated data. The same data serves reporting and analytics.</a:t>
            </a:r>
            <a:endParaRPr lang="en-US" sz="1300" dirty="0"/>
          </a:p>
        </p:txBody>
      </p:sp>
      <p:sp>
        <p:nvSpPr>
          <p:cNvPr id="45" name="Gate"/>
          <p:cNvSpPr/>
          <p:nvPr/>
        </p:nvSpPr>
        <p:spPr>
          <a:xfrm>
            <a:off x="9756648" y="4325112"/>
            <a:ext cx="1792224" cy="841248"/>
          </a:xfrm>
          <a:prstGeom prst="roundRect">
            <a:avLst>
              <a:gd name="adj" fmla="val 8696"/>
            </a:avLst>
          </a:prstGeom>
          <a:solidFill>
            <a:schemeClr val="accent5">
              <a:alpha val="15000"/>
            </a:schemeClr>
          </a:solidFill>
          <a:ln/>
        </p:spPr>
      </p:sp>
      <p:sp>
        <p:nvSpPr>
          <p:cNvPr id="46" name="Text 44"/>
          <p:cNvSpPr txBox="1"/>
          <p:nvPr/>
        </p:nvSpPr>
        <p:spPr>
          <a:xfrm>
            <a:off x="9848088" y="4398264"/>
            <a:ext cx="1609344" cy="713232"/>
          </a:xfrm>
          <a:prstGeom prst="rect">
            <a:avLst/>
          </a:prstGeom>
          <a:noFill/>
          <a:ln/>
        </p:spPr>
        <p:txBody>
          <a:bodyPr wrap="square" lIns="0" tIns="0" rIns="0" bIns="0" rtlCol="0" anchor="t"/>
          <a:lstStyle/>
          <a:p>
            <a:pPr indent="0" marL="0">
              <a:buNone/>
            </a:pPr>
            <a:r>
              <a:rPr lang="en-US" sz="900" b="1" spc="120" kern="0" dirty="0">
                <a:solidFill>
                  <a:schemeClr val="tx2"/>
                </a:solidFill>
              </a:rPr>
              <a:t>THEN</a:t>
            </a:r>
            <a:endParaRPr lang="en-US" sz="1300" dirty="0"/>
          </a:p>
          <a:p>
            <a:pPr indent="0" marL="0">
              <a:buNone/>
            </a:pPr>
            <a:r>
              <a:rPr lang="en-US" sz="1100" dirty="0">
                <a:solidFill>
                  <a:schemeClr val="tx1"/>
                </a:solidFill>
              </a:rPr>
              <a:t>Next workstream reuses what landed</a:t>
            </a:r>
            <a:endParaRPr lang="en-US" sz="1300" dirty="0"/>
          </a:p>
        </p:txBody>
      </p:sp>
      <p:sp>
        <p:nvSpPr>
          <p:cNvPr id="47" name="Repeat band"/>
          <p:cNvSpPr/>
          <p:nvPr/>
        </p:nvSpPr>
        <p:spPr>
          <a:xfrm>
            <a:off x="548640" y="5486400"/>
            <a:ext cx="11091672" cy="658368"/>
          </a:xfrm>
          <a:prstGeom prst="roundRect">
            <a:avLst>
              <a:gd name="adj" fmla="val 11111"/>
            </a:avLst>
          </a:prstGeom>
          <a:solidFill>
            <a:schemeClr val="bg1"/>
          </a:solidFill>
          <a:ln w="12700">
            <a:solidFill>
              <a:schemeClr val="tx2"/>
            </a:solidFill>
            <a:prstDash val="dash"/>
          </a:ln>
        </p:spPr>
      </p:sp>
      <p:pic>
        <p:nvPicPr>
          <p:cNvPr id="48" name="Repeat icon" descr="Repeat">    </p:cNvPr>
          <p:cNvPicPr>
            <a:picLocks noChangeAspect="1"/>
          </p:cNvPicPr>
          <p:nvPr/>
        </p:nvPicPr>
        <p:blipFill>
          <a:blip r:embed="rId1"/>
          <a:stretch>
            <a:fillRect/>
          </a:stretch>
        </p:blipFill>
        <p:spPr>
          <a:xfrm>
            <a:off x="777240" y="5623560"/>
            <a:ext cx="384048" cy="384048"/>
          </a:xfrm>
          <a:prstGeom prst="rect">
            <a:avLst/>
          </a:prstGeom>
        </p:spPr>
      </p:pic>
      <p:sp>
        <p:nvSpPr>
          <p:cNvPr id="49" name="Text 46"/>
          <p:cNvSpPr txBox="1"/>
          <p:nvPr/>
        </p:nvSpPr>
        <p:spPr>
          <a:xfrm>
            <a:off x="1371600" y="5486400"/>
            <a:ext cx="10104120" cy="658368"/>
          </a:xfrm>
          <a:prstGeom prst="rect">
            <a:avLst/>
          </a:prstGeom>
          <a:noFill/>
          <a:ln/>
        </p:spPr>
        <p:txBody>
          <a:bodyPr wrap="square" lIns="0" tIns="0" rIns="0" bIns="0" rtlCol="0" anchor="ctr"/>
          <a:lstStyle/>
          <a:p>
            <a:pPr indent="0" marL="0">
              <a:buNone/>
            </a:pPr>
            <a:r>
              <a:rPr lang="en-US" sz="1300" b="1" dirty="0">
                <a:solidFill>
                  <a:schemeClr val="tx1"/>
                </a:solidFill>
              </a:rPr>
              <a:t>Every Pillar 3 workstream runs these phases: </a:t>
            </a:r>
            <a:pPr indent="0" marL="0">
              <a:buNone/>
            </a:pPr>
            <a:r>
              <a:rPr lang="en-US" sz="1300" dirty="0">
                <a:solidFill>
                  <a:schemeClr val="tx1"/>
                </a:solidFill>
              </a:rPr>
              <a:t>FCI, Sentinel, and ORM AI now, then what Jacqueline prioritizes next (eGRC is queued). Pillar 1 tools and the Pillar 2 baseline make each pass faster.</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txBox="1"/>
          <p:nvPr/>
        </p:nvSpPr>
        <p:spPr>
          <a:xfrm>
            <a:off x="548640" y="274320"/>
            <a:ext cx="1044245"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FRAMEWORK</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How each pillar works across the five phases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240280"/>
                <a:gridCol w="1828800"/>
                <a:gridCol w="1874520"/>
                <a:gridCol w="1920240"/>
                <a:gridCol w="1691640"/>
                <a:gridCol w="1536192"/>
              </a:tblGrid>
              <a:tr h="384048">
                <a:tc>
                  <a:txBody>
                    <a:bodyPr/>
                    <a:lstStyle/>
                    <a:p>
                      <a:pPr indent="0" marL="0">
                        <a:buNone/>
                      </a:pP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1. Understand the need</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2. Check and prioritize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3. Source and land</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4. Validate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5. AI data use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solidFill>
                  </a:tcPr>
                </a:tc>
              </a:tr>
              <a:tr h="868680">
                <a:tc>
                  <a:txBody>
                    <a:bodyPr/>
                    <a:lstStyle/>
                    <a:p>
                      <a:pPr indent="0" marL="0">
                        <a:buNone/>
                      </a:pPr>
                      <a:r>
                        <a:rPr lang="en-US" sz="1200" b="1" dirty="0">
                          <a:solidFill>
                            <a:schemeClr val="tx1"/>
                          </a:solidFill>
                        </a:rPr>
                        <a:t>Pillar 1: Data Plane Enablement</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alpha val="18000"/>
                      </a:schemeClr>
                    </a:solidFill>
                  </a:tcPr>
                </a:tc>
                <a:tc>
                  <a:txBody>
                    <a:bodyPr/>
                    <a:lstStyle/>
                    <a:p>
                      <a:pPr indent="0" marL="0">
                        <a:buNone/>
                      </a:pPr>
                      <a:r>
                        <a:rPr lang="en-US" sz="1200" dirty="0">
                          <a:solidFill>
                            <a:schemeClr val="tx1"/>
                          </a:solidFill>
                        </a:rPr>
                        <a:t>Intake tool captures requirements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DataHub glossary and dictionaries show what exists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Lineage tools trace the hops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ADA runs data quality checks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rowSpan="4">
                  <a:txBody>
                    <a:bodyPr/>
                    <a:lstStyle/>
                    <a:p>
                      <a:pPr indent="0" marL="0">
                        <a:buNone/>
                      </a:pPr>
                      <a:r>
                        <a:rPr lang="en-US" sz="1200" b="1" dirty="0">
                          <a:solidFill>
                            <a:schemeClr val="accent5"/>
                          </a:solidFill>
                        </a:rPr>
                        <a:t>AI use cases consume landed, validated data: FCI, Sentinel, and ORM AI first</a:t>
                      </a:r>
                      <a:endParaRPr lang="en-US" sz="1200" dirty="0"/>
                    </a:p>
                  </a:txBody>
                  <a:tcPr marL="91440" marR="91440" marT="73152" marB="7315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alpha val="12000"/>
                      </a:schemeClr>
                    </a:solidFill>
                  </a:tcPr>
                </a:tc>
              </a:tr>
              <a:tr h="868680">
                <a:tc>
                  <a:txBody>
                    <a:bodyPr/>
                    <a:lstStyle/>
                    <a:p>
                      <a:pPr indent="0" marL="0">
                        <a:buNone/>
                      </a:pPr>
                      <a:r>
                        <a:rPr lang="en-US" sz="1200" b="1" dirty="0">
                          <a:solidFill>
                            <a:schemeClr val="tx1"/>
                          </a:solidFill>
                        </a:rPr>
                        <a:t>Pillar 2: RDS Rationalization</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8000"/>
                      </a:schemeClr>
                    </a:solidFill>
                  </a:tcPr>
                </a:tc>
                <a:tc>
                  <a:txBody>
                    <a:bodyPr/>
                    <a:lstStyle/>
                    <a:p>
                      <a:pPr indent="0" marL="0">
                        <a:buNone/>
                      </a:pPr>
                      <a:r>
                        <a:rPr lang="en-US" sz="1200" dirty="0">
                          <a:solidFill>
                            <a:schemeClr val="tx1"/>
                          </a:solidFill>
                        </a:rPr>
                        <a:t>Baseline shows what RDS already has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indent="0" marL="0">
                        <a:buNone/>
                      </a:pPr>
                      <a:r>
                        <a:rPr lang="en-US" sz="1200" dirty="0">
                          <a:solidFill>
                            <a:schemeClr val="tx1"/>
                          </a:solidFill>
                        </a:rPr>
                        <a:t>Migration cohort: top sources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Move legacy feeds to strategic sources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indent="0" marL="0">
                        <a:buNone/>
                      </a:pPr>
                      <a:r>
                        <a:rPr lang="en-US" sz="1200" dirty="0">
                          <a:solidFill>
                            <a:schemeClr val="tx1"/>
                          </a:solidFill>
                        </a:rPr>
                        <a:t>Cut data no one uses, before or after DPC</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vMerge="1">
                  <a:tcPr/>
                </a:tc>
              </a:tr>
              <a:tr h="868680">
                <a:tc>
                  <a:txBody>
                    <a:bodyPr/>
                    <a:lstStyle/>
                    <a:p>
                      <a:pPr indent="0" marL="0">
                        <a:buNone/>
                      </a:pPr>
                      <a:r>
                        <a:rPr lang="en-US" sz="1200" b="1" dirty="0">
                          <a:solidFill>
                            <a:schemeClr val="tx1"/>
                          </a:solidFill>
                        </a:rPr>
                        <a:t>Pillar 3: Demand Intake &amp; Sourcing</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8000"/>
                      </a:schemeClr>
                    </a:solidFill>
                  </a:tcPr>
                </a:tc>
                <a:tc>
                  <a:txBody>
                    <a:bodyPr/>
                    <a:lstStyle/>
                    <a:p>
                      <a:pPr indent="0" marL="0">
                        <a:buNone/>
                      </a:pPr>
                      <a:r>
                        <a:rPr lang="en-US" sz="1200" dirty="0">
                          <a:solidFill>
                            <a:schemeClr val="tx1"/>
                          </a:solidFill>
                        </a:rPr>
                        <a:t>Requirements through the intake template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indent="0" marL="0">
                        <a:buNone/>
                      </a:pPr>
                      <a:r>
                        <a:rPr lang="en-US" sz="1200" dirty="0">
                          <a:solidFill>
                            <a:schemeClr val="tx1"/>
                          </a:solidFill>
                        </a:rPr>
                        <a:t>Priority set with Jacqueline; check RDS first</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indent="0" marL="0">
                        <a:buNone/>
                      </a:pPr>
                      <a:r>
                        <a:rPr lang="en-US" sz="1200" dirty="0">
                          <a:solidFill>
                            <a:schemeClr val="tx1"/>
                          </a:solidFill>
                        </a:rPr>
                        <a:t>Route: strategic, justified tactical, or escalate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indent="0" marL="0">
                        <a:buNone/>
                      </a:pPr>
                      <a:r>
                        <a:rPr lang="en-US" sz="1200" dirty="0">
                          <a:solidFill>
                            <a:schemeClr val="tx1"/>
                          </a:solidFill>
                        </a:rPr>
                        <a:t>Validate against requirements</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vMerge="1">
                  <a:tcPr/>
                </a:tc>
              </a:tr>
              <a:tr h="868680">
                <a:tc>
                  <a:txBody>
                    <a:bodyPr/>
                    <a:lstStyle/>
                    <a:p>
                      <a:pPr indent="0" marL="0">
                        <a:buNone/>
                      </a:pPr>
                      <a:r>
                        <a:rPr lang="en-US" sz="1200" b="1" dirty="0">
                          <a:solidFill>
                            <a:schemeClr val="tx1"/>
                          </a:solidFill>
                        </a:rPr>
                        <a:t>Underneath: DPC migration</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18000"/>
                      </a:schemeClr>
                    </a:solidFill>
                  </a:tcPr>
                </a:tc>
                <a:tc>
                  <a:txBody>
                    <a:bodyPr/>
                    <a:lstStyle/>
                    <a:p>
                      <a:pPr indent="0" marL="0">
                        <a:buNone/>
                      </a:pPr>
                      <a:r>
                        <a:rPr lang="en-US" sz="1200" dirty="0">
                          <a:solidFill>
                            <a:schemeClr val="tx1"/>
                          </a:solidFill>
                        </a:rPr>
                        <a:t>Keep analysis going from the RDS extract</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Platform dependencies feed the sequence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Tenants, access, migration (Ryan's timeline)</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15000"/>
                      </a:schemeClr>
                    </a:solidFill>
                  </a:tcPr>
                </a:tc>
                <a:tc>
                  <a:txBody>
                    <a:bodyPr/>
                    <a:lstStyle/>
                    <a:p>
                      <a:pPr indent="0" marL="0">
                        <a:buNone/>
                      </a:pPr>
                      <a:r>
                        <a:rPr lang="en-US" sz="1200" dirty="0">
                          <a:solidFill>
                            <a:schemeClr val="tx1"/>
                          </a:solidFill>
                        </a:rPr>
                        <a:t>Test plans, results, business review</a:t>
                      </a:r>
                      <a:endParaRPr lang="en-US" sz="1200" dirty="0"/>
                    </a:p>
                  </a:txBody>
                  <a:tcPr marL="91440" marR="91440" marT="73152" marB="73152" anchor="t">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15000"/>
                      </a:schemeClr>
                    </a:solidFill>
                  </a:tcPr>
                </a:tc>
                <a:tc vMerge="1">
                  <a:tcPr/>
                </a:tc>
              </a:tr>
            </a:tbl>
          </a:graphicData>
        </a:graphic>
      </p:graphicFrame>
      <p:sp>
        <p:nvSpPr>
          <p:cNvPr id="5" name="Text 2"/>
          <p:cNvSpPr txBox="1"/>
          <p:nvPr/>
        </p:nvSpPr>
        <p:spPr>
          <a:xfrm>
            <a:off x="548640" y="5623560"/>
            <a:ext cx="11091672" cy="274320"/>
          </a:xfrm>
          <a:prstGeom prst="rect">
            <a:avLst/>
          </a:prstGeom>
          <a:noFill/>
          <a:ln/>
        </p:spPr>
        <p:txBody>
          <a:bodyPr wrap="square" lIns="0" tIns="0" rIns="0" bIns="0" rtlCol="0" anchor="t"/>
          <a:lstStyle/>
          <a:p>
            <a:pPr indent="0" marL="0">
              <a:buNone/>
            </a:pPr>
            <a:r>
              <a:rPr lang="en-US" sz="1100" i="1" dirty="0">
                <a:solidFill>
                  <a:schemeClr val="tx2"/>
                </a:solidFill>
              </a:rPr>
              <a:t>Shaded cells show where each pillar leads. Pillar 1 supplies the tools for every phase.</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txBox="1"/>
          <p:nvPr/>
        </p:nvSpPr>
        <p:spPr>
          <a:xfrm>
            <a:off x="548640" y="274320"/>
            <a:ext cx="289499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50" kern="0" dirty="0">
                <a:solidFill>
                  <a:schemeClr val="bg1"/>
                </a:solidFill>
              </a:rPr>
              <a:t>PILLAR 1 · DATA PLANE ENABLEMENT</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1: the tools on the plane we need to do this work</a:t>
            </a:r>
            <a:endParaRPr lang="en-US" sz="2800" dirty="0"/>
          </a:p>
        </p:txBody>
      </p:sp>
      <p:sp>
        <p:nvSpPr>
          <p:cNvPr id="4" name="Tool row"/>
          <p:cNvSpPr/>
          <p:nvPr/>
        </p:nvSpPr>
        <p:spPr>
          <a:xfrm>
            <a:off x="548640" y="1645920"/>
            <a:ext cx="6995160" cy="786384"/>
          </a:xfrm>
          <a:prstGeom prst="roundRect">
            <a:avLst>
              <a:gd name="adj" fmla="val 9302"/>
            </a:avLst>
          </a:prstGeom>
          <a:solidFill>
            <a:schemeClr val="bg2"/>
          </a:solidFill>
          <a:ln/>
        </p:spPr>
      </p:sp>
      <p:sp>
        <p:nvSpPr>
          <p:cNvPr id="5" name="Intake tool circle"/>
          <p:cNvSpPr/>
          <p:nvPr/>
        </p:nvSpPr>
        <p:spPr>
          <a:xfrm>
            <a:off x="731520" y="1801368"/>
            <a:ext cx="475488" cy="475488"/>
          </a:xfrm>
          <a:prstGeom prst="ellipse">
            <a:avLst/>
          </a:prstGeom>
          <a:solidFill>
            <a:schemeClr val="accent1"/>
          </a:solidFill>
          <a:ln/>
        </p:spPr>
      </p:sp>
      <p:pic>
        <p:nvPicPr>
          <p:cNvPr id="6" name="Intake tool" descr="Intake tool">    </p:cNvPr>
          <p:cNvPicPr>
            <a:picLocks noChangeAspect="1"/>
          </p:cNvPicPr>
          <p:nvPr/>
        </p:nvPicPr>
        <p:blipFill>
          <a:blip r:embed="rId1"/>
          <a:stretch>
            <a:fillRect/>
          </a:stretch>
        </p:blipFill>
        <p:spPr>
          <a:xfrm>
            <a:off x="836127" y="1905975"/>
            <a:ext cx="266273" cy="266273"/>
          </a:xfrm>
          <a:prstGeom prst="rect">
            <a:avLst/>
          </a:prstGeom>
        </p:spPr>
      </p:pic>
      <p:sp>
        <p:nvSpPr>
          <p:cNvPr id="7" name="Text 4"/>
          <p:cNvSpPr txBox="1"/>
          <p:nvPr/>
        </p:nvSpPr>
        <p:spPr>
          <a:xfrm>
            <a:off x="1417320" y="1645920"/>
            <a:ext cx="2148840" cy="786384"/>
          </a:xfrm>
          <a:prstGeom prst="rect">
            <a:avLst/>
          </a:prstGeom>
          <a:noFill/>
          <a:ln/>
        </p:spPr>
        <p:txBody>
          <a:bodyPr wrap="square" lIns="0" tIns="0" rIns="0" bIns="0" rtlCol="0" anchor="ctr"/>
          <a:lstStyle/>
          <a:p>
            <a:pPr indent="0" marL="0">
              <a:buNone/>
            </a:pPr>
            <a:r>
              <a:rPr lang="en-US" sz="1400" b="1" dirty="0">
                <a:solidFill>
                  <a:schemeClr val="tx1"/>
                </a:solidFill>
              </a:rPr>
              <a:t>Intake tool</a:t>
            </a:r>
            <a:endParaRPr lang="en-US" sz="1400" dirty="0"/>
          </a:p>
        </p:txBody>
      </p:sp>
      <p:sp>
        <p:nvSpPr>
          <p:cNvPr id="8" name="Text 5"/>
          <p:cNvSpPr txBox="1"/>
          <p:nvPr/>
        </p:nvSpPr>
        <p:spPr>
          <a:xfrm>
            <a:off x="3657600" y="1645920"/>
            <a:ext cx="3749040" cy="786384"/>
          </a:xfrm>
          <a:prstGeom prst="rect">
            <a:avLst/>
          </a:prstGeom>
          <a:noFill/>
          <a:ln/>
        </p:spPr>
        <p:txBody>
          <a:bodyPr wrap="square" lIns="0" tIns="0" rIns="0" bIns="0" rtlCol="0" anchor="ctr"/>
          <a:lstStyle/>
          <a:p>
            <a:pPr indent="0" marL="0">
              <a:buNone/>
            </a:pPr>
            <a:r>
              <a:rPr lang="en-US" sz="1300" dirty="0">
                <a:solidFill>
                  <a:schemeClr val="tx1"/>
                </a:solidFill>
              </a:rPr>
              <a:t>Jake's intake UI, so requests stop living in spreadsheets</a:t>
            </a:r>
            <a:endParaRPr lang="en-US" sz="1300" dirty="0"/>
          </a:p>
        </p:txBody>
      </p:sp>
      <p:sp>
        <p:nvSpPr>
          <p:cNvPr id="9" name="Tool row"/>
          <p:cNvSpPr/>
          <p:nvPr/>
        </p:nvSpPr>
        <p:spPr>
          <a:xfrm>
            <a:off x="548640" y="2523744"/>
            <a:ext cx="6995160" cy="786384"/>
          </a:xfrm>
          <a:prstGeom prst="roundRect">
            <a:avLst>
              <a:gd name="adj" fmla="val 9302"/>
            </a:avLst>
          </a:prstGeom>
          <a:solidFill>
            <a:schemeClr val="bg2"/>
          </a:solidFill>
          <a:ln/>
        </p:spPr>
      </p:sp>
      <p:sp>
        <p:nvSpPr>
          <p:cNvPr id="10" name="DataHub circle"/>
          <p:cNvSpPr/>
          <p:nvPr/>
        </p:nvSpPr>
        <p:spPr>
          <a:xfrm>
            <a:off x="731520" y="2679192"/>
            <a:ext cx="475488" cy="475488"/>
          </a:xfrm>
          <a:prstGeom prst="ellipse">
            <a:avLst/>
          </a:prstGeom>
          <a:solidFill>
            <a:schemeClr val="accent1"/>
          </a:solidFill>
          <a:ln/>
        </p:spPr>
      </p:sp>
      <p:pic>
        <p:nvPicPr>
          <p:cNvPr id="11" name="DataHub" descr="DataHub">    </p:cNvPr>
          <p:cNvPicPr>
            <a:picLocks noChangeAspect="1"/>
          </p:cNvPicPr>
          <p:nvPr/>
        </p:nvPicPr>
        <p:blipFill>
          <a:blip r:embed="rId2"/>
          <a:stretch>
            <a:fillRect/>
          </a:stretch>
        </p:blipFill>
        <p:spPr>
          <a:xfrm>
            <a:off x="836127" y="2783799"/>
            <a:ext cx="266273" cy="266273"/>
          </a:xfrm>
          <a:prstGeom prst="rect">
            <a:avLst/>
          </a:prstGeom>
        </p:spPr>
      </p:pic>
      <p:sp>
        <p:nvSpPr>
          <p:cNvPr id="12" name="Text 8"/>
          <p:cNvSpPr txBox="1"/>
          <p:nvPr/>
        </p:nvSpPr>
        <p:spPr>
          <a:xfrm>
            <a:off x="1417320" y="2523744"/>
            <a:ext cx="2148840" cy="786384"/>
          </a:xfrm>
          <a:prstGeom prst="rect">
            <a:avLst/>
          </a:prstGeom>
          <a:noFill/>
          <a:ln/>
        </p:spPr>
        <p:txBody>
          <a:bodyPr wrap="square" lIns="0" tIns="0" rIns="0" bIns="0" rtlCol="0" anchor="ctr"/>
          <a:lstStyle/>
          <a:p>
            <a:pPr indent="0" marL="0">
              <a:buNone/>
            </a:pPr>
            <a:r>
              <a:rPr lang="en-US" sz="1400" b="1" dirty="0">
                <a:solidFill>
                  <a:schemeClr val="tx1"/>
                </a:solidFill>
              </a:rPr>
              <a:t>DataHub</a:t>
            </a:r>
            <a:endParaRPr lang="en-US" sz="1400" dirty="0"/>
          </a:p>
        </p:txBody>
      </p:sp>
      <p:sp>
        <p:nvSpPr>
          <p:cNvPr id="13" name="Text 9"/>
          <p:cNvSpPr txBox="1"/>
          <p:nvPr/>
        </p:nvSpPr>
        <p:spPr>
          <a:xfrm>
            <a:off x="3657600" y="2523744"/>
            <a:ext cx="3749040" cy="786384"/>
          </a:xfrm>
          <a:prstGeom prst="rect">
            <a:avLst/>
          </a:prstGeom>
          <a:noFill/>
          <a:ln/>
        </p:spPr>
        <p:txBody>
          <a:bodyPr wrap="square" lIns="0" tIns="0" rIns="0" bIns="0" rtlCol="0" anchor="ctr"/>
          <a:lstStyle/>
          <a:p>
            <a:pPr indent="0" marL="0">
              <a:buNone/>
            </a:pPr>
            <a:r>
              <a:rPr lang="en-US" sz="1300" dirty="0">
                <a:solidFill>
                  <a:schemeClr val="tx1"/>
                </a:solidFill>
              </a:rPr>
              <a:t>Business glossary and data source dictionaries for applications, including what's in upstream dictionaries</a:t>
            </a:r>
            <a:endParaRPr lang="en-US" sz="1300" dirty="0"/>
          </a:p>
        </p:txBody>
      </p:sp>
      <p:sp>
        <p:nvSpPr>
          <p:cNvPr id="14" name="Tool row"/>
          <p:cNvSpPr/>
          <p:nvPr/>
        </p:nvSpPr>
        <p:spPr>
          <a:xfrm>
            <a:off x="548640" y="3401568"/>
            <a:ext cx="6995160" cy="786384"/>
          </a:xfrm>
          <a:prstGeom prst="roundRect">
            <a:avLst>
              <a:gd name="adj" fmla="val 9302"/>
            </a:avLst>
          </a:prstGeom>
          <a:solidFill>
            <a:schemeClr val="bg2"/>
          </a:solidFill>
          <a:ln/>
        </p:spPr>
      </p:sp>
      <p:sp>
        <p:nvSpPr>
          <p:cNvPr id="15" name="Lineage circle"/>
          <p:cNvSpPr/>
          <p:nvPr/>
        </p:nvSpPr>
        <p:spPr>
          <a:xfrm>
            <a:off x="731520" y="3557016"/>
            <a:ext cx="475488" cy="475488"/>
          </a:xfrm>
          <a:prstGeom prst="ellipse">
            <a:avLst/>
          </a:prstGeom>
          <a:solidFill>
            <a:schemeClr val="accent1"/>
          </a:solidFill>
          <a:ln/>
        </p:spPr>
      </p:sp>
      <p:pic>
        <p:nvPicPr>
          <p:cNvPr id="16" name="Lineage" descr="Lineage">    </p:cNvPr>
          <p:cNvPicPr>
            <a:picLocks noChangeAspect="1"/>
          </p:cNvPicPr>
          <p:nvPr/>
        </p:nvPicPr>
        <p:blipFill>
          <a:blip r:embed="rId3"/>
          <a:stretch>
            <a:fillRect/>
          </a:stretch>
        </p:blipFill>
        <p:spPr>
          <a:xfrm>
            <a:off x="836127" y="3661623"/>
            <a:ext cx="266273" cy="266273"/>
          </a:xfrm>
          <a:prstGeom prst="rect">
            <a:avLst/>
          </a:prstGeom>
        </p:spPr>
      </p:pic>
      <p:sp>
        <p:nvSpPr>
          <p:cNvPr id="17" name="Text 12"/>
          <p:cNvSpPr txBox="1"/>
          <p:nvPr/>
        </p:nvSpPr>
        <p:spPr>
          <a:xfrm>
            <a:off x="1417320" y="3401568"/>
            <a:ext cx="2148840" cy="786384"/>
          </a:xfrm>
          <a:prstGeom prst="rect">
            <a:avLst/>
          </a:prstGeom>
          <a:noFill/>
          <a:ln/>
        </p:spPr>
        <p:txBody>
          <a:bodyPr wrap="square" lIns="0" tIns="0" rIns="0" bIns="0" rtlCol="0" anchor="ctr"/>
          <a:lstStyle/>
          <a:p>
            <a:pPr indent="0" marL="0">
              <a:buNone/>
            </a:pPr>
            <a:r>
              <a:rPr lang="en-US" sz="1400" b="1" dirty="0">
                <a:solidFill>
                  <a:schemeClr val="tx1"/>
                </a:solidFill>
              </a:rPr>
              <a:t>Lineage</a:t>
            </a:r>
            <a:endParaRPr lang="en-US" sz="1400" dirty="0"/>
          </a:p>
        </p:txBody>
      </p:sp>
      <p:sp>
        <p:nvSpPr>
          <p:cNvPr id="18" name="Text 13"/>
          <p:cNvSpPr txBox="1"/>
          <p:nvPr/>
        </p:nvSpPr>
        <p:spPr>
          <a:xfrm>
            <a:off x="3657600" y="3401568"/>
            <a:ext cx="3749040" cy="786384"/>
          </a:xfrm>
          <a:prstGeom prst="rect">
            <a:avLst/>
          </a:prstGeom>
          <a:noFill/>
          <a:ln/>
        </p:spPr>
        <p:txBody>
          <a:bodyPr wrap="square" lIns="0" tIns="0" rIns="0" bIns="0" rtlCol="0" anchor="ctr"/>
          <a:lstStyle/>
          <a:p>
            <a:pPr indent="0" marL="0">
              <a:buNone/>
            </a:pPr>
            <a:r>
              <a:rPr lang="en-US" sz="1300" dirty="0">
                <a:solidFill>
                  <a:schemeClr val="tx1"/>
                </a:solidFill>
              </a:rPr>
              <a:t>Tools that trace and manage the hops from source to use case</a:t>
            </a:r>
            <a:endParaRPr lang="en-US" sz="1300" dirty="0"/>
          </a:p>
        </p:txBody>
      </p:sp>
      <p:sp>
        <p:nvSpPr>
          <p:cNvPr id="19" name="Tool row"/>
          <p:cNvSpPr/>
          <p:nvPr/>
        </p:nvSpPr>
        <p:spPr>
          <a:xfrm>
            <a:off x="548640" y="4279392"/>
            <a:ext cx="6995160" cy="786384"/>
          </a:xfrm>
          <a:prstGeom prst="roundRect">
            <a:avLst>
              <a:gd name="adj" fmla="val 9302"/>
            </a:avLst>
          </a:prstGeom>
          <a:solidFill>
            <a:schemeClr val="bg2"/>
          </a:solidFill>
          <a:ln/>
        </p:spPr>
      </p:sp>
      <p:sp>
        <p:nvSpPr>
          <p:cNvPr id="20" name="Data quality circle"/>
          <p:cNvSpPr/>
          <p:nvPr/>
        </p:nvSpPr>
        <p:spPr>
          <a:xfrm>
            <a:off x="731520" y="4434840"/>
            <a:ext cx="475488" cy="475488"/>
          </a:xfrm>
          <a:prstGeom prst="ellipse">
            <a:avLst/>
          </a:prstGeom>
          <a:solidFill>
            <a:schemeClr val="accent1"/>
          </a:solidFill>
          <a:ln/>
        </p:spPr>
      </p:sp>
      <p:pic>
        <p:nvPicPr>
          <p:cNvPr id="21" name="Data quality" descr="Data quality">    </p:cNvPr>
          <p:cNvPicPr>
            <a:picLocks noChangeAspect="1"/>
          </p:cNvPicPr>
          <p:nvPr/>
        </p:nvPicPr>
        <p:blipFill>
          <a:blip r:embed="rId4"/>
          <a:stretch>
            <a:fillRect/>
          </a:stretch>
        </p:blipFill>
        <p:spPr>
          <a:xfrm>
            <a:off x="836127" y="4539447"/>
            <a:ext cx="266273" cy="266273"/>
          </a:xfrm>
          <a:prstGeom prst="rect">
            <a:avLst/>
          </a:prstGeom>
        </p:spPr>
      </p:pic>
      <p:sp>
        <p:nvSpPr>
          <p:cNvPr id="22" name="Text 16"/>
          <p:cNvSpPr txBox="1"/>
          <p:nvPr/>
        </p:nvSpPr>
        <p:spPr>
          <a:xfrm>
            <a:off x="1417320" y="4279392"/>
            <a:ext cx="2148840" cy="786384"/>
          </a:xfrm>
          <a:prstGeom prst="rect">
            <a:avLst/>
          </a:prstGeom>
          <a:noFill/>
          <a:ln/>
        </p:spPr>
        <p:txBody>
          <a:bodyPr wrap="square" lIns="0" tIns="0" rIns="0" bIns="0" rtlCol="0" anchor="ctr"/>
          <a:lstStyle/>
          <a:p>
            <a:pPr indent="0" marL="0">
              <a:buNone/>
            </a:pPr>
            <a:r>
              <a:rPr lang="en-US" sz="1400" b="1" dirty="0">
                <a:solidFill>
                  <a:schemeClr val="tx1"/>
                </a:solidFill>
              </a:rPr>
              <a:t>Data quality</a:t>
            </a:r>
            <a:endParaRPr lang="en-US" sz="1400" dirty="0"/>
          </a:p>
        </p:txBody>
      </p:sp>
      <p:sp>
        <p:nvSpPr>
          <p:cNvPr id="23" name="Text 17"/>
          <p:cNvSpPr txBox="1"/>
          <p:nvPr/>
        </p:nvSpPr>
        <p:spPr>
          <a:xfrm>
            <a:off x="3657600" y="4279392"/>
            <a:ext cx="3749040" cy="786384"/>
          </a:xfrm>
          <a:prstGeom prst="rect">
            <a:avLst/>
          </a:prstGeom>
          <a:noFill/>
          <a:ln/>
        </p:spPr>
        <p:txBody>
          <a:bodyPr wrap="square" lIns="0" tIns="0" rIns="0" bIns="0" rtlCol="0" anchor="ctr"/>
          <a:lstStyle/>
          <a:p>
            <a:pPr indent="0" marL="0">
              <a:buNone/>
            </a:pPr>
            <a:r>
              <a:rPr lang="en-US" sz="1300" dirty="0">
                <a:solidFill>
                  <a:schemeClr val="tx1"/>
                </a:solidFill>
              </a:rPr>
              <a:t>ADA built out so we can run data quality work on the plane</a:t>
            </a:r>
            <a:endParaRPr lang="en-US" sz="1300" dirty="0"/>
          </a:p>
        </p:txBody>
      </p:sp>
      <p:sp>
        <p:nvSpPr>
          <p:cNvPr id="24" name="Tool row"/>
          <p:cNvSpPr/>
          <p:nvPr/>
        </p:nvSpPr>
        <p:spPr>
          <a:xfrm>
            <a:off x="548640" y="5157216"/>
            <a:ext cx="6995160" cy="786384"/>
          </a:xfrm>
          <a:prstGeom prst="roundRect">
            <a:avLst>
              <a:gd name="adj" fmla="val 9302"/>
            </a:avLst>
          </a:prstGeom>
          <a:solidFill>
            <a:schemeClr val="bg2"/>
          </a:solidFill>
          <a:ln/>
        </p:spPr>
      </p:sp>
      <p:sp>
        <p:nvSpPr>
          <p:cNvPr id="25" name="Current-state assessment circle"/>
          <p:cNvSpPr/>
          <p:nvPr/>
        </p:nvSpPr>
        <p:spPr>
          <a:xfrm>
            <a:off x="731520" y="5312664"/>
            <a:ext cx="475488" cy="475488"/>
          </a:xfrm>
          <a:prstGeom prst="ellipse">
            <a:avLst/>
          </a:prstGeom>
          <a:solidFill>
            <a:schemeClr val="accent1"/>
          </a:solidFill>
          <a:ln/>
        </p:spPr>
      </p:sp>
      <p:pic>
        <p:nvPicPr>
          <p:cNvPr id="26" name="Current-state assessment" descr="Current-state assessment">    </p:cNvPr>
          <p:cNvPicPr>
            <a:picLocks noChangeAspect="1"/>
          </p:cNvPicPr>
          <p:nvPr/>
        </p:nvPicPr>
        <p:blipFill>
          <a:blip r:embed="rId5"/>
          <a:stretch>
            <a:fillRect/>
          </a:stretch>
        </p:blipFill>
        <p:spPr>
          <a:xfrm>
            <a:off x="836127" y="5417271"/>
            <a:ext cx="266273" cy="266273"/>
          </a:xfrm>
          <a:prstGeom prst="rect">
            <a:avLst/>
          </a:prstGeom>
        </p:spPr>
      </p:pic>
      <p:sp>
        <p:nvSpPr>
          <p:cNvPr id="27" name="Text 20"/>
          <p:cNvSpPr txBox="1"/>
          <p:nvPr/>
        </p:nvSpPr>
        <p:spPr>
          <a:xfrm>
            <a:off x="1417320" y="5157216"/>
            <a:ext cx="2148840" cy="786384"/>
          </a:xfrm>
          <a:prstGeom prst="rect">
            <a:avLst/>
          </a:prstGeom>
          <a:noFill/>
          <a:ln/>
        </p:spPr>
        <p:txBody>
          <a:bodyPr wrap="square" lIns="0" tIns="0" rIns="0" bIns="0" rtlCol="0" anchor="ctr"/>
          <a:lstStyle/>
          <a:p>
            <a:pPr indent="0" marL="0">
              <a:buNone/>
            </a:pPr>
            <a:r>
              <a:rPr lang="en-US" sz="1400" b="1" dirty="0">
                <a:solidFill>
                  <a:schemeClr val="tx1"/>
                </a:solidFill>
              </a:rPr>
              <a:t>Current-state assessment</a:t>
            </a:r>
            <a:endParaRPr lang="en-US" sz="1400" dirty="0"/>
          </a:p>
        </p:txBody>
      </p:sp>
      <p:sp>
        <p:nvSpPr>
          <p:cNvPr id="28" name="Text 21"/>
          <p:cNvSpPr txBox="1"/>
          <p:nvPr/>
        </p:nvSpPr>
        <p:spPr>
          <a:xfrm>
            <a:off x="3657600" y="5157216"/>
            <a:ext cx="3749040" cy="786384"/>
          </a:xfrm>
          <a:prstGeom prst="rect">
            <a:avLst/>
          </a:prstGeom>
          <a:noFill/>
          <a:ln/>
        </p:spPr>
        <p:txBody>
          <a:bodyPr wrap="square" lIns="0" tIns="0" rIns="0" bIns="0" rtlCol="0" anchor="ctr"/>
          <a:lstStyle/>
          <a:p>
            <a:pPr indent="0" marL="0">
              <a:buNone/>
            </a:pPr>
            <a:r>
              <a:rPr lang="en-US" sz="1300" dirty="0">
                <a:solidFill>
                  <a:schemeClr val="tx1"/>
                </a:solidFill>
              </a:rPr>
              <a:t>What's pulled into RDS today, by whom, and why (next slide)</a:t>
            </a:r>
            <a:endParaRPr lang="en-US" sz="1300" dirty="0"/>
          </a:p>
        </p:txBody>
      </p:sp>
      <p:sp>
        <p:nvSpPr>
          <p:cNvPr id="29" name="Role panel"/>
          <p:cNvSpPr/>
          <p:nvPr/>
        </p:nvSpPr>
        <p:spPr>
          <a:xfrm>
            <a:off x="7818120" y="1645920"/>
            <a:ext cx="3822192" cy="2542032"/>
          </a:xfrm>
          <a:prstGeom prst="roundRect">
            <a:avLst>
              <a:gd name="adj" fmla="val 2878"/>
            </a:avLst>
          </a:prstGeom>
          <a:solidFill>
            <a:schemeClr val="accent1"/>
          </a:solidFill>
          <a:ln/>
        </p:spPr>
      </p:sp>
      <p:sp>
        <p:nvSpPr>
          <p:cNvPr id="30" name="Text 23"/>
          <p:cNvSpPr txBox="1"/>
          <p:nvPr/>
        </p:nvSpPr>
        <p:spPr>
          <a:xfrm>
            <a:off x="8046720" y="1847088"/>
            <a:ext cx="3383280" cy="228600"/>
          </a:xfrm>
          <a:prstGeom prst="rect">
            <a:avLst/>
          </a:prstGeom>
          <a:noFill/>
          <a:ln/>
        </p:spPr>
        <p:txBody>
          <a:bodyPr wrap="square" lIns="0" tIns="0" rIns="0" bIns="0" rtlCol="0" anchor="t"/>
          <a:lstStyle/>
          <a:p>
            <a:pPr indent="0" marL="0">
              <a:buNone/>
            </a:pPr>
            <a:r>
              <a:rPr lang="en-US" sz="1000" b="1" spc="150" kern="0" dirty="0">
                <a:solidFill>
                  <a:schemeClr val="bg2"/>
                </a:solidFill>
              </a:rPr>
              <a:t>OUR ROLE</a:t>
            </a:r>
            <a:endParaRPr lang="en-US" sz="1000" dirty="0"/>
          </a:p>
        </p:txBody>
      </p:sp>
      <p:sp>
        <p:nvSpPr>
          <p:cNvPr id="31" name="Text 24"/>
          <p:cNvSpPr txBox="1"/>
          <p:nvPr/>
        </p:nvSpPr>
        <p:spPr>
          <a:xfrm>
            <a:off x="8046720" y="2121408"/>
            <a:ext cx="3383280" cy="640080"/>
          </a:xfrm>
          <a:prstGeom prst="rect">
            <a:avLst/>
          </a:prstGeom>
          <a:noFill/>
          <a:ln/>
        </p:spPr>
        <p:txBody>
          <a:bodyPr wrap="square" lIns="0" tIns="0" rIns="0" bIns="0" rtlCol="0" anchor="t"/>
          <a:lstStyle/>
          <a:p>
            <a:pPr indent="0" marL="0">
              <a:buNone/>
            </a:pPr>
            <a:r>
              <a:rPr lang="en-US" sz="2000" b="1" dirty="0">
                <a:solidFill>
                  <a:schemeClr val="bg1"/>
                </a:solidFill>
              </a:rPr>
              <a:t>Product managers of the plane</a:t>
            </a:r>
            <a:endParaRPr lang="en-US" sz="2000" dirty="0"/>
          </a:p>
        </p:txBody>
      </p:sp>
      <p:sp>
        <p:nvSpPr>
          <p:cNvPr id="32" name="Text 25"/>
          <p:cNvSpPr txBox="1"/>
          <p:nvPr/>
        </p:nvSpPr>
        <p:spPr>
          <a:xfrm>
            <a:off x="8046720" y="2697480"/>
            <a:ext cx="3383280" cy="1325880"/>
          </a:xfrm>
          <a:prstGeom prst="rect">
            <a:avLst/>
          </a:prstGeom>
          <a:noFill/>
          <a:ln/>
        </p:spPr>
        <p:txBody>
          <a:bodyPr wrap="square" lIns="0" tIns="0" rIns="0" bIns="0" rtlCol="0" anchor="t"/>
          <a:lstStyle/>
          <a:p>
            <a:pPr indent="0" marL="0">
              <a:buNone/>
            </a:pPr>
            <a:r>
              <a:rPr lang="en-US" sz="1300" dirty="0">
                <a:solidFill>
                  <a:schemeClr val="bg1"/>
                </a:solidFill>
              </a:rPr>
              <a:t>We don't build these tools. We define what technology builds, track delivery, and escalate when it slips, because a slow Pillar 1 slows Pillars 2 and 3.</a:t>
            </a:r>
            <a:endParaRPr lang="en-US" sz="1300" dirty="0"/>
          </a:p>
        </p:txBody>
      </p:sp>
      <p:sp>
        <p:nvSpPr>
          <p:cNvPr id="33" name="Ask card"/>
          <p:cNvSpPr/>
          <p:nvPr/>
        </p:nvSpPr>
        <p:spPr>
          <a:xfrm>
            <a:off x="7818120" y="4352544"/>
            <a:ext cx="3822192" cy="1719072"/>
          </a:xfrm>
          <a:prstGeom prst="roundRect">
            <a:avLst>
              <a:gd name="adj" fmla="val 4255"/>
            </a:avLst>
          </a:prstGeom>
          <a:solidFill>
            <a:schemeClr val="bg2"/>
          </a:solidFill>
          <a:ln/>
        </p:spPr>
      </p:sp>
      <p:sp>
        <p:nvSpPr>
          <p:cNvPr id="34" name="Text 27"/>
          <p:cNvSpPr txBox="1"/>
          <p:nvPr/>
        </p:nvSpPr>
        <p:spPr>
          <a:xfrm>
            <a:off x="8046720" y="4535424"/>
            <a:ext cx="3383280" cy="228600"/>
          </a:xfrm>
          <a:prstGeom prst="rect">
            <a:avLst/>
          </a:prstGeom>
          <a:noFill/>
          <a:ln/>
        </p:spPr>
        <p:txBody>
          <a:bodyPr wrap="square" lIns="0" tIns="0" rIns="0" bIns="0" rtlCol="0" anchor="t"/>
          <a:lstStyle/>
          <a:p>
            <a:pPr indent="0" marL="0">
              <a:buNone/>
            </a:pPr>
            <a:r>
              <a:rPr lang="en-US" sz="1000" b="1" spc="150" kern="0" dirty="0">
                <a:solidFill>
                  <a:schemeClr val="tx2"/>
                </a:solidFill>
              </a:rPr>
              <a:t>THE ASK</a:t>
            </a:r>
            <a:endParaRPr lang="en-US" sz="1000" dirty="0"/>
          </a:p>
        </p:txBody>
      </p:sp>
      <p:sp>
        <p:nvSpPr>
          <p:cNvPr id="35" name="Text 28"/>
          <p:cNvSpPr txBox="1"/>
          <p:nvPr/>
        </p:nvSpPr>
        <p:spPr>
          <a:xfrm>
            <a:off x="8046720" y="4809744"/>
            <a:ext cx="3383280" cy="11887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Jacqueline takes our build list to technology (Manav): what DPC needs so we can do this work.</a:t>
            </a:r>
            <a:endParaRPr lang="en-US" sz="1300" dirty="0"/>
          </a:p>
          <a:p>
            <a:pPr indent="0" marL="0">
              <a:buNone/>
            </a:pPr>
            <a:r>
              <a:rPr lang="en-US" sz="1300" dirty="0">
                <a:solidFill>
                  <a:schemeClr val="tx2"/>
                </a:solidFill>
              </a:rPr>
              <a:t>Until then, Pillar 3 runs manually on what we have.</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txBox="1"/>
          <p:nvPr/>
        </p:nvSpPr>
        <p:spPr>
          <a:xfrm>
            <a:off x="548640" y="274320"/>
            <a:ext cx="289499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50" kern="0" dirty="0">
                <a:solidFill>
                  <a:schemeClr val="bg1"/>
                </a:solidFill>
              </a:rPr>
              <a:t>PILLAR 1 · DATA PLANE ENABLEMENT</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1 starts with an assessment of current-state tooling</a:t>
            </a:r>
            <a:endParaRPr lang="en-US" sz="2800" dirty="0"/>
          </a:p>
        </p:txBody>
      </p:sp>
      <p:sp>
        <p:nvSpPr>
          <p:cNvPr id="4" name="Today card"/>
          <p:cNvSpPr/>
          <p:nvPr/>
        </p:nvSpPr>
        <p:spPr>
          <a:xfrm>
            <a:off x="548640" y="1645920"/>
            <a:ext cx="5166360" cy="2514600"/>
          </a:xfrm>
          <a:prstGeom prst="roundRect">
            <a:avLst>
              <a:gd name="adj" fmla="val 2909"/>
            </a:avLst>
          </a:prstGeom>
          <a:solidFill>
            <a:schemeClr val="bg2"/>
          </a:solidFill>
          <a:ln/>
        </p:spPr>
      </p:sp>
      <p:sp>
        <p:nvSpPr>
          <p:cNvPr id="5" name="Text 3"/>
          <p:cNvSpPr txBox="1"/>
          <p:nvPr/>
        </p:nvSpPr>
        <p:spPr>
          <a:xfrm>
            <a:off x="777240" y="1828800"/>
            <a:ext cx="4754880" cy="228600"/>
          </a:xfrm>
          <a:prstGeom prst="rect">
            <a:avLst/>
          </a:prstGeom>
          <a:noFill/>
          <a:ln/>
        </p:spPr>
        <p:txBody>
          <a:bodyPr wrap="square" lIns="0" tIns="0" rIns="0" bIns="0" rtlCol="0" anchor="t"/>
          <a:lstStyle/>
          <a:p>
            <a:pPr indent="0" marL="0">
              <a:buNone/>
            </a:pPr>
            <a:r>
              <a:rPr lang="en-US" sz="1000" b="1" spc="150" kern="0" dirty="0">
                <a:solidFill>
                  <a:schemeClr val="tx2"/>
                </a:solidFill>
              </a:rPr>
              <a:t>TODAY · INTERIM</a:t>
            </a:r>
            <a:endParaRPr lang="en-US" sz="1000" dirty="0"/>
          </a:p>
        </p:txBody>
      </p:sp>
      <p:sp>
        <p:nvSpPr>
          <p:cNvPr id="6" name="Text 4"/>
          <p:cNvSpPr txBox="1"/>
          <p:nvPr/>
        </p:nvSpPr>
        <p:spPr>
          <a:xfrm>
            <a:off x="777240" y="2148840"/>
            <a:ext cx="4754880" cy="13258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Copilot in Excel on RDS data dumps</a:t>
            </a:r>
            <a:endParaRPr lang="en-US" sz="1300" dirty="0"/>
          </a:p>
          <a:p>
            <a:pPr marL="177800" indent="-177800">
              <a:spcAft>
                <a:spcPts val="500"/>
              </a:spcAft>
              <a:buSzPct val="100000"/>
              <a:buChar char="•"/>
            </a:pPr>
            <a:r>
              <a:rPr lang="en-US" sz="1300" dirty="0">
                <a:solidFill>
                  <a:schemeClr val="tx1"/>
                </a:solidFill>
              </a:rPr>
              <a:t>Requirements tracked in spreadsheets</a:t>
            </a:r>
            <a:endParaRPr lang="en-US" sz="1300" dirty="0"/>
          </a:p>
          <a:p>
            <a:pPr marL="177800" indent="-177800">
              <a:spcAft>
                <a:spcPts val="500"/>
              </a:spcAft>
              <a:buSzPct val="100000"/>
              <a:buChar char="•"/>
            </a:pPr>
            <a:r>
              <a:rPr lang="en-US" sz="1300" dirty="0">
                <a:solidFill>
                  <a:schemeClr val="tx1"/>
                </a:solidFill>
              </a:rPr>
              <a:t>RDS requests arrive without a "what is this for?"</a:t>
            </a:r>
            <a:endParaRPr lang="en-US" sz="1300" dirty="0"/>
          </a:p>
          <a:p>
            <a:pPr marL="177800" indent="-177800">
              <a:spcAft>
                <a:spcPts val="500"/>
              </a:spcAft>
              <a:buSzPct val="100000"/>
              <a:buChar char="•"/>
            </a:pPr>
            <a:r>
              <a:rPr lang="en-US" sz="1300" dirty="0">
                <a:solidFill>
                  <a:schemeClr val="tx1"/>
                </a:solidFill>
              </a:rPr>
              <a:t>No view of what's pulled in, why, or who uses it</a:t>
            </a:r>
            <a:endParaRPr lang="en-US" sz="1300" dirty="0"/>
          </a:p>
        </p:txBody>
      </p:sp>
      <p:sp>
        <p:nvSpPr>
          <p:cNvPr id="7" name="Text 5"/>
          <p:cNvSpPr txBox="1"/>
          <p:nvPr/>
        </p:nvSpPr>
        <p:spPr>
          <a:xfrm>
            <a:off x="777240" y="3520440"/>
            <a:ext cx="4754880" cy="457200"/>
          </a:xfrm>
          <a:prstGeom prst="rect">
            <a:avLst/>
          </a:prstGeom>
          <a:noFill/>
          <a:ln/>
        </p:spPr>
        <p:txBody>
          <a:bodyPr wrap="square" lIns="0" tIns="0" rIns="0" bIns="0" rtlCol="0" anchor="t"/>
          <a:lstStyle/>
          <a:p>
            <a:pPr indent="0" marL="0">
              <a:buNone/>
            </a:pPr>
            <a:r>
              <a:rPr lang="en-US" sz="1300" i="1" dirty="0">
                <a:solidFill>
                  <a:schemeClr val="tx2"/>
                </a:solidFill>
              </a:rPr>
              <a:t>This is how Pillar 3 runs in the meantime. It works, but it isn't sustainable.</a:t>
            </a:r>
            <a:endParaRPr lang="en-US" sz="1300" dirty="0"/>
          </a:p>
        </p:txBody>
      </p:sp>
      <p:sp>
        <p:nvSpPr>
          <p:cNvPr id="8" name="Arrow circle"/>
          <p:cNvSpPr/>
          <p:nvPr/>
        </p:nvSpPr>
        <p:spPr>
          <a:xfrm>
            <a:off x="5797296" y="2711196"/>
            <a:ext cx="384048" cy="384048"/>
          </a:xfrm>
          <a:prstGeom prst="ellipse">
            <a:avLst/>
          </a:prstGeom>
          <a:solidFill>
            <a:schemeClr val="accent1"/>
          </a:solidFill>
          <a:ln/>
        </p:spPr>
      </p:sp>
      <p:pic>
        <p:nvPicPr>
          <p:cNvPr id="9" name="Arrow" descr="Arrow">    </p:cNvPr>
          <p:cNvPicPr>
            <a:picLocks noChangeAspect="1"/>
          </p:cNvPicPr>
          <p:nvPr/>
        </p:nvPicPr>
        <p:blipFill>
          <a:blip r:embed="rId1"/>
          <a:stretch>
            <a:fillRect/>
          </a:stretch>
        </p:blipFill>
        <p:spPr>
          <a:xfrm>
            <a:off x="5881787" y="2795687"/>
            <a:ext cx="215067" cy="215067"/>
          </a:xfrm>
          <a:prstGeom prst="rect">
            <a:avLst/>
          </a:prstGeom>
        </p:spPr>
      </p:pic>
      <p:sp>
        <p:nvSpPr>
          <p:cNvPr id="10" name="Target card"/>
          <p:cNvSpPr/>
          <p:nvPr/>
        </p:nvSpPr>
        <p:spPr>
          <a:xfrm>
            <a:off x="6263640" y="1645920"/>
            <a:ext cx="5376672" cy="2514600"/>
          </a:xfrm>
          <a:prstGeom prst="roundRect">
            <a:avLst>
              <a:gd name="adj" fmla="val 2909"/>
            </a:avLst>
          </a:prstGeom>
          <a:solidFill>
            <a:schemeClr val="accent1">
              <a:alpha val="12000"/>
            </a:schemeClr>
          </a:solidFill>
          <a:ln w="15875">
            <a:solidFill>
              <a:schemeClr val="accent1"/>
            </a:solidFill>
            <a:prstDash val="solid"/>
          </a:ln>
        </p:spPr>
      </p:sp>
      <p:sp>
        <p:nvSpPr>
          <p:cNvPr id="11" name="Text 8"/>
          <p:cNvSpPr txBox="1"/>
          <p:nvPr/>
        </p:nvSpPr>
        <p:spPr>
          <a:xfrm>
            <a:off x="6492240" y="1828800"/>
            <a:ext cx="493776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TARGET · ON THE PLANE</a:t>
            </a:r>
            <a:endParaRPr lang="en-US" sz="1000" dirty="0"/>
          </a:p>
        </p:txBody>
      </p:sp>
      <p:sp>
        <p:nvSpPr>
          <p:cNvPr id="12" name="Text 9"/>
          <p:cNvSpPr txBox="1"/>
          <p:nvPr/>
        </p:nvSpPr>
        <p:spPr>
          <a:xfrm>
            <a:off x="6492240" y="2148840"/>
            <a:ext cx="4937760" cy="18745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Requests come in through the intake tool</a:t>
            </a:r>
            <a:endParaRPr lang="en-US" sz="1300" dirty="0"/>
          </a:p>
          <a:p>
            <a:pPr marL="177800" indent="-177800">
              <a:spcAft>
                <a:spcPts val="500"/>
              </a:spcAft>
              <a:buSzPct val="100000"/>
              <a:buChar char="•"/>
            </a:pPr>
            <a:r>
              <a:rPr lang="en-US" sz="1300" dirty="0">
                <a:solidFill>
                  <a:schemeClr val="tx1"/>
                </a:solidFill>
              </a:rPr>
              <a:t>DataHub glossary and dictionaries show what we have</a:t>
            </a:r>
            <a:endParaRPr lang="en-US" sz="1300" dirty="0"/>
          </a:p>
          <a:p>
            <a:pPr marL="177800" indent="-177800">
              <a:spcAft>
                <a:spcPts val="500"/>
              </a:spcAft>
              <a:buSzPct val="100000"/>
              <a:buChar char="•"/>
            </a:pPr>
            <a:r>
              <a:rPr lang="en-US" sz="1300" dirty="0">
                <a:solidFill>
                  <a:schemeClr val="tx1"/>
                </a:solidFill>
              </a:rPr>
              <a:t>Lineage tools trace the hops</a:t>
            </a:r>
            <a:endParaRPr lang="en-US" sz="1300" dirty="0"/>
          </a:p>
          <a:p>
            <a:pPr marL="177800" indent="-177800">
              <a:spcAft>
                <a:spcPts val="500"/>
              </a:spcAft>
              <a:buSzPct val="100000"/>
              <a:buChar char="•"/>
            </a:pPr>
            <a:r>
              <a:rPr lang="en-US" sz="1300" dirty="0">
                <a:solidFill>
                  <a:schemeClr val="tx1"/>
                </a:solidFill>
              </a:rPr>
              <a:t>ADA runs data quality checks</a:t>
            </a:r>
            <a:endParaRPr lang="en-US" sz="1300" dirty="0"/>
          </a:p>
          <a:p>
            <a:pPr marL="177800" indent="-177800">
              <a:spcAft>
                <a:spcPts val="500"/>
              </a:spcAft>
              <a:buSzPct val="100000"/>
              <a:buChar char="•"/>
            </a:pPr>
            <a:r>
              <a:rPr lang="en-US" sz="1300" dirty="0">
                <a:solidFill>
                  <a:schemeClr val="tx1"/>
                </a:solidFill>
              </a:rPr>
              <a:t>Guardrails route each RDS request to the right Pillar 3 lead</a:t>
            </a:r>
            <a:endParaRPr lang="en-US" sz="1300" dirty="0"/>
          </a:p>
        </p:txBody>
      </p:sp>
      <p:sp>
        <p:nvSpPr>
          <p:cNvPr id="13" name="Text 10"/>
          <p:cNvSpPr txBox="1"/>
          <p:nvPr/>
        </p:nvSpPr>
        <p:spPr>
          <a:xfrm>
            <a:off x="548640" y="4389120"/>
            <a:ext cx="5486400" cy="228600"/>
          </a:xfrm>
          <a:prstGeom prst="rect">
            <a:avLst/>
          </a:prstGeom>
          <a:noFill/>
          <a:ln/>
        </p:spPr>
        <p:txBody>
          <a:bodyPr wrap="square" lIns="0" tIns="0" rIns="0" bIns="0" rtlCol="0" anchor="t"/>
          <a:lstStyle/>
          <a:p>
            <a:pPr indent="0" marL="0">
              <a:buNone/>
            </a:pPr>
            <a:r>
              <a:rPr lang="en-US" sz="1000" b="1" spc="150" kern="0" dirty="0">
                <a:solidFill>
                  <a:schemeClr val="tx2"/>
                </a:solidFill>
              </a:rPr>
              <a:t>ASSESS FIRST</a:t>
            </a:r>
            <a:endParaRPr lang="en-US" sz="1000" dirty="0"/>
          </a:p>
        </p:txBody>
      </p:sp>
      <p:sp>
        <p:nvSpPr>
          <p:cNvPr id="14" name="Assess step"/>
          <p:cNvSpPr/>
          <p:nvPr/>
        </p:nvSpPr>
        <p:spPr>
          <a:xfrm>
            <a:off x="548640" y="4663440"/>
            <a:ext cx="3514344" cy="1389888"/>
          </a:xfrm>
          <a:prstGeom prst="roundRect">
            <a:avLst>
              <a:gd name="adj" fmla="val 5263"/>
            </a:avLst>
          </a:prstGeom>
          <a:solidFill>
            <a:schemeClr val="bg2"/>
          </a:solidFill>
          <a:ln/>
        </p:spPr>
      </p:sp>
      <p:sp>
        <p:nvSpPr>
          <p:cNvPr id="15" name="Text 12"/>
          <p:cNvSpPr txBox="1"/>
          <p:nvPr/>
        </p:nvSpPr>
        <p:spPr>
          <a:xfrm>
            <a:off x="731520" y="484632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6" name="Text 13"/>
          <p:cNvSpPr txBox="1"/>
          <p:nvPr/>
        </p:nvSpPr>
        <p:spPr>
          <a:xfrm>
            <a:off x="1234440" y="4846320"/>
            <a:ext cx="2645664" cy="365760"/>
          </a:xfrm>
          <a:prstGeom prst="rect">
            <a:avLst/>
          </a:prstGeom>
          <a:noFill/>
          <a:ln/>
        </p:spPr>
        <p:txBody>
          <a:bodyPr wrap="square" lIns="0" tIns="0" rIns="0" bIns="0" rtlCol="0" anchor="ctr"/>
          <a:lstStyle/>
          <a:p>
            <a:pPr indent="0" marL="0">
              <a:buNone/>
            </a:pPr>
            <a:r>
              <a:rPr lang="en-US" sz="1400" b="1" dirty="0">
                <a:solidFill>
                  <a:schemeClr val="tx1"/>
                </a:solidFill>
              </a:rPr>
              <a:t>Inventory today's tools</a:t>
            </a:r>
            <a:endParaRPr lang="en-US" sz="1400" dirty="0"/>
          </a:p>
        </p:txBody>
      </p:sp>
      <p:sp>
        <p:nvSpPr>
          <p:cNvPr id="17" name="Text 14"/>
          <p:cNvSpPr txBox="1"/>
          <p:nvPr/>
        </p:nvSpPr>
        <p:spPr>
          <a:xfrm>
            <a:off x="731520" y="5321808"/>
            <a:ext cx="3148584" cy="640080"/>
          </a:xfrm>
          <a:prstGeom prst="rect">
            <a:avLst/>
          </a:prstGeom>
          <a:noFill/>
          <a:ln/>
        </p:spPr>
        <p:txBody>
          <a:bodyPr wrap="square" lIns="0" tIns="0" rIns="0" bIns="0" rtlCol="0" anchor="t"/>
          <a:lstStyle/>
          <a:p>
            <a:pPr indent="0" marL="0">
              <a:buNone/>
            </a:pPr>
            <a:r>
              <a:rPr lang="en-US" sz="1300" dirty="0">
                <a:solidFill>
                  <a:schemeClr val="tx1"/>
                </a:solidFill>
              </a:rPr>
              <a:t>What exists (DataHub, ADA, upstream dictionaries), what's missing, and who owns it</a:t>
            </a:r>
            <a:endParaRPr lang="en-US" sz="1300" dirty="0"/>
          </a:p>
        </p:txBody>
      </p:sp>
      <p:sp>
        <p:nvSpPr>
          <p:cNvPr id="18" name="Assess step"/>
          <p:cNvSpPr/>
          <p:nvPr/>
        </p:nvSpPr>
        <p:spPr>
          <a:xfrm>
            <a:off x="4337304" y="4663440"/>
            <a:ext cx="3514344" cy="1389888"/>
          </a:xfrm>
          <a:prstGeom prst="roundRect">
            <a:avLst>
              <a:gd name="adj" fmla="val 5263"/>
            </a:avLst>
          </a:prstGeom>
          <a:solidFill>
            <a:schemeClr val="bg2"/>
          </a:solidFill>
          <a:ln/>
        </p:spPr>
      </p:sp>
      <p:sp>
        <p:nvSpPr>
          <p:cNvPr id="19" name="Text 16"/>
          <p:cNvSpPr txBox="1"/>
          <p:nvPr/>
        </p:nvSpPr>
        <p:spPr>
          <a:xfrm>
            <a:off x="4520184" y="484632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 17"/>
          <p:cNvSpPr txBox="1"/>
          <p:nvPr/>
        </p:nvSpPr>
        <p:spPr>
          <a:xfrm>
            <a:off x="5023104" y="4846320"/>
            <a:ext cx="2645664" cy="365760"/>
          </a:xfrm>
          <a:prstGeom prst="rect">
            <a:avLst/>
          </a:prstGeom>
          <a:noFill/>
          <a:ln/>
        </p:spPr>
        <p:txBody>
          <a:bodyPr wrap="square" lIns="0" tIns="0" rIns="0" bIns="0" rtlCol="0" anchor="ctr"/>
          <a:lstStyle/>
          <a:p>
            <a:pPr indent="0" marL="0">
              <a:buNone/>
            </a:pPr>
            <a:r>
              <a:rPr lang="en-US" sz="1400" b="1" dirty="0">
                <a:solidFill>
                  <a:schemeClr val="tx1"/>
                </a:solidFill>
              </a:rPr>
              <a:t>Review incoming RDS requests</a:t>
            </a:r>
            <a:endParaRPr lang="en-US" sz="1400" dirty="0"/>
          </a:p>
        </p:txBody>
      </p:sp>
      <p:sp>
        <p:nvSpPr>
          <p:cNvPr id="21" name="Text 18"/>
          <p:cNvSpPr txBox="1"/>
          <p:nvPr/>
        </p:nvSpPr>
        <p:spPr>
          <a:xfrm>
            <a:off x="4520184" y="5321808"/>
            <a:ext cx="3148584" cy="640080"/>
          </a:xfrm>
          <a:prstGeom prst="rect">
            <a:avLst/>
          </a:prstGeom>
          <a:noFill/>
          <a:ln/>
        </p:spPr>
        <p:txBody>
          <a:bodyPr wrap="square" lIns="0" tIns="0" rIns="0" bIns="0" rtlCol="0" anchor="t"/>
          <a:lstStyle/>
          <a:p>
            <a:pPr indent="0" marL="0">
              <a:buNone/>
            </a:pPr>
            <a:r>
              <a:rPr lang="en-US" sz="1300" dirty="0">
                <a:solidFill>
                  <a:schemeClr val="tx1"/>
                </a:solidFill>
              </a:rPr>
              <a:t>What each is for, where it should go, and whether it's still needed</a:t>
            </a:r>
            <a:endParaRPr lang="en-US" sz="1300" dirty="0"/>
          </a:p>
        </p:txBody>
      </p:sp>
      <p:sp>
        <p:nvSpPr>
          <p:cNvPr id="22" name="Assess step"/>
          <p:cNvSpPr/>
          <p:nvPr/>
        </p:nvSpPr>
        <p:spPr>
          <a:xfrm>
            <a:off x="8125968" y="4663440"/>
            <a:ext cx="3514344" cy="1389888"/>
          </a:xfrm>
          <a:prstGeom prst="roundRect">
            <a:avLst>
              <a:gd name="adj" fmla="val 5263"/>
            </a:avLst>
          </a:prstGeom>
          <a:solidFill>
            <a:schemeClr val="bg2"/>
          </a:solidFill>
          <a:ln/>
        </p:spPr>
      </p:sp>
      <p:sp>
        <p:nvSpPr>
          <p:cNvPr id="23" name="Text 20"/>
          <p:cNvSpPr txBox="1"/>
          <p:nvPr/>
        </p:nvSpPr>
        <p:spPr>
          <a:xfrm>
            <a:off x="8308848" y="484632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8811768" y="4846320"/>
            <a:ext cx="2645664" cy="365760"/>
          </a:xfrm>
          <a:prstGeom prst="rect">
            <a:avLst/>
          </a:prstGeom>
          <a:noFill/>
          <a:ln/>
        </p:spPr>
        <p:txBody>
          <a:bodyPr wrap="square" lIns="0" tIns="0" rIns="0" bIns="0" rtlCol="0" anchor="ctr"/>
          <a:lstStyle/>
          <a:p>
            <a:pPr indent="0" marL="0">
              <a:buNone/>
            </a:pPr>
            <a:r>
              <a:rPr lang="en-US" sz="1400" b="1" dirty="0">
                <a:solidFill>
                  <a:schemeClr val="tx1"/>
                </a:solidFill>
              </a:rPr>
              <a:t>Write the build list</a:t>
            </a:r>
            <a:endParaRPr lang="en-US" sz="1400" dirty="0"/>
          </a:p>
        </p:txBody>
      </p:sp>
      <p:sp>
        <p:nvSpPr>
          <p:cNvPr id="25" name="Text 22"/>
          <p:cNvSpPr txBox="1"/>
          <p:nvPr/>
        </p:nvSpPr>
        <p:spPr>
          <a:xfrm>
            <a:off x="8308848" y="5321808"/>
            <a:ext cx="3148584" cy="640080"/>
          </a:xfrm>
          <a:prstGeom prst="rect">
            <a:avLst/>
          </a:prstGeom>
          <a:noFill/>
          <a:ln/>
        </p:spPr>
        <p:txBody>
          <a:bodyPr wrap="square" lIns="0" tIns="0" rIns="0" bIns="0" rtlCol="0" anchor="t"/>
          <a:lstStyle/>
          <a:p>
            <a:pPr indent="0" marL="0">
              <a:buNone/>
            </a:pPr>
            <a:r>
              <a:rPr lang="en-US" sz="1300" dirty="0">
                <a:solidFill>
                  <a:schemeClr val="tx1"/>
                </a:solidFill>
              </a:rPr>
              <a:t>Ranked by what unblocks Pillars 2 and 3, with Pillar 3 leads driving requirements</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txBox="1"/>
          <p:nvPr/>
        </p:nvSpPr>
        <p:spPr>
          <a:xfrm>
            <a:off x="548640" y="274320"/>
            <a:ext cx="2734056"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50" kern="0" dirty="0">
                <a:solidFill>
                  <a:schemeClr val="bg1"/>
                </a:solidFill>
              </a:rPr>
              <a:t>PILLAR 2 · RDS RATIONALIZATION</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2: baseline, reconcile, and migrate what's already in RDS</a:t>
            </a:r>
            <a:endParaRPr lang="en-US" sz="2800" dirty="0"/>
          </a:p>
        </p:txBody>
      </p:sp>
      <p:sp>
        <p:nvSpPr>
          <p:cNvPr id="4" name="Step card"/>
          <p:cNvSpPr/>
          <p:nvPr/>
        </p:nvSpPr>
        <p:spPr>
          <a:xfrm>
            <a:off x="548640" y="1691640"/>
            <a:ext cx="3520440" cy="1353312"/>
          </a:xfrm>
          <a:prstGeom prst="roundRect">
            <a:avLst>
              <a:gd name="adj" fmla="val 5405"/>
            </a:avLst>
          </a:prstGeom>
          <a:solidFill>
            <a:schemeClr val="accent2">
              <a:alpha val="10000"/>
            </a:schemeClr>
          </a:solidFill>
          <a:ln/>
        </p:spPr>
      </p:sp>
      <p:sp>
        <p:nvSpPr>
          <p:cNvPr id="5" name="Text 3"/>
          <p:cNvSpPr txBox="1"/>
          <p:nvPr/>
        </p:nvSpPr>
        <p:spPr>
          <a:xfrm>
            <a:off x="713232" y="189280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1874520"/>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Understand what enters RDS</a:t>
            </a:r>
            <a:endParaRPr lang="en-US" sz="1400" dirty="0"/>
          </a:p>
        </p:txBody>
      </p:sp>
      <p:sp>
        <p:nvSpPr>
          <p:cNvPr id="7" name="Text 5"/>
          <p:cNvSpPr txBox="1"/>
          <p:nvPr/>
        </p:nvSpPr>
        <p:spPr>
          <a:xfrm>
            <a:off x="1234440" y="2331720"/>
            <a:ext cx="2697480" cy="640080"/>
          </a:xfrm>
          <a:prstGeom prst="rect">
            <a:avLst/>
          </a:prstGeom>
          <a:noFill/>
          <a:ln/>
        </p:spPr>
        <p:txBody>
          <a:bodyPr wrap="square" lIns="0" tIns="0" rIns="0" bIns="0" rtlCol="0" anchor="t"/>
          <a:lstStyle/>
          <a:p>
            <a:pPr indent="0" marL="0">
              <a:buNone/>
            </a:pPr>
            <a:r>
              <a:rPr lang="en-US" sz="1300" dirty="0">
                <a:solidFill>
                  <a:schemeClr val="tx1"/>
                </a:solidFill>
              </a:rPr>
              <a:t>How many raw tables, whether they're used, and why they came in</a:t>
            </a:r>
            <a:endParaRPr lang="en-US" sz="1300" dirty="0"/>
          </a:p>
        </p:txBody>
      </p:sp>
      <p:sp>
        <p:nvSpPr>
          <p:cNvPr id="8" name="Step card"/>
          <p:cNvSpPr/>
          <p:nvPr/>
        </p:nvSpPr>
        <p:spPr>
          <a:xfrm>
            <a:off x="4297680" y="1691640"/>
            <a:ext cx="3520440" cy="1353312"/>
          </a:xfrm>
          <a:prstGeom prst="roundRect">
            <a:avLst>
              <a:gd name="adj" fmla="val 5405"/>
            </a:avLst>
          </a:prstGeom>
          <a:solidFill>
            <a:schemeClr val="accent2">
              <a:alpha val="10000"/>
            </a:schemeClr>
          </a:solidFill>
          <a:ln/>
        </p:spPr>
      </p:sp>
      <p:sp>
        <p:nvSpPr>
          <p:cNvPr id="9" name="Text 7"/>
          <p:cNvSpPr txBox="1"/>
          <p:nvPr/>
        </p:nvSpPr>
        <p:spPr>
          <a:xfrm>
            <a:off x="4462272" y="189280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4983480" y="1874520"/>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Build a clean baseline extract</a:t>
            </a:r>
            <a:endParaRPr lang="en-US" sz="1400" dirty="0"/>
          </a:p>
        </p:txBody>
      </p:sp>
      <p:sp>
        <p:nvSpPr>
          <p:cNvPr id="11" name="Text 9"/>
          <p:cNvSpPr txBox="1"/>
          <p:nvPr/>
        </p:nvSpPr>
        <p:spPr>
          <a:xfrm>
            <a:off x="4983480" y="2331720"/>
            <a:ext cx="2697480" cy="640080"/>
          </a:xfrm>
          <a:prstGeom prst="rect">
            <a:avLst/>
          </a:prstGeom>
          <a:noFill/>
          <a:ln/>
        </p:spPr>
        <p:txBody>
          <a:bodyPr wrap="square" lIns="0" tIns="0" rIns="0" bIns="0" rtlCol="0" anchor="t"/>
          <a:lstStyle/>
          <a:p>
            <a:pPr indent="0" marL="0">
              <a:buNone/>
            </a:pPr>
            <a:r>
              <a:rPr lang="en-US" sz="1300" dirty="0">
                <a:solidFill>
                  <a:schemeClr val="tx1"/>
                </a:solidFill>
              </a:rPr>
              <a:t>A reusable raw RDS table and element extract, not ad hoc pulls</a:t>
            </a:r>
            <a:endParaRPr lang="en-US" sz="1300" dirty="0"/>
          </a:p>
        </p:txBody>
      </p:sp>
      <p:sp>
        <p:nvSpPr>
          <p:cNvPr id="12" name="Step card"/>
          <p:cNvSpPr/>
          <p:nvPr/>
        </p:nvSpPr>
        <p:spPr>
          <a:xfrm>
            <a:off x="548640" y="3227832"/>
            <a:ext cx="3520440" cy="1353312"/>
          </a:xfrm>
          <a:prstGeom prst="roundRect">
            <a:avLst>
              <a:gd name="adj" fmla="val 5405"/>
            </a:avLst>
          </a:prstGeom>
          <a:solidFill>
            <a:schemeClr val="accent2">
              <a:alpha val="10000"/>
            </a:schemeClr>
          </a:solidFill>
          <a:ln/>
        </p:spPr>
      </p:sp>
      <p:sp>
        <p:nvSpPr>
          <p:cNvPr id="13" name="Text 11"/>
          <p:cNvSpPr txBox="1"/>
          <p:nvPr/>
        </p:nvSpPr>
        <p:spPr>
          <a:xfrm>
            <a:off x="713232" y="342900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234440" y="3410712"/>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Reconcile to upstream</a:t>
            </a:r>
            <a:endParaRPr lang="en-US" sz="1400" dirty="0"/>
          </a:p>
        </p:txBody>
      </p:sp>
      <p:sp>
        <p:nvSpPr>
          <p:cNvPr id="15" name="Text 13"/>
          <p:cNvSpPr txBox="1"/>
          <p:nvPr/>
        </p:nvSpPr>
        <p:spPr>
          <a:xfrm>
            <a:off x="1234440" y="3867912"/>
            <a:ext cx="2697480" cy="640080"/>
          </a:xfrm>
          <a:prstGeom prst="rect">
            <a:avLst/>
          </a:prstGeom>
          <a:noFill/>
          <a:ln/>
        </p:spPr>
        <p:txBody>
          <a:bodyPr wrap="square" lIns="0" tIns="0" rIns="0" bIns="0" rtlCol="0" anchor="t"/>
          <a:lstStyle/>
          <a:p>
            <a:pPr indent="0" marL="0">
              <a:buNone/>
            </a:pPr>
            <a:r>
              <a:rPr lang="en-US" sz="1300" dirty="0">
                <a:solidFill>
                  <a:schemeClr val="tx1"/>
                </a:solidFill>
              </a:rPr>
              <a:t>Tables and elements to the actual apps and feeds behind them</a:t>
            </a:r>
            <a:endParaRPr lang="en-US" sz="1300" dirty="0"/>
          </a:p>
        </p:txBody>
      </p:sp>
      <p:sp>
        <p:nvSpPr>
          <p:cNvPr id="16" name="Step card"/>
          <p:cNvSpPr/>
          <p:nvPr/>
        </p:nvSpPr>
        <p:spPr>
          <a:xfrm>
            <a:off x="4297680" y="3227832"/>
            <a:ext cx="3520440" cy="1353312"/>
          </a:xfrm>
          <a:prstGeom prst="roundRect">
            <a:avLst>
              <a:gd name="adj" fmla="val 5405"/>
            </a:avLst>
          </a:prstGeom>
          <a:solidFill>
            <a:schemeClr val="accent2">
              <a:alpha val="10000"/>
            </a:schemeClr>
          </a:solidFill>
          <a:ln/>
        </p:spPr>
      </p:sp>
      <p:sp>
        <p:nvSpPr>
          <p:cNvPr id="17" name="Text 15"/>
          <p:cNvSpPr txBox="1"/>
          <p:nvPr/>
        </p:nvSpPr>
        <p:spPr>
          <a:xfrm>
            <a:off x="4462272" y="342900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4983480" y="3410712"/>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Extend lineage</a:t>
            </a:r>
            <a:endParaRPr lang="en-US" sz="1400" dirty="0"/>
          </a:p>
        </p:txBody>
      </p:sp>
      <p:sp>
        <p:nvSpPr>
          <p:cNvPr id="19" name="Text 17"/>
          <p:cNvSpPr txBox="1"/>
          <p:nvPr/>
        </p:nvSpPr>
        <p:spPr>
          <a:xfrm>
            <a:off x="4983480" y="3867912"/>
            <a:ext cx="2697480" cy="640080"/>
          </a:xfrm>
          <a:prstGeom prst="rect">
            <a:avLst/>
          </a:prstGeom>
          <a:noFill/>
          <a:ln/>
        </p:spPr>
        <p:txBody>
          <a:bodyPr wrap="square" lIns="0" tIns="0" rIns="0" bIns="0" rtlCol="0" anchor="t"/>
          <a:lstStyle/>
          <a:p>
            <a:pPr indent="0" marL="0">
              <a:buNone/>
            </a:pPr>
            <a:r>
              <a:rPr lang="en-US" sz="1300" dirty="0">
                <a:solidFill>
                  <a:schemeClr val="tx1"/>
                </a:solidFill>
              </a:rPr>
              <a:t>Beyond one hop for tier 1 and 2 use cases</a:t>
            </a:r>
            <a:endParaRPr lang="en-US" sz="1300" dirty="0"/>
          </a:p>
        </p:txBody>
      </p:sp>
      <p:sp>
        <p:nvSpPr>
          <p:cNvPr id="20" name="Step card"/>
          <p:cNvSpPr/>
          <p:nvPr/>
        </p:nvSpPr>
        <p:spPr>
          <a:xfrm>
            <a:off x="548640" y="4764024"/>
            <a:ext cx="3520440" cy="1353312"/>
          </a:xfrm>
          <a:prstGeom prst="roundRect">
            <a:avLst>
              <a:gd name="adj" fmla="val 5405"/>
            </a:avLst>
          </a:prstGeom>
          <a:solidFill>
            <a:schemeClr val="accent2">
              <a:alpha val="10000"/>
            </a:schemeClr>
          </a:solidFill>
          <a:ln/>
        </p:spPr>
      </p:sp>
      <p:sp>
        <p:nvSpPr>
          <p:cNvPr id="21" name="Text 19"/>
          <p:cNvSpPr txBox="1"/>
          <p:nvPr/>
        </p:nvSpPr>
        <p:spPr>
          <a:xfrm>
            <a:off x="713232" y="496519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1234440" y="4946904"/>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Plan moves to strategic sources</a:t>
            </a:r>
            <a:endParaRPr lang="en-US" sz="1400" dirty="0"/>
          </a:p>
        </p:txBody>
      </p:sp>
      <p:sp>
        <p:nvSpPr>
          <p:cNvPr id="23" name="Text 21"/>
          <p:cNvSpPr txBox="1"/>
          <p:nvPr/>
        </p:nvSpPr>
        <p:spPr>
          <a:xfrm>
            <a:off x="1234440" y="5404104"/>
            <a:ext cx="2697480" cy="640080"/>
          </a:xfrm>
          <a:prstGeom prst="rect">
            <a:avLst/>
          </a:prstGeom>
          <a:noFill/>
          <a:ln/>
        </p:spPr>
        <p:txBody>
          <a:bodyPr wrap="square" lIns="0" tIns="0" rIns="0" bIns="0" rtlCol="0" anchor="t"/>
          <a:lstStyle/>
          <a:p>
            <a:pPr indent="0" marL="0">
              <a:buNone/>
            </a:pPr>
            <a:r>
              <a:rPr lang="en-US" sz="1300" dirty="0">
                <a:solidFill>
                  <a:schemeClr val="tx1"/>
                </a:solidFill>
              </a:rPr>
              <a:t>Sourcing from system A today? Plan the move to the strategic ADS</a:t>
            </a:r>
            <a:endParaRPr lang="en-US" sz="1300" dirty="0"/>
          </a:p>
        </p:txBody>
      </p:sp>
      <p:sp>
        <p:nvSpPr>
          <p:cNvPr id="24" name="Step card"/>
          <p:cNvSpPr/>
          <p:nvPr/>
        </p:nvSpPr>
        <p:spPr>
          <a:xfrm>
            <a:off x="4297680" y="4764024"/>
            <a:ext cx="3520440" cy="1353312"/>
          </a:xfrm>
          <a:prstGeom prst="roundRect">
            <a:avLst>
              <a:gd name="adj" fmla="val 5405"/>
            </a:avLst>
          </a:prstGeom>
          <a:solidFill>
            <a:schemeClr val="accent2">
              <a:alpha val="10000"/>
            </a:schemeClr>
          </a:solidFill>
          <a:ln/>
        </p:spPr>
      </p:sp>
      <p:sp>
        <p:nvSpPr>
          <p:cNvPr id="25" name="Text 23"/>
          <p:cNvSpPr txBox="1"/>
          <p:nvPr/>
        </p:nvSpPr>
        <p:spPr>
          <a:xfrm>
            <a:off x="4462272" y="496519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4"/>
          <p:cNvSpPr txBox="1"/>
          <p:nvPr/>
        </p:nvSpPr>
        <p:spPr>
          <a:xfrm>
            <a:off x="4983480" y="4946904"/>
            <a:ext cx="2697480" cy="402336"/>
          </a:xfrm>
          <a:prstGeom prst="rect">
            <a:avLst/>
          </a:prstGeom>
          <a:noFill/>
          <a:ln/>
        </p:spPr>
        <p:txBody>
          <a:bodyPr wrap="square" lIns="0" tIns="0" rIns="0" bIns="0" rtlCol="0" anchor="ctr"/>
          <a:lstStyle/>
          <a:p>
            <a:pPr indent="0" marL="0">
              <a:buNone/>
            </a:pPr>
            <a:r>
              <a:rPr lang="en-US" sz="1400" b="1" dirty="0">
                <a:solidFill>
                  <a:schemeClr val="tx1"/>
                </a:solidFill>
              </a:rPr>
              <a:t>Cut what no one uses</a:t>
            </a:r>
            <a:endParaRPr lang="en-US" sz="1400" dirty="0"/>
          </a:p>
        </p:txBody>
      </p:sp>
      <p:sp>
        <p:nvSpPr>
          <p:cNvPr id="27" name="Text 25"/>
          <p:cNvSpPr txBox="1"/>
          <p:nvPr/>
        </p:nvSpPr>
        <p:spPr>
          <a:xfrm>
            <a:off x="4983480" y="5404104"/>
            <a:ext cx="2697480" cy="640080"/>
          </a:xfrm>
          <a:prstGeom prst="rect">
            <a:avLst/>
          </a:prstGeom>
          <a:noFill/>
          <a:ln/>
        </p:spPr>
        <p:txBody>
          <a:bodyPr wrap="square" lIns="0" tIns="0" rIns="0" bIns="0" rtlCol="0" anchor="t"/>
          <a:lstStyle/>
          <a:p>
            <a:pPr indent="0" marL="0">
              <a:buNone/>
            </a:pPr>
            <a:r>
              <a:rPr lang="en-US" sz="1300" dirty="0">
                <a:solidFill>
                  <a:schemeClr val="tx1"/>
                </a:solidFill>
              </a:rPr>
              <a:t>Data no group needs can go, before or after the DPC move</a:t>
            </a:r>
            <a:endParaRPr lang="en-US" sz="1300" dirty="0"/>
          </a:p>
        </p:txBody>
      </p:sp>
      <p:sp>
        <p:nvSpPr>
          <p:cNvPr id="28" name="How it runs panel"/>
          <p:cNvSpPr/>
          <p:nvPr/>
        </p:nvSpPr>
        <p:spPr>
          <a:xfrm>
            <a:off x="8092440" y="1691640"/>
            <a:ext cx="3547872" cy="2286000"/>
          </a:xfrm>
          <a:prstGeom prst="roundRect">
            <a:avLst>
              <a:gd name="adj" fmla="val 3200"/>
            </a:avLst>
          </a:prstGeom>
          <a:solidFill>
            <a:schemeClr val="accent2"/>
          </a:solidFill>
          <a:ln/>
        </p:spPr>
      </p:sp>
      <p:sp>
        <p:nvSpPr>
          <p:cNvPr id="29" name="Text 27"/>
          <p:cNvSpPr txBox="1"/>
          <p:nvPr/>
        </p:nvSpPr>
        <p:spPr>
          <a:xfrm>
            <a:off x="8321040" y="1892808"/>
            <a:ext cx="3108960" cy="228600"/>
          </a:xfrm>
          <a:prstGeom prst="rect">
            <a:avLst/>
          </a:prstGeom>
          <a:noFill/>
          <a:ln/>
        </p:spPr>
        <p:txBody>
          <a:bodyPr wrap="square" lIns="0" tIns="0" rIns="0" bIns="0" rtlCol="0" anchor="t"/>
          <a:lstStyle/>
          <a:p>
            <a:pPr indent="0" marL="0">
              <a:buNone/>
            </a:pPr>
            <a:r>
              <a:rPr lang="en-US" sz="1000" b="1" spc="150" kern="0" dirty="0">
                <a:solidFill>
                  <a:schemeClr val="bg2"/>
                </a:solidFill>
              </a:rPr>
              <a:t>HOW IT RUNS</a:t>
            </a:r>
            <a:endParaRPr lang="en-US" sz="1000" dirty="0"/>
          </a:p>
        </p:txBody>
      </p:sp>
      <p:sp>
        <p:nvSpPr>
          <p:cNvPr id="30" name="Text 28"/>
          <p:cNvSpPr txBox="1"/>
          <p:nvPr/>
        </p:nvSpPr>
        <p:spPr>
          <a:xfrm>
            <a:off x="8321040" y="2167128"/>
            <a:ext cx="3108960" cy="640080"/>
          </a:xfrm>
          <a:prstGeom prst="rect">
            <a:avLst/>
          </a:prstGeom>
          <a:noFill/>
          <a:ln/>
        </p:spPr>
        <p:txBody>
          <a:bodyPr wrap="square" lIns="0" tIns="0" rIns="0" bIns="0" rtlCol="0" anchor="t"/>
          <a:lstStyle/>
          <a:p>
            <a:pPr indent="0" marL="0">
              <a:buNone/>
            </a:pPr>
            <a:r>
              <a:rPr lang="en-US" sz="1800" b="1" dirty="0">
                <a:solidFill>
                  <a:schemeClr val="bg1"/>
                </a:solidFill>
              </a:rPr>
              <a:t>A body of work one owner can drive</a:t>
            </a:r>
            <a:endParaRPr lang="en-US" sz="1800" dirty="0"/>
          </a:p>
        </p:txBody>
      </p:sp>
      <p:sp>
        <p:nvSpPr>
          <p:cNvPr id="31" name="Text 29"/>
          <p:cNvSpPr txBox="1"/>
          <p:nvPr/>
        </p:nvSpPr>
        <p:spPr>
          <a:xfrm>
            <a:off x="8321040" y="2880360"/>
            <a:ext cx="3108960" cy="914400"/>
          </a:xfrm>
          <a:prstGeom prst="rect">
            <a:avLst/>
          </a:prstGeom>
          <a:noFill/>
          <a:ln/>
        </p:spPr>
        <p:txBody>
          <a:bodyPr wrap="square" lIns="0" tIns="0" rIns="0" bIns="0" rtlCol="0" anchor="t"/>
          <a:lstStyle/>
          <a:p>
            <a:pPr indent="0" marL="0">
              <a:buNone/>
            </a:pPr>
            <a:r>
              <a:rPr lang="en-US" sz="1300" dirty="0">
                <a:solidFill>
                  <a:schemeClr val="bg1"/>
                </a:solidFill>
              </a:rPr>
              <a:t>It can start now with what we have. Pillar 1 tools make it faster.</a:t>
            </a:r>
            <a:endParaRPr lang="en-US" sz="1300" dirty="0"/>
          </a:p>
        </p:txBody>
      </p:sp>
      <p:sp>
        <p:nvSpPr>
          <p:cNvPr id="32" name="Example card"/>
          <p:cNvSpPr/>
          <p:nvPr/>
        </p:nvSpPr>
        <p:spPr>
          <a:xfrm>
            <a:off x="8092440" y="4160520"/>
            <a:ext cx="3547872" cy="1956816"/>
          </a:xfrm>
          <a:prstGeom prst="roundRect">
            <a:avLst>
              <a:gd name="adj" fmla="val 3738"/>
            </a:avLst>
          </a:prstGeom>
          <a:solidFill>
            <a:schemeClr val="bg2"/>
          </a:solidFill>
          <a:ln/>
        </p:spPr>
      </p:sp>
      <p:sp>
        <p:nvSpPr>
          <p:cNvPr id="33" name="Text 31"/>
          <p:cNvSpPr txBox="1"/>
          <p:nvPr/>
        </p:nvSpPr>
        <p:spPr>
          <a:xfrm>
            <a:off x="8321040" y="4361688"/>
            <a:ext cx="3108960" cy="228600"/>
          </a:xfrm>
          <a:prstGeom prst="rect">
            <a:avLst/>
          </a:prstGeom>
          <a:noFill/>
          <a:ln/>
        </p:spPr>
        <p:txBody>
          <a:bodyPr wrap="square" lIns="0" tIns="0" rIns="0" bIns="0" rtlCol="0" anchor="t"/>
          <a:lstStyle/>
          <a:p>
            <a:pPr indent="0" marL="0">
              <a:buNone/>
            </a:pPr>
            <a:r>
              <a:rPr lang="en-US" sz="1000" b="1" spc="150" kern="0" dirty="0">
                <a:solidFill>
                  <a:schemeClr val="tx2"/>
                </a:solidFill>
              </a:rPr>
              <a:t>EXAMPLE</a:t>
            </a:r>
            <a:endParaRPr lang="en-US" sz="1000" dirty="0"/>
          </a:p>
        </p:txBody>
      </p:sp>
      <p:sp>
        <p:nvSpPr>
          <p:cNvPr id="34" name="Text 32"/>
          <p:cNvSpPr txBox="1"/>
          <p:nvPr/>
        </p:nvSpPr>
        <p:spPr>
          <a:xfrm>
            <a:off x="8321040" y="4636008"/>
            <a:ext cx="3108960" cy="1371600"/>
          </a:xfrm>
          <a:prstGeom prst="rect">
            <a:avLst/>
          </a:prstGeom>
          <a:noFill/>
          <a:ln/>
        </p:spPr>
        <p:txBody>
          <a:bodyPr wrap="square" lIns="0" tIns="0" rIns="0" bIns="0" rtlCol="0" anchor="t"/>
          <a:lstStyle/>
          <a:p>
            <a:pPr indent="0" marL="0">
              <a:buNone/>
            </a:pPr>
            <a:r>
              <a:rPr lang="en-US" sz="1400" dirty="0">
                <a:solidFill>
                  <a:schemeClr val="tx1"/>
                </a:solidFill>
              </a:rPr>
              <a:t>Credit 360 is already in RDS, so it sits here. We analyze what's there instead of asking Credit 360 to fill out the intake template.</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txBox="1"/>
          <p:nvPr/>
        </p:nvSpPr>
        <p:spPr>
          <a:xfrm>
            <a:off x="548640" y="274320"/>
            <a:ext cx="2734056"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50" kern="0" dirty="0">
                <a:solidFill>
                  <a:schemeClr val="bg1"/>
                </a:solidFill>
              </a:rPr>
              <a:t>PILLAR 2 · RDS RATIONALIZATION</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2 first covers Credit 360, FCTDS, and legacy Sentinel data</a:t>
            </a:r>
            <a:endParaRPr lang="en-US" sz="2800" dirty="0"/>
          </a:p>
        </p:txBody>
      </p:sp>
      <p:sp>
        <p:nvSpPr>
          <p:cNvPr id="4" name="Workstream card"/>
          <p:cNvSpPr/>
          <p:nvPr/>
        </p:nvSpPr>
        <p:spPr>
          <a:xfrm>
            <a:off x="548640" y="1691640"/>
            <a:ext cx="2567178" cy="3154680"/>
          </a:xfrm>
          <a:prstGeom prst="roundRect">
            <a:avLst>
              <a:gd name="adj" fmla="val 2850"/>
            </a:avLst>
          </a:prstGeom>
          <a:solidFill>
            <a:schemeClr val="accent2">
              <a:alpha val="10000"/>
            </a:schemeClr>
          </a:solidFill>
          <a:ln/>
        </p:spPr>
      </p:sp>
      <p:sp>
        <p:nvSpPr>
          <p:cNvPr id="5" name="Text 3"/>
          <p:cNvSpPr txBox="1"/>
          <p:nvPr/>
        </p:nvSpPr>
        <p:spPr>
          <a:xfrm>
            <a:off x="749808" y="1920240"/>
            <a:ext cx="960120" cy="256032"/>
          </a:xfrm>
          <a:prstGeom prst="roundRect">
            <a:avLst>
              <a:gd name="adj" fmla="val 46429"/>
            </a:avLst>
          </a:prstGeom>
          <a:solidFill>
            <a:schemeClr val="accent2"/>
          </a:solidFill>
          <a:ln/>
        </p:spPr>
        <p:txBody>
          <a:bodyPr wrap="square" lIns="0" tIns="0" rIns="0" bIns="0" rtlCol="0" anchor="ctr"/>
          <a:lstStyle/>
          <a:p>
            <a:pPr algn="ctr" indent="0" marL="0">
              <a:buNone/>
            </a:pPr>
            <a:r>
              <a:rPr lang="en-US" sz="900" b="1" spc="120" kern="0" dirty="0">
                <a:solidFill>
                  <a:schemeClr val="bg1"/>
                </a:solidFill>
              </a:rPr>
              <a:t>START HERE</a:t>
            </a:r>
            <a:endParaRPr lang="en-US" sz="900" dirty="0"/>
          </a:p>
        </p:txBody>
      </p:sp>
      <p:sp>
        <p:nvSpPr>
          <p:cNvPr id="6" name="Text 4"/>
          <p:cNvSpPr txBox="1"/>
          <p:nvPr/>
        </p:nvSpPr>
        <p:spPr>
          <a:xfrm>
            <a:off x="749808" y="2331720"/>
            <a:ext cx="2164842" cy="640080"/>
          </a:xfrm>
          <a:prstGeom prst="rect">
            <a:avLst/>
          </a:prstGeom>
          <a:noFill/>
          <a:ln/>
        </p:spPr>
        <p:txBody>
          <a:bodyPr wrap="square" lIns="0" tIns="0" rIns="0" bIns="0" rtlCol="0" anchor="ctr"/>
          <a:lstStyle/>
          <a:p>
            <a:pPr indent="0" marL="0">
              <a:buNone/>
            </a:pPr>
            <a:r>
              <a:rPr lang="en-US" sz="1800" b="1" dirty="0">
                <a:solidFill>
                  <a:schemeClr val="accent2"/>
                </a:solidFill>
              </a:rPr>
              <a:t>Credit 360</a:t>
            </a:r>
            <a:endParaRPr lang="en-US" sz="1800" dirty="0"/>
          </a:p>
        </p:txBody>
      </p:sp>
      <p:sp>
        <p:nvSpPr>
          <p:cNvPr id="7" name="Text 5"/>
          <p:cNvSpPr txBox="1"/>
          <p:nvPr/>
        </p:nvSpPr>
        <p:spPr>
          <a:xfrm>
            <a:off x="749808" y="3108960"/>
            <a:ext cx="2164842" cy="1645920"/>
          </a:xfrm>
          <a:prstGeom prst="rect">
            <a:avLst/>
          </a:prstGeom>
          <a:noFill/>
          <a:ln/>
        </p:spPr>
        <p:txBody>
          <a:bodyPr wrap="square" lIns="0" tIns="0" rIns="0" bIns="0" rtlCol="0" anchor="t"/>
          <a:lstStyle/>
          <a:p>
            <a:pPr indent="0" marL="0">
              <a:buNone/>
            </a:pPr>
            <a:r>
              <a:rPr lang="en-US" sz="1400" dirty="0">
                <a:solidFill>
                  <a:schemeClr val="tx1"/>
                </a:solidFill>
              </a:rPr>
              <a:t>Already in RDS. Dig through what's there: is it still needed, and should it come from upstream instead?</a:t>
            </a:r>
            <a:endParaRPr lang="en-US" sz="1400" dirty="0"/>
          </a:p>
        </p:txBody>
      </p:sp>
      <p:sp>
        <p:nvSpPr>
          <p:cNvPr id="8" name="Workstream card"/>
          <p:cNvSpPr/>
          <p:nvPr/>
        </p:nvSpPr>
        <p:spPr>
          <a:xfrm>
            <a:off x="3390138" y="1691640"/>
            <a:ext cx="2567178" cy="3154680"/>
          </a:xfrm>
          <a:prstGeom prst="roundRect">
            <a:avLst>
              <a:gd name="adj" fmla="val 2850"/>
            </a:avLst>
          </a:prstGeom>
          <a:solidFill>
            <a:schemeClr val="accent2">
              <a:alpha val="10000"/>
            </a:schemeClr>
          </a:solidFill>
          <a:ln/>
        </p:spPr>
      </p:sp>
      <p:sp>
        <p:nvSpPr>
          <p:cNvPr id="9" name="Text 7"/>
          <p:cNvSpPr txBox="1"/>
          <p:nvPr/>
        </p:nvSpPr>
        <p:spPr>
          <a:xfrm>
            <a:off x="3591306" y="1920240"/>
            <a:ext cx="1165860" cy="256032"/>
          </a:xfrm>
          <a:prstGeom prst="roundRect">
            <a:avLst>
              <a:gd name="adj" fmla="val 46429"/>
            </a:avLst>
          </a:prstGeom>
          <a:solidFill>
            <a:schemeClr val="accent2"/>
          </a:solidFill>
          <a:ln/>
        </p:spPr>
        <p:txBody>
          <a:bodyPr wrap="square" lIns="0" tIns="0" rIns="0" bIns="0" rtlCol="0" anchor="ctr"/>
          <a:lstStyle/>
          <a:p>
            <a:pPr algn="ctr" indent="0" marL="0">
              <a:buNone/>
            </a:pPr>
            <a:r>
              <a:rPr lang="en-US" sz="900" b="1" spc="120" kern="0" dirty="0">
                <a:solidFill>
                  <a:schemeClr val="bg1"/>
                </a:solidFill>
              </a:rPr>
              <a:t>CURRENT STATE</a:t>
            </a:r>
            <a:endParaRPr lang="en-US" sz="900" dirty="0"/>
          </a:p>
        </p:txBody>
      </p:sp>
      <p:sp>
        <p:nvSpPr>
          <p:cNvPr id="10" name="Text 8"/>
          <p:cNvSpPr txBox="1"/>
          <p:nvPr/>
        </p:nvSpPr>
        <p:spPr>
          <a:xfrm>
            <a:off x="3591306" y="2331720"/>
            <a:ext cx="2164842" cy="640080"/>
          </a:xfrm>
          <a:prstGeom prst="rect">
            <a:avLst/>
          </a:prstGeom>
          <a:noFill/>
          <a:ln/>
        </p:spPr>
        <p:txBody>
          <a:bodyPr wrap="square" lIns="0" tIns="0" rIns="0" bIns="0" rtlCol="0" anchor="ctr"/>
          <a:lstStyle/>
          <a:p>
            <a:pPr indent="0" marL="0">
              <a:buNone/>
            </a:pPr>
            <a:r>
              <a:rPr lang="en-US" sz="1800" b="1" dirty="0">
                <a:solidFill>
                  <a:schemeClr val="accent2"/>
                </a:solidFill>
              </a:rPr>
              <a:t>FCTDS</a:t>
            </a:r>
            <a:endParaRPr lang="en-US" sz="1800" dirty="0"/>
          </a:p>
        </p:txBody>
      </p:sp>
      <p:sp>
        <p:nvSpPr>
          <p:cNvPr id="11" name="Text 9"/>
          <p:cNvSpPr txBox="1"/>
          <p:nvPr/>
        </p:nvSpPr>
        <p:spPr>
          <a:xfrm>
            <a:off x="3591306" y="3108960"/>
            <a:ext cx="2164842" cy="1645920"/>
          </a:xfrm>
          <a:prstGeom prst="rect">
            <a:avLst/>
          </a:prstGeom>
          <a:noFill/>
          <a:ln/>
        </p:spPr>
        <p:txBody>
          <a:bodyPr wrap="square" lIns="0" tIns="0" rIns="0" bIns="0" rtlCol="0" anchor="t"/>
          <a:lstStyle/>
          <a:p>
            <a:pPr indent="0" marL="0">
              <a:buNone/>
            </a:pPr>
            <a:r>
              <a:rPr lang="en-US" sz="1400" dirty="0">
                <a:solidFill>
                  <a:schemeClr val="tx1"/>
                </a:solidFill>
              </a:rPr>
              <a:t>Risk owns the aggregators, not the data: about 98 financial crimes sources come from outside the domain.</a:t>
            </a:r>
            <a:endParaRPr lang="en-US" sz="1400" dirty="0"/>
          </a:p>
        </p:txBody>
      </p:sp>
      <p:sp>
        <p:nvSpPr>
          <p:cNvPr id="12" name="Workstream card"/>
          <p:cNvSpPr/>
          <p:nvPr/>
        </p:nvSpPr>
        <p:spPr>
          <a:xfrm>
            <a:off x="6231636" y="1691640"/>
            <a:ext cx="2567178" cy="3154680"/>
          </a:xfrm>
          <a:prstGeom prst="roundRect">
            <a:avLst>
              <a:gd name="adj" fmla="val 2850"/>
            </a:avLst>
          </a:prstGeom>
          <a:solidFill>
            <a:schemeClr val="accent2">
              <a:alpha val="10000"/>
            </a:schemeClr>
          </a:solidFill>
          <a:ln/>
        </p:spPr>
      </p:sp>
      <p:sp>
        <p:nvSpPr>
          <p:cNvPr id="13" name="Text 11"/>
          <p:cNvSpPr txBox="1"/>
          <p:nvPr/>
        </p:nvSpPr>
        <p:spPr>
          <a:xfrm>
            <a:off x="6432804" y="1920240"/>
            <a:ext cx="1645920" cy="256032"/>
          </a:xfrm>
          <a:prstGeom prst="roundRect">
            <a:avLst>
              <a:gd name="adj" fmla="val 46429"/>
            </a:avLst>
          </a:prstGeom>
          <a:solidFill>
            <a:schemeClr val="accent2"/>
          </a:solidFill>
          <a:ln/>
        </p:spPr>
        <p:txBody>
          <a:bodyPr wrap="square" lIns="0" tIns="0" rIns="0" bIns="0" rtlCol="0" anchor="ctr"/>
          <a:lstStyle/>
          <a:p>
            <a:pPr algn="ctr" indent="0" marL="0">
              <a:buNone/>
            </a:pPr>
            <a:r>
              <a:rPr lang="en-US" sz="900" b="1" spc="120" kern="0" dirty="0">
                <a:solidFill>
                  <a:schemeClr val="bg1"/>
                </a:solidFill>
              </a:rPr>
              <a:t>SHARED WITH PILLAR 3</a:t>
            </a:r>
            <a:endParaRPr lang="en-US" sz="900" dirty="0"/>
          </a:p>
        </p:txBody>
      </p:sp>
      <p:sp>
        <p:nvSpPr>
          <p:cNvPr id="14" name="Text 12"/>
          <p:cNvSpPr txBox="1"/>
          <p:nvPr/>
        </p:nvSpPr>
        <p:spPr>
          <a:xfrm>
            <a:off x="6432804" y="2331720"/>
            <a:ext cx="2164842" cy="640080"/>
          </a:xfrm>
          <a:prstGeom prst="rect">
            <a:avLst/>
          </a:prstGeom>
          <a:noFill/>
          <a:ln/>
        </p:spPr>
        <p:txBody>
          <a:bodyPr wrap="square" lIns="0" tIns="0" rIns="0" bIns="0" rtlCol="0" anchor="ctr"/>
          <a:lstStyle/>
          <a:p>
            <a:pPr indent="0" marL="0">
              <a:buNone/>
            </a:pPr>
            <a:r>
              <a:rPr lang="en-US" sz="1800" b="1" dirty="0">
                <a:solidFill>
                  <a:schemeClr val="accent2"/>
                </a:solidFill>
              </a:rPr>
              <a:t>Sentinel legacy sourcing</a:t>
            </a:r>
            <a:endParaRPr lang="en-US" sz="1800" dirty="0"/>
          </a:p>
        </p:txBody>
      </p:sp>
      <p:sp>
        <p:nvSpPr>
          <p:cNvPr id="15" name="Text 13"/>
          <p:cNvSpPr txBox="1"/>
          <p:nvPr/>
        </p:nvSpPr>
        <p:spPr>
          <a:xfrm>
            <a:off x="6432804" y="3108960"/>
            <a:ext cx="2164842" cy="1645920"/>
          </a:xfrm>
          <a:prstGeom prst="rect">
            <a:avLst/>
          </a:prstGeom>
          <a:noFill/>
          <a:ln/>
        </p:spPr>
        <p:txBody>
          <a:bodyPr wrap="square" lIns="0" tIns="0" rIns="0" bIns="0" rtlCol="0" anchor="t"/>
          <a:lstStyle/>
          <a:p>
            <a:pPr indent="0" marL="0">
              <a:buNone/>
            </a:pPr>
            <a:r>
              <a:rPr lang="en-US" sz="1400" dirty="0">
                <a:solidFill>
                  <a:schemeClr val="tx1"/>
                </a:solidFill>
              </a:rPr>
              <a:t>Most of Sentinel's data (roughly 75%, to confirm) already came through FCDS and is moving into FCTDS. Evaluate it here; the new share runs in Pillar 3.</a:t>
            </a:r>
            <a:endParaRPr lang="en-US" sz="1400" dirty="0"/>
          </a:p>
        </p:txBody>
      </p:sp>
      <p:sp>
        <p:nvSpPr>
          <p:cNvPr id="16" name="Not yet card"/>
          <p:cNvSpPr/>
          <p:nvPr/>
        </p:nvSpPr>
        <p:spPr>
          <a:xfrm>
            <a:off x="9073134" y="1691640"/>
            <a:ext cx="2567178" cy="3154680"/>
          </a:xfrm>
          <a:prstGeom prst="roundRect">
            <a:avLst>
              <a:gd name="adj" fmla="val 2850"/>
            </a:avLst>
          </a:prstGeom>
          <a:solidFill>
            <a:schemeClr val="bg2"/>
          </a:solidFill>
          <a:ln w="12700">
            <a:solidFill>
              <a:schemeClr val="accent6"/>
            </a:solidFill>
            <a:prstDash val="dash"/>
          </a:ln>
        </p:spPr>
      </p:sp>
      <p:sp>
        <p:nvSpPr>
          <p:cNvPr id="17" name="Text 15"/>
          <p:cNvSpPr txBox="1"/>
          <p:nvPr/>
        </p:nvSpPr>
        <p:spPr>
          <a:xfrm>
            <a:off x="9274302" y="1920240"/>
            <a:ext cx="754380" cy="256032"/>
          </a:xfrm>
          <a:prstGeom prst="roundRect">
            <a:avLst>
              <a:gd name="adj" fmla="val 46429"/>
            </a:avLst>
          </a:prstGeom>
          <a:solidFill>
            <a:schemeClr val="accent6"/>
          </a:solidFill>
          <a:ln/>
        </p:spPr>
        <p:txBody>
          <a:bodyPr wrap="square" lIns="0" tIns="0" rIns="0" bIns="0" rtlCol="0" anchor="ctr"/>
          <a:lstStyle/>
          <a:p>
            <a:pPr algn="ctr" indent="0" marL="0">
              <a:buNone/>
            </a:pPr>
            <a:r>
              <a:rPr lang="en-US" sz="900" b="1" spc="120" kern="0" dirty="0">
                <a:solidFill>
                  <a:schemeClr val="bg1"/>
                </a:solidFill>
              </a:rPr>
              <a:t>NOT YET</a:t>
            </a:r>
            <a:endParaRPr lang="en-US" sz="900" dirty="0"/>
          </a:p>
        </p:txBody>
      </p:sp>
      <p:sp>
        <p:nvSpPr>
          <p:cNvPr id="18" name="Text 16"/>
          <p:cNvSpPr txBox="1"/>
          <p:nvPr/>
        </p:nvSpPr>
        <p:spPr>
          <a:xfrm>
            <a:off x="9274302" y="2331720"/>
            <a:ext cx="2164842" cy="640080"/>
          </a:xfrm>
          <a:prstGeom prst="rect">
            <a:avLst/>
          </a:prstGeom>
          <a:noFill/>
          <a:ln/>
        </p:spPr>
        <p:txBody>
          <a:bodyPr wrap="square" lIns="0" tIns="0" rIns="0" bIns="0" rtlCol="0" anchor="ctr"/>
          <a:lstStyle/>
          <a:p>
            <a:pPr indent="0" marL="0">
              <a:buNone/>
            </a:pPr>
            <a:r>
              <a:rPr lang="en-US" sz="1800" b="1" dirty="0">
                <a:solidFill>
                  <a:schemeClr val="accent6"/>
                </a:solidFill>
              </a:rPr>
              <a:t>MARS and CORS</a:t>
            </a:r>
            <a:endParaRPr lang="en-US" sz="1800" dirty="0"/>
          </a:p>
        </p:txBody>
      </p:sp>
      <p:sp>
        <p:nvSpPr>
          <p:cNvPr id="19" name="Text 17"/>
          <p:cNvSpPr txBox="1"/>
          <p:nvPr/>
        </p:nvSpPr>
        <p:spPr>
          <a:xfrm>
            <a:off x="9274302" y="3108960"/>
            <a:ext cx="2164842" cy="1645920"/>
          </a:xfrm>
          <a:prstGeom prst="rect">
            <a:avLst/>
          </a:prstGeom>
          <a:noFill/>
          <a:ln/>
        </p:spPr>
        <p:txBody>
          <a:bodyPr wrap="square" lIns="0" tIns="0" rIns="0" bIns="0" rtlCol="0" anchor="t"/>
          <a:lstStyle/>
          <a:p>
            <a:pPr indent="0" marL="0">
              <a:buNone/>
            </a:pPr>
            <a:r>
              <a:rPr lang="en-US" sz="1400" dirty="0">
                <a:solidFill>
                  <a:schemeClr val="tx1"/>
                </a:solidFill>
              </a:rPr>
              <a:t>Their API and lower-environment issues come first. Revisit once those are resolved.</a:t>
            </a:r>
            <a:endParaRPr lang="en-US" sz="1400" dirty="0"/>
          </a:p>
        </p:txBody>
      </p:sp>
      <p:sp>
        <p:nvSpPr>
          <p:cNvPr id="20" name="Handoff band"/>
          <p:cNvSpPr/>
          <p:nvPr/>
        </p:nvSpPr>
        <p:spPr>
          <a:xfrm>
            <a:off x="548640" y="5120640"/>
            <a:ext cx="11091672" cy="822960"/>
          </a:xfrm>
          <a:prstGeom prst="roundRect">
            <a:avLst>
              <a:gd name="adj" fmla="val 8889"/>
            </a:avLst>
          </a:prstGeom>
          <a:solidFill>
            <a:schemeClr val="accent3">
              <a:alpha val="12000"/>
            </a:schemeClr>
          </a:solidFill>
          <a:ln w="12700">
            <a:solidFill>
              <a:schemeClr val="accent3"/>
            </a:solidFill>
            <a:prstDash val="solid"/>
          </a:ln>
        </p:spPr>
      </p:sp>
      <p:sp>
        <p:nvSpPr>
          <p:cNvPr id="21" name="Text 19"/>
          <p:cNvSpPr txBox="1"/>
          <p:nvPr/>
        </p:nvSpPr>
        <p:spPr>
          <a:xfrm>
            <a:off x="777240" y="5120640"/>
            <a:ext cx="10698480" cy="822960"/>
          </a:xfrm>
          <a:prstGeom prst="rect">
            <a:avLst/>
          </a:prstGeom>
          <a:noFill/>
          <a:ln/>
        </p:spPr>
        <p:txBody>
          <a:bodyPr wrap="square" lIns="0" tIns="0" rIns="0" bIns="0" rtlCol="0" anchor="ctr"/>
          <a:lstStyle/>
          <a:p>
            <a:pPr indent="0" marL="0">
              <a:buNone/>
            </a:pPr>
            <a:r>
              <a:rPr lang="en-US" sz="1400" b="1" dirty="0">
                <a:solidFill>
                  <a:schemeClr val="accent3"/>
                </a:solidFill>
              </a:rPr>
              <a:t>Hand-off from Pillar 3: </a:t>
            </a:r>
            <a:pPr indent="0" marL="0">
              <a:buNone/>
            </a:pPr>
            <a:r>
              <a:rPr lang="en-US" sz="1400" dirty="0">
                <a:solidFill>
                  <a:schemeClr val="tx1"/>
                </a:solidFill>
              </a:rPr>
              <a:t>when a request turns out to be existing sourcing being re-plumbed, Pillar 3 routes it here as "legacy sourcing to evaluate."</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txBox="1"/>
          <p:nvPr/>
        </p:nvSpPr>
        <p:spPr>
          <a:xfrm>
            <a:off x="548640" y="274320"/>
            <a:ext cx="3136392"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50" kern="0" dirty="0">
                <a:solidFill>
                  <a:schemeClr val="bg1"/>
                </a:solidFill>
              </a:rPr>
              <a:t>PILLAR 3 · DEMAND INTAKE &amp; SOURCING</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3: one path from data request to sourced data</a:t>
            </a:r>
            <a:endParaRPr lang="en-US" sz="2800" dirty="0"/>
          </a:p>
        </p:txBody>
      </p:sp>
      <p:sp>
        <p:nvSpPr>
          <p:cNvPr id="4" name="Request"/>
          <p:cNvSpPr/>
          <p:nvPr/>
        </p:nvSpPr>
        <p:spPr>
          <a:xfrm>
            <a:off x="548640" y="1645920"/>
            <a:ext cx="2514600" cy="822960"/>
          </a:xfrm>
          <a:prstGeom prst="roundRect">
            <a:avLst>
              <a:gd name="adj" fmla="val 8889"/>
            </a:avLst>
          </a:prstGeom>
          <a:solidFill>
            <a:schemeClr val="tx1"/>
          </a:solidFill>
          <a:ln/>
        </p:spPr>
      </p:sp>
      <p:sp>
        <p:nvSpPr>
          <p:cNvPr id="5" name="Text 3"/>
          <p:cNvSpPr txBox="1"/>
          <p:nvPr/>
        </p:nvSpPr>
        <p:spPr>
          <a:xfrm>
            <a:off x="548640" y="1645920"/>
            <a:ext cx="2514600" cy="822960"/>
          </a:xfrm>
          <a:prstGeom prst="rect">
            <a:avLst/>
          </a:prstGeom>
          <a:noFill/>
          <a:ln/>
        </p:spPr>
        <p:txBody>
          <a:bodyPr wrap="square" lIns="0" tIns="0" rIns="0" bIns="0" rtlCol="0" anchor="ctr"/>
          <a:lstStyle/>
          <a:p>
            <a:pPr algn="ctr" indent="0" marL="0">
              <a:buNone/>
            </a:pPr>
            <a:r>
              <a:rPr lang="en-US" sz="1400" b="1" dirty="0">
                <a:solidFill>
                  <a:schemeClr val="bg1"/>
                </a:solidFill>
              </a:rPr>
              <a:t>New sourcing request</a:t>
            </a:r>
            <a:endParaRPr lang="en-US" sz="1300" dirty="0"/>
          </a:p>
          <a:p>
            <a:pPr algn="ctr" indent="0" marL="0">
              <a:buNone/>
            </a:pPr>
            <a:r>
              <a:rPr lang="en-US" sz="1200" dirty="0">
                <a:solidFill>
                  <a:schemeClr val="bg1"/>
                </a:solidFill>
              </a:rPr>
              <a:t>prioritized by Jacqueline</a:t>
            </a:r>
            <a:endParaRPr lang="en-US" sz="1300" dirty="0"/>
          </a:p>
        </p:txBody>
      </p:sp>
      <p:sp>
        <p:nvSpPr>
          <p:cNvPr id="6" name="Shape 4"/>
          <p:cNvSpPr/>
          <p:nvPr/>
        </p:nvSpPr>
        <p:spPr>
          <a:xfrm>
            <a:off x="3090672" y="2057400"/>
            <a:ext cx="310896" cy="0"/>
          </a:xfrm>
          <a:prstGeom prst="line">
            <a:avLst/>
          </a:prstGeom>
          <a:noFill/>
          <a:ln w="19050">
            <a:solidFill>
              <a:schemeClr val="tx1"/>
            </a:solidFill>
            <a:prstDash val="solid"/>
            <a:tailEnd type="triangle"/>
          </a:ln>
        </p:spPr>
      </p:sp>
      <p:sp>
        <p:nvSpPr>
          <p:cNvPr id="7" name="Requirements"/>
          <p:cNvSpPr/>
          <p:nvPr/>
        </p:nvSpPr>
        <p:spPr>
          <a:xfrm>
            <a:off x="3429000" y="1645920"/>
            <a:ext cx="2514600" cy="822960"/>
          </a:xfrm>
          <a:prstGeom prst="roundRect">
            <a:avLst>
              <a:gd name="adj" fmla="val 8889"/>
            </a:avLst>
          </a:prstGeom>
          <a:solidFill>
            <a:schemeClr val="accent3">
              <a:alpha val="12000"/>
            </a:schemeClr>
          </a:solidFill>
          <a:ln w="15875">
            <a:solidFill>
              <a:schemeClr val="accent3"/>
            </a:solidFill>
            <a:prstDash val="solid"/>
          </a:ln>
        </p:spPr>
      </p:sp>
      <p:sp>
        <p:nvSpPr>
          <p:cNvPr id="8" name="Text 6"/>
          <p:cNvSpPr txBox="1"/>
          <p:nvPr/>
        </p:nvSpPr>
        <p:spPr>
          <a:xfrm>
            <a:off x="3429000" y="1645920"/>
            <a:ext cx="2514600" cy="822960"/>
          </a:xfrm>
          <a:prstGeom prst="rect">
            <a:avLst/>
          </a:prstGeom>
          <a:noFill/>
          <a:ln/>
        </p:spPr>
        <p:txBody>
          <a:bodyPr wrap="square" lIns="0" tIns="0" rIns="0" bIns="0" rtlCol="0" anchor="ctr"/>
          <a:lstStyle/>
          <a:p>
            <a:pPr algn="ctr" indent="0" marL="0">
              <a:buNone/>
            </a:pPr>
            <a:r>
              <a:rPr lang="en-US" sz="1400" b="1" dirty="0">
                <a:solidFill>
                  <a:schemeClr val="tx1"/>
                </a:solidFill>
              </a:rPr>
              <a:t>Business requirements</a:t>
            </a:r>
            <a:endParaRPr lang="en-US" sz="1300" dirty="0"/>
          </a:p>
          <a:p>
            <a:pPr algn="ctr" indent="0" marL="0">
              <a:buNone/>
            </a:pPr>
            <a:r>
              <a:rPr lang="en-US" sz="1200" dirty="0">
                <a:solidFill>
                  <a:schemeClr val="tx1"/>
                </a:solidFill>
              </a:rPr>
              <a:t>through the intake template</a:t>
            </a:r>
            <a:endParaRPr lang="en-US" sz="1300" dirty="0"/>
          </a:p>
        </p:txBody>
      </p:sp>
      <p:sp>
        <p:nvSpPr>
          <p:cNvPr id="9" name="Shape 7"/>
          <p:cNvSpPr/>
          <p:nvPr/>
        </p:nvSpPr>
        <p:spPr>
          <a:xfrm>
            <a:off x="5971032" y="2057400"/>
            <a:ext cx="310896" cy="0"/>
          </a:xfrm>
          <a:prstGeom prst="line">
            <a:avLst/>
          </a:prstGeom>
          <a:noFill/>
          <a:ln w="19050">
            <a:solidFill>
              <a:schemeClr val="tx1"/>
            </a:solidFill>
            <a:prstDash val="solid"/>
            <a:tailEnd type="triangle"/>
          </a:ln>
        </p:spPr>
      </p:sp>
      <p:sp>
        <p:nvSpPr>
          <p:cNvPr id="10" name="Decision"/>
          <p:cNvSpPr/>
          <p:nvPr/>
        </p:nvSpPr>
        <p:spPr>
          <a:xfrm>
            <a:off x="6309360" y="1645920"/>
            <a:ext cx="2377440" cy="822960"/>
          </a:xfrm>
          <a:prstGeom prst="roundRect">
            <a:avLst>
              <a:gd name="adj" fmla="val 8889"/>
            </a:avLst>
          </a:prstGeom>
          <a:solidFill>
            <a:schemeClr val="bg2"/>
          </a:solidFill>
          <a:ln w="19050">
            <a:solidFill>
              <a:schemeClr val="tx1"/>
            </a:solidFill>
            <a:prstDash val="solid"/>
          </a:ln>
        </p:spPr>
      </p:sp>
      <p:sp>
        <p:nvSpPr>
          <p:cNvPr id="11" name="Text 9"/>
          <p:cNvSpPr txBox="1"/>
          <p:nvPr/>
        </p:nvSpPr>
        <p:spPr>
          <a:xfrm>
            <a:off x="6309360" y="1645920"/>
            <a:ext cx="2377440" cy="822960"/>
          </a:xfrm>
          <a:prstGeom prst="rect">
            <a:avLst/>
          </a:prstGeom>
          <a:noFill/>
          <a:ln/>
        </p:spPr>
        <p:txBody>
          <a:bodyPr wrap="square" lIns="0" tIns="0" rIns="0" bIns="0" rtlCol="0" anchor="ctr"/>
          <a:lstStyle/>
          <a:p>
            <a:pPr algn="ctr" indent="0" marL="0">
              <a:buNone/>
            </a:pPr>
            <a:r>
              <a:rPr lang="en-US" sz="1600" b="1" dirty="0">
                <a:solidFill>
                  <a:schemeClr val="tx1"/>
                </a:solidFill>
              </a:rPr>
              <a:t>Already in RDS?</a:t>
            </a:r>
            <a:endParaRPr lang="en-US" sz="1600" dirty="0"/>
          </a:p>
        </p:txBody>
      </p:sp>
      <p:sp>
        <p:nvSpPr>
          <p:cNvPr id="12" name="Shape 10"/>
          <p:cNvSpPr/>
          <p:nvPr/>
        </p:nvSpPr>
        <p:spPr>
          <a:xfrm>
            <a:off x="8714232" y="2057400"/>
            <a:ext cx="310896" cy="0"/>
          </a:xfrm>
          <a:prstGeom prst="line">
            <a:avLst/>
          </a:prstGeom>
          <a:noFill/>
          <a:ln w="19050">
            <a:solidFill>
              <a:schemeClr val="accent1"/>
            </a:solidFill>
            <a:prstDash val="solid"/>
            <a:tailEnd type="triangle"/>
          </a:ln>
        </p:spPr>
      </p:sp>
      <p:sp>
        <p:nvSpPr>
          <p:cNvPr id="13" name="Text 11"/>
          <p:cNvSpPr txBox="1"/>
          <p:nvPr/>
        </p:nvSpPr>
        <p:spPr>
          <a:xfrm>
            <a:off x="8686800" y="1719072"/>
            <a:ext cx="365760" cy="274320"/>
          </a:xfrm>
          <a:prstGeom prst="rect">
            <a:avLst/>
          </a:prstGeom>
          <a:noFill/>
          <a:ln/>
        </p:spPr>
        <p:txBody>
          <a:bodyPr wrap="square" lIns="0" tIns="0" rIns="0" bIns="0" rtlCol="0" anchor="t"/>
          <a:lstStyle/>
          <a:p>
            <a:pPr algn="ctr" indent="0" marL="0">
              <a:buNone/>
            </a:pPr>
            <a:r>
              <a:rPr lang="en-US" sz="1200" b="1" i="1" dirty="0">
                <a:solidFill>
                  <a:schemeClr val="accent1"/>
                </a:solidFill>
              </a:rPr>
              <a:t>Yes</a:t>
            </a:r>
            <a:endParaRPr lang="en-US" sz="1200" dirty="0"/>
          </a:p>
        </p:txBody>
      </p:sp>
      <p:sp>
        <p:nvSpPr>
          <p:cNvPr id="14" name="Reuse"/>
          <p:cNvSpPr/>
          <p:nvPr/>
        </p:nvSpPr>
        <p:spPr>
          <a:xfrm>
            <a:off x="9052560" y="1645920"/>
            <a:ext cx="2587752" cy="822960"/>
          </a:xfrm>
          <a:prstGeom prst="roundRect">
            <a:avLst>
              <a:gd name="adj" fmla="val 8889"/>
            </a:avLst>
          </a:prstGeom>
          <a:solidFill>
            <a:schemeClr val="accent1">
              <a:alpha val="12000"/>
            </a:schemeClr>
          </a:solidFill>
          <a:ln w="15875">
            <a:solidFill>
              <a:schemeClr val="accent1"/>
            </a:solidFill>
            <a:prstDash val="solid"/>
          </a:ln>
        </p:spPr>
      </p:sp>
      <p:sp>
        <p:nvSpPr>
          <p:cNvPr id="15" name="Text 13"/>
          <p:cNvSpPr txBox="1"/>
          <p:nvPr/>
        </p:nvSpPr>
        <p:spPr>
          <a:xfrm>
            <a:off x="9052560" y="1645920"/>
            <a:ext cx="2587752" cy="822960"/>
          </a:xfrm>
          <a:prstGeom prst="rect">
            <a:avLst/>
          </a:prstGeom>
          <a:noFill/>
          <a:ln/>
        </p:spPr>
        <p:txBody>
          <a:bodyPr wrap="square" lIns="0" tIns="0" rIns="0" bIns="0" rtlCol="0" anchor="ctr"/>
          <a:lstStyle/>
          <a:p>
            <a:pPr algn="ctr" indent="0" marL="0">
              <a:buNone/>
            </a:pPr>
            <a:r>
              <a:rPr lang="en-US" sz="1400" b="1" dirty="0">
                <a:solidFill>
                  <a:schemeClr val="tx1"/>
                </a:solidFill>
              </a:rPr>
              <a:t>Map to RDS data and reuse</a:t>
            </a:r>
            <a:endParaRPr lang="en-US" sz="1300" dirty="0"/>
          </a:p>
          <a:p>
            <a:pPr algn="ctr" indent="0" marL="0">
              <a:buNone/>
            </a:pPr>
            <a:r>
              <a:rPr lang="en-US" sz="1200" dirty="0">
                <a:solidFill>
                  <a:schemeClr val="tx1"/>
                </a:solidFill>
              </a:rPr>
              <a:t>Pillar 2's baseline shows what's there</a:t>
            </a:r>
            <a:endParaRPr lang="en-US" sz="1300" dirty="0"/>
          </a:p>
        </p:txBody>
      </p:sp>
      <p:sp>
        <p:nvSpPr>
          <p:cNvPr id="16" name="Shape 14"/>
          <p:cNvSpPr/>
          <p:nvPr/>
        </p:nvSpPr>
        <p:spPr>
          <a:xfrm>
            <a:off x="7498080" y="2487168"/>
            <a:ext cx="0" cy="365760"/>
          </a:xfrm>
          <a:prstGeom prst="line">
            <a:avLst/>
          </a:prstGeom>
          <a:noFill/>
          <a:ln w="19050">
            <a:solidFill>
              <a:schemeClr val="accent4"/>
            </a:solidFill>
            <a:prstDash val="solid"/>
            <a:tailEnd type="triangle"/>
          </a:ln>
        </p:spPr>
      </p:sp>
      <p:sp>
        <p:nvSpPr>
          <p:cNvPr id="17" name="Text 15"/>
          <p:cNvSpPr txBox="1"/>
          <p:nvPr/>
        </p:nvSpPr>
        <p:spPr>
          <a:xfrm>
            <a:off x="7589520" y="2523744"/>
            <a:ext cx="365760" cy="274320"/>
          </a:xfrm>
          <a:prstGeom prst="rect">
            <a:avLst/>
          </a:prstGeom>
          <a:noFill/>
          <a:ln/>
        </p:spPr>
        <p:txBody>
          <a:bodyPr wrap="square" lIns="0" tIns="0" rIns="0" bIns="0" rtlCol="0" anchor="t"/>
          <a:lstStyle/>
          <a:p>
            <a:pPr indent="0" marL="0">
              <a:buNone/>
            </a:pPr>
            <a:r>
              <a:rPr lang="en-US" sz="1200" b="1" i="1" dirty="0">
                <a:solidFill>
                  <a:schemeClr val="accent4"/>
                </a:solidFill>
              </a:rPr>
              <a:t>No</a:t>
            </a:r>
            <a:endParaRPr lang="en-US" sz="1200" dirty="0"/>
          </a:p>
        </p:txBody>
      </p:sp>
      <p:sp>
        <p:nvSpPr>
          <p:cNvPr id="18" name="Route"/>
          <p:cNvSpPr/>
          <p:nvPr/>
        </p:nvSpPr>
        <p:spPr>
          <a:xfrm>
            <a:off x="5212080" y="2880360"/>
            <a:ext cx="4572000" cy="548640"/>
          </a:xfrm>
          <a:prstGeom prst="roundRect">
            <a:avLst>
              <a:gd name="adj" fmla="val 13333"/>
            </a:avLst>
          </a:prstGeom>
          <a:solidFill>
            <a:schemeClr val="bg2"/>
          </a:solidFill>
          <a:ln w="15875">
            <a:solidFill>
              <a:schemeClr val="tx1"/>
            </a:solidFill>
            <a:prstDash val="solid"/>
          </a:ln>
        </p:spPr>
      </p:sp>
      <p:sp>
        <p:nvSpPr>
          <p:cNvPr id="19" name="Text 17"/>
          <p:cNvSpPr txBox="1"/>
          <p:nvPr/>
        </p:nvSpPr>
        <p:spPr>
          <a:xfrm>
            <a:off x="5212080" y="2880360"/>
            <a:ext cx="4572000" cy="548640"/>
          </a:xfrm>
          <a:prstGeom prst="rect">
            <a:avLst/>
          </a:prstGeom>
          <a:noFill/>
          <a:ln/>
        </p:spPr>
        <p:txBody>
          <a:bodyPr wrap="square" lIns="0" tIns="0" rIns="0" bIns="0" rtlCol="0" anchor="ctr"/>
          <a:lstStyle/>
          <a:p>
            <a:pPr algn="ctr" indent="0" marL="0">
              <a:buNone/>
            </a:pPr>
            <a:r>
              <a:rPr lang="en-US" sz="1400" b="1" dirty="0">
                <a:solidFill>
                  <a:schemeClr val="tx1"/>
                </a:solidFill>
              </a:rPr>
              <a:t>Determine the target source and route</a:t>
            </a:r>
            <a:endParaRPr lang="en-US" sz="1400" dirty="0"/>
          </a:p>
        </p:txBody>
      </p:sp>
      <p:sp>
        <p:nvSpPr>
          <p:cNvPr id="20" name="Shape 18"/>
          <p:cNvSpPr/>
          <p:nvPr/>
        </p:nvSpPr>
        <p:spPr>
          <a:xfrm>
            <a:off x="7498080" y="3429000"/>
            <a:ext cx="0" cy="219456"/>
          </a:xfrm>
          <a:prstGeom prst="line">
            <a:avLst/>
          </a:prstGeom>
          <a:noFill/>
          <a:ln w="19050">
            <a:solidFill>
              <a:schemeClr val="tx1"/>
            </a:solidFill>
            <a:prstDash val="solid"/>
          </a:ln>
        </p:spPr>
      </p:sp>
      <p:sp>
        <p:nvSpPr>
          <p:cNvPr id="21" name="Shape 19"/>
          <p:cNvSpPr/>
          <p:nvPr/>
        </p:nvSpPr>
        <p:spPr>
          <a:xfrm>
            <a:off x="1849374" y="3648456"/>
            <a:ext cx="8490204" cy="0"/>
          </a:xfrm>
          <a:prstGeom prst="line">
            <a:avLst/>
          </a:prstGeom>
          <a:noFill/>
          <a:ln w="19050">
            <a:solidFill>
              <a:schemeClr val="tx1"/>
            </a:solidFill>
            <a:prstDash val="solid"/>
          </a:ln>
        </p:spPr>
      </p:sp>
      <p:sp>
        <p:nvSpPr>
          <p:cNvPr id="22" name="Shape 20"/>
          <p:cNvSpPr/>
          <p:nvPr/>
        </p:nvSpPr>
        <p:spPr>
          <a:xfrm>
            <a:off x="1849374" y="3648456"/>
            <a:ext cx="0" cy="192024"/>
          </a:xfrm>
          <a:prstGeom prst="line">
            <a:avLst/>
          </a:prstGeom>
          <a:noFill/>
          <a:ln w="19050">
            <a:solidFill>
              <a:schemeClr val="tx1"/>
            </a:solidFill>
            <a:prstDash val="solid"/>
            <a:tailEnd type="triangle"/>
          </a:ln>
        </p:spPr>
      </p:sp>
      <p:sp>
        <p:nvSpPr>
          <p:cNvPr id="23" name="Shape 21"/>
          <p:cNvSpPr/>
          <p:nvPr/>
        </p:nvSpPr>
        <p:spPr>
          <a:xfrm>
            <a:off x="4679442" y="3648456"/>
            <a:ext cx="0" cy="192024"/>
          </a:xfrm>
          <a:prstGeom prst="line">
            <a:avLst/>
          </a:prstGeom>
          <a:noFill/>
          <a:ln w="19050">
            <a:solidFill>
              <a:schemeClr val="tx1"/>
            </a:solidFill>
            <a:prstDash val="solid"/>
            <a:tailEnd type="triangle"/>
          </a:ln>
        </p:spPr>
      </p:sp>
      <p:sp>
        <p:nvSpPr>
          <p:cNvPr id="24" name="Shape 22"/>
          <p:cNvSpPr/>
          <p:nvPr/>
        </p:nvSpPr>
        <p:spPr>
          <a:xfrm>
            <a:off x="7509510" y="3648456"/>
            <a:ext cx="0" cy="192024"/>
          </a:xfrm>
          <a:prstGeom prst="line">
            <a:avLst/>
          </a:prstGeom>
          <a:noFill/>
          <a:ln w="19050">
            <a:solidFill>
              <a:schemeClr val="tx1"/>
            </a:solidFill>
            <a:prstDash val="solid"/>
            <a:tailEnd type="triangle"/>
          </a:ln>
        </p:spPr>
      </p:sp>
      <p:sp>
        <p:nvSpPr>
          <p:cNvPr id="25" name="Shape 23"/>
          <p:cNvSpPr/>
          <p:nvPr/>
        </p:nvSpPr>
        <p:spPr>
          <a:xfrm>
            <a:off x="10339578" y="3648456"/>
            <a:ext cx="0" cy="192024"/>
          </a:xfrm>
          <a:prstGeom prst="line">
            <a:avLst/>
          </a:prstGeom>
          <a:noFill/>
          <a:ln w="19050">
            <a:solidFill>
              <a:schemeClr val="tx1"/>
            </a:solidFill>
            <a:prstDash val="solid"/>
            <a:tailEnd type="triangle"/>
          </a:ln>
        </p:spPr>
      </p:sp>
      <p:sp>
        <p:nvSpPr>
          <p:cNvPr id="26" name="Strategic"/>
          <p:cNvSpPr/>
          <p:nvPr/>
        </p:nvSpPr>
        <p:spPr>
          <a:xfrm>
            <a:off x="548640" y="3858768"/>
            <a:ext cx="2601468" cy="1783080"/>
          </a:xfrm>
          <a:prstGeom prst="roundRect">
            <a:avLst>
              <a:gd name="adj" fmla="val 4103"/>
            </a:avLst>
          </a:prstGeom>
          <a:solidFill>
            <a:schemeClr val="accent1">
              <a:alpha val="10000"/>
            </a:schemeClr>
          </a:solidFill>
          <a:ln w="15875">
            <a:solidFill>
              <a:schemeClr val="accent1"/>
            </a:solidFill>
            <a:prstDash val="solid"/>
          </a:ln>
        </p:spPr>
      </p:sp>
      <p:sp>
        <p:nvSpPr>
          <p:cNvPr id="27" name="Text 25"/>
          <p:cNvSpPr txBox="1"/>
          <p:nvPr/>
        </p:nvSpPr>
        <p:spPr>
          <a:xfrm>
            <a:off x="731520" y="4023360"/>
            <a:ext cx="2235708" cy="228600"/>
          </a:xfrm>
          <a:prstGeom prst="rect">
            <a:avLst/>
          </a:prstGeom>
          <a:noFill/>
          <a:ln/>
        </p:spPr>
        <p:txBody>
          <a:bodyPr wrap="square" lIns="0" tIns="0" rIns="0" bIns="0" rtlCol="0" anchor="t"/>
          <a:lstStyle/>
          <a:p>
            <a:pPr indent="0" marL="0">
              <a:buNone/>
            </a:pPr>
            <a:r>
              <a:rPr lang="en-US" sz="900" b="1" spc="120" kern="0" dirty="0">
                <a:solidFill>
                  <a:schemeClr val="tx2"/>
                </a:solidFill>
              </a:rPr>
              <a:t>APPROVED ADS IS READY</a:t>
            </a:r>
            <a:endParaRPr lang="en-US" sz="900" dirty="0"/>
          </a:p>
        </p:txBody>
      </p:sp>
      <p:sp>
        <p:nvSpPr>
          <p:cNvPr id="28" name="Text 26"/>
          <p:cNvSpPr txBox="1"/>
          <p:nvPr/>
        </p:nvSpPr>
        <p:spPr>
          <a:xfrm>
            <a:off x="731520" y="4270248"/>
            <a:ext cx="2235708" cy="365760"/>
          </a:xfrm>
          <a:prstGeom prst="rect">
            <a:avLst/>
          </a:prstGeom>
          <a:noFill/>
          <a:ln/>
        </p:spPr>
        <p:txBody>
          <a:bodyPr wrap="square" lIns="0" tIns="0" rIns="0" bIns="0" rtlCol="0" anchor="t"/>
          <a:lstStyle/>
          <a:p>
            <a:pPr indent="0" marL="0">
              <a:buNone/>
            </a:pPr>
            <a:r>
              <a:rPr lang="en-US" sz="1700" b="1" dirty="0">
                <a:solidFill>
                  <a:schemeClr val="accent1"/>
                </a:solidFill>
              </a:rPr>
              <a:t>Strategic</a:t>
            </a:r>
            <a:endParaRPr lang="en-US" sz="1700" dirty="0"/>
          </a:p>
        </p:txBody>
      </p:sp>
      <p:sp>
        <p:nvSpPr>
          <p:cNvPr id="29" name="Text 27"/>
          <p:cNvSpPr txBox="1"/>
          <p:nvPr/>
        </p:nvSpPr>
        <p:spPr>
          <a:xfrm>
            <a:off x="731520" y="4700016"/>
            <a:ext cx="2235708" cy="868680"/>
          </a:xfrm>
          <a:prstGeom prst="rect">
            <a:avLst/>
          </a:prstGeom>
          <a:noFill/>
          <a:ln/>
        </p:spPr>
        <p:txBody>
          <a:bodyPr wrap="square" lIns="0" tIns="0" rIns="0" bIns="0" rtlCol="0" anchor="t"/>
          <a:lstStyle/>
          <a:p>
            <a:pPr indent="0" marL="0">
              <a:buNone/>
            </a:pPr>
            <a:r>
              <a:rPr lang="en-US" sz="1300" dirty="0">
                <a:solidFill>
                  <a:schemeClr val="tx1"/>
                </a:solidFill>
              </a:rPr>
              <a:t>Source from the ADS through the data plane</a:t>
            </a:r>
            <a:endParaRPr lang="en-US" sz="1300" dirty="0"/>
          </a:p>
        </p:txBody>
      </p:sp>
      <p:sp>
        <p:nvSpPr>
          <p:cNvPr id="30" name="Justified tactical"/>
          <p:cNvSpPr/>
          <p:nvPr/>
        </p:nvSpPr>
        <p:spPr>
          <a:xfrm>
            <a:off x="3378708" y="3858768"/>
            <a:ext cx="2601468" cy="1783080"/>
          </a:xfrm>
          <a:prstGeom prst="roundRect">
            <a:avLst>
              <a:gd name="adj" fmla="val 4103"/>
            </a:avLst>
          </a:prstGeom>
          <a:solidFill>
            <a:schemeClr val="accent3">
              <a:alpha val="10000"/>
            </a:schemeClr>
          </a:solidFill>
          <a:ln w="15875">
            <a:solidFill>
              <a:schemeClr val="accent3"/>
            </a:solidFill>
            <a:prstDash val="solid"/>
          </a:ln>
        </p:spPr>
      </p:sp>
      <p:sp>
        <p:nvSpPr>
          <p:cNvPr id="31" name="Text 29"/>
          <p:cNvSpPr txBox="1"/>
          <p:nvPr/>
        </p:nvSpPr>
        <p:spPr>
          <a:xfrm>
            <a:off x="3561588" y="4023360"/>
            <a:ext cx="2235708" cy="228600"/>
          </a:xfrm>
          <a:prstGeom prst="rect">
            <a:avLst/>
          </a:prstGeom>
          <a:noFill/>
          <a:ln/>
        </p:spPr>
        <p:txBody>
          <a:bodyPr wrap="square" lIns="0" tIns="0" rIns="0" bIns="0" rtlCol="0" anchor="t"/>
          <a:lstStyle/>
          <a:p>
            <a:pPr indent="0" marL="0">
              <a:buNone/>
            </a:pPr>
            <a:r>
              <a:rPr lang="en-US" sz="900" b="1" spc="120" kern="0" dirty="0">
                <a:solidFill>
                  <a:schemeClr val="tx2"/>
                </a:solidFill>
              </a:rPr>
              <a:t>ADS IS YEARS AWAY</a:t>
            </a:r>
            <a:endParaRPr lang="en-US" sz="900" dirty="0"/>
          </a:p>
        </p:txBody>
      </p:sp>
      <p:sp>
        <p:nvSpPr>
          <p:cNvPr id="32" name="Text 30"/>
          <p:cNvSpPr txBox="1"/>
          <p:nvPr/>
        </p:nvSpPr>
        <p:spPr>
          <a:xfrm>
            <a:off x="3561588" y="4270248"/>
            <a:ext cx="2235708" cy="365760"/>
          </a:xfrm>
          <a:prstGeom prst="rect">
            <a:avLst/>
          </a:prstGeom>
          <a:noFill/>
          <a:ln/>
        </p:spPr>
        <p:txBody>
          <a:bodyPr wrap="square" lIns="0" tIns="0" rIns="0" bIns="0" rtlCol="0" anchor="t"/>
          <a:lstStyle/>
          <a:p>
            <a:pPr indent="0" marL="0">
              <a:buNone/>
            </a:pPr>
            <a:r>
              <a:rPr lang="en-US" sz="1700" b="1" dirty="0">
                <a:solidFill>
                  <a:schemeClr val="accent3"/>
                </a:solidFill>
              </a:rPr>
              <a:t>Justified tactical</a:t>
            </a:r>
            <a:endParaRPr lang="en-US" sz="1700" dirty="0"/>
          </a:p>
        </p:txBody>
      </p:sp>
      <p:sp>
        <p:nvSpPr>
          <p:cNvPr id="33" name="Text 31"/>
          <p:cNvSpPr txBox="1"/>
          <p:nvPr/>
        </p:nvSpPr>
        <p:spPr>
          <a:xfrm>
            <a:off x="3561588" y="4700016"/>
            <a:ext cx="2235708" cy="868680"/>
          </a:xfrm>
          <a:prstGeom prst="rect">
            <a:avLst/>
          </a:prstGeom>
          <a:noFill/>
          <a:ln/>
        </p:spPr>
        <p:txBody>
          <a:bodyPr wrap="square" lIns="0" tIns="0" rIns="0" bIns="0" rtlCol="0" anchor="t"/>
          <a:lstStyle/>
          <a:p>
            <a:pPr indent="0" marL="0">
              <a:buNone/>
            </a:pPr>
            <a:r>
              <a:rPr lang="en-US" sz="1300" dirty="0">
                <a:solidFill>
                  <a:schemeClr val="tx1"/>
                </a:solidFill>
              </a:rPr>
              <a:t>Conditional sourcing (e.g., ADS not until 2029), with a path back</a:t>
            </a:r>
            <a:endParaRPr lang="en-US" sz="1300" dirty="0"/>
          </a:p>
        </p:txBody>
      </p:sp>
      <p:sp>
        <p:nvSpPr>
          <p:cNvPr id="34" name="Escalate"/>
          <p:cNvSpPr/>
          <p:nvPr/>
        </p:nvSpPr>
        <p:spPr>
          <a:xfrm>
            <a:off x="6208776" y="3858768"/>
            <a:ext cx="2601468" cy="1783080"/>
          </a:xfrm>
          <a:prstGeom prst="roundRect">
            <a:avLst>
              <a:gd name="adj" fmla="val 4103"/>
            </a:avLst>
          </a:prstGeom>
          <a:solidFill>
            <a:schemeClr val="accent4">
              <a:alpha val="10000"/>
            </a:schemeClr>
          </a:solidFill>
          <a:ln w="15875">
            <a:solidFill>
              <a:schemeClr val="accent4"/>
            </a:solidFill>
            <a:prstDash val="solid"/>
          </a:ln>
        </p:spPr>
      </p:sp>
      <p:sp>
        <p:nvSpPr>
          <p:cNvPr id="35" name="Text 33"/>
          <p:cNvSpPr txBox="1"/>
          <p:nvPr/>
        </p:nvSpPr>
        <p:spPr>
          <a:xfrm>
            <a:off x="6391656" y="4023360"/>
            <a:ext cx="2235708" cy="228600"/>
          </a:xfrm>
          <a:prstGeom prst="rect">
            <a:avLst/>
          </a:prstGeom>
          <a:noFill/>
          <a:ln/>
        </p:spPr>
        <p:txBody>
          <a:bodyPr wrap="square" lIns="0" tIns="0" rIns="0" bIns="0" rtlCol="0" anchor="t"/>
          <a:lstStyle/>
          <a:p>
            <a:pPr indent="0" marL="0">
              <a:buNone/>
            </a:pPr>
            <a:r>
              <a:rPr lang="en-US" sz="900" b="1" spc="120" kern="0" dirty="0">
                <a:solidFill>
                  <a:schemeClr val="tx2"/>
                </a:solidFill>
              </a:rPr>
              <a:t>NO ACCEPTABLE ROUTE</a:t>
            </a:r>
            <a:endParaRPr lang="en-US" sz="900" dirty="0"/>
          </a:p>
        </p:txBody>
      </p:sp>
      <p:sp>
        <p:nvSpPr>
          <p:cNvPr id="36" name="Text 34"/>
          <p:cNvSpPr txBox="1"/>
          <p:nvPr/>
        </p:nvSpPr>
        <p:spPr>
          <a:xfrm>
            <a:off x="6391656" y="4270248"/>
            <a:ext cx="2235708" cy="365760"/>
          </a:xfrm>
          <a:prstGeom prst="rect">
            <a:avLst/>
          </a:prstGeom>
          <a:noFill/>
          <a:ln/>
        </p:spPr>
        <p:txBody>
          <a:bodyPr wrap="square" lIns="0" tIns="0" rIns="0" bIns="0" rtlCol="0" anchor="t"/>
          <a:lstStyle/>
          <a:p>
            <a:pPr indent="0" marL="0">
              <a:buNone/>
            </a:pPr>
            <a:r>
              <a:rPr lang="en-US" sz="1700" b="1" dirty="0">
                <a:solidFill>
                  <a:schemeClr val="accent4"/>
                </a:solidFill>
              </a:rPr>
              <a:t>Escalate</a:t>
            </a:r>
            <a:endParaRPr lang="en-US" sz="1700" dirty="0"/>
          </a:p>
        </p:txBody>
      </p:sp>
      <p:sp>
        <p:nvSpPr>
          <p:cNvPr id="37" name="Text 35"/>
          <p:cNvSpPr txBox="1"/>
          <p:nvPr/>
        </p:nvSpPr>
        <p:spPr>
          <a:xfrm>
            <a:off x="6391656" y="4700016"/>
            <a:ext cx="2235708" cy="868680"/>
          </a:xfrm>
          <a:prstGeom prst="rect">
            <a:avLst/>
          </a:prstGeom>
          <a:noFill/>
          <a:ln/>
        </p:spPr>
        <p:txBody>
          <a:bodyPr wrap="square" lIns="0" tIns="0" rIns="0" bIns="0" rtlCol="0" anchor="t"/>
          <a:lstStyle/>
          <a:p>
            <a:pPr indent="0" marL="0">
              <a:buNone/>
            </a:pPr>
            <a:r>
              <a:rPr lang="en-US" sz="1300" dirty="0">
                <a:solidFill>
                  <a:schemeClr val="tx1"/>
                </a:solidFill>
              </a:rPr>
              <a:t>Another domain owns it: the partner confirms or designates the source</a:t>
            </a:r>
            <a:endParaRPr lang="en-US" sz="1300" dirty="0"/>
          </a:p>
        </p:txBody>
      </p:sp>
      <p:sp>
        <p:nvSpPr>
          <p:cNvPr id="38" name="Legacy to evaluate"/>
          <p:cNvSpPr/>
          <p:nvPr/>
        </p:nvSpPr>
        <p:spPr>
          <a:xfrm>
            <a:off x="9038844" y="3858768"/>
            <a:ext cx="2601468" cy="1783080"/>
          </a:xfrm>
          <a:prstGeom prst="roundRect">
            <a:avLst>
              <a:gd name="adj" fmla="val 4103"/>
            </a:avLst>
          </a:prstGeom>
          <a:solidFill>
            <a:schemeClr val="accent6">
              <a:alpha val="10000"/>
            </a:schemeClr>
          </a:solidFill>
          <a:ln w="15875">
            <a:solidFill>
              <a:schemeClr val="accent6"/>
            </a:solidFill>
            <a:prstDash val="solid"/>
          </a:ln>
        </p:spPr>
      </p:sp>
      <p:sp>
        <p:nvSpPr>
          <p:cNvPr id="39" name="Text 37"/>
          <p:cNvSpPr txBox="1"/>
          <p:nvPr/>
        </p:nvSpPr>
        <p:spPr>
          <a:xfrm>
            <a:off x="9221724" y="4023360"/>
            <a:ext cx="2235708" cy="228600"/>
          </a:xfrm>
          <a:prstGeom prst="rect">
            <a:avLst/>
          </a:prstGeom>
          <a:noFill/>
          <a:ln/>
        </p:spPr>
        <p:txBody>
          <a:bodyPr wrap="square" lIns="0" tIns="0" rIns="0" bIns="0" rtlCol="0" anchor="t"/>
          <a:lstStyle/>
          <a:p>
            <a:pPr indent="0" marL="0">
              <a:buNone/>
            </a:pPr>
            <a:r>
              <a:rPr lang="en-US" sz="900" b="1" spc="120" kern="0" dirty="0">
                <a:solidFill>
                  <a:schemeClr val="tx2"/>
                </a:solidFill>
              </a:rPr>
              <a:t>EXISTING, RE-PLUMBED</a:t>
            </a:r>
            <a:endParaRPr lang="en-US" sz="900" dirty="0"/>
          </a:p>
        </p:txBody>
      </p:sp>
      <p:sp>
        <p:nvSpPr>
          <p:cNvPr id="40" name="Text 38"/>
          <p:cNvSpPr txBox="1"/>
          <p:nvPr/>
        </p:nvSpPr>
        <p:spPr>
          <a:xfrm>
            <a:off x="9221724" y="4270248"/>
            <a:ext cx="2235708" cy="365760"/>
          </a:xfrm>
          <a:prstGeom prst="rect">
            <a:avLst/>
          </a:prstGeom>
          <a:noFill/>
          <a:ln/>
        </p:spPr>
        <p:txBody>
          <a:bodyPr wrap="square" lIns="0" tIns="0" rIns="0" bIns="0" rtlCol="0" anchor="t"/>
          <a:lstStyle/>
          <a:p>
            <a:pPr indent="0" marL="0">
              <a:buNone/>
            </a:pPr>
            <a:r>
              <a:rPr lang="en-US" sz="1700" b="1" dirty="0">
                <a:solidFill>
                  <a:schemeClr val="accent6"/>
                </a:solidFill>
              </a:rPr>
              <a:t>Legacy to evaluate</a:t>
            </a:r>
            <a:endParaRPr lang="en-US" sz="1700" dirty="0"/>
          </a:p>
        </p:txBody>
      </p:sp>
      <p:sp>
        <p:nvSpPr>
          <p:cNvPr id="41" name="Text 39"/>
          <p:cNvSpPr txBox="1"/>
          <p:nvPr/>
        </p:nvSpPr>
        <p:spPr>
          <a:xfrm>
            <a:off x="9221724" y="4700016"/>
            <a:ext cx="2235708" cy="868680"/>
          </a:xfrm>
          <a:prstGeom prst="rect">
            <a:avLst/>
          </a:prstGeom>
          <a:noFill/>
          <a:ln/>
        </p:spPr>
        <p:txBody>
          <a:bodyPr wrap="square" lIns="0" tIns="0" rIns="0" bIns="0" rtlCol="0" anchor="t"/>
          <a:lstStyle/>
          <a:p>
            <a:pPr indent="0" marL="0">
              <a:buNone/>
            </a:pPr>
            <a:r>
              <a:rPr lang="en-US" sz="1300" dirty="0">
                <a:solidFill>
                  <a:schemeClr val="tx1"/>
                </a:solidFill>
              </a:rPr>
              <a:t>Existing sourcing being moved: Pillar 2 evaluates it</a:t>
            </a:r>
            <a:endParaRPr lang="en-US" sz="1300" dirty="0"/>
          </a:p>
        </p:txBody>
      </p:sp>
      <p:sp>
        <p:nvSpPr>
          <p:cNvPr id="42" name="Text 40"/>
          <p:cNvSpPr txBox="1"/>
          <p:nvPr/>
        </p:nvSpPr>
        <p:spPr>
          <a:xfrm>
            <a:off x="548640" y="5760720"/>
            <a:ext cx="11091672" cy="320040"/>
          </a:xfrm>
          <a:prstGeom prst="rect">
            <a:avLst/>
          </a:prstGeom>
          <a:noFill/>
          <a:ln/>
        </p:spPr>
        <p:txBody>
          <a:bodyPr wrap="square" lIns="0" tIns="0" rIns="0" bIns="0" rtlCol="0" anchor="t"/>
          <a:lstStyle/>
          <a:p>
            <a:pPr algn="ctr" indent="0" marL="0">
              <a:buNone/>
            </a:pPr>
            <a:r>
              <a:rPr lang="en-US" sz="1300" i="1" dirty="0">
                <a:solidFill>
                  <a:schemeClr val="tx2"/>
                </a:solidFill>
              </a:rPr>
              <a:t>The pillar lead tells the story from the business requirements. Kevin approves the route for the data plane. Ad hoc or unneeded asks are declined.</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txBox="1"/>
          <p:nvPr/>
        </p:nvSpPr>
        <p:spPr>
          <a:xfrm>
            <a:off x="548640" y="274320"/>
            <a:ext cx="3136392"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50" kern="0" dirty="0">
                <a:solidFill>
                  <a:schemeClr val="bg1"/>
                </a:solidFill>
              </a:rPr>
              <a:t>PILLAR 3 · DEMAND INTAKE &amp; SOURCING</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Requirements must say why and when, not just which elements</a:t>
            </a:r>
            <a:endParaRPr lang="en-US" sz="2800" dirty="0"/>
          </a:p>
        </p:txBody>
      </p:sp>
      <p:sp>
        <p:nvSpPr>
          <p:cNvPr id="4" name="Quote card"/>
          <p:cNvSpPr/>
          <p:nvPr/>
        </p:nvSpPr>
        <p:spPr>
          <a:xfrm>
            <a:off x="548640" y="1645920"/>
            <a:ext cx="5394960" cy="1417320"/>
          </a:xfrm>
          <a:prstGeom prst="roundRect">
            <a:avLst>
              <a:gd name="adj" fmla="val 5161"/>
            </a:avLst>
          </a:prstGeom>
          <a:solidFill>
            <a:schemeClr val="bg2"/>
          </a:solidFill>
          <a:ln/>
        </p:spPr>
      </p:sp>
      <p:pic>
        <p:nvPicPr>
          <p:cNvPr id="5" name="Quote icon" descr="Quote">    </p:cNvPr>
          <p:cNvPicPr>
            <a:picLocks noChangeAspect="1"/>
          </p:cNvPicPr>
          <p:nvPr/>
        </p:nvPicPr>
        <p:blipFill>
          <a:blip r:embed="rId1"/>
          <a:stretch>
            <a:fillRect/>
          </a:stretch>
        </p:blipFill>
        <p:spPr>
          <a:xfrm>
            <a:off x="749808" y="1828800"/>
            <a:ext cx="292608" cy="292608"/>
          </a:xfrm>
          <a:prstGeom prst="rect">
            <a:avLst/>
          </a:prstGeom>
        </p:spPr>
      </p:pic>
      <p:sp>
        <p:nvSpPr>
          <p:cNvPr id="6" name="Text 3"/>
          <p:cNvSpPr txBox="1"/>
          <p:nvPr/>
        </p:nvSpPr>
        <p:spPr>
          <a:xfrm>
            <a:off x="1188720" y="1783080"/>
            <a:ext cx="4572000" cy="640080"/>
          </a:xfrm>
          <a:prstGeom prst="rect">
            <a:avLst/>
          </a:prstGeom>
          <a:noFill/>
          <a:ln/>
        </p:spPr>
        <p:txBody>
          <a:bodyPr wrap="square" lIns="0" tIns="0" rIns="0" bIns="0" rtlCol="0" anchor="ctr"/>
          <a:lstStyle/>
          <a:p>
            <a:pPr indent="0" marL="0">
              <a:buNone/>
            </a:pPr>
            <a:r>
              <a:rPr lang="en-US" sz="1700" i="1" dirty="0">
                <a:solidFill>
                  <a:schemeClr val="tx1"/>
                </a:solidFill>
              </a:rPr>
              <a:t>"I go to this UI and get these elements. I need them."</a:t>
            </a:r>
            <a:endParaRPr lang="en-US" sz="1700" dirty="0"/>
          </a:p>
        </p:txBody>
      </p:sp>
      <p:sp>
        <p:nvSpPr>
          <p:cNvPr id="7" name="Text 4"/>
          <p:cNvSpPr txBox="1"/>
          <p:nvPr/>
        </p:nvSpPr>
        <p:spPr>
          <a:xfrm>
            <a:off x="1188720" y="2468880"/>
            <a:ext cx="4572000" cy="502920"/>
          </a:xfrm>
          <a:prstGeom prst="rect">
            <a:avLst/>
          </a:prstGeom>
          <a:noFill/>
          <a:ln/>
        </p:spPr>
        <p:txBody>
          <a:bodyPr wrap="square" lIns="0" tIns="0" rIns="0" bIns="0" rtlCol="0" anchor="t"/>
          <a:lstStyle/>
          <a:p>
            <a:pPr indent="0" marL="0">
              <a:buNone/>
            </a:pPr>
            <a:r>
              <a:rPr lang="en-US" sz="1300" dirty="0">
                <a:solidFill>
                  <a:schemeClr val="tx2"/>
                </a:solidFill>
              </a:rPr>
              <a:t>What we often hear today. Without why and when, the AI ends up pulling raw, duplicated data.</a:t>
            </a:r>
            <a:endParaRPr lang="en-US" sz="1300" dirty="0"/>
          </a:p>
        </p:txBody>
      </p:sp>
      <p:sp>
        <p:nvSpPr>
          <p:cNvPr id="8" name="Text 5"/>
          <p:cNvSpPr txBox="1"/>
          <p:nvPr/>
        </p:nvSpPr>
        <p:spPr>
          <a:xfrm>
            <a:off x="548640" y="3291840"/>
            <a:ext cx="5394960" cy="228600"/>
          </a:xfrm>
          <a:prstGeom prst="rect">
            <a:avLst/>
          </a:prstGeom>
          <a:noFill/>
          <a:ln/>
        </p:spPr>
        <p:txBody>
          <a:bodyPr wrap="square" lIns="0" tIns="0" rIns="0" bIns="0" rtlCol="0" anchor="t"/>
          <a:lstStyle/>
          <a:p>
            <a:pPr indent="0" marL="0">
              <a:buNone/>
            </a:pPr>
            <a:r>
              <a:rPr lang="en-US" sz="1000" b="1" spc="150" kern="0" dirty="0">
                <a:solidFill>
                  <a:schemeClr val="tx2"/>
                </a:solidFill>
              </a:rPr>
              <a:t>WHAT THE INTAKE TEMPLATE CAPTURES</a:t>
            </a:r>
            <a:endParaRPr lang="en-US" sz="1000" dirty="0"/>
          </a:p>
        </p:txBody>
      </p:sp>
      <p:sp>
        <p:nvSpPr>
          <p:cNvPr id="9" name="Which elements circle"/>
          <p:cNvSpPr/>
          <p:nvPr/>
        </p:nvSpPr>
        <p:spPr>
          <a:xfrm>
            <a:off x="548640" y="3703320"/>
            <a:ext cx="457200" cy="457200"/>
          </a:xfrm>
          <a:prstGeom prst="ellipse">
            <a:avLst/>
          </a:prstGeom>
          <a:solidFill>
            <a:schemeClr val="accent3"/>
          </a:solidFill>
          <a:ln/>
        </p:spPr>
      </p:sp>
      <p:pic>
        <p:nvPicPr>
          <p:cNvPr id="10" name="Which elements" descr="Which elements">    </p:cNvPr>
          <p:cNvPicPr>
            <a:picLocks noChangeAspect="1"/>
          </p:cNvPicPr>
          <p:nvPr/>
        </p:nvPicPr>
        <p:blipFill>
          <a:blip r:embed="rId2"/>
          <a:stretch>
            <a:fillRect/>
          </a:stretch>
        </p:blipFill>
        <p:spPr>
          <a:xfrm>
            <a:off x="649224" y="3803904"/>
            <a:ext cx="256032" cy="256032"/>
          </a:xfrm>
          <a:prstGeom prst="rect">
            <a:avLst/>
          </a:prstGeom>
        </p:spPr>
      </p:pic>
      <p:sp>
        <p:nvSpPr>
          <p:cNvPr id="11" name="Text 7"/>
          <p:cNvSpPr txBox="1"/>
          <p:nvPr/>
        </p:nvSpPr>
        <p:spPr>
          <a:xfrm>
            <a:off x="1188720" y="3630168"/>
            <a:ext cx="4754880" cy="292608"/>
          </a:xfrm>
          <a:prstGeom prst="rect">
            <a:avLst/>
          </a:prstGeom>
          <a:noFill/>
          <a:ln/>
        </p:spPr>
        <p:txBody>
          <a:bodyPr wrap="square" lIns="0" tIns="0" rIns="0" bIns="0" rtlCol="0" anchor="t"/>
          <a:lstStyle/>
          <a:p>
            <a:pPr indent="0" marL="0">
              <a:buNone/>
            </a:pPr>
            <a:r>
              <a:rPr lang="en-US" sz="1400" b="1" dirty="0">
                <a:solidFill>
                  <a:schemeClr val="tx1"/>
                </a:solidFill>
              </a:rPr>
              <a:t>Which elements</a:t>
            </a:r>
            <a:endParaRPr lang="en-US" sz="1400" dirty="0"/>
          </a:p>
        </p:txBody>
      </p:sp>
      <p:sp>
        <p:nvSpPr>
          <p:cNvPr id="12" name="Text 8"/>
          <p:cNvSpPr txBox="1"/>
          <p:nvPr/>
        </p:nvSpPr>
        <p:spPr>
          <a:xfrm>
            <a:off x="1188720" y="3922776"/>
            <a:ext cx="4754880" cy="457200"/>
          </a:xfrm>
          <a:prstGeom prst="rect">
            <a:avLst/>
          </a:prstGeom>
          <a:noFill/>
          <a:ln/>
        </p:spPr>
        <p:txBody>
          <a:bodyPr wrap="square" lIns="0" tIns="0" rIns="0" bIns="0" rtlCol="0" anchor="t"/>
          <a:lstStyle/>
          <a:p>
            <a:pPr indent="0" marL="0">
              <a:buNone/>
            </a:pPr>
            <a:r>
              <a:rPr lang="en-US" sz="1300" dirty="0">
                <a:solidFill>
                  <a:schemeClr val="tx1"/>
                </a:solidFill>
              </a:rPr>
              <a:t>The data the use case needs, at element level</a:t>
            </a:r>
            <a:endParaRPr lang="en-US" sz="1300" dirty="0"/>
          </a:p>
        </p:txBody>
      </p:sp>
      <p:sp>
        <p:nvSpPr>
          <p:cNvPr id="13" name="Why circle"/>
          <p:cNvSpPr/>
          <p:nvPr/>
        </p:nvSpPr>
        <p:spPr>
          <a:xfrm>
            <a:off x="548640" y="4526280"/>
            <a:ext cx="457200" cy="457200"/>
          </a:xfrm>
          <a:prstGeom prst="ellipse">
            <a:avLst/>
          </a:prstGeom>
          <a:solidFill>
            <a:schemeClr val="accent3"/>
          </a:solidFill>
          <a:ln/>
        </p:spPr>
      </p:sp>
      <p:pic>
        <p:nvPicPr>
          <p:cNvPr id="14" name="Why" descr="Why">    </p:cNvPr>
          <p:cNvPicPr>
            <a:picLocks noChangeAspect="1"/>
          </p:cNvPicPr>
          <p:nvPr/>
        </p:nvPicPr>
        <p:blipFill>
          <a:blip r:embed="rId3"/>
          <a:stretch>
            <a:fillRect/>
          </a:stretch>
        </p:blipFill>
        <p:spPr>
          <a:xfrm>
            <a:off x="649224" y="4626864"/>
            <a:ext cx="256032" cy="256032"/>
          </a:xfrm>
          <a:prstGeom prst="rect">
            <a:avLst/>
          </a:prstGeom>
        </p:spPr>
      </p:pic>
      <p:sp>
        <p:nvSpPr>
          <p:cNvPr id="15" name="Text 10"/>
          <p:cNvSpPr txBox="1"/>
          <p:nvPr/>
        </p:nvSpPr>
        <p:spPr>
          <a:xfrm>
            <a:off x="1188720" y="4453128"/>
            <a:ext cx="4754880" cy="292608"/>
          </a:xfrm>
          <a:prstGeom prst="rect">
            <a:avLst/>
          </a:prstGeom>
          <a:noFill/>
          <a:ln/>
        </p:spPr>
        <p:txBody>
          <a:bodyPr wrap="square" lIns="0" tIns="0" rIns="0" bIns="0" rtlCol="0" anchor="t"/>
          <a:lstStyle/>
          <a:p>
            <a:pPr indent="0" marL="0">
              <a:buNone/>
            </a:pPr>
            <a:r>
              <a:rPr lang="en-US" sz="1400" b="1" dirty="0">
                <a:solidFill>
                  <a:schemeClr val="tx1"/>
                </a:solidFill>
              </a:rPr>
              <a:t>Why</a:t>
            </a:r>
            <a:endParaRPr lang="en-US" sz="1400" dirty="0"/>
          </a:p>
        </p:txBody>
      </p:sp>
      <p:sp>
        <p:nvSpPr>
          <p:cNvPr id="16" name="Text 11"/>
          <p:cNvSpPr txBox="1"/>
          <p:nvPr/>
        </p:nvSpPr>
        <p:spPr>
          <a:xfrm>
            <a:off x="1188720" y="4745736"/>
            <a:ext cx="4754880" cy="457200"/>
          </a:xfrm>
          <a:prstGeom prst="rect">
            <a:avLst/>
          </a:prstGeom>
          <a:noFill/>
          <a:ln/>
        </p:spPr>
        <p:txBody>
          <a:bodyPr wrap="square" lIns="0" tIns="0" rIns="0" bIns="0" rtlCol="0" anchor="t"/>
          <a:lstStyle/>
          <a:p>
            <a:pPr indent="0" marL="0">
              <a:buNone/>
            </a:pPr>
            <a:r>
              <a:rPr lang="en-US" sz="1300" dirty="0">
                <a:solidFill>
                  <a:schemeClr val="tx1"/>
                </a:solidFill>
              </a:rPr>
              <a:t>The use case and decision each element supports</a:t>
            </a:r>
            <a:endParaRPr lang="en-US" sz="1300" dirty="0"/>
          </a:p>
        </p:txBody>
      </p:sp>
      <p:sp>
        <p:nvSpPr>
          <p:cNvPr id="17" name="When circle"/>
          <p:cNvSpPr/>
          <p:nvPr/>
        </p:nvSpPr>
        <p:spPr>
          <a:xfrm>
            <a:off x="548640" y="5349240"/>
            <a:ext cx="457200" cy="457200"/>
          </a:xfrm>
          <a:prstGeom prst="ellipse">
            <a:avLst/>
          </a:prstGeom>
          <a:solidFill>
            <a:schemeClr val="accent3"/>
          </a:solidFill>
          <a:ln/>
        </p:spPr>
      </p:sp>
      <p:pic>
        <p:nvPicPr>
          <p:cNvPr id="18" name="When" descr="When">    </p:cNvPr>
          <p:cNvPicPr>
            <a:picLocks noChangeAspect="1"/>
          </p:cNvPicPr>
          <p:nvPr/>
        </p:nvPicPr>
        <p:blipFill>
          <a:blip r:embed="rId4"/>
          <a:stretch>
            <a:fillRect/>
          </a:stretch>
        </p:blipFill>
        <p:spPr>
          <a:xfrm>
            <a:off x="649224" y="5449824"/>
            <a:ext cx="256032" cy="256032"/>
          </a:xfrm>
          <a:prstGeom prst="rect">
            <a:avLst/>
          </a:prstGeom>
        </p:spPr>
      </p:pic>
      <p:sp>
        <p:nvSpPr>
          <p:cNvPr id="19" name="Text 13"/>
          <p:cNvSpPr txBox="1"/>
          <p:nvPr/>
        </p:nvSpPr>
        <p:spPr>
          <a:xfrm>
            <a:off x="1188720" y="5276088"/>
            <a:ext cx="4754880" cy="292608"/>
          </a:xfrm>
          <a:prstGeom prst="rect">
            <a:avLst/>
          </a:prstGeom>
          <a:noFill/>
          <a:ln/>
        </p:spPr>
        <p:txBody>
          <a:bodyPr wrap="square" lIns="0" tIns="0" rIns="0" bIns="0" rtlCol="0" anchor="t"/>
          <a:lstStyle/>
          <a:p>
            <a:pPr indent="0" marL="0">
              <a:buNone/>
            </a:pPr>
            <a:r>
              <a:rPr lang="en-US" sz="1400" b="1" dirty="0">
                <a:solidFill>
                  <a:schemeClr val="tx1"/>
                </a:solidFill>
              </a:rPr>
              <a:t>When</a:t>
            </a:r>
            <a:endParaRPr lang="en-US" sz="1400" dirty="0"/>
          </a:p>
        </p:txBody>
      </p:sp>
      <p:sp>
        <p:nvSpPr>
          <p:cNvPr id="20" name="Text 14"/>
          <p:cNvSpPr txBox="1"/>
          <p:nvPr/>
        </p:nvSpPr>
        <p:spPr>
          <a:xfrm>
            <a:off x="1188720" y="5568696"/>
            <a:ext cx="4754880" cy="457200"/>
          </a:xfrm>
          <a:prstGeom prst="rect">
            <a:avLst/>
          </a:prstGeom>
          <a:noFill/>
          <a:ln/>
        </p:spPr>
        <p:txBody>
          <a:bodyPr wrap="square" lIns="0" tIns="0" rIns="0" bIns="0" rtlCol="0" anchor="t"/>
          <a:lstStyle/>
          <a:p>
            <a:pPr indent="0" marL="0">
              <a:buNone/>
            </a:pPr>
            <a:r>
              <a:rPr lang="en-US" sz="1300" dirty="0">
                <a:solidFill>
                  <a:schemeClr val="tx1"/>
                </a:solidFill>
              </a:rPr>
              <a:t>The scenarios, e.g., an investigator needs a system only for deposit cases</a:t>
            </a:r>
            <a:endParaRPr lang="en-US" sz="1300" dirty="0"/>
          </a:p>
        </p:txBody>
      </p:sp>
      <p:sp>
        <p:nvSpPr>
          <p:cNvPr id="21" name="Flow step"/>
          <p:cNvSpPr/>
          <p:nvPr/>
        </p:nvSpPr>
        <p:spPr>
          <a:xfrm>
            <a:off x="6400800" y="1645920"/>
            <a:ext cx="5239512" cy="731520"/>
          </a:xfrm>
          <a:prstGeom prst="roundRect">
            <a:avLst>
              <a:gd name="adj" fmla="val 10000"/>
            </a:avLst>
          </a:prstGeom>
          <a:solidFill>
            <a:schemeClr val="accent3">
              <a:alpha val="12000"/>
            </a:schemeClr>
          </a:solidFill>
          <a:ln w="15875">
            <a:solidFill>
              <a:schemeClr val="accent3"/>
            </a:solidFill>
            <a:prstDash val="solid"/>
          </a:ln>
        </p:spPr>
      </p:sp>
      <p:sp>
        <p:nvSpPr>
          <p:cNvPr id="22" name="Text 16"/>
          <p:cNvSpPr txBox="1"/>
          <p:nvPr/>
        </p:nvSpPr>
        <p:spPr>
          <a:xfrm>
            <a:off x="6629400" y="1645920"/>
            <a:ext cx="4782312" cy="731520"/>
          </a:xfrm>
          <a:prstGeom prst="rect">
            <a:avLst/>
          </a:prstGeom>
          <a:noFill/>
          <a:ln/>
        </p:spPr>
        <p:txBody>
          <a:bodyPr wrap="square" lIns="0" tIns="0" rIns="0" bIns="0" rtlCol="0" anchor="ctr"/>
          <a:lstStyle/>
          <a:p>
            <a:pPr indent="0" marL="0">
              <a:buNone/>
            </a:pPr>
            <a:r>
              <a:rPr lang="en-US" sz="1400" b="1" dirty="0">
                <a:solidFill>
                  <a:schemeClr val="tx1"/>
                </a:solidFill>
              </a:rPr>
              <a:t>Business requirements</a:t>
            </a:r>
            <a:pPr indent="0" marL="0">
              <a:buNone/>
            </a:pPr>
            <a:r>
              <a:rPr lang="en-US" sz="1400" dirty="0">
                <a:solidFill>
                  <a:schemeClr val="tx1"/>
                </a:solidFill>
              </a:rPr>
              <a:t> with the why and when</a:t>
            </a:r>
            <a:endParaRPr lang="en-US" sz="1400" dirty="0"/>
          </a:p>
        </p:txBody>
      </p:sp>
      <p:sp>
        <p:nvSpPr>
          <p:cNvPr id="23" name="Shape 17"/>
          <p:cNvSpPr/>
          <p:nvPr/>
        </p:nvSpPr>
        <p:spPr>
          <a:xfrm>
            <a:off x="9020556" y="2395728"/>
            <a:ext cx="0" cy="219456"/>
          </a:xfrm>
          <a:prstGeom prst="line">
            <a:avLst/>
          </a:prstGeom>
          <a:noFill/>
          <a:ln w="19050">
            <a:solidFill>
              <a:schemeClr val="tx1"/>
            </a:solidFill>
            <a:prstDash val="solid"/>
            <a:tailEnd type="triangle"/>
          </a:ln>
        </p:spPr>
      </p:sp>
      <p:sp>
        <p:nvSpPr>
          <p:cNvPr id="24" name="Flow step"/>
          <p:cNvSpPr/>
          <p:nvPr/>
        </p:nvSpPr>
        <p:spPr>
          <a:xfrm>
            <a:off x="6400800" y="2633472"/>
            <a:ext cx="5239512" cy="731520"/>
          </a:xfrm>
          <a:prstGeom prst="roundRect">
            <a:avLst>
              <a:gd name="adj" fmla="val 10000"/>
            </a:avLst>
          </a:prstGeom>
          <a:solidFill>
            <a:schemeClr val="bg2"/>
          </a:solidFill>
          <a:ln w="15875">
            <a:solidFill>
              <a:schemeClr val="tx1"/>
            </a:solidFill>
            <a:prstDash val="solid"/>
          </a:ln>
        </p:spPr>
      </p:sp>
      <p:sp>
        <p:nvSpPr>
          <p:cNvPr id="25" name="Text 19"/>
          <p:cNvSpPr txBox="1"/>
          <p:nvPr/>
        </p:nvSpPr>
        <p:spPr>
          <a:xfrm>
            <a:off x="6629400" y="2633472"/>
            <a:ext cx="4782312" cy="731520"/>
          </a:xfrm>
          <a:prstGeom prst="rect">
            <a:avLst/>
          </a:prstGeom>
          <a:noFill/>
          <a:ln/>
        </p:spPr>
        <p:txBody>
          <a:bodyPr wrap="square" lIns="0" tIns="0" rIns="0" bIns="0" rtlCol="0" anchor="ctr"/>
          <a:lstStyle/>
          <a:p>
            <a:pPr indent="0" marL="0">
              <a:buNone/>
            </a:pPr>
            <a:r>
              <a:rPr lang="en-US" sz="1400" b="1" dirty="0">
                <a:solidFill>
                  <a:schemeClr val="tx1"/>
                </a:solidFill>
              </a:rPr>
              <a:t>Conformance layer or AI prompt</a:t>
            </a:r>
            <a:pPr indent="0" marL="0">
              <a:buNone/>
            </a:pPr>
            <a:r>
              <a:rPr lang="en-US" sz="1400" dirty="0">
                <a:solidFill>
                  <a:schemeClr val="tx1"/>
                </a:solidFill>
              </a:rPr>
              <a:t>: scenario rules built in</a:t>
            </a:r>
            <a:endParaRPr lang="en-US" sz="1400" dirty="0"/>
          </a:p>
        </p:txBody>
      </p:sp>
      <p:sp>
        <p:nvSpPr>
          <p:cNvPr id="26" name="Shape 20"/>
          <p:cNvSpPr/>
          <p:nvPr/>
        </p:nvSpPr>
        <p:spPr>
          <a:xfrm>
            <a:off x="9020556" y="3383280"/>
            <a:ext cx="0" cy="219456"/>
          </a:xfrm>
          <a:prstGeom prst="line">
            <a:avLst/>
          </a:prstGeom>
          <a:noFill/>
          <a:ln w="19050">
            <a:solidFill>
              <a:schemeClr val="tx1"/>
            </a:solidFill>
            <a:prstDash val="solid"/>
            <a:tailEnd type="triangle"/>
          </a:ln>
        </p:spPr>
      </p:sp>
      <p:sp>
        <p:nvSpPr>
          <p:cNvPr id="27" name="Flow step"/>
          <p:cNvSpPr/>
          <p:nvPr/>
        </p:nvSpPr>
        <p:spPr>
          <a:xfrm>
            <a:off x="6400800" y="3621024"/>
            <a:ext cx="5239512" cy="731520"/>
          </a:xfrm>
          <a:prstGeom prst="roundRect">
            <a:avLst>
              <a:gd name="adj" fmla="val 10000"/>
            </a:avLst>
          </a:prstGeom>
          <a:solidFill>
            <a:schemeClr val="accent5">
              <a:alpha val="12000"/>
            </a:schemeClr>
          </a:solidFill>
          <a:ln w="15875">
            <a:solidFill>
              <a:schemeClr val="accent5"/>
            </a:solidFill>
            <a:prstDash val="solid"/>
          </a:ln>
        </p:spPr>
      </p:sp>
      <p:sp>
        <p:nvSpPr>
          <p:cNvPr id="28" name="Text 22"/>
          <p:cNvSpPr txBox="1"/>
          <p:nvPr/>
        </p:nvSpPr>
        <p:spPr>
          <a:xfrm>
            <a:off x="6629400" y="3621024"/>
            <a:ext cx="4782312" cy="731520"/>
          </a:xfrm>
          <a:prstGeom prst="rect">
            <a:avLst/>
          </a:prstGeom>
          <a:noFill/>
          <a:ln/>
        </p:spPr>
        <p:txBody>
          <a:bodyPr wrap="square" lIns="0" tIns="0" rIns="0" bIns="0" rtlCol="0" anchor="ctr"/>
          <a:lstStyle/>
          <a:p>
            <a:pPr indent="0" marL="0">
              <a:buNone/>
            </a:pPr>
            <a:r>
              <a:rPr lang="en-US" sz="1400" b="1" dirty="0">
                <a:solidFill>
                  <a:schemeClr val="tx1"/>
                </a:solidFill>
              </a:rPr>
              <a:t>AI pulls from the conformed zone</a:t>
            </a:r>
            <a:pPr indent="0" marL="0">
              <a:buNone/>
            </a:pPr>
            <a:r>
              <a:rPr lang="en-US" sz="1400" dirty="0">
                <a:solidFill>
                  <a:schemeClr val="tx1"/>
                </a:solidFill>
              </a:rPr>
              <a:t>, not raw, duplicated data</a:t>
            </a:r>
            <a:endParaRPr lang="en-US" sz="1400" dirty="0"/>
          </a:p>
        </p:txBody>
      </p:sp>
      <p:sp>
        <p:nvSpPr>
          <p:cNvPr id="29" name="Payoff panel"/>
          <p:cNvSpPr/>
          <p:nvPr/>
        </p:nvSpPr>
        <p:spPr>
          <a:xfrm>
            <a:off x="6400800" y="4572000"/>
            <a:ext cx="5239512" cy="1527048"/>
          </a:xfrm>
          <a:prstGeom prst="roundRect">
            <a:avLst>
              <a:gd name="adj" fmla="val 4790"/>
            </a:avLst>
          </a:prstGeom>
          <a:solidFill>
            <a:schemeClr val="tx1"/>
          </a:solidFill>
          <a:ln/>
        </p:spPr>
      </p:sp>
      <p:sp>
        <p:nvSpPr>
          <p:cNvPr id="30" name="Text 24"/>
          <p:cNvSpPr txBox="1"/>
          <p:nvPr/>
        </p:nvSpPr>
        <p:spPr>
          <a:xfrm>
            <a:off x="6629400" y="4754880"/>
            <a:ext cx="4782312" cy="228600"/>
          </a:xfrm>
          <a:prstGeom prst="rect">
            <a:avLst/>
          </a:prstGeom>
          <a:noFill/>
          <a:ln/>
        </p:spPr>
        <p:txBody>
          <a:bodyPr wrap="square" lIns="0" tIns="0" rIns="0" bIns="0" rtlCol="0" anchor="t"/>
          <a:lstStyle/>
          <a:p>
            <a:pPr indent="0" marL="0">
              <a:buNone/>
            </a:pPr>
            <a:r>
              <a:rPr lang="en-US" sz="1000" b="1" spc="150" kern="0" dirty="0">
                <a:solidFill>
                  <a:schemeClr val="bg2"/>
                </a:solidFill>
              </a:rPr>
              <a:t>THE PAYOFF</a:t>
            </a:r>
            <a:endParaRPr lang="en-US" sz="1000" dirty="0"/>
          </a:p>
        </p:txBody>
      </p:sp>
      <p:sp>
        <p:nvSpPr>
          <p:cNvPr id="31" name="Text 25"/>
          <p:cNvSpPr txBox="1"/>
          <p:nvPr/>
        </p:nvSpPr>
        <p:spPr>
          <a:xfrm>
            <a:off x="6629400" y="5029200"/>
            <a:ext cx="4782312" cy="960120"/>
          </a:xfrm>
          <a:prstGeom prst="rect">
            <a:avLst/>
          </a:prstGeom>
          <a:noFill/>
          <a:ln/>
        </p:spPr>
        <p:txBody>
          <a:bodyPr wrap="square" lIns="0" tIns="0" rIns="0" bIns="0" rtlCol="0" anchor="t"/>
          <a:lstStyle/>
          <a:p>
            <a:pPr indent="0" marL="0">
              <a:buNone/>
            </a:pPr>
            <a:r>
              <a:rPr lang="en-US" sz="1300" dirty="0">
                <a:solidFill>
                  <a:schemeClr val="bg1"/>
                </a:solidFill>
              </a:rPr>
              <a:t>We know which elements each use case uses and where they're sourced from, so the AI use case is built on its requirements. We also learn why each group needs its data, and can call out asks that don't serve it.</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txBox="1"/>
          <p:nvPr/>
        </p:nvSpPr>
        <p:spPr>
          <a:xfrm>
            <a:off x="548640" y="274320"/>
            <a:ext cx="3136392"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50" kern="0" dirty="0">
                <a:solidFill>
                  <a:schemeClr val="bg1"/>
                </a:solidFill>
              </a:rPr>
              <a:t>PILLAR 3 · DEMAND INTAKE &amp; SOURCING</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Pillar 3 runs a workstream per priority use case</a:t>
            </a:r>
            <a:endParaRPr lang="en-US" sz="2800" dirty="0"/>
          </a:p>
        </p:txBody>
      </p:sp>
      <p:sp>
        <p:nvSpPr>
          <p:cNvPr id="4" name="FCI (GenAI) card"/>
          <p:cNvSpPr/>
          <p:nvPr/>
        </p:nvSpPr>
        <p:spPr>
          <a:xfrm>
            <a:off x="548640" y="1645920"/>
            <a:ext cx="2035454" cy="3429000"/>
          </a:xfrm>
          <a:prstGeom prst="roundRect">
            <a:avLst>
              <a:gd name="adj" fmla="val 3594"/>
            </a:avLst>
          </a:prstGeom>
          <a:solidFill>
            <a:schemeClr val="bg2"/>
          </a:solidFill>
          <a:ln/>
        </p:spPr>
      </p:sp>
      <p:sp>
        <p:nvSpPr>
          <p:cNvPr id="5" name="FCI (GenAI) header"/>
          <p:cNvSpPr/>
          <p:nvPr/>
        </p:nvSpPr>
        <p:spPr>
          <a:xfrm>
            <a:off x="548640" y="1645920"/>
            <a:ext cx="2035454" cy="868680"/>
          </a:xfrm>
          <a:prstGeom prst="roundRect">
            <a:avLst>
              <a:gd name="adj" fmla="val 8421"/>
            </a:avLst>
          </a:prstGeom>
          <a:solidFill>
            <a:schemeClr val="accent3"/>
          </a:solidFill>
          <a:ln/>
        </p:spPr>
      </p:sp>
      <p:sp>
        <p:nvSpPr>
          <p:cNvPr id="6" name="Text 4"/>
          <p:cNvSpPr txBox="1"/>
          <p:nvPr/>
        </p:nvSpPr>
        <p:spPr>
          <a:xfrm>
            <a:off x="713232" y="1645920"/>
            <a:ext cx="1761134" cy="868680"/>
          </a:xfrm>
          <a:prstGeom prst="rect">
            <a:avLst/>
          </a:prstGeom>
          <a:noFill/>
          <a:ln/>
        </p:spPr>
        <p:txBody>
          <a:bodyPr wrap="square" lIns="0" tIns="0" rIns="0" bIns="0" rtlCol="0" anchor="ctr"/>
          <a:lstStyle/>
          <a:p>
            <a:pPr indent="0" marL="0">
              <a:buNone/>
            </a:pPr>
            <a:r>
              <a:rPr lang="en-US" sz="900" b="1" spc="120" kern="0" dirty="0">
                <a:solidFill>
                  <a:schemeClr val="bg2"/>
                </a:solidFill>
              </a:rPr>
              <a:t>IN FLIGHT</a:t>
            </a:r>
            <a:endParaRPr lang="en-US" sz="1300" dirty="0"/>
          </a:p>
          <a:p>
            <a:pPr indent="0" marL="0">
              <a:buNone/>
            </a:pPr>
            <a:r>
              <a:rPr lang="en-US" sz="1700" b="1" dirty="0">
                <a:solidFill>
                  <a:schemeClr val="bg1"/>
                </a:solidFill>
              </a:rPr>
              <a:t>FCI (GenAI)</a:t>
            </a:r>
            <a:endParaRPr lang="en-US" sz="1300" dirty="0"/>
          </a:p>
        </p:txBody>
      </p:sp>
      <p:sp>
        <p:nvSpPr>
          <p:cNvPr id="7" name="Text 5"/>
          <p:cNvSpPr txBox="1"/>
          <p:nvPr/>
        </p:nvSpPr>
        <p:spPr>
          <a:xfrm>
            <a:off x="713232" y="2697480"/>
            <a:ext cx="1706270" cy="224028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Mostly justified tactical sourcing, with some strategic and some escalated.</a:t>
            </a:r>
            <a:endParaRPr lang="en-US" sz="1300" dirty="0"/>
          </a:p>
          <a:p>
            <a:pPr indent="0" marL="0">
              <a:spcAft>
                <a:spcPts val="1000"/>
              </a:spcAft>
              <a:buNone/>
            </a:pPr>
            <a:r>
              <a:rPr lang="en-US" sz="1300" dirty="0">
                <a:solidFill>
                  <a:schemeClr val="tx1"/>
                </a:solidFill>
              </a:rPr>
              <a:t>Prioritize FCI's use cases rather than wait for FCTDS to be ready for everything.</a:t>
            </a:r>
            <a:endParaRPr lang="en-US" sz="1300" dirty="0"/>
          </a:p>
        </p:txBody>
      </p:sp>
      <p:sp>
        <p:nvSpPr>
          <p:cNvPr id="8" name="Sentinel card"/>
          <p:cNvSpPr/>
          <p:nvPr/>
        </p:nvSpPr>
        <p:spPr>
          <a:xfrm>
            <a:off x="2812694" y="1645920"/>
            <a:ext cx="2035454" cy="3429000"/>
          </a:xfrm>
          <a:prstGeom prst="roundRect">
            <a:avLst>
              <a:gd name="adj" fmla="val 3594"/>
            </a:avLst>
          </a:prstGeom>
          <a:solidFill>
            <a:schemeClr val="bg2"/>
          </a:solidFill>
          <a:ln/>
        </p:spPr>
      </p:sp>
      <p:sp>
        <p:nvSpPr>
          <p:cNvPr id="9" name="Sentinel header"/>
          <p:cNvSpPr/>
          <p:nvPr/>
        </p:nvSpPr>
        <p:spPr>
          <a:xfrm>
            <a:off x="2812694" y="1645920"/>
            <a:ext cx="2035454" cy="868680"/>
          </a:xfrm>
          <a:prstGeom prst="roundRect">
            <a:avLst>
              <a:gd name="adj" fmla="val 8421"/>
            </a:avLst>
          </a:prstGeom>
          <a:solidFill>
            <a:schemeClr val="accent3"/>
          </a:solidFill>
          <a:ln/>
        </p:spPr>
      </p:sp>
      <p:sp>
        <p:nvSpPr>
          <p:cNvPr id="10" name="Text 8"/>
          <p:cNvSpPr txBox="1"/>
          <p:nvPr/>
        </p:nvSpPr>
        <p:spPr>
          <a:xfrm>
            <a:off x="2977286" y="1645920"/>
            <a:ext cx="1761134" cy="868680"/>
          </a:xfrm>
          <a:prstGeom prst="rect">
            <a:avLst/>
          </a:prstGeom>
          <a:noFill/>
          <a:ln/>
        </p:spPr>
        <p:txBody>
          <a:bodyPr wrap="square" lIns="0" tIns="0" rIns="0" bIns="0" rtlCol="0" anchor="ctr"/>
          <a:lstStyle/>
          <a:p>
            <a:pPr indent="0" marL="0">
              <a:buNone/>
            </a:pPr>
            <a:r>
              <a:rPr lang="en-US" sz="900" b="1" spc="120" kern="0" dirty="0">
                <a:solidFill>
                  <a:schemeClr val="bg2"/>
                </a:solidFill>
              </a:rPr>
              <a:t>IN FLIGHT</a:t>
            </a:r>
            <a:endParaRPr lang="en-US" sz="1300" dirty="0"/>
          </a:p>
          <a:p>
            <a:pPr indent="0" marL="0">
              <a:buNone/>
            </a:pPr>
            <a:r>
              <a:rPr lang="en-US" sz="1700" b="1" dirty="0">
                <a:solidFill>
                  <a:schemeClr val="bg1"/>
                </a:solidFill>
              </a:rPr>
              <a:t>Sentinel</a:t>
            </a:r>
            <a:endParaRPr lang="en-US" sz="1300" dirty="0"/>
          </a:p>
        </p:txBody>
      </p:sp>
      <p:sp>
        <p:nvSpPr>
          <p:cNvPr id="11" name="Text 9"/>
          <p:cNvSpPr txBox="1"/>
          <p:nvPr/>
        </p:nvSpPr>
        <p:spPr>
          <a:xfrm>
            <a:off x="2977286" y="2697480"/>
            <a:ext cx="1706270" cy="224028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Reuses existing sourcing where it exists: most of it (roughly 75%, to confirm) is moving from FCDS into FCTDS, ready for DPC.</a:t>
            </a:r>
            <a:endParaRPr lang="en-US" sz="1300" dirty="0"/>
          </a:p>
          <a:p>
            <a:pPr indent="0" marL="0">
              <a:spcAft>
                <a:spcPts val="1000"/>
              </a:spcAft>
              <a:buNone/>
            </a:pPr>
            <a:r>
              <a:rPr lang="en-US" sz="1300" dirty="0">
                <a:solidFill>
                  <a:schemeClr val="tx1"/>
                </a:solidFill>
              </a:rPr>
              <a:t>The rest is new to FCRM. The legacy part also touches Pillar 2.</a:t>
            </a:r>
            <a:endParaRPr lang="en-US" sz="1300" dirty="0"/>
          </a:p>
        </p:txBody>
      </p:sp>
      <p:sp>
        <p:nvSpPr>
          <p:cNvPr id="12" name="ORM AI card"/>
          <p:cNvSpPr/>
          <p:nvPr/>
        </p:nvSpPr>
        <p:spPr>
          <a:xfrm>
            <a:off x="5076749" y="1645920"/>
            <a:ext cx="2035454" cy="3429000"/>
          </a:xfrm>
          <a:prstGeom prst="roundRect">
            <a:avLst>
              <a:gd name="adj" fmla="val 3594"/>
            </a:avLst>
          </a:prstGeom>
          <a:solidFill>
            <a:schemeClr val="bg2"/>
          </a:solidFill>
          <a:ln/>
        </p:spPr>
      </p:sp>
      <p:sp>
        <p:nvSpPr>
          <p:cNvPr id="13" name="ORM AI header"/>
          <p:cNvSpPr/>
          <p:nvPr/>
        </p:nvSpPr>
        <p:spPr>
          <a:xfrm>
            <a:off x="5076749" y="1645920"/>
            <a:ext cx="2035454" cy="868680"/>
          </a:xfrm>
          <a:prstGeom prst="roundRect">
            <a:avLst>
              <a:gd name="adj" fmla="val 8421"/>
            </a:avLst>
          </a:prstGeom>
          <a:solidFill>
            <a:schemeClr val="accent3"/>
          </a:solidFill>
          <a:ln/>
        </p:spPr>
      </p:sp>
      <p:sp>
        <p:nvSpPr>
          <p:cNvPr id="14" name="Text 12"/>
          <p:cNvSpPr txBox="1"/>
          <p:nvPr/>
        </p:nvSpPr>
        <p:spPr>
          <a:xfrm>
            <a:off x="5241341" y="1645920"/>
            <a:ext cx="1761134" cy="868680"/>
          </a:xfrm>
          <a:prstGeom prst="rect">
            <a:avLst/>
          </a:prstGeom>
          <a:noFill/>
          <a:ln/>
        </p:spPr>
        <p:txBody>
          <a:bodyPr wrap="square" lIns="0" tIns="0" rIns="0" bIns="0" rtlCol="0" anchor="ctr"/>
          <a:lstStyle/>
          <a:p>
            <a:pPr indent="0" marL="0">
              <a:buNone/>
            </a:pPr>
            <a:r>
              <a:rPr lang="en-US" sz="900" b="1" spc="120" kern="0" dirty="0">
                <a:solidFill>
                  <a:schemeClr val="bg2"/>
                </a:solidFill>
              </a:rPr>
              <a:t>TEST CASE</a:t>
            </a:r>
            <a:endParaRPr lang="en-US" sz="1300" dirty="0"/>
          </a:p>
          <a:p>
            <a:pPr indent="0" marL="0">
              <a:buNone/>
            </a:pPr>
            <a:r>
              <a:rPr lang="en-US" sz="1700" b="1" dirty="0">
                <a:solidFill>
                  <a:schemeClr val="bg1"/>
                </a:solidFill>
              </a:rPr>
              <a:t>ORM AI</a:t>
            </a:r>
            <a:endParaRPr lang="en-US" sz="1300" dirty="0"/>
          </a:p>
        </p:txBody>
      </p:sp>
      <p:sp>
        <p:nvSpPr>
          <p:cNvPr id="15" name="Text 13"/>
          <p:cNvSpPr txBox="1"/>
          <p:nvPr/>
        </p:nvSpPr>
        <p:spPr>
          <a:xfrm>
            <a:off x="5241341" y="2697480"/>
            <a:ext cx="1706270" cy="224028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A lower-priority test case for the template and decision path.</a:t>
            </a:r>
            <a:endParaRPr lang="en-US" sz="1300" dirty="0"/>
          </a:p>
          <a:p>
            <a:pPr indent="0" marL="0">
              <a:spcAft>
                <a:spcPts val="1000"/>
              </a:spcAft>
              <a:buNone/>
            </a:pPr>
            <a:r>
              <a:rPr lang="en-US" sz="1300" dirty="0">
                <a:solidFill>
                  <a:schemeClr val="tx1"/>
                </a:solidFill>
              </a:rPr>
              <a:t>Overlap analysis under way with Jennifer: 54 requested sources, 6 high priority.</a:t>
            </a:r>
            <a:endParaRPr lang="en-US" sz="1300" dirty="0"/>
          </a:p>
        </p:txBody>
      </p:sp>
      <p:sp>
        <p:nvSpPr>
          <p:cNvPr id="16" name="eGRC card"/>
          <p:cNvSpPr/>
          <p:nvPr/>
        </p:nvSpPr>
        <p:spPr>
          <a:xfrm>
            <a:off x="7340803" y="1645920"/>
            <a:ext cx="2035454" cy="3429000"/>
          </a:xfrm>
          <a:prstGeom prst="roundRect">
            <a:avLst>
              <a:gd name="adj" fmla="val 3594"/>
            </a:avLst>
          </a:prstGeom>
          <a:solidFill>
            <a:schemeClr val="bg2"/>
          </a:solidFill>
          <a:ln/>
        </p:spPr>
      </p:sp>
      <p:sp>
        <p:nvSpPr>
          <p:cNvPr id="17" name="eGRC header"/>
          <p:cNvSpPr/>
          <p:nvPr/>
        </p:nvSpPr>
        <p:spPr>
          <a:xfrm>
            <a:off x="7340803" y="1645920"/>
            <a:ext cx="2035454" cy="868680"/>
          </a:xfrm>
          <a:prstGeom prst="roundRect">
            <a:avLst>
              <a:gd name="adj" fmla="val 8421"/>
            </a:avLst>
          </a:prstGeom>
          <a:solidFill>
            <a:schemeClr val="accent6"/>
          </a:solidFill>
          <a:ln/>
        </p:spPr>
      </p:sp>
      <p:sp>
        <p:nvSpPr>
          <p:cNvPr id="18" name="Text 16"/>
          <p:cNvSpPr txBox="1"/>
          <p:nvPr/>
        </p:nvSpPr>
        <p:spPr>
          <a:xfrm>
            <a:off x="7505395" y="1645920"/>
            <a:ext cx="1761134" cy="868680"/>
          </a:xfrm>
          <a:prstGeom prst="rect">
            <a:avLst/>
          </a:prstGeom>
          <a:noFill/>
          <a:ln/>
        </p:spPr>
        <p:txBody>
          <a:bodyPr wrap="square" lIns="0" tIns="0" rIns="0" bIns="0" rtlCol="0" anchor="ctr"/>
          <a:lstStyle/>
          <a:p>
            <a:pPr indent="0" marL="0">
              <a:buNone/>
            </a:pPr>
            <a:r>
              <a:rPr lang="en-US" sz="900" b="1" spc="120" kern="0" dirty="0">
                <a:solidFill>
                  <a:schemeClr val="bg2"/>
                </a:solidFill>
              </a:rPr>
              <a:t>LATER</a:t>
            </a:r>
            <a:endParaRPr lang="en-US" sz="1300" dirty="0"/>
          </a:p>
          <a:p>
            <a:pPr indent="0" marL="0">
              <a:buNone/>
            </a:pPr>
            <a:r>
              <a:rPr lang="en-US" sz="1700" b="1" dirty="0">
                <a:solidFill>
                  <a:schemeClr val="bg1"/>
                </a:solidFill>
              </a:rPr>
              <a:t>eGRC</a:t>
            </a:r>
            <a:endParaRPr lang="en-US" sz="1300" dirty="0"/>
          </a:p>
        </p:txBody>
      </p:sp>
      <p:sp>
        <p:nvSpPr>
          <p:cNvPr id="19" name="Text 17"/>
          <p:cNvSpPr txBox="1"/>
          <p:nvPr/>
        </p:nvSpPr>
        <p:spPr>
          <a:xfrm>
            <a:off x="7505395" y="2697480"/>
            <a:ext cx="1706270" cy="224028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Jordan, the owner, has said the data comes to Jacqueline, so it isn't a friction point.</a:t>
            </a:r>
            <a:endParaRPr lang="en-US" sz="1300" dirty="0"/>
          </a:p>
          <a:p>
            <a:pPr indent="0" marL="0">
              <a:spcAft>
                <a:spcPts val="1000"/>
              </a:spcAft>
              <a:buNone/>
            </a:pPr>
            <a:r>
              <a:rPr lang="en-US" sz="1300" dirty="0">
                <a:solidFill>
                  <a:schemeClr val="tx1"/>
                </a:solidFill>
              </a:rPr>
              <a:t>Needs are unknown for IRP, PMT, and SNAP; Tandems is partly known.</a:t>
            </a:r>
            <a:endParaRPr lang="en-US" sz="1300" dirty="0"/>
          </a:p>
        </p:txBody>
      </p:sp>
      <p:sp>
        <p:nvSpPr>
          <p:cNvPr id="20" name="Next priority card"/>
          <p:cNvSpPr/>
          <p:nvPr/>
        </p:nvSpPr>
        <p:spPr>
          <a:xfrm>
            <a:off x="9604858" y="1645920"/>
            <a:ext cx="2035454" cy="3429000"/>
          </a:xfrm>
          <a:prstGeom prst="roundRect">
            <a:avLst>
              <a:gd name="adj" fmla="val 3594"/>
            </a:avLst>
          </a:prstGeom>
          <a:solidFill>
            <a:schemeClr val="bg1"/>
          </a:solidFill>
          <a:ln w="12700">
            <a:solidFill>
              <a:schemeClr val="tx2"/>
            </a:solidFill>
            <a:prstDash val="dash"/>
          </a:ln>
        </p:spPr>
      </p:sp>
      <p:sp>
        <p:nvSpPr>
          <p:cNvPr id="21" name="Text 19"/>
          <p:cNvSpPr txBox="1"/>
          <p:nvPr/>
        </p:nvSpPr>
        <p:spPr>
          <a:xfrm>
            <a:off x="9769450" y="1645920"/>
            <a:ext cx="1761134" cy="868680"/>
          </a:xfrm>
          <a:prstGeom prst="rect">
            <a:avLst/>
          </a:prstGeom>
          <a:noFill/>
          <a:ln/>
        </p:spPr>
        <p:txBody>
          <a:bodyPr wrap="square" lIns="0" tIns="0" rIns="0" bIns="0" rtlCol="0" anchor="ctr"/>
          <a:lstStyle/>
          <a:p>
            <a:pPr indent="0" marL="0">
              <a:buNone/>
            </a:pPr>
            <a:r>
              <a:rPr lang="en-US" sz="900" b="1" spc="120" kern="0" dirty="0">
                <a:solidFill>
                  <a:schemeClr val="tx2"/>
                </a:solidFill>
              </a:rPr>
              <a:t>TO BE SET</a:t>
            </a:r>
            <a:endParaRPr lang="en-US" sz="1300" dirty="0"/>
          </a:p>
          <a:p>
            <a:pPr indent="0" marL="0">
              <a:buNone/>
            </a:pPr>
            <a:r>
              <a:rPr lang="en-US" sz="1700" b="1" dirty="0">
                <a:solidFill>
                  <a:schemeClr val="tx1"/>
                </a:solidFill>
              </a:rPr>
              <a:t>Next priority</a:t>
            </a:r>
            <a:endParaRPr lang="en-US" sz="1300" dirty="0"/>
          </a:p>
        </p:txBody>
      </p:sp>
      <p:sp>
        <p:nvSpPr>
          <p:cNvPr id="22" name="Text 20"/>
          <p:cNvSpPr txBox="1"/>
          <p:nvPr/>
        </p:nvSpPr>
        <p:spPr>
          <a:xfrm>
            <a:off x="9769450" y="2697480"/>
            <a:ext cx="1706270" cy="224028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What comes after FCI, Sentinel, and ORM AI?</a:t>
            </a:r>
            <a:endParaRPr lang="en-US" sz="1300" dirty="0"/>
          </a:p>
          <a:p>
            <a:pPr indent="0" marL="0">
              <a:spcAft>
                <a:spcPts val="1000"/>
              </a:spcAft>
              <a:buNone/>
            </a:pPr>
            <a:r>
              <a:rPr lang="en-US" sz="1300" dirty="0">
                <a:solidFill>
                  <a:schemeClr val="tx1"/>
                </a:solidFill>
              </a:rPr>
              <a:t>Including what we take on for credit risk. Jacqueline sets the order.</a:t>
            </a:r>
            <a:endParaRPr lang="en-US" sz="1300" dirty="0"/>
          </a:p>
        </p:txBody>
      </p:sp>
      <p:sp>
        <p:nvSpPr>
          <p:cNvPr id="23" name="How it works band"/>
          <p:cNvSpPr/>
          <p:nvPr/>
        </p:nvSpPr>
        <p:spPr>
          <a:xfrm>
            <a:off x="548640" y="5303520"/>
            <a:ext cx="11091672" cy="749808"/>
          </a:xfrm>
          <a:prstGeom prst="roundRect">
            <a:avLst>
              <a:gd name="adj" fmla="val 9756"/>
            </a:avLst>
          </a:prstGeom>
          <a:solidFill>
            <a:schemeClr val="bg2"/>
          </a:solidFill>
          <a:ln/>
        </p:spPr>
      </p:sp>
      <p:sp>
        <p:nvSpPr>
          <p:cNvPr id="24" name="Text 22"/>
          <p:cNvSpPr txBox="1"/>
          <p:nvPr/>
        </p:nvSpPr>
        <p:spPr>
          <a:xfrm>
            <a:off x="777240" y="5303520"/>
            <a:ext cx="10698480" cy="749808"/>
          </a:xfrm>
          <a:prstGeom prst="rect">
            <a:avLst/>
          </a:prstGeom>
          <a:noFill/>
          <a:ln/>
        </p:spPr>
        <p:txBody>
          <a:bodyPr wrap="square" lIns="0" tIns="0" rIns="0" bIns="0" rtlCol="0" anchor="ctr"/>
          <a:lstStyle/>
          <a:p>
            <a:pPr indent="0" marL="0">
              <a:buNone/>
            </a:pPr>
            <a:r>
              <a:rPr lang="en-US" sz="1400" b="1" dirty="0">
                <a:solidFill>
                  <a:schemeClr val="tx1"/>
                </a:solidFill>
              </a:rPr>
              <a:t>How it works: </a:t>
            </a:r>
            <a:pPr indent="0" marL="0">
              <a:buNone/>
            </a:pPr>
            <a:r>
              <a:rPr lang="en-US" sz="1400" dirty="0">
                <a:solidFill>
                  <a:schemeClr val="tx1"/>
                </a:solidFill>
              </a:rPr>
              <a:t>each workstream runs the five phases with its own tracker and a named lead. Steps can differ: FCI's detailed work won't match ORM AI's step for step.</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txBox="1"/>
          <p:nvPr/>
        </p:nvSpPr>
        <p:spPr>
          <a:xfrm>
            <a:off x="548640" y="274320"/>
            <a:ext cx="2090318"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50" kern="0" dirty="0">
                <a:solidFill>
                  <a:schemeClr val="bg1"/>
                </a:solidFill>
              </a:rPr>
              <a:t>PILLAR 3 · ORM ROADMAP</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ORM roadmap: baseline now, prioritized delivery in 2027</a:t>
            </a:r>
            <a:endParaRPr lang="en-US" sz="2800" dirty="0"/>
          </a:p>
        </p:txBody>
      </p:sp>
      <p:sp>
        <p:nvSpPr>
          <p:cNvPr id="4" name="Shape 2"/>
          <p:cNvSpPr/>
          <p:nvPr/>
        </p:nvSpPr>
        <p:spPr>
          <a:xfrm>
            <a:off x="548640" y="1865376"/>
            <a:ext cx="11091672" cy="0"/>
          </a:xfrm>
          <a:prstGeom prst="line">
            <a:avLst/>
          </a:prstGeom>
          <a:noFill/>
          <a:ln w="19050">
            <a:solidFill>
              <a:schemeClr val="tx2">
                <a:alpha val="35000"/>
              </a:schemeClr>
            </a:solidFill>
            <a:prstDash val="solid"/>
          </a:ln>
        </p:spPr>
      </p:sp>
      <p:sp>
        <p:nvSpPr>
          <p:cNvPr id="5" name="Shape 3"/>
          <p:cNvSpPr/>
          <p:nvPr/>
        </p:nvSpPr>
        <p:spPr>
          <a:xfrm>
            <a:off x="548640" y="1773936"/>
            <a:ext cx="182880" cy="182880"/>
          </a:xfrm>
          <a:prstGeom prst="ellipse">
            <a:avLst/>
          </a:prstGeom>
          <a:solidFill>
            <a:schemeClr val="tx1"/>
          </a:solidFill>
          <a:ln/>
        </p:spPr>
      </p:sp>
      <p:sp>
        <p:nvSpPr>
          <p:cNvPr id="6" name="Text 4"/>
          <p:cNvSpPr txBox="1"/>
          <p:nvPr/>
        </p:nvSpPr>
        <p:spPr>
          <a:xfrm>
            <a:off x="768096" y="1746504"/>
            <a:ext cx="1325880" cy="237744"/>
          </a:xfrm>
          <a:prstGeom prst="rect">
            <a:avLst/>
          </a:prstGeom>
          <a:solidFill>
            <a:schemeClr val="bg1"/>
          </a:solidFill>
          <a:ln/>
        </p:spPr>
        <p:txBody>
          <a:bodyPr wrap="square" lIns="0" tIns="50800" rIns="25400" bIns="0" rtlCol="0" anchor="ctr"/>
          <a:lstStyle/>
          <a:p>
            <a:pPr indent="0" marL="0">
              <a:buNone/>
            </a:pPr>
            <a:r>
              <a:rPr lang="en-US" sz="1000" b="1" spc="150" kern="0" dirty="0">
                <a:solidFill>
                  <a:schemeClr val="tx1"/>
                </a:solidFill>
              </a:rPr>
              <a:t>OCT–NOV 2026</a:t>
            </a:r>
            <a:endParaRPr lang="en-US" sz="1000" dirty="0"/>
          </a:p>
        </p:txBody>
      </p:sp>
      <p:sp>
        <p:nvSpPr>
          <p:cNvPr id="7" name="Shape 5"/>
          <p:cNvSpPr/>
          <p:nvPr/>
        </p:nvSpPr>
        <p:spPr>
          <a:xfrm>
            <a:off x="3063240" y="1773936"/>
            <a:ext cx="182880" cy="182880"/>
          </a:xfrm>
          <a:prstGeom prst="ellipse">
            <a:avLst/>
          </a:prstGeom>
          <a:solidFill>
            <a:schemeClr val="tx1"/>
          </a:solidFill>
          <a:ln/>
        </p:spPr>
      </p:sp>
      <p:sp>
        <p:nvSpPr>
          <p:cNvPr id="8" name="Text 6"/>
          <p:cNvSpPr txBox="1"/>
          <p:nvPr/>
        </p:nvSpPr>
        <p:spPr>
          <a:xfrm>
            <a:off x="3282696" y="1746504"/>
            <a:ext cx="594360" cy="237744"/>
          </a:xfrm>
          <a:prstGeom prst="rect">
            <a:avLst/>
          </a:prstGeom>
          <a:solidFill>
            <a:schemeClr val="bg1"/>
          </a:solidFill>
          <a:ln/>
        </p:spPr>
        <p:txBody>
          <a:bodyPr wrap="square" lIns="0" tIns="50800" rIns="25400" bIns="0" rtlCol="0" anchor="ctr"/>
          <a:lstStyle/>
          <a:p>
            <a:pPr indent="0" marL="0">
              <a:buNone/>
            </a:pPr>
            <a:r>
              <a:rPr lang="en-US" sz="1000" b="1" spc="150" kern="0" dirty="0">
                <a:solidFill>
                  <a:schemeClr val="tx1"/>
                </a:solidFill>
              </a:rPr>
              <a:t>NEXT</a:t>
            </a:r>
            <a:endParaRPr lang="en-US" sz="1000" dirty="0"/>
          </a:p>
        </p:txBody>
      </p:sp>
      <p:sp>
        <p:nvSpPr>
          <p:cNvPr id="9" name="Shape 7"/>
          <p:cNvSpPr/>
          <p:nvPr/>
        </p:nvSpPr>
        <p:spPr>
          <a:xfrm>
            <a:off x="5577840" y="1773936"/>
            <a:ext cx="182880" cy="182880"/>
          </a:xfrm>
          <a:prstGeom prst="ellipse">
            <a:avLst/>
          </a:prstGeom>
          <a:solidFill>
            <a:schemeClr val="tx1"/>
          </a:solidFill>
          <a:ln/>
        </p:spPr>
      </p:sp>
      <p:sp>
        <p:nvSpPr>
          <p:cNvPr id="10" name="Text 8"/>
          <p:cNvSpPr txBox="1"/>
          <p:nvPr/>
        </p:nvSpPr>
        <p:spPr>
          <a:xfrm>
            <a:off x="5797296" y="1746504"/>
            <a:ext cx="960120" cy="237744"/>
          </a:xfrm>
          <a:prstGeom prst="rect">
            <a:avLst/>
          </a:prstGeom>
          <a:solidFill>
            <a:schemeClr val="bg1"/>
          </a:solidFill>
          <a:ln/>
        </p:spPr>
        <p:txBody>
          <a:bodyPr wrap="square" lIns="0" tIns="50800" rIns="25400" bIns="0" rtlCol="0" anchor="ctr"/>
          <a:lstStyle/>
          <a:p>
            <a:pPr indent="0" marL="0">
              <a:buNone/>
            </a:pPr>
            <a:r>
              <a:rPr lang="en-US" sz="1000" b="1" spc="150" kern="0" dirty="0">
                <a:solidFill>
                  <a:schemeClr val="tx1"/>
                </a:solidFill>
              </a:rPr>
              <a:t>YEAR END</a:t>
            </a:r>
            <a:endParaRPr lang="en-US" sz="1000" dirty="0"/>
          </a:p>
        </p:txBody>
      </p:sp>
      <p:sp>
        <p:nvSpPr>
          <p:cNvPr id="11" name="Shape 9"/>
          <p:cNvSpPr/>
          <p:nvPr/>
        </p:nvSpPr>
        <p:spPr>
          <a:xfrm>
            <a:off x="8092440" y="1773936"/>
            <a:ext cx="182880" cy="182880"/>
          </a:xfrm>
          <a:prstGeom prst="ellipse">
            <a:avLst/>
          </a:prstGeom>
          <a:solidFill>
            <a:schemeClr val="accent5"/>
          </a:solidFill>
          <a:ln/>
        </p:spPr>
      </p:sp>
      <p:sp>
        <p:nvSpPr>
          <p:cNvPr id="12" name="Text 10"/>
          <p:cNvSpPr txBox="1"/>
          <p:nvPr/>
        </p:nvSpPr>
        <p:spPr>
          <a:xfrm>
            <a:off x="8311896" y="1746504"/>
            <a:ext cx="594360" cy="237744"/>
          </a:xfrm>
          <a:prstGeom prst="rect">
            <a:avLst/>
          </a:prstGeom>
          <a:solidFill>
            <a:schemeClr val="bg1"/>
          </a:solidFill>
          <a:ln/>
        </p:spPr>
        <p:txBody>
          <a:bodyPr wrap="square" lIns="0" tIns="50800" rIns="25400" bIns="0" rtlCol="0" anchor="ctr"/>
          <a:lstStyle/>
          <a:p>
            <a:pPr indent="0" marL="0">
              <a:buNone/>
            </a:pPr>
            <a:r>
              <a:rPr lang="en-US" sz="1000" b="1" spc="150" kern="0" dirty="0">
                <a:solidFill>
                  <a:schemeClr val="accent5"/>
                </a:solidFill>
              </a:rPr>
              <a:t>2027</a:t>
            </a:r>
            <a:endParaRPr lang="en-US" sz="1000" dirty="0"/>
          </a:p>
        </p:txBody>
      </p:sp>
      <p:sp>
        <p:nvSpPr>
          <p:cNvPr id="13" name="ORM baseline"/>
          <p:cNvSpPr/>
          <p:nvPr/>
        </p:nvSpPr>
        <p:spPr>
          <a:xfrm>
            <a:off x="548640" y="2194560"/>
            <a:ext cx="2240280" cy="2514600"/>
          </a:xfrm>
          <a:prstGeom prst="roundRect">
            <a:avLst>
              <a:gd name="adj" fmla="val 3265"/>
            </a:avLst>
          </a:prstGeom>
          <a:solidFill>
            <a:schemeClr val="bg2"/>
          </a:solidFill>
          <a:ln/>
        </p:spPr>
      </p:sp>
      <p:sp>
        <p:nvSpPr>
          <p:cNvPr id="14" name="Text 12"/>
          <p:cNvSpPr txBox="1"/>
          <p:nvPr/>
        </p:nvSpPr>
        <p:spPr>
          <a:xfrm>
            <a:off x="731520" y="2359152"/>
            <a:ext cx="1874520" cy="566928"/>
          </a:xfrm>
          <a:prstGeom prst="rect">
            <a:avLst/>
          </a:prstGeom>
          <a:noFill/>
          <a:ln/>
        </p:spPr>
        <p:txBody>
          <a:bodyPr wrap="square" lIns="0" tIns="0" rIns="0" bIns="0" rtlCol="0" anchor="t"/>
          <a:lstStyle/>
          <a:p>
            <a:pPr indent="0" marL="0">
              <a:buNone/>
            </a:pPr>
            <a:r>
              <a:rPr lang="en-US" sz="1700" b="1" dirty="0">
                <a:solidFill>
                  <a:schemeClr val="tx1"/>
                </a:solidFill>
              </a:rPr>
              <a:t>ORM baseline</a:t>
            </a:r>
            <a:endParaRPr lang="en-US" sz="1700" dirty="0"/>
          </a:p>
        </p:txBody>
      </p:sp>
      <p:sp>
        <p:nvSpPr>
          <p:cNvPr id="15" name="Text 13"/>
          <p:cNvSpPr txBox="1"/>
          <p:nvPr/>
        </p:nvSpPr>
        <p:spPr>
          <a:xfrm>
            <a:off x="731520" y="2880360"/>
            <a:ext cx="1874520" cy="1371600"/>
          </a:xfrm>
          <a:prstGeom prst="rect">
            <a:avLst/>
          </a:prstGeom>
          <a:noFill/>
          <a:ln/>
        </p:spPr>
        <p:txBody>
          <a:bodyPr wrap="square" lIns="0" tIns="0" rIns="0" bIns="0" rtlCol="0" anchor="t"/>
          <a:lstStyle/>
          <a:p>
            <a:pPr indent="0" marL="0">
              <a:buNone/>
            </a:pPr>
            <a:r>
              <a:rPr lang="en-US" sz="1300" dirty="0">
                <a:solidFill>
                  <a:schemeClr val="tx1"/>
                </a:solidFill>
              </a:rPr>
              <a:t>Current work with Jennifer: use cases, requirements, and overlap analysis of the 54 requested sources</a:t>
            </a:r>
            <a:endParaRPr lang="en-US" sz="1300" dirty="0"/>
          </a:p>
        </p:txBody>
      </p:sp>
      <p:sp>
        <p:nvSpPr>
          <p:cNvPr id="16" name="Text 14"/>
          <p:cNvSpPr txBox="1"/>
          <p:nvPr/>
        </p:nvSpPr>
        <p:spPr>
          <a:xfrm>
            <a:off x="731520" y="4343400"/>
            <a:ext cx="1874520" cy="256032"/>
          </a:xfrm>
          <a:prstGeom prst="rect">
            <a:avLst/>
          </a:prstGeom>
          <a:noFill/>
          <a:ln/>
        </p:spPr>
        <p:txBody>
          <a:bodyPr wrap="square" lIns="0" tIns="0" rIns="0" bIns="0" rtlCol="0" anchor="t"/>
          <a:lstStyle/>
          <a:p>
            <a:pPr indent="0" marL="0">
              <a:buNone/>
            </a:pPr>
            <a:r>
              <a:rPr lang="en-US" sz="1200" dirty="0">
                <a:solidFill>
                  <a:schemeClr val="tx2"/>
                </a:solidFill>
              </a:rPr>
              <a:t>Phase 1</a:t>
            </a:r>
            <a:endParaRPr lang="en-US" sz="1200" dirty="0"/>
          </a:p>
        </p:txBody>
      </p:sp>
      <p:sp>
        <p:nvSpPr>
          <p:cNvPr id="17" name="Assess and sequence"/>
          <p:cNvSpPr/>
          <p:nvPr/>
        </p:nvSpPr>
        <p:spPr>
          <a:xfrm>
            <a:off x="3063240" y="2194560"/>
            <a:ext cx="2240280" cy="2514600"/>
          </a:xfrm>
          <a:prstGeom prst="roundRect">
            <a:avLst>
              <a:gd name="adj" fmla="val 3265"/>
            </a:avLst>
          </a:prstGeom>
          <a:solidFill>
            <a:schemeClr val="bg2"/>
          </a:solidFill>
          <a:ln/>
        </p:spPr>
      </p:sp>
      <p:sp>
        <p:nvSpPr>
          <p:cNvPr id="18" name="Text 16"/>
          <p:cNvSpPr txBox="1"/>
          <p:nvPr/>
        </p:nvSpPr>
        <p:spPr>
          <a:xfrm>
            <a:off x="3246120" y="2359152"/>
            <a:ext cx="1874520" cy="566928"/>
          </a:xfrm>
          <a:prstGeom prst="rect">
            <a:avLst/>
          </a:prstGeom>
          <a:noFill/>
          <a:ln/>
        </p:spPr>
        <p:txBody>
          <a:bodyPr wrap="square" lIns="0" tIns="0" rIns="0" bIns="0" rtlCol="0" anchor="t"/>
          <a:lstStyle/>
          <a:p>
            <a:pPr indent="0" marL="0">
              <a:buNone/>
            </a:pPr>
            <a:r>
              <a:rPr lang="en-US" sz="1700" b="1" dirty="0">
                <a:solidFill>
                  <a:schemeClr val="tx1"/>
                </a:solidFill>
              </a:rPr>
              <a:t>Assess and sequence</a:t>
            </a:r>
            <a:endParaRPr lang="en-US" sz="1700" dirty="0"/>
          </a:p>
        </p:txBody>
      </p:sp>
      <p:sp>
        <p:nvSpPr>
          <p:cNvPr id="19" name="Text 17"/>
          <p:cNvSpPr txBox="1"/>
          <p:nvPr/>
        </p:nvSpPr>
        <p:spPr>
          <a:xfrm>
            <a:off x="3246120" y="2880360"/>
            <a:ext cx="1874520" cy="1371600"/>
          </a:xfrm>
          <a:prstGeom prst="rect">
            <a:avLst/>
          </a:prstGeom>
          <a:noFill/>
          <a:ln/>
        </p:spPr>
        <p:txBody>
          <a:bodyPr wrap="square" lIns="0" tIns="0" rIns="0" bIns="0" rtlCol="0" anchor="t"/>
          <a:lstStyle/>
          <a:p>
            <a:pPr indent="0" marL="0">
              <a:buNone/>
            </a:pPr>
            <a:r>
              <a:rPr lang="en-US" sz="1300" dirty="0">
                <a:solidFill>
                  <a:schemeClr val="tx1"/>
                </a:solidFill>
              </a:rPr>
              <a:t>Validate element coverage with Jennifer and ADS owners; select the first cohort</a:t>
            </a:r>
            <a:endParaRPr lang="en-US" sz="1300" dirty="0"/>
          </a:p>
        </p:txBody>
      </p:sp>
      <p:sp>
        <p:nvSpPr>
          <p:cNvPr id="20" name="Text 18"/>
          <p:cNvSpPr txBox="1"/>
          <p:nvPr/>
        </p:nvSpPr>
        <p:spPr>
          <a:xfrm>
            <a:off x="3246120" y="4343400"/>
            <a:ext cx="1874520" cy="256032"/>
          </a:xfrm>
          <a:prstGeom prst="rect">
            <a:avLst/>
          </a:prstGeom>
          <a:noFill/>
          <a:ln/>
        </p:spPr>
        <p:txBody>
          <a:bodyPr wrap="square" lIns="0" tIns="0" rIns="0" bIns="0" rtlCol="0" anchor="t"/>
          <a:lstStyle/>
          <a:p>
            <a:pPr indent="0" marL="0">
              <a:buNone/>
            </a:pPr>
            <a:r>
              <a:rPr lang="en-US" sz="1200" dirty="0">
                <a:solidFill>
                  <a:schemeClr val="tx2"/>
                </a:solidFill>
              </a:rPr>
              <a:t>Phase 2</a:t>
            </a:r>
            <a:endParaRPr lang="en-US" sz="1200" dirty="0"/>
          </a:p>
        </p:txBody>
      </p:sp>
      <p:sp>
        <p:nvSpPr>
          <p:cNvPr id="21" name="Year-end package"/>
          <p:cNvSpPr/>
          <p:nvPr/>
        </p:nvSpPr>
        <p:spPr>
          <a:xfrm>
            <a:off x="5577840" y="2194560"/>
            <a:ext cx="2240280" cy="2514600"/>
          </a:xfrm>
          <a:prstGeom prst="roundRect">
            <a:avLst>
              <a:gd name="adj" fmla="val 3265"/>
            </a:avLst>
          </a:prstGeom>
          <a:solidFill>
            <a:schemeClr val="bg2"/>
          </a:solidFill>
          <a:ln/>
        </p:spPr>
      </p:sp>
      <p:sp>
        <p:nvSpPr>
          <p:cNvPr id="22" name="Text 20"/>
          <p:cNvSpPr txBox="1"/>
          <p:nvPr/>
        </p:nvSpPr>
        <p:spPr>
          <a:xfrm>
            <a:off x="5760720" y="2359152"/>
            <a:ext cx="1874520" cy="566928"/>
          </a:xfrm>
          <a:prstGeom prst="rect">
            <a:avLst/>
          </a:prstGeom>
          <a:noFill/>
          <a:ln/>
        </p:spPr>
        <p:txBody>
          <a:bodyPr wrap="square" lIns="0" tIns="0" rIns="0" bIns="0" rtlCol="0" anchor="t"/>
          <a:lstStyle/>
          <a:p>
            <a:pPr indent="0" marL="0">
              <a:buNone/>
            </a:pPr>
            <a:r>
              <a:rPr lang="en-US" sz="1700" b="1" dirty="0">
                <a:solidFill>
                  <a:schemeClr val="tx1"/>
                </a:solidFill>
              </a:rPr>
              <a:t>Year-end package</a:t>
            </a:r>
            <a:endParaRPr lang="en-US" sz="1700" dirty="0"/>
          </a:p>
        </p:txBody>
      </p:sp>
      <p:sp>
        <p:nvSpPr>
          <p:cNvPr id="23" name="Text 21"/>
          <p:cNvSpPr txBox="1"/>
          <p:nvPr/>
        </p:nvSpPr>
        <p:spPr>
          <a:xfrm>
            <a:off x="5760720" y="2880360"/>
            <a:ext cx="1874520" cy="1371600"/>
          </a:xfrm>
          <a:prstGeom prst="rect">
            <a:avLst/>
          </a:prstGeom>
          <a:noFill/>
          <a:ln/>
        </p:spPr>
        <p:txBody>
          <a:bodyPr wrap="square" lIns="0" tIns="0" rIns="0" bIns="0" rtlCol="0" anchor="t"/>
          <a:lstStyle/>
          <a:p>
            <a:pPr indent="0" marL="0">
              <a:buNone/>
            </a:pPr>
            <a:r>
              <a:rPr lang="en-US" sz="1300" dirty="0">
                <a:solidFill>
                  <a:schemeClr val="tx1"/>
                </a:solidFill>
              </a:rPr>
              <a:t>Availability, priorities, decisions, and 2027 dependencies</a:t>
            </a:r>
            <a:endParaRPr lang="en-US" sz="1300" dirty="0"/>
          </a:p>
        </p:txBody>
      </p:sp>
      <p:sp>
        <p:nvSpPr>
          <p:cNvPr id="24" name="Text 22"/>
          <p:cNvSpPr txBox="1"/>
          <p:nvPr/>
        </p:nvSpPr>
        <p:spPr>
          <a:xfrm>
            <a:off x="5760720" y="4343400"/>
            <a:ext cx="1874520" cy="256032"/>
          </a:xfrm>
          <a:prstGeom prst="rect">
            <a:avLst/>
          </a:prstGeom>
          <a:noFill/>
          <a:ln/>
        </p:spPr>
        <p:txBody>
          <a:bodyPr wrap="square" lIns="0" tIns="0" rIns="0" bIns="0" rtlCol="0" anchor="t"/>
          <a:lstStyle/>
          <a:p>
            <a:pPr indent="0" marL="0">
              <a:buNone/>
            </a:pPr>
            <a:r>
              <a:rPr lang="en-US" sz="1200" dirty="0">
                <a:solidFill>
                  <a:schemeClr val="tx2"/>
                </a:solidFill>
              </a:rPr>
              <a:t>Gate into phase 3</a:t>
            </a:r>
            <a:endParaRPr lang="en-US" sz="1200" dirty="0"/>
          </a:p>
        </p:txBody>
      </p:sp>
      <p:sp>
        <p:nvSpPr>
          <p:cNvPr id="25" name="ORM work by priority"/>
          <p:cNvSpPr/>
          <p:nvPr/>
        </p:nvSpPr>
        <p:spPr>
          <a:xfrm>
            <a:off x="8092440" y="2194560"/>
            <a:ext cx="3547872" cy="2514600"/>
          </a:xfrm>
          <a:prstGeom prst="roundRect">
            <a:avLst>
              <a:gd name="adj" fmla="val 2909"/>
            </a:avLst>
          </a:prstGeom>
          <a:solidFill>
            <a:schemeClr val="accent5">
              <a:alpha val="10000"/>
            </a:schemeClr>
          </a:solidFill>
          <a:ln w="15875">
            <a:solidFill>
              <a:schemeClr val="accent5"/>
            </a:solidFill>
            <a:prstDash val="solid"/>
          </a:ln>
        </p:spPr>
      </p:sp>
      <p:sp>
        <p:nvSpPr>
          <p:cNvPr id="26" name="Text 24"/>
          <p:cNvSpPr txBox="1"/>
          <p:nvPr/>
        </p:nvSpPr>
        <p:spPr>
          <a:xfrm>
            <a:off x="8275320" y="2359152"/>
            <a:ext cx="3182112" cy="365760"/>
          </a:xfrm>
          <a:prstGeom prst="rect">
            <a:avLst/>
          </a:prstGeom>
          <a:noFill/>
          <a:ln/>
        </p:spPr>
        <p:txBody>
          <a:bodyPr wrap="square" lIns="0" tIns="0" rIns="0" bIns="0" rtlCol="0" anchor="t"/>
          <a:lstStyle/>
          <a:p>
            <a:pPr indent="0" marL="0">
              <a:buNone/>
            </a:pPr>
            <a:r>
              <a:rPr lang="en-US" sz="1700" b="1" dirty="0">
                <a:solidFill>
                  <a:schemeClr val="accent5"/>
                </a:solidFill>
              </a:rPr>
              <a:t>ORM work by priority</a:t>
            </a:r>
            <a:endParaRPr lang="en-US" sz="1700" dirty="0"/>
          </a:p>
        </p:txBody>
      </p:sp>
      <p:sp>
        <p:nvSpPr>
          <p:cNvPr id="27" name="High priority"/>
          <p:cNvSpPr/>
          <p:nvPr/>
        </p:nvSpPr>
        <p:spPr>
          <a:xfrm>
            <a:off x="8275320" y="2816352"/>
            <a:ext cx="969264" cy="868680"/>
          </a:xfrm>
          <a:prstGeom prst="roundRect">
            <a:avLst>
              <a:gd name="adj" fmla="val 8421"/>
            </a:avLst>
          </a:prstGeom>
          <a:solidFill>
            <a:schemeClr val="bg1"/>
          </a:solidFill>
          <a:ln w="12700">
            <a:solidFill>
              <a:schemeClr val="accent5"/>
            </a:solidFill>
            <a:prstDash val="solid"/>
          </a:ln>
        </p:spPr>
      </p:sp>
      <p:sp>
        <p:nvSpPr>
          <p:cNvPr id="28" name="Text 26"/>
          <p:cNvSpPr txBox="1"/>
          <p:nvPr/>
        </p:nvSpPr>
        <p:spPr>
          <a:xfrm>
            <a:off x="8275320" y="2816352"/>
            <a:ext cx="969264" cy="868680"/>
          </a:xfrm>
          <a:prstGeom prst="rect">
            <a:avLst/>
          </a:prstGeom>
          <a:noFill/>
          <a:ln/>
        </p:spPr>
        <p:txBody>
          <a:bodyPr wrap="square" lIns="0" tIns="0" rIns="0" bIns="0" rtlCol="0" anchor="ctr"/>
          <a:lstStyle/>
          <a:p>
            <a:pPr algn="ctr" indent="0" marL="0">
              <a:buNone/>
            </a:pPr>
            <a:r>
              <a:rPr lang="en-US" sz="2400" b="1" dirty="0">
                <a:solidFill>
                  <a:schemeClr val="accent5"/>
                </a:solidFill>
              </a:rPr>
              <a:t>6</a:t>
            </a:r>
            <a:endParaRPr lang="en-US" sz="1300" dirty="0"/>
          </a:p>
          <a:p>
            <a:pPr algn="ctr" indent="0" marL="0">
              <a:buNone/>
            </a:pPr>
            <a:r>
              <a:rPr lang="en-US" sz="1200" dirty="0">
                <a:solidFill>
                  <a:schemeClr val="tx1"/>
                </a:solidFill>
              </a:rPr>
              <a:t>High</a:t>
            </a:r>
            <a:endParaRPr lang="en-US" sz="1300" dirty="0"/>
          </a:p>
        </p:txBody>
      </p:sp>
      <p:sp>
        <p:nvSpPr>
          <p:cNvPr id="29" name="Medium priority"/>
          <p:cNvSpPr/>
          <p:nvPr/>
        </p:nvSpPr>
        <p:spPr>
          <a:xfrm>
            <a:off x="9381744" y="2816352"/>
            <a:ext cx="969264" cy="868680"/>
          </a:xfrm>
          <a:prstGeom prst="roundRect">
            <a:avLst>
              <a:gd name="adj" fmla="val 8421"/>
            </a:avLst>
          </a:prstGeom>
          <a:solidFill>
            <a:schemeClr val="bg1"/>
          </a:solidFill>
          <a:ln w="12700">
            <a:solidFill>
              <a:schemeClr val="accent5"/>
            </a:solidFill>
            <a:prstDash val="solid"/>
          </a:ln>
        </p:spPr>
      </p:sp>
      <p:sp>
        <p:nvSpPr>
          <p:cNvPr id="30" name="Text 28"/>
          <p:cNvSpPr txBox="1"/>
          <p:nvPr/>
        </p:nvSpPr>
        <p:spPr>
          <a:xfrm>
            <a:off x="9381744" y="2816352"/>
            <a:ext cx="969264" cy="868680"/>
          </a:xfrm>
          <a:prstGeom prst="rect">
            <a:avLst/>
          </a:prstGeom>
          <a:noFill/>
          <a:ln/>
        </p:spPr>
        <p:txBody>
          <a:bodyPr wrap="square" lIns="0" tIns="0" rIns="0" bIns="0" rtlCol="0" anchor="ctr"/>
          <a:lstStyle/>
          <a:p>
            <a:pPr algn="ctr" indent="0" marL="0">
              <a:buNone/>
            </a:pPr>
            <a:r>
              <a:rPr lang="en-US" sz="2400" b="1" dirty="0">
                <a:solidFill>
                  <a:schemeClr val="accent5"/>
                </a:solidFill>
              </a:rPr>
              <a:t>20+</a:t>
            </a:r>
            <a:endParaRPr lang="en-US" sz="1300" dirty="0"/>
          </a:p>
          <a:p>
            <a:pPr algn="ctr" indent="0" marL="0">
              <a:buNone/>
            </a:pPr>
            <a:r>
              <a:rPr lang="en-US" sz="1200" dirty="0">
                <a:solidFill>
                  <a:schemeClr val="tx1"/>
                </a:solidFill>
              </a:rPr>
              <a:t>Medium</a:t>
            </a:r>
            <a:endParaRPr lang="en-US" sz="1300" dirty="0"/>
          </a:p>
        </p:txBody>
      </p:sp>
      <p:sp>
        <p:nvSpPr>
          <p:cNvPr id="31" name="Low priority"/>
          <p:cNvSpPr/>
          <p:nvPr/>
        </p:nvSpPr>
        <p:spPr>
          <a:xfrm>
            <a:off x="10488168" y="2816352"/>
            <a:ext cx="969264" cy="868680"/>
          </a:xfrm>
          <a:prstGeom prst="roundRect">
            <a:avLst>
              <a:gd name="adj" fmla="val 8421"/>
            </a:avLst>
          </a:prstGeom>
          <a:solidFill>
            <a:schemeClr val="bg1"/>
          </a:solidFill>
          <a:ln w="12700">
            <a:solidFill>
              <a:schemeClr val="accent5"/>
            </a:solidFill>
            <a:prstDash val="solid"/>
          </a:ln>
        </p:spPr>
      </p:sp>
      <p:sp>
        <p:nvSpPr>
          <p:cNvPr id="32" name="Text 30"/>
          <p:cNvSpPr txBox="1"/>
          <p:nvPr/>
        </p:nvSpPr>
        <p:spPr>
          <a:xfrm>
            <a:off x="10488168" y="2816352"/>
            <a:ext cx="969264" cy="868680"/>
          </a:xfrm>
          <a:prstGeom prst="rect">
            <a:avLst/>
          </a:prstGeom>
          <a:noFill/>
          <a:ln/>
        </p:spPr>
        <p:txBody>
          <a:bodyPr wrap="square" lIns="0" tIns="0" rIns="0" bIns="0" rtlCol="0" anchor="ctr"/>
          <a:lstStyle/>
          <a:p>
            <a:pPr algn="ctr" indent="0" marL="0">
              <a:buNone/>
            </a:pPr>
            <a:r>
              <a:rPr lang="en-US" sz="2400" b="1" dirty="0">
                <a:solidFill>
                  <a:schemeClr val="accent5"/>
                </a:solidFill>
              </a:rPr>
              <a:t>TBD</a:t>
            </a:r>
            <a:endParaRPr lang="en-US" sz="1300" dirty="0"/>
          </a:p>
          <a:p>
            <a:pPr algn="ctr" indent="0" marL="0">
              <a:buNone/>
            </a:pPr>
            <a:r>
              <a:rPr lang="en-US" sz="1200" dirty="0">
                <a:solidFill>
                  <a:schemeClr val="tx1"/>
                </a:solidFill>
              </a:rPr>
              <a:t>Low</a:t>
            </a:r>
            <a:endParaRPr lang="en-US" sz="1300" dirty="0"/>
          </a:p>
        </p:txBody>
      </p:sp>
      <p:sp>
        <p:nvSpPr>
          <p:cNvPr id="33" name="Text 31"/>
          <p:cNvSpPr txBox="1"/>
          <p:nvPr/>
        </p:nvSpPr>
        <p:spPr>
          <a:xfrm>
            <a:off x="8275320" y="3767328"/>
            <a:ext cx="3182112" cy="457200"/>
          </a:xfrm>
          <a:prstGeom prst="rect">
            <a:avLst/>
          </a:prstGeom>
          <a:noFill/>
          <a:ln/>
        </p:spPr>
        <p:txBody>
          <a:bodyPr wrap="square" lIns="0" tIns="0" rIns="0" bIns="0" rtlCol="0" anchor="t"/>
          <a:lstStyle/>
          <a:p>
            <a:pPr indent="0" marL="0">
              <a:buNone/>
            </a:pPr>
            <a:r>
              <a:rPr lang="en-US" sz="1200" dirty="0">
                <a:solidFill>
                  <a:schemeClr val="tx1"/>
                </a:solidFill>
              </a:rPr>
              <a:t>High = 6 sources; medium is about 20-something; low is to be determined</a:t>
            </a:r>
            <a:endParaRPr lang="en-US" sz="1200" dirty="0"/>
          </a:p>
        </p:txBody>
      </p:sp>
      <p:sp>
        <p:nvSpPr>
          <p:cNvPr id="34" name="Text 32"/>
          <p:cNvSpPr txBox="1"/>
          <p:nvPr/>
        </p:nvSpPr>
        <p:spPr>
          <a:xfrm>
            <a:off x="8275320" y="4343400"/>
            <a:ext cx="3182112" cy="256032"/>
          </a:xfrm>
          <a:prstGeom prst="rect">
            <a:avLst/>
          </a:prstGeom>
          <a:noFill/>
          <a:ln/>
        </p:spPr>
        <p:txBody>
          <a:bodyPr wrap="square" lIns="0" tIns="0" rIns="0" bIns="0" rtlCol="0" anchor="t"/>
          <a:lstStyle/>
          <a:p>
            <a:pPr indent="0" marL="0">
              <a:buNone/>
            </a:pPr>
            <a:r>
              <a:rPr lang="en-US" sz="1200" dirty="0">
                <a:solidFill>
                  <a:schemeClr val="tx2"/>
                </a:solidFill>
              </a:rPr>
              <a:t>Phases 3–5, in priority order</a:t>
            </a:r>
            <a:endParaRPr lang="en-US" sz="1200" dirty="0"/>
          </a:p>
        </p:txBody>
      </p:sp>
      <p:sp>
        <p:nvSpPr>
          <p:cNvPr id="35" name="Caveat"/>
          <p:cNvSpPr/>
          <p:nvPr/>
        </p:nvSpPr>
        <p:spPr>
          <a:xfrm>
            <a:off x="548640" y="4956048"/>
            <a:ext cx="11091672" cy="1097280"/>
          </a:xfrm>
          <a:prstGeom prst="roundRect">
            <a:avLst>
              <a:gd name="adj" fmla="val 6667"/>
            </a:avLst>
          </a:prstGeom>
          <a:solidFill>
            <a:schemeClr val="bg1"/>
          </a:solidFill>
          <a:ln w="9525">
            <a:solidFill>
              <a:schemeClr val="tx2">
                <a:alpha val="50000"/>
              </a:schemeClr>
            </a:solidFill>
            <a:prstDash val="solid"/>
          </a:ln>
        </p:spPr>
      </p:sp>
      <p:sp>
        <p:nvSpPr>
          <p:cNvPr id="36" name="Text 34"/>
          <p:cNvSpPr txBox="1"/>
          <p:nvPr/>
        </p:nvSpPr>
        <p:spPr>
          <a:xfrm>
            <a:off x="777240" y="4956048"/>
            <a:ext cx="10652760" cy="1097280"/>
          </a:xfrm>
          <a:prstGeom prst="rect">
            <a:avLst/>
          </a:prstGeom>
          <a:noFill/>
          <a:ln/>
        </p:spPr>
        <p:txBody>
          <a:bodyPr wrap="square" lIns="0" tIns="0" rIns="0" bIns="0" rtlCol="0" anchor="ctr"/>
          <a:lstStyle/>
          <a:p>
            <a:pPr indent="0" marL="0">
              <a:buNone/>
            </a:pPr>
            <a:r>
              <a:rPr lang="en-US" sz="1400" b="1" dirty="0">
                <a:solidFill>
                  <a:schemeClr val="tx1"/>
                </a:solidFill>
              </a:rPr>
              <a:t>Caveat: </a:t>
            </a:r>
            <a:pPr indent="0" marL="0">
              <a:buNone/>
            </a:pPr>
            <a:r>
              <a:rPr lang="en-US" sz="1400" dirty="0">
                <a:solidFill>
                  <a:schemeClr val="tx1"/>
                </a:solidFill>
              </a:rPr>
              <a:t>an earlier plan assumed ORM would finish in October. Getting the business to validate elements will take longer. The original 54 sources will likely be trimmed, and this roadmap becomes the template for the other workstreams.</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txBox="1"/>
          <p:nvPr/>
        </p:nvSpPr>
        <p:spPr>
          <a:xfrm>
            <a:off x="548640" y="274320"/>
            <a:ext cx="2090318"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50" kern="0" dirty="0">
                <a:solidFill>
                  <a:schemeClr val="bg1"/>
                </a:solidFill>
              </a:rPr>
              <a:t>PILLAR 3 · ORM ROADMAP</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Each workstream gets a tracker: ORM AI as the example</a:t>
            </a:r>
            <a:endParaRPr lang="en-US" sz="2800" dirty="0"/>
          </a:p>
        </p:txBody>
      </p:sp>
      <p:sp>
        <p:nvSpPr>
          <p:cNvPr id="4" name="Status band"/>
          <p:cNvSpPr/>
          <p:nvPr/>
        </p:nvSpPr>
        <p:spPr>
          <a:xfrm>
            <a:off x="548640" y="1554480"/>
            <a:ext cx="11091672" cy="868680"/>
          </a:xfrm>
          <a:prstGeom prst="roundRect">
            <a:avLst>
              <a:gd name="adj" fmla="val 8421"/>
            </a:avLst>
          </a:prstGeom>
          <a:solidFill>
            <a:schemeClr val="tx1"/>
          </a:solidFill>
          <a:ln/>
        </p:spPr>
      </p:sp>
      <p:sp>
        <p:nvSpPr>
          <p:cNvPr id="5" name="Text 3"/>
          <p:cNvSpPr txBox="1"/>
          <p:nvPr/>
        </p:nvSpPr>
        <p:spPr>
          <a:xfrm>
            <a:off x="749808" y="1673352"/>
            <a:ext cx="1280160" cy="228600"/>
          </a:xfrm>
          <a:prstGeom prst="rect">
            <a:avLst/>
          </a:prstGeom>
          <a:noFill/>
          <a:ln/>
        </p:spPr>
        <p:txBody>
          <a:bodyPr wrap="square" lIns="0" tIns="0" rIns="0" bIns="0" rtlCol="0" anchor="t"/>
          <a:lstStyle/>
          <a:p>
            <a:pPr indent="0" marL="0">
              <a:buNone/>
            </a:pPr>
            <a:r>
              <a:rPr lang="en-US" sz="900" b="1" spc="120" kern="0" dirty="0">
                <a:solidFill>
                  <a:schemeClr val="bg2"/>
                </a:solidFill>
              </a:rPr>
              <a:t>OVERALL</a:t>
            </a:r>
            <a:endParaRPr lang="en-US" sz="900" dirty="0"/>
          </a:p>
        </p:txBody>
      </p:sp>
      <p:sp>
        <p:nvSpPr>
          <p:cNvPr id="6" name="Text 4"/>
          <p:cNvSpPr txBox="1"/>
          <p:nvPr/>
        </p:nvSpPr>
        <p:spPr>
          <a:xfrm>
            <a:off x="749808" y="1965960"/>
            <a:ext cx="868680" cy="292608"/>
          </a:xfrm>
          <a:prstGeom prst="roundRect">
            <a:avLst>
              <a:gd name="adj" fmla="val 40625"/>
            </a:avLst>
          </a:prstGeom>
          <a:solidFill>
            <a:schemeClr val="accent3"/>
          </a:solidFill>
          <a:ln/>
        </p:spPr>
        <p:txBody>
          <a:bodyPr wrap="square" lIns="0" tIns="0" rIns="0" bIns="0" rtlCol="0" anchor="ctr"/>
          <a:lstStyle/>
          <a:p>
            <a:pPr algn="ctr" indent="0" marL="0">
              <a:buNone/>
            </a:pPr>
            <a:r>
              <a:rPr lang="en-US" sz="1200" b="1" dirty="0">
                <a:solidFill>
                  <a:schemeClr val="bg1"/>
                </a:solidFill>
              </a:rPr>
              <a:t>AMBER</a:t>
            </a:r>
            <a:endParaRPr lang="en-US" sz="1200" dirty="0"/>
          </a:p>
        </p:txBody>
      </p:sp>
      <p:sp>
        <p:nvSpPr>
          <p:cNvPr id="7" name="Text 5"/>
          <p:cNvSpPr txBox="1"/>
          <p:nvPr/>
        </p:nvSpPr>
        <p:spPr>
          <a:xfrm>
            <a:off x="2304288" y="1673352"/>
            <a:ext cx="3154680" cy="228600"/>
          </a:xfrm>
          <a:prstGeom prst="rect">
            <a:avLst/>
          </a:prstGeom>
          <a:noFill/>
          <a:ln/>
        </p:spPr>
        <p:txBody>
          <a:bodyPr wrap="square" lIns="0" tIns="0" rIns="0" bIns="0" rtlCol="0" anchor="t"/>
          <a:lstStyle/>
          <a:p>
            <a:pPr indent="0" marL="0">
              <a:buNone/>
            </a:pPr>
            <a:r>
              <a:rPr lang="en-US" sz="900" b="1" spc="120" kern="0" dirty="0">
                <a:solidFill>
                  <a:schemeClr val="bg2"/>
                </a:solidFill>
              </a:rPr>
              <a:t>SUMMARY</a:t>
            </a:r>
            <a:endParaRPr lang="en-US" sz="900" dirty="0"/>
          </a:p>
        </p:txBody>
      </p:sp>
      <p:sp>
        <p:nvSpPr>
          <p:cNvPr id="8" name="Text 6"/>
          <p:cNvSpPr txBox="1"/>
          <p:nvPr/>
        </p:nvSpPr>
        <p:spPr>
          <a:xfrm>
            <a:off x="2304288" y="1920240"/>
            <a:ext cx="3108960" cy="457200"/>
          </a:xfrm>
          <a:prstGeom prst="rect">
            <a:avLst/>
          </a:prstGeom>
          <a:noFill/>
          <a:ln/>
        </p:spPr>
        <p:txBody>
          <a:bodyPr wrap="square" lIns="0" tIns="0" rIns="0" bIns="0" rtlCol="0" anchor="t"/>
          <a:lstStyle/>
          <a:p>
            <a:pPr indent="0" marL="0">
              <a:buNone/>
            </a:pPr>
            <a:r>
              <a:rPr lang="en-US" sz="1200" dirty="0">
                <a:solidFill>
                  <a:schemeClr val="bg1"/>
                </a:solidFill>
              </a:rPr>
              <a:t>Baselining ORM's requirements; the first cohort waits on the high-priority sources</a:t>
            </a:r>
            <a:endParaRPr lang="en-US" sz="1200" dirty="0"/>
          </a:p>
        </p:txBody>
      </p:sp>
      <p:sp>
        <p:nvSpPr>
          <p:cNvPr id="9" name="Shape 7"/>
          <p:cNvSpPr/>
          <p:nvPr/>
        </p:nvSpPr>
        <p:spPr>
          <a:xfrm>
            <a:off x="2103120" y="1691640"/>
            <a:ext cx="0" cy="594360"/>
          </a:xfrm>
          <a:prstGeom prst="line">
            <a:avLst/>
          </a:prstGeom>
          <a:noFill/>
          <a:ln w="9525">
            <a:solidFill>
              <a:schemeClr val="bg1">
                <a:alpha val="30000"/>
              </a:schemeClr>
            </a:solidFill>
            <a:prstDash val="solid"/>
          </a:ln>
        </p:spPr>
      </p:sp>
      <p:sp>
        <p:nvSpPr>
          <p:cNvPr id="10" name="Text 8"/>
          <p:cNvSpPr txBox="1"/>
          <p:nvPr/>
        </p:nvSpPr>
        <p:spPr>
          <a:xfrm>
            <a:off x="5733288" y="1673352"/>
            <a:ext cx="2651760" cy="228600"/>
          </a:xfrm>
          <a:prstGeom prst="rect">
            <a:avLst/>
          </a:prstGeom>
          <a:noFill/>
          <a:ln/>
        </p:spPr>
        <p:txBody>
          <a:bodyPr wrap="square" lIns="0" tIns="0" rIns="0" bIns="0" rtlCol="0" anchor="t"/>
          <a:lstStyle/>
          <a:p>
            <a:pPr indent="0" marL="0">
              <a:buNone/>
            </a:pPr>
            <a:r>
              <a:rPr lang="en-US" sz="900" b="1" spc="120" kern="0" dirty="0">
                <a:solidFill>
                  <a:schemeClr val="bg2"/>
                </a:solidFill>
              </a:rPr>
              <a:t>BLOCKERS</a:t>
            </a:r>
            <a:endParaRPr lang="en-US" sz="900" dirty="0"/>
          </a:p>
        </p:txBody>
      </p:sp>
      <p:sp>
        <p:nvSpPr>
          <p:cNvPr id="11" name="Text 9"/>
          <p:cNvSpPr txBox="1"/>
          <p:nvPr/>
        </p:nvSpPr>
        <p:spPr>
          <a:xfrm>
            <a:off x="5733288" y="1920240"/>
            <a:ext cx="2606040" cy="457200"/>
          </a:xfrm>
          <a:prstGeom prst="rect">
            <a:avLst/>
          </a:prstGeom>
          <a:noFill/>
          <a:ln/>
        </p:spPr>
        <p:txBody>
          <a:bodyPr wrap="square" lIns="0" tIns="0" rIns="0" bIns="0" rtlCol="0" anchor="t"/>
          <a:lstStyle/>
          <a:p>
            <a:pPr indent="0" marL="0">
              <a:buNone/>
            </a:pPr>
            <a:r>
              <a:rPr lang="en-US" sz="1200" dirty="0">
                <a:solidFill>
                  <a:schemeClr val="bg1"/>
                </a:solidFill>
              </a:rPr>
              <a:t>Jennifer's confirmation of the 6 high-priority sources</a:t>
            </a:r>
            <a:endParaRPr lang="en-US" sz="1200" dirty="0"/>
          </a:p>
        </p:txBody>
      </p:sp>
      <p:sp>
        <p:nvSpPr>
          <p:cNvPr id="12" name="Shape 10"/>
          <p:cNvSpPr/>
          <p:nvPr/>
        </p:nvSpPr>
        <p:spPr>
          <a:xfrm>
            <a:off x="5532120" y="1691640"/>
            <a:ext cx="0" cy="594360"/>
          </a:xfrm>
          <a:prstGeom prst="line">
            <a:avLst/>
          </a:prstGeom>
          <a:noFill/>
          <a:ln w="9525">
            <a:solidFill>
              <a:schemeClr val="bg1">
                <a:alpha val="30000"/>
              </a:schemeClr>
            </a:solidFill>
            <a:prstDash val="solid"/>
          </a:ln>
        </p:spPr>
      </p:sp>
      <p:sp>
        <p:nvSpPr>
          <p:cNvPr id="13" name="Text 11"/>
          <p:cNvSpPr txBox="1"/>
          <p:nvPr/>
        </p:nvSpPr>
        <p:spPr>
          <a:xfrm>
            <a:off x="8659368" y="1673352"/>
            <a:ext cx="2907792" cy="228600"/>
          </a:xfrm>
          <a:prstGeom prst="rect">
            <a:avLst/>
          </a:prstGeom>
          <a:noFill/>
          <a:ln/>
        </p:spPr>
        <p:txBody>
          <a:bodyPr wrap="square" lIns="0" tIns="0" rIns="0" bIns="0" rtlCol="0" anchor="t"/>
          <a:lstStyle/>
          <a:p>
            <a:pPr indent="0" marL="0">
              <a:buNone/>
            </a:pPr>
            <a:r>
              <a:rPr lang="en-US" sz="900" b="1" spc="120" kern="0" dirty="0">
                <a:solidFill>
                  <a:schemeClr val="bg2"/>
                </a:solidFill>
              </a:rPr>
              <a:t>PROGRESS SINCE LAST MEETING</a:t>
            </a:r>
            <a:endParaRPr lang="en-US" sz="900" dirty="0"/>
          </a:p>
        </p:txBody>
      </p:sp>
      <p:sp>
        <p:nvSpPr>
          <p:cNvPr id="14" name="Text 12"/>
          <p:cNvSpPr txBox="1"/>
          <p:nvPr/>
        </p:nvSpPr>
        <p:spPr>
          <a:xfrm>
            <a:off x="8659368" y="1920240"/>
            <a:ext cx="2862072" cy="457200"/>
          </a:xfrm>
          <a:prstGeom prst="rect">
            <a:avLst/>
          </a:prstGeom>
          <a:noFill/>
          <a:ln/>
        </p:spPr>
        <p:txBody>
          <a:bodyPr wrap="square" lIns="0" tIns="0" rIns="0" bIns="0" rtlCol="0" anchor="t"/>
          <a:lstStyle/>
          <a:p>
            <a:pPr indent="0" marL="0">
              <a:buNone/>
            </a:pPr>
            <a:r>
              <a:rPr lang="en-US" sz="1200" dirty="0">
                <a:solidFill>
                  <a:schemeClr val="bg1"/>
                </a:solidFill>
              </a:rPr>
              <a:t>Overlap analysis started on the 54 requested sources</a:t>
            </a:r>
            <a:endParaRPr lang="en-US" sz="1200" dirty="0"/>
          </a:p>
        </p:txBody>
      </p:sp>
      <p:sp>
        <p:nvSpPr>
          <p:cNvPr id="15" name="Shape 13"/>
          <p:cNvSpPr/>
          <p:nvPr/>
        </p:nvSpPr>
        <p:spPr>
          <a:xfrm>
            <a:off x="8458200" y="1691640"/>
            <a:ext cx="0" cy="594360"/>
          </a:xfrm>
          <a:prstGeom prst="line">
            <a:avLst/>
          </a:prstGeom>
          <a:noFill/>
          <a:ln w="9525">
            <a:solidFill>
              <a:schemeClr val="bg1">
                <a:alpha val="30000"/>
              </a:schemeClr>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578608"/>
          <a:ext cx="11091672" cy="914400"/>
        </p:xfrm>
        <a:graphic>
          <a:graphicData uri="http://schemas.openxmlformats.org/drawingml/2006/table">
            <a:tbl>
              <a:tblPr/>
              <a:tblGrid>
                <a:gridCol w="411480"/>
                <a:gridCol w="3840480"/>
                <a:gridCol w="640080"/>
                <a:gridCol w="1920240"/>
                <a:gridCol w="914400"/>
                <a:gridCol w="594360"/>
                <a:gridCol w="2770632"/>
              </a:tblGrid>
              <a:tr h="384048">
                <a:tc>
                  <a:txBody>
                    <a:bodyPr/>
                    <a:lstStyle/>
                    <a:p>
                      <a:pPr indent="0" marL="0">
                        <a:buNone/>
                      </a:pPr>
                      <a:r>
                        <a:rPr lang="en-US" sz="1200" b="1" dirty="0">
                          <a:solidFill>
                            <a:schemeClr val="bg1"/>
                          </a:solidFill>
                        </a:rPr>
                        <a:t>#</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Task</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Phase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Owner</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Due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RAG</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Notes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384048">
                <a:tc>
                  <a:txBody>
                    <a:bodyPr/>
                    <a:lstStyle/>
                    <a:p>
                      <a:pPr indent="0" marL="0">
                        <a:buNone/>
                      </a:pPr>
                      <a:r>
                        <a:rPr lang="en-US" sz="1200" dirty="0">
                          <a:solidFill>
                            <a:schemeClr val="tx1"/>
                          </a:solidFill>
                        </a:rPr>
                        <a:t>1</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Collect use cases and requirements via the template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1</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Pillar 3 lead, Jennifer</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Nov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A</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Waiting on business input</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2</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Overlap analysis: 54 requested sources vs. RDS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1</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BA</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Nov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G</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indent="0" marL="0">
                        <a:buNone/>
                      </a:pPr>
                      <a:r>
                        <a:rPr lang="en-US" sz="1200" dirty="0">
                          <a:solidFill>
                            <a:schemeClr val="tx1"/>
                          </a:solidFill>
                        </a:rPr>
                        <a:t>Under way</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3</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Confirm the 6 high-priority sources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Jennifer (ORM)</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Nov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A</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Drives the first cohort</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4</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Map required elements to RDS and CDO data subjects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BA</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Dec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G</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indent="0" marL="0">
                        <a:buNone/>
                      </a:pP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5</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Pick the route for each priority source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P3 lead, Kevin approves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Dec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G</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indent="0" marL="0">
                        <a:buNone/>
                      </a:pPr>
                      <a:r>
                        <a:rPr lang="en-US" sz="1200" dirty="0">
                          <a:solidFill>
                            <a:schemeClr val="tx1"/>
                          </a:solidFill>
                        </a:rPr>
                        <a:t>Strategic, tactical, or escalate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Year-end package: priorities and 2027 dependencies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Gate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Pillar 3 lead</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Dec 2026</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b="1" dirty="0">
                          <a:solidFill>
                            <a:schemeClr val="bg1"/>
                          </a:solidFill>
                        </a:rPr>
                        <a:t>G</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indent="0" marL="0">
                        <a:buNone/>
                      </a:pPr>
                      <a:r>
                        <a:rPr lang="en-US" sz="1200" dirty="0">
                          <a:solidFill>
                            <a:schemeClr val="tx1"/>
                          </a:solidFill>
                        </a:rPr>
                        <a:t>Sets the 2027 sequence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384048">
                <a:tc>
                  <a:txBody>
                    <a:bodyPr/>
                    <a:lstStyle/>
                    <a:p>
                      <a:pPr indent="0" marL="0">
                        <a:buNone/>
                      </a:pPr>
                      <a:r>
                        <a:rPr lang="en-US" sz="1200" dirty="0">
                          <a:solidFill>
                            <a:schemeClr val="tx1"/>
                          </a:solidFill>
                        </a:rPr>
                        <a:t>7</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Deliver by priority: high, then medium, then low</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3–5</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Tech partners</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2027</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algn="ctr" indent="0" marL="0">
                        <a:buNone/>
                      </a:pPr>
                      <a:r>
                        <a:rPr lang="en-US" sz="1200" dirty="0">
                          <a:solidFill>
                            <a:schemeClr val="tx2"/>
                          </a:solidFill>
                        </a:rPr>
                        <a:t>–</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200" dirty="0">
                          <a:solidFill>
                            <a:schemeClr val="tx1"/>
                          </a:solidFill>
                        </a:rPr>
                        <a:t>Per the year-end package</a:t>
                      </a:r>
                      <a:endParaRPr lang="en-US" sz="1200" dirty="0"/>
                    </a:p>
                  </a:txBody>
                  <a:tcPr marL="91440" marR="91440"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sp>
        <p:nvSpPr>
          <p:cNvPr id="17" name="Text 14"/>
          <p:cNvSpPr txBox="1"/>
          <p:nvPr/>
        </p:nvSpPr>
        <p:spPr>
          <a:xfrm>
            <a:off x="548640" y="5788152"/>
            <a:ext cx="11091672" cy="411480"/>
          </a:xfrm>
          <a:prstGeom prst="rect">
            <a:avLst/>
          </a:prstGeom>
          <a:noFill/>
          <a:ln/>
        </p:spPr>
        <p:txBody>
          <a:bodyPr wrap="square" lIns="0" tIns="0" rIns="0" bIns="0" rtlCol="0" anchor="t"/>
          <a:lstStyle/>
          <a:p>
            <a:pPr indent="0" marL="0">
              <a:buNone/>
            </a:pPr>
            <a:r>
              <a:rPr lang="en-US" sz="1100" i="1" dirty="0">
                <a:solidFill>
                  <a:schemeClr val="tx2"/>
                </a:solidFill>
              </a:rPr>
              <a:t>Illustrative dates and status, to agree with the lead. Same shell for every workstream, rolled up into each pillar's weekly status: what went well, what didn't, and how we move forward.</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txBox="1"/>
          <p:nvPr/>
        </p:nvSpPr>
        <p:spPr>
          <a:xfrm>
            <a:off x="548640" y="274320"/>
            <a:ext cx="2412187"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spc="150" kern="0" dirty="0">
                <a:solidFill>
                  <a:schemeClr val="bg1"/>
                </a:solidFill>
              </a:rPr>
              <a:t>DPC MIGRATION · UNDERNEATH</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DPC migration runs underneath all three pillars</a:t>
            </a:r>
            <a:endParaRPr lang="en-US" sz="2800" dirty="0"/>
          </a:p>
        </p:txBody>
      </p:sp>
      <p:sp>
        <p:nvSpPr>
          <p:cNvPr id="4" name="Context"/>
          <p:cNvSpPr/>
          <p:nvPr/>
        </p:nvSpPr>
        <p:spPr>
          <a:xfrm>
            <a:off x="548640" y="1645920"/>
            <a:ext cx="6035040" cy="868680"/>
          </a:xfrm>
          <a:prstGeom prst="roundRect">
            <a:avLst>
              <a:gd name="adj" fmla="val 8421"/>
            </a:avLst>
          </a:prstGeom>
          <a:solidFill>
            <a:schemeClr val="accent4">
              <a:alpha val="10000"/>
            </a:schemeClr>
          </a:solidFill>
          <a:ln w="15875">
            <a:solidFill>
              <a:schemeClr val="accent4"/>
            </a:solidFill>
            <a:prstDash val="solid"/>
          </a:ln>
        </p:spPr>
      </p:sp>
      <p:sp>
        <p:nvSpPr>
          <p:cNvPr id="5" name="Text 3"/>
          <p:cNvSpPr txBox="1"/>
          <p:nvPr/>
        </p:nvSpPr>
        <p:spPr>
          <a:xfrm>
            <a:off x="777240" y="1645920"/>
            <a:ext cx="5623560" cy="868680"/>
          </a:xfrm>
          <a:prstGeom prst="rect">
            <a:avLst/>
          </a:prstGeom>
          <a:noFill/>
          <a:ln/>
        </p:spPr>
        <p:txBody>
          <a:bodyPr wrap="square" lIns="0" tIns="0" rIns="0" bIns="0" rtlCol="0" anchor="ctr"/>
          <a:lstStyle/>
          <a:p>
            <a:pPr indent="0" marL="0">
              <a:buNone/>
            </a:pPr>
            <a:r>
              <a:rPr lang="en-US" sz="1300" b="1" dirty="0">
                <a:solidFill>
                  <a:schemeClr val="accent4"/>
                </a:solidFill>
              </a:rPr>
              <a:t>Context: </a:t>
            </a:r>
            <a:pPr indent="0" marL="0">
              <a:buNone/>
            </a:pPr>
            <a:r>
              <a:rPr lang="en-US" sz="1300" dirty="0">
                <a:solidFill>
                  <a:schemeClr val="tx1"/>
                </a:solidFill>
              </a:rPr>
              <a:t>the migration is a lift and shift to meet the year-end deadline. Business validation isn't being assessed (seen with Credit 360).</a:t>
            </a:r>
            <a:endParaRPr lang="en-US" sz="1300" dirty="0"/>
          </a:p>
        </p:txBody>
      </p:sp>
      <p:sp>
        <p:nvSpPr>
          <p:cNvPr id="6" name="Text 4"/>
          <p:cNvSpPr txBox="1"/>
          <p:nvPr/>
        </p:nvSpPr>
        <p:spPr>
          <a:xfrm>
            <a:off x="548640" y="2743200"/>
            <a:ext cx="6035040" cy="228600"/>
          </a:xfrm>
          <a:prstGeom prst="rect">
            <a:avLst/>
          </a:prstGeom>
          <a:noFill/>
          <a:ln/>
        </p:spPr>
        <p:txBody>
          <a:bodyPr wrap="square" lIns="0" tIns="0" rIns="0" bIns="0" rtlCol="0" anchor="t"/>
          <a:lstStyle/>
          <a:p>
            <a:pPr indent="0" marL="0">
              <a:buNone/>
            </a:pPr>
            <a:r>
              <a:rPr lang="en-US" sz="1000" b="1" spc="150" kern="0" dirty="0">
                <a:solidFill>
                  <a:schemeClr val="tx2"/>
                </a:solidFill>
              </a:rPr>
              <a:t>BEFORE AND AFTER THE MOVE, THE PILLARS STILL APPLY</a:t>
            </a:r>
            <a:endParaRPr lang="en-US" sz="1000" dirty="0"/>
          </a:p>
        </p:txBody>
      </p:sp>
      <p:sp>
        <p:nvSpPr>
          <p:cNvPr id="7" name="Pillar 1 DPC row"/>
          <p:cNvSpPr/>
          <p:nvPr/>
        </p:nvSpPr>
        <p:spPr>
          <a:xfrm>
            <a:off x="548640" y="3035808"/>
            <a:ext cx="6035040" cy="914400"/>
          </a:xfrm>
          <a:prstGeom prst="roundRect">
            <a:avLst>
              <a:gd name="adj" fmla="val 8000"/>
            </a:avLst>
          </a:prstGeom>
          <a:solidFill>
            <a:schemeClr val="bg2"/>
          </a:solidFill>
          <a:ln/>
        </p:spPr>
      </p:sp>
      <p:sp>
        <p:nvSpPr>
          <p:cNvPr id="8" name="Text 6"/>
          <p:cNvSpPr txBox="1"/>
          <p:nvPr/>
        </p:nvSpPr>
        <p:spPr>
          <a:xfrm>
            <a:off x="749808" y="3346704"/>
            <a:ext cx="1005840" cy="292608"/>
          </a:xfrm>
          <a:prstGeom prst="roundRect">
            <a:avLst>
              <a:gd name="adj" fmla="val 43750"/>
            </a:avLst>
          </a:prstGeom>
          <a:solidFill>
            <a:schemeClr val="accent1"/>
          </a:solidFill>
          <a:ln/>
        </p:spPr>
        <p:txBody>
          <a:bodyPr wrap="square" lIns="0" tIns="0" rIns="0" bIns="0" rtlCol="0" anchor="ctr"/>
          <a:lstStyle/>
          <a:p>
            <a:pPr algn="ctr" indent="0" marL="0">
              <a:buNone/>
            </a:pPr>
            <a:r>
              <a:rPr lang="en-US" sz="1000" b="1" spc="120" kern="0" dirty="0">
                <a:solidFill>
                  <a:schemeClr val="bg1"/>
                </a:solidFill>
              </a:rPr>
              <a:t>PILLAR 1</a:t>
            </a:r>
            <a:endParaRPr lang="en-US" sz="1000" dirty="0"/>
          </a:p>
        </p:txBody>
      </p:sp>
      <p:sp>
        <p:nvSpPr>
          <p:cNvPr id="9" name="Text 7"/>
          <p:cNvSpPr txBox="1"/>
          <p:nvPr/>
        </p:nvSpPr>
        <p:spPr>
          <a:xfrm>
            <a:off x="1965960" y="3035808"/>
            <a:ext cx="4434840" cy="914400"/>
          </a:xfrm>
          <a:prstGeom prst="rect">
            <a:avLst/>
          </a:prstGeom>
          <a:noFill/>
          <a:ln/>
        </p:spPr>
        <p:txBody>
          <a:bodyPr wrap="square" lIns="0" tIns="0" rIns="0" bIns="0" rtlCol="0" anchor="ctr"/>
          <a:lstStyle/>
          <a:p>
            <a:pPr indent="0" marL="0">
              <a:buNone/>
            </a:pPr>
            <a:r>
              <a:rPr lang="en-US" sz="1300" dirty="0">
                <a:solidFill>
                  <a:schemeClr val="tx1"/>
                </a:solidFill>
              </a:rPr>
              <a:t>The tools we need get built in DPC: our build list goes to technology</a:t>
            </a:r>
            <a:endParaRPr lang="en-US" sz="1300" dirty="0"/>
          </a:p>
        </p:txBody>
      </p:sp>
      <p:sp>
        <p:nvSpPr>
          <p:cNvPr id="10" name="Pillar 2 DPC row"/>
          <p:cNvSpPr/>
          <p:nvPr/>
        </p:nvSpPr>
        <p:spPr>
          <a:xfrm>
            <a:off x="548640" y="4059936"/>
            <a:ext cx="6035040" cy="914400"/>
          </a:xfrm>
          <a:prstGeom prst="roundRect">
            <a:avLst>
              <a:gd name="adj" fmla="val 8000"/>
            </a:avLst>
          </a:prstGeom>
          <a:solidFill>
            <a:schemeClr val="bg2"/>
          </a:solidFill>
          <a:ln/>
        </p:spPr>
      </p:sp>
      <p:sp>
        <p:nvSpPr>
          <p:cNvPr id="11" name="Text 9"/>
          <p:cNvSpPr txBox="1"/>
          <p:nvPr/>
        </p:nvSpPr>
        <p:spPr>
          <a:xfrm>
            <a:off x="749808" y="4370832"/>
            <a:ext cx="1005840" cy="292608"/>
          </a:xfrm>
          <a:prstGeom prst="roundRect">
            <a:avLst>
              <a:gd name="adj" fmla="val 43750"/>
            </a:avLst>
          </a:prstGeom>
          <a:solidFill>
            <a:schemeClr val="accent2"/>
          </a:solidFill>
          <a:ln/>
        </p:spPr>
        <p:txBody>
          <a:bodyPr wrap="square" lIns="0" tIns="0" rIns="0" bIns="0" rtlCol="0" anchor="ctr"/>
          <a:lstStyle/>
          <a:p>
            <a:pPr algn="ctr" indent="0" marL="0">
              <a:buNone/>
            </a:pPr>
            <a:r>
              <a:rPr lang="en-US" sz="1000" b="1" spc="120" kern="0" dirty="0">
                <a:solidFill>
                  <a:schemeClr val="bg1"/>
                </a:solidFill>
              </a:rPr>
              <a:t>PILLAR 2</a:t>
            </a:r>
            <a:endParaRPr lang="en-US" sz="1000" dirty="0"/>
          </a:p>
        </p:txBody>
      </p:sp>
      <p:sp>
        <p:nvSpPr>
          <p:cNvPr id="12" name="Text 10"/>
          <p:cNvSpPr txBox="1"/>
          <p:nvPr/>
        </p:nvSpPr>
        <p:spPr>
          <a:xfrm>
            <a:off x="1965960" y="4059936"/>
            <a:ext cx="4434840" cy="914400"/>
          </a:xfrm>
          <a:prstGeom prst="rect">
            <a:avLst/>
          </a:prstGeom>
          <a:noFill/>
          <a:ln/>
        </p:spPr>
        <p:txBody>
          <a:bodyPr wrap="square" lIns="0" tIns="0" rIns="0" bIns="0" rtlCol="0" anchor="ctr"/>
          <a:lstStyle/>
          <a:p>
            <a:pPr indent="0" marL="0">
              <a:buNone/>
            </a:pPr>
            <a:r>
              <a:rPr lang="en-US" sz="1300" dirty="0">
                <a:solidFill>
                  <a:schemeClr val="tx1"/>
                </a:solidFill>
              </a:rPr>
              <a:t>Clean up what's migrating into RDS; cut data no one uses, before or after the move</a:t>
            </a:r>
            <a:endParaRPr lang="en-US" sz="1300" dirty="0"/>
          </a:p>
        </p:txBody>
      </p:sp>
      <p:sp>
        <p:nvSpPr>
          <p:cNvPr id="13" name="Pillar 3 DPC row"/>
          <p:cNvSpPr/>
          <p:nvPr/>
        </p:nvSpPr>
        <p:spPr>
          <a:xfrm>
            <a:off x="548640" y="5084064"/>
            <a:ext cx="6035040" cy="914400"/>
          </a:xfrm>
          <a:prstGeom prst="roundRect">
            <a:avLst>
              <a:gd name="adj" fmla="val 8000"/>
            </a:avLst>
          </a:prstGeom>
          <a:solidFill>
            <a:schemeClr val="bg2"/>
          </a:solidFill>
          <a:ln/>
        </p:spPr>
      </p:sp>
      <p:sp>
        <p:nvSpPr>
          <p:cNvPr id="14" name="Text 12"/>
          <p:cNvSpPr txBox="1"/>
          <p:nvPr/>
        </p:nvSpPr>
        <p:spPr>
          <a:xfrm>
            <a:off x="749808" y="5394960"/>
            <a:ext cx="1005840" cy="292608"/>
          </a:xfrm>
          <a:prstGeom prst="roundRect">
            <a:avLst>
              <a:gd name="adj" fmla="val 43750"/>
            </a:avLst>
          </a:prstGeom>
          <a:solidFill>
            <a:schemeClr val="accent3"/>
          </a:solidFill>
          <a:ln/>
        </p:spPr>
        <p:txBody>
          <a:bodyPr wrap="square" lIns="0" tIns="0" rIns="0" bIns="0" rtlCol="0" anchor="ctr"/>
          <a:lstStyle/>
          <a:p>
            <a:pPr algn="ctr" indent="0" marL="0">
              <a:buNone/>
            </a:pPr>
            <a:r>
              <a:rPr lang="en-US" sz="1000" b="1" spc="120" kern="0" dirty="0">
                <a:solidFill>
                  <a:schemeClr val="bg1"/>
                </a:solidFill>
              </a:rPr>
              <a:t>PILLAR 3</a:t>
            </a:r>
            <a:endParaRPr lang="en-US" sz="1000" dirty="0"/>
          </a:p>
        </p:txBody>
      </p:sp>
      <p:sp>
        <p:nvSpPr>
          <p:cNvPr id="15" name="Text 13"/>
          <p:cNvSpPr txBox="1"/>
          <p:nvPr/>
        </p:nvSpPr>
        <p:spPr>
          <a:xfrm>
            <a:off x="1965960" y="5084064"/>
            <a:ext cx="4434840" cy="914400"/>
          </a:xfrm>
          <a:prstGeom prst="rect">
            <a:avLst/>
          </a:prstGeom>
          <a:noFill/>
          <a:ln/>
        </p:spPr>
        <p:txBody>
          <a:bodyPr wrap="square" lIns="0" tIns="0" rIns="0" bIns="0" rtlCol="0" anchor="ctr"/>
          <a:lstStyle/>
          <a:p>
            <a:pPr indent="0" marL="0">
              <a:buNone/>
            </a:pPr>
            <a:r>
              <a:rPr lang="en-US" sz="1300" dirty="0">
                <a:solidFill>
                  <a:schemeClr val="tx1"/>
                </a:solidFill>
              </a:rPr>
              <a:t>New sourcing lands on the plane; Sentinel's data moves into FCTDS so it's in place for DPC</a:t>
            </a:r>
            <a:endParaRPr lang="en-US" sz="1300" dirty="0"/>
          </a:p>
        </p:txBody>
      </p:sp>
      <p:sp>
        <p:nvSpPr>
          <p:cNvPr id="16" name="Tracking panel"/>
          <p:cNvSpPr/>
          <p:nvPr/>
        </p:nvSpPr>
        <p:spPr>
          <a:xfrm>
            <a:off x="6903720" y="1645920"/>
            <a:ext cx="4736592" cy="2697480"/>
          </a:xfrm>
          <a:prstGeom prst="roundRect">
            <a:avLst>
              <a:gd name="adj" fmla="val 2712"/>
            </a:avLst>
          </a:prstGeom>
          <a:solidFill>
            <a:schemeClr val="accent4">
              <a:alpha val="8000"/>
            </a:schemeClr>
          </a:solidFill>
          <a:ln/>
        </p:spPr>
      </p:sp>
      <p:sp>
        <p:nvSpPr>
          <p:cNvPr id="17" name="Timeline circle"/>
          <p:cNvSpPr/>
          <p:nvPr/>
        </p:nvSpPr>
        <p:spPr>
          <a:xfrm>
            <a:off x="7132320" y="1874520"/>
            <a:ext cx="512064" cy="512064"/>
          </a:xfrm>
          <a:prstGeom prst="ellipse">
            <a:avLst/>
          </a:prstGeom>
          <a:solidFill>
            <a:schemeClr val="accent4"/>
          </a:solidFill>
          <a:ln/>
        </p:spPr>
      </p:sp>
      <p:pic>
        <p:nvPicPr>
          <p:cNvPr id="18" name="Timeline" descr="Timeline">    </p:cNvPr>
          <p:cNvPicPr>
            <a:picLocks noChangeAspect="1"/>
          </p:cNvPicPr>
          <p:nvPr/>
        </p:nvPicPr>
        <p:blipFill>
          <a:blip r:embed="rId1"/>
          <a:stretch>
            <a:fillRect/>
          </a:stretch>
        </p:blipFill>
        <p:spPr>
          <a:xfrm>
            <a:off x="7244974" y="1987174"/>
            <a:ext cx="286756" cy="286756"/>
          </a:xfrm>
          <a:prstGeom prst="rect">
            <a:avLst/>
          </a:prstGeom>
        </p:spPr>
      </p:pic>
      <p:sp>
        <p:nvSpPr>
          <p:cNvPr id="19" name="Text 16"/>
          <p:cNvSpPr txBox="1"/>
          <p:nvPr/>
        </p:nvSpPr>
        <p:spPr>
          <a:xfrm>
            <a:off x="7818120" y="1892808"/>
            <a:ext cx="3566160" cy="228600"/>
          </a:xfrm>
          <a:prstGeom prst="rect">
            <a:avLst/>
          </a:prstGeom>
          <a:noFill/>
          <a:ln/>
        </p:spPr>
        <p:txBody>
          <a:bodyPr wrap="square" lIns="0" tIns="0" rIns="0" bIns="0" rtlCol="0" anchor="t"/>
          <a:lstStyle/>
          <a:p>
            <a:pPr indent="0" marL="0">
              <a:buNone/>
            </a:pPr>
            <a:r>
              <a:rPr lang="en-US" sz="1000" b="1" spc="150" kern="0" dirty="0">
                <a:solidFill>
                  <a:schemeClr val="accent4"/>
                </a:solidFill>
              </a:rPr>
              <a:t>HOW WE TRACK IT</a:t>
            </a:r>
            <a:endParaRPr lang="en-US" sz="1000" dirty="0"/>
          </a:p>
        </p:txBody>
      </p:sp>
      <p:sp>
        <p:nvSpPr>
          <p:cNvPr id="20" name="Text 17"/>
          <p:cNvSpPr txBox="1"/>
          <p:nvPr/>
        </p:nvSpPr>
        <p:spPr>
          <a:xfrm>
            <a:off x="7818120" y="2121408"/>
            <a:ext cx="3566160" cy="365760"/>
          </a:xfrm>
          <a:prstGeom prst="rect">
            <a:avLst/>
          </a:prstGeom>
          <a:noFill/>
          <a:ln/>
        </p:spPr>
        <p:txBody>
          <a:bodyPr wrap="square" lIns="0" tIns="0" rIns="0" bIns="0" rtlCol="0" anchor="t"/>
          <a:lstStyle/>
          <a:p>
            <a:pPr indent="0" marL="0">
              <a:buNone/>
            </a:pPr>
            <a:r>
              <a:rPr lang="en-US" sz="1800" b="1" dirty="0">
                <a:solidFill>
                  <a:schemeClr val="tx1"/>
                </a:solidFill>
              </a:rPr>
              <a:t>Ryan's DPC timeline</a:t>
            </a:r>
            <a:endParaRPr lang="en-US" sz="1800" dirty="0"/>
          </a:p>
        </p:txBody>
      </p:sp>
      <p:sp>
        <p:nvSpPr>
          <p:cNvPr id="21" name="Text 18"/>
          <p:cNvSpPr txBox="1"/>
          <p:nvPr/>
        </p:nvSpPr>
        <p:spPr>
          <a:xfrm>
            <a:off x="7132320" y="2651760"/>
            <a:ext cx="4297680" cy="160020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We keep updating Ryan's existing timeline slide instead of building new tracking. It answers Jacqueline's question: how do we know we're tracking all of this for DPC?</a:t>
            </a:r>
            <a:endParaRPr lang="en-US" sz="1300" dirty="0"/>
          </a:p>
          <a:p>
            <a:pPr indent="0" marL="0">
              <a:buNone/>
            </a:pPr>
            <a:r>
              <a:rPr lang="en-US" sz="1300" b="1" dirty="0">
                <a:solidFill>
                  <a:schemeClr val="accent4"/>
                </a:solidFill>
              </a:rPr>
              <a:t>Ryan's latest timeline follows this slide.</a:t>
            </a:r>
            <a:endParaRPr lang="en-US" sz="1300" dirty="0"/>
          </a:p>
        </p:txBody>
      </p:sp>
      <p:sp>
        <p:nvSpPr>
          <p:cNvPr id="22" name="Dont wait panel"/>
          <p:cNvSpPr/>
          <p:nvPr/>
        </p:nvSpPr>
        <p:spPr>
          <a:xfrm>
            <a:off x="6903720" y="4526280"/>
            <a:ext cx="4736592" cy="1463040"/>
          </a:xfrm>
          <a:prstGeom prst="roundRect">
            <a:avLst>
              <a:gd name="adj" fmla="val 5000"/>
            </a:avLst>
          </a:prstGeom>
          <a:solidFill>
            <a:schemeClr val="tx1"/>
          </a:solidFill>
          <a:ln/>
        </p:spPr>
      </p:sp>
      <p:sp>
        <p:nvSpPr>
          <p:cNvPr id="23" name="Text 20"/>
          <p:cNvSpPr txBox="1"/>
          <p:nvPr/>
        </p:nvSpPr>
        <p:spPr>
          <a:xfrm>
            <a:off x="7132320" y="4709160"/>
            <a:ext cx="4297680" cy="228600"/>
          </a:xfrm>
          <a:prstGeom prst="rect">
            <a:avLst/>
          </a:prstGeom>
          <a:noFill/>
          <a:ln/>
        </p:spPr>
        <p:txBody>
          <a:bodyPr wrap="square" lIns="0" tIns="0" rIns="0" bIns="0" rtlCol="0" anchor="t"/>
          <a:lstStyle/>
          <a:p>
            <a:pPr indent="0" marL="0">
              <a:buNone/>
            </a:pPr>
            <a:r>
              <a:rPr lang="en-US" sz="1000" b="1" spc="150" kern="0" dirty="0">
                <a:solidFill>
                  <a:schemeClr val="bg2"/>
                </a:solidFill>
              </a:rPr>
              <a:t>DON'T WAIT FOR DPC</a:t>
            </a:r>
            <a:endParaRPr lang="en-US" sz="1000" dirty="0"/>
          </a:p>
        </p:txBody>
      </p:sp>
      <p:sp>
        <p:nvSpPr>
          <p:cNvPr id="24" name="Text 21"/>
          <p:cNvSpPr txBox="1"/>
          <p:nvPr/>
        </p:nvSpPr>
        <p:spPr>
          <a:xfrm>
            <a:off x="7132320" y="4983480"/>
            <a:ext cx="4297680" cy="914400"/>
          </a:xfrm>
          <a:prstGeom prst="rect">
            <a:avLst/>
          </a:prstGeom>
          <a:noFill/>
          <a:ln/>
        </p:spPr>
        <p:txBody>
          <a:bodyPr wrap="square" lIns="0" tIns="0" rIns="0" bIns="0" rtlCol="0" anchor="t"/>
          <a:lstStyle/>
          <a:p>
            <a:pPr indent="0" marL="0">
              <a:buNone/>
            </a:pPr>
            <a:r>
              <a:rPr lang="en-US" sz="1300" dirty="0">
                <a:solidFill>
                  <a:schemeClr val="bg1"/>
                </a:solidFill>
              </a:rPr>
              <a:t>Requirements analysis keeps going from the RDS extract, and Pillar 3 runs manually in the meantime. Delivery dates depend on the platform; analysis does not.</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txBox="1"/>
          <p:nvPr/>
        </p:nvSpPr>
        <p:spPr>
          <a:xfrm>
            <a:off x="548640" y="274320"/>
            <a:ext cx="1044245"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DECISIONS</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What we need from Jacqueline</a:t>
            </a:r>
            <a:endParaRPr lang="en-US" sz="2800" dirty="0"/>
          </a:p>
        </p:txBody>
      </p:sp>
      <p:sp>
        <p:nvSpPr>
          <p:cNvPr id="4" name="Ask card"/>
          <p:cNvSpPr/>
          <p:nvPr/>
        </p:nvSpPr>
        <p:spPr>
          <a:xfrm>
            <a:off x="548640" y="1645920"/>
            <a:ext cx="5408676" cy="1234440"/>
          </a:xfrm>
          <a:prstGeom prst="roundRect">
            <a:avLst>
              <a:gd name="adj" fmla="val 5926"/>
            </a:avLst>
          </a:prstGeom>
          <a:solidFill>
            <a:schemeClr val="bg2"/>
          </a:solidFill>
          <a:ln/>
        </p:spPr>
      </p:sp>
      <p:sp>
        <p:nvSpPr>
          <p:cNvPr id="5" name="Text 3"/>
          <p:cNvSpPr txBox="1"/>
          <p:nvPr/>
        </p:nvSpPr>
        <p:spPr>
          <a:xfrm>
            <a:off x="777240" y="187452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371600" y="184708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Align on the three pillars</a:t>
            </a:r>
            <a:endParaRPr lang="en-US" sz="1500" dirty="0"/>
          </a:p>
        </p:txBody>
      </p:sp>
      <p:sp>
        <p:nvSpPr>
          <p:cNvPr id="7" name="Text 5"/>
          <p:cNvSpPr txBox="1"/>
          <p:nvPr/>
        </p:nvSpPr>
        <p:spPr>
          <a:xfrm>
            <a:off x="1371600" y="2249424"/>
            <a:ext cx="4402836" cy="548640"/>
          </a:xfrm>
          <a:prstGeom prst="rect">
            <a:avLst/>
          </a:prstGeom>
          <a:noFill/>
          <a:ln/>
        </p:spPr>
        <p:txBody>
          <a:bodyPr wrap="square" lIns="0" tIns="0" rIns="0" bIns="0" rtlCol="0" anchor="t"/>
          <a:lstStyle/>
          <a:p>
            <a:pPr indent="0" marL="0">
              <a:buNone/>
            </a:pPr>
            <a:r>
              <a:rPr lang="en-US" sz="1300" dirty="0">
                <a:solidFill>
                  <a:schemeClr val="tx1"/>
                </a:solidFill>
              </a:rPr>
              <a:t>Data Plane Enablement, RDS Rationalization, and Demand Intake &amp; Sourcing, with DPC underneath</a:t>
            </a:r>
            <a:endParaRPr lang="en-US" sz="1300" dirty="0"/>
          </a:p>
        </p:txBody>
      </p:sp>
      <p:sp>
        <p:nvSpPr>
          <p:cNvPr id="8" name="Ask card"/>
          <p:cNvSpPr/>
          <p:nvPr/>
        </p:nvSpPr>
        <p:spPr>
          <a:xfrm>
            <a:off x="6231636" y="1645920"/>
            <a:ext cx="5408676" cy="1234440"/>
          </a:xfrm>
          <a:prstGeom prst="roundRect">
            <a:avLst>
              <a:gd name="adj" fmla="val 5926"/>
            </a:avLst>
          </a:prstGeom>
          <a:solidFill>
            <a:schemeClr val="bg2"/>
          </a:solidFill>
          <a:ln/>
        </p:spPr>
      </p:sp>
      <p:sp>
        <p:nvSpPr>
          <p:cNvPr id="9" name="Text 7"/>
          <p:cNvSpPr txBox="1"/>
          <p:nvPr/>
        </p:nvSpPr>
        <p:spPr>
          <a:xfrm>
            <a:off x="6460236" y="187452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7054596" y="184708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Set what's next for Pillar 3</a:t>
            </a:r>
            <a:endParaRPr lang="en-US" sz="1500" dirty="0"/>
          </a:p>
        </p:txBody>
      </p:sp>
      <p:sp>
        <p:nvSpPr>
          <p:cNvPr id="11" name="Text 9"/>
          <p:cNvSpPr txBox="1"/>
          <p:nvPr/>
        </p:nvSpPr>
        <p:spPr>
          <a:xfrm>
            <a:off x="7054596" y="2249424"/>
            <a:ext cx="4402836" cy="548640"/>
          </a:xfrm>
          <a:prstGeom prst="rect">
            <a:avLst/>
          </a:prstGeom>
          <a:noFill/>
          <a:ln/>
        </p:spPr>
        <p:txBody>
          <a:bodyPr wrap="square" lIns="0" tIns="0" rIns="0" bIns="0" rtlCol="0" anchor="t"/>
          <a:lstStyle/>
          <a:p>
            <a:pPr indent="0" marL="0">
              <a:buNone/>
            </a:pPr>
            <a:r>
              <a:rPr lang="en-US" sz="1300" dirty="0">
                <a:solidFill>
                  <a:schemeClr val="tx1"/>
                </a:solidFill>
              </a:rPr>
              <a:t>Beyond FCI, Sentinel, and ORM AI, including what we take on for credit risk</a:t>
            </a:r>
            <a:endParaRPr lang="en-US" sz="1300" dirty="0"/>
          </a:p>
        </p:txBody>
      </p:sp>
      <p:sp>
        <p:nvSpPr>
          <p:cNvPr id="12" name="Ask card"/>
          <p:cNvSpPr/>
          <p:nvPr/>
        </p:nvSpPr>
        <p:spPr>
          <a:xfrm>
            <a:off x="548640" y="3063240"/>
            <a:ext cx="5408676" cy="1234440"/>
          </a:xfrm>
          <a:prstGeom prst="roundRect">
            <a:avLst>
              <a:gd name="adj" fmla="val 5926"/>
            </a:avLst>
          </a:prstGeom>
          <a:solidFill>
            <a:schemeClr val="bg2"/>
          </a:solidFill>
          <a:ln/>
        </p:spPr>
      </p:sp>
      <p:sp>
        <p:nvSpPr>
          <p:cNvPr id="13" name="Text 11"/>
          <p:cNvSpPr txBox="1"/>
          <p:nvPr/>
        </p:nvSpPr>
        <p:spPr>
          <a:xfrm>
            <a:off x="777240" y="329184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371600" y="326440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Back the Pillar 1 build list</a:t>
            </a:r>
            <a:endParaRPr lang="en-US" sz="1500" dirty="0"/>
          </a:p>
        </p:txBody>
      </p:sp>
      <p:sp>
        <p:nvSpPr>
          <p:cNvPr id="15" name="Text 13"/>
          <p:cNvSpPr txBox="1"/>
          <p:nvPr/>
        </p:nvSpPr>
        <p:spPr>
          <a:xfrm>
            <a:off x="1371600" y="3666744"/>
            <a:ext cx="4402836" cy="548640"/>
          </a:xfrm>
          <a:prstGeom prst="rect">
            <a:avLst/>
          </a:prstGeom>
          <a:noFill/>
          <a:ln/>
        </p:spPr>
        <p:txBody>
          <a:bodyPr wrap="square" lIns="0" tIns="0" rIns="0" bIns="0" rtlCol="0" anchor="t"/>
          <a:lstStyle/>
          <a:p>
            <a:pPr indent="0" marL="0">
              <a:buNone/>
            </a:pPr>
            <a:r>
              <a:rPr lang="en-US" sz="1300" dirty="0">
                <a:solidFill>
                  <a:schemeClr val="tx1"/>
                </a:solidFill>
              </a:rPr>
              <a:t>Take the tooling asks (intake tool, DataHub, lineage, ADA) to technology</a:t>
            </a:r>
            <a:endParaRPr lang="en-US" sz="1300" dirty="0"/>
          </a:p>
        </p:txBody>
      </p:sp>
      <p:sp>
        <p:nvSpPr>
          <p:cNvPr id="16" name="Ask card"/>
          <p:cNvSpPr/>
          <p:nvPr/>
        </p:nvSpPr>
        <p:spPr>
          <a:xfrm>
            <a:off x="6231636" y="3063240"/>
            <a:ext cx="5408676" cy="1234440"/>
          </a:xfrm>
          <a:prstGeom prst="roundRect">
            <a:avLst>
              <a:gd name="adj" fmla="val 5926"/>
            </a:avLst>
          </a:prstGeom>
          <a:solidFill>
            <a:schemeClr val="bg2"/>
          </a:solidFill>
          <a:ln/>
        </p:spPr>
      </p:sp>
      <p:sp>
        <p:nvSpPr>
          <p:cNvPr id="17" name="Text 15"/>
          <p:cNvSpPr txBox="1"/>
          <p:nvPr/>
        </p:nvSpPr>
        <p:spPr>
          <a:xfrm>
            <a:off x="6460236" y="329184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7054596" y="326440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Agree how the work splits across teams</a:t>
            </a:r>
            <a:endParaRPr lang="en-US" sz="1500" dirty="0"/>
          </a:p>
        </p:txBody>
      </p:sp>
      <p:sp>
        <p:nvSpPr>
          <p:cNvPr id="19" name="Text 17"/>
          <p:cNvSpPr txBox="1"/>
          <p:nvPr/>
        </p:nvSpPr>
        <p:spPr>
          <a:xfrm>
            <a:off x="7054596" y="3666744"/>
            <a:ext cx="4402836" cy="548640"/>
          </a:xfrm>
          <a:prstGeom prst="rect">
            <a:avLst/>
          </a:prstGeom>
          <a:noFill/>
          <a:ln/>
        </p:spPr>
        <p:txBody>
          <a:bodyPr wrap="square" lIns="0" tIns="0" rIns="0" bIns="0" rtlCol="0" anchor="t"/>
          <a:lstStyle/>
          <a:p>
            <a:pPr indent="0" marL="0">
              <a:buNone/>
            </a:pPr>
            <a:r>
              <a:rPr lang="en-US" sz="1300" dirty="0">
                <a:solidFill>
                  <a:schemeClr val="tx1"/>
                </a:solidFill>
              </a:rPr>
              <a:t>Which pillars and workstreams sit where, before we talk about people</a:t>
            </a:r>
            <a:endParaRPr lang="en-US" sz="1300" dirty="0"/>
          </a:p>
        </p:txBody>
      </p:sp>
      <p:sp>
        <p:nvSpPr>
          <p:cNvPr id="20" name="Ask card"/>
          <p:cNvSpPr/>
          <p:nvPr/>
        </p:nvSpPr>
        <p:spPr>
          <a:xfrm>
            <a:off x="548640" y="4480560"/>
            <a:ext cx="5408676" cy="1234440"/>
          </a:xfrm>
          <a:prstGeom prst="roundRect">
            <a:avLst>
              <a:gd name="adj" fmla="val 5926"/>
            </a:avLst>
          </a:prstGeom>
          <a:solidFill>
            <a:schemeClr val="bg2"/>
          </a:solidFill>
          <a:ln/>
        </p:spPr>
      </p:sp>
      <p:sp>
        <p:nvSpPr>
          <p:cNvPr id="21" name="Text 19"/>
          <p:cNvSpPr txBox="1"/>
          <p:nvPr/>
        </p:nvSpPr>
        <p:spPr>
          <a:xfrm>
            <a:off x="777240" y="470916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1371600" y="468172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Open the door to eGRC</a:t>
            </a:r>
            <a:endParaRPr lang="en-US" sz="1500" dirty="0"/>
          </a:p>
        </p:txBody>
      </p:sp>
      <p:sp>
        <p:nvSpPr>
          <p:cNvPr id="23" name="Text 21"/>
          <p:cNvSpPr txBox="1"/>
          <p:nvPr/>
        </p:nvSpPr>
        <p:spPr>
          <a:xfrm>
            <a:off x="1371600" y="5084064"/>
            <a:ext cx="4402836" cy="548640"/>
          </a:xfrm>
          <a:prstGeom prst="rect">
            <a:avLst/>
          </a:prstGeom>
          <a:noFill/>
          <a:ln/>
        </p:spPr>
        <p:txBody>
          <a:bodyPr wrap="square" lIns="0" tIns="0" rIns="0" bIns="0" rtlCol="0" anchor="t"/>
          <a:lstStyle/>
          <a:p>
            <a:pPr indent="0" marL="0">
              <a:buNone/>
            </a:pPr>
            <a:r>
              <a:rPr lang="en-US" sz="1300" dirty="0">
                <a:solidFill>
                  <a:schemeClr val="tx1"/>
                </a:solidFill>
              </a:rPr>
              <a:t>Who we should talk to about IRP, PMT, SNAP, and Tandems</a:t>
            </a:r>
            <a:endParaRPr lang="en-US" sz="1300" dirty="0"/>
          </a:p>
        </p:txBody>
      </p:sp>
      <p:sp>
        <p:nvSpPr>
          <p:cNvPr id="24" name="Ask card"/>
          <p:cNvSpPr/>
          <p:nvPr/>
        </p:nvSpPr>
        <p:spPr>
          <a:xfrm>
            <a:off x="6231636" y="4480560"/>
            <a:ext cx="5408676" cy="1234440"/>
          </a:xfrm>
          <a:prstGeom prst="roundRect">
            <a:avLst>
              <a:gd name="adj" fmla="val 5926"/>
            </a:avLst>
          </a:prstGeom>
          <a:solidFill>
            <a:schemeClr val="bg2"/>
          </a:solidFill>
          <a:ln/>
        </p:spPr>
      </p:sp>
      <p:sp>
        <p:nvSpPr>
          <p:cNvPr id="25" name="Text 23"/>
          <p:cNvSpPr txBox="1"/>
          <p:nvPr/>
        </p:nvSpPr>
        <p:spPr>
          <a:xfrm>
            <a:off x="6460236" y="4709160"/>
            <a:ext cx="411480" cy="41148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4"/>
          <p:cNvSpPr txBox="1"/>
          <p:nvPr/>
        </p:nvSpPr>
        <p:spPr>
          <a:xfrm>
            <a:off x="7054596" y="4681728"/>
            <a:ext cx="4402836" cy="365760"/>
          </a:xfrm>
          <a:prstGeom prst="rect">
            <a:avLst/>
          </a:prstGeom>
          <a:noFill/>
          <a:ln/>
        </p:spPr>
        <p:txBody>
          <a:bodyPr wrap="square" lIns="0" tIns="0" rIns="0" bIns="0" rtlCol="0" anchor="ctr"/>
          <a:lstStyle/>
          <a:p>
            <a:pPr indent="0" marL="0">
              <a:buNone/>
            </a:pPr>
            <a:r>
              <a:rPr lang="en-US" sz="1500" b="1" dirty="0">
                <a:solidFill>
                  <a:schemeClr val="tx1"/>
                </a:solidFill>
              </a:rPr>
              <a:t>Agree the reporting rhythm</a:t>
            </a:r>
            <a:endParaRPr lang="en-US" sz="1500" dirty="0"/>
          </a:p>
        </p:txBody>
      </p:sp>
      <p:sp>
        <p:nvSpPr>
          <p:cNvPr id="27" name="Text 25"/>
          <p:cNvSpPr txBox="1"/>
          <p:nvPr/>
        </p:nvSpPr>
        <p:spPr>
          <a:xfrm>
            <a:off x="7054596" y="5084064"/>
            <a:ext cx="4402836" cy="548640"/>
          </a:xfrm>
          <a:prstGeom prst="rect">
            <a:avLst/>
          </a:prstGeom>
          <a:noFill/>
          <a:ln/>
        </p:spPr>
        <p:txBody>
          <a:bodyPr wrap="square" lIns="0" tIns="0" rIns="0" bIns="0" rtlCol="0" anchor="t"/>
          <a:lstStyle/>
          <a:p>
            <a:pPr indent="0" marL="0">
              <a:buNone/>
            </a:pPr>
            <a:r>
              <a:rPr lang="en-US" sz="1300" dirty="0">
                <a:solidFill>
                  <a:schemeClr val="tx1"/>
                </a:solidFill>
              </a:rPr>
              <a:t>A tracker per workstream with RAG status, rolled up in a weekly pillar review</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txBox="1"/>
          <p:nvPr/>
        </p:nvSpPr>
        <p:spPr>
          <a:xfrm>
            <a:off x="548640" y="274320"/>
            <a:ext cx="1124712"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NEXT STEPS</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Next steps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349240"/>
                <a:gridCol w="3017520"/>
                <a:gridCol w="2724912"/>
              </a:tblGrid>
              <a:tr h="457200">
                <a:tc>
                  <a:txBody>
                    <a:bodyPr/>
                    <a:lstStyle/>
                    <a:p>
                      <a:pPr indent="0" marL="0">
                        <a:buNone/>
                      </a:pPr>
                      <a:r>
                        <a:rPr lang="en-US" sz="1300" b="1" dirty="0">
                          <a:solidFill>
                            <a:schemeClr val="bg1"/>
                          </a:solidFill>
                        </a:rPr>
                        <a:t>Action</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Owner</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Notes</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rPr>
                        <a:t>Build the workstream tracker shell, with ORM AI as the first example</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Vic and Jake</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Tasks, owners, dates, RAG</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Share the FCI sourcing breakdown: strategic, tactical, escalated</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Kevin</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Feeds the FCI workstream</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Get a Sentinel summary of existing vs. new sources</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Vic and Jake, with Yaginesh and Nick</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Splits Pillar 2 from Pillar 3</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Draft the Pillar 1 build list for technology</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Team</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Intake tool, DataHub, lineage, ADA</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Confirm ORM's high-priority sources</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Jennifer</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Drives ORM's first cohort</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Find out who to talk to about eGRC</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Kevin, with Jacqueline</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eGRC discovery</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Keep the DPC timeline current</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Ryan</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Dependency view for all pillars</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457200">
                <a:tc>
                  <a:txBody>
                    <a:bodyPr/>
                    <a:lstStyle/>
                    <a:p>
                      <a:pPr indent="0" marL="0">
                        <a:buNone/>
                      </a:pPr>
                      <a:r>
                        <a:rPr lang="en-US" sz="1300" dirty="0">
                          <a:solidFill>
                            <a:schemeClr val="tx1"/>
                          </a:solidFill>
                        </a:rPr>
                        <a:t>Propose pillar owners once the pillars are aligned</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b="1" dirty="0">
                          <a:solidFill>
                            <a:schemeClr val="tx1"/>
                          </a:solidFill>
                        </a:rPr>
                        <a:t>Kevin</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indent="0" marL="0">
                        <a:buNone/>
                      </a:pPr>
                      <a:r>
                        <a:rPr lang="en-US" sz="1300" dirty="0">
                          <a:solidFill>
                            <a:schemeClr val="tx2"/>
                          </a:solidFill>
                        </a:rPr>
                        <a:t>Then the people conversation</a:t>
                      </a:r>
                      <a:endParaRPr lang="en-US" sz="1300" dirty="0"/>
                    </a:p>
                  </a:txBody>
                  <a:tcPr marL="109728" marR="109728" marT="45720" marB="45720"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txBox="1"/>
          <p:nvPr/>
        </p:nvSpPr>
        <p:spPr>
          <a:xfrm>
            <a:off x="548640" y="274320"/>
            <a:ext cx="1446581"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150" kern="0" dirty="0">
                <a:solidFill>
                  <a:schemeClr val="bg1"/>
                </a:solidFill>
              </a:rPr>
              <a:t>OPEN QUESTIONS</a:t>
            </a:r>
            <a:endParaRPr lang="en-US" sz="1000" dirty="0"/>
          </a:p>
        </p:txBody>
      </p:sp>
      <p:sp>
        <p:nvSpPr>
          <p:cNvPr id="3" name="Text 0"/>
          <p:cNvSpPr/>
          <p:nvPr>
            <p:ph idx="100" type="title" hasCustomPrompt="1"/>
          </p:nvPr>
        </p:nvSpPr>
        <p:spPr>
          <a:xfrm>
            <a:off x="548640" y="676656"/>
            <a:ext cx="11091672" cy="658368"/>
          </a:xfrm>
          <a:prstGeom prst="rect">
            <a:avLst/>
          </a:prstGeom>
          <a:noFill/>
          <a:ln/>
        </p:spPr>
        <p:txBody>
          <a:bodyPr wrap="square" lIns="0" tIns="0" rIns="0" bIns="0" rtlCol="0" anchor="t"/>
          <a:lstStyle/>
          <a:p>
            <a:pPr algn="l" indent="0" marL="0">
              <a:buNone/>
            </a:pPr>
            <a:r>
              <a:rPr lang="en-US" sz="2800" b="1" dirty="0">
                <a:solidFill>
                  <a:schemeClr val="tx1"/>
                </a:solidFill>
              </a:rPr>
              <a:t>Open questions</a:t>
            </a:r>
            <a:endParaRPr lang="en-US" sz="2800" dirty="0"/>
          </a:p>
        </p:txBody>
      </p:sp>
      <p:sp>
        <p:nvSpPr>
          <p:cNvPr id="4" name="Question card"/>
          <p:cNvSpPr/>
          <p:nvPr/>
        </p:nvSpPr>
        <p:spPr>
          <a:xfrm>
            <a:off x="548640" y="1645920"/>
            <a:ext cx="5408676" cy="914400"/>
          </a:xfrm>
          <a:prstGeom prst="roundRect">
            <a:avLst>
              <a:gd name="adj" fmla="val 8000"/>
            </a:avLst>
          </a:prstGeom>
          <a:solidFill>
            <a:schemeClr val="bg2"/>
          </a:solidFill>
          <a:ln/>
        </p:spPr>
      </p:sp>
      <p:sp>
        <p:nvSpPr>
          <p:cNvPr id="5" name="Question circle"/>
          <p:cNvSpPr/>
          <p:nvPr/>
        </p:nvSpPr>
        <p:spPr>
          <a:xfrm>
            <a:off x="777240" y="1883664"/>
            <a:ext cx="438912" cy="438912"/>
          </a:xfrm>
          <a:prstGeom prst="ellipse">
            <a:avLst/>
          </a:prstGeom>
          <a:solidFill>
            <a:schemeClr val="accent1"/>
          </a:solidFill>
          <a:ln/>
        </p:spPr>
      </p:sp>
      <p:pic>
        <p:nvPicPr>
          <p:cNvPr id="6" name="Question" descr="Question">    </p:cNvPr>
          <p:cNvPicPr>
            <a:picLocks noChangeAspect="1"/>
          </p:cNvPicPr>
          <p:nvPr/>
        </p:nvPicPr>
        <p:blipFill>
          <a:blip r:embed="rId1"/>
          <a:stretch>
            <a:fillRect/>
          </a:stretch>
        </p:blipFill>
        <p:spPr>
          <a:xfrm>
            <a:off x="873801" y="1980225"/>
            <a:ext cx="245791" cy="245791"/>
          </a:xfrm>
          <a:prstGeom prst="rect">
            <a:avLst/>
          </a:prstGeom>
        </p:spPr>
      </p:pic>
      <p:sp>
        <p:nvSpPr>
          <p:cNvPr id="7" name="Text 4"/>
          <p:cNvSpPr txBox="1"/>
          <p:nvPr/>
        </p:nvSpPr>
        <p:spPr>
          <a:xfrm>
            <a:off x="1417320" y="1645920"/>
            <a:ext cx="4357116" cy="914400"/>
          </a:xfrm>
          <a:prstGeom prst="rect">
            <a:avLst/>
          </a:prstGeom>
          <a:noFill/>
          <a:ln/>
        </p:spPr>
        <p:txBody>
          <a:bodyPr wrap="square" lIns="0" tIns="0" rIns="0" bIns="0" rtlCol="0" anchor="ctr"/>
          <a:lstStyle/>
          <a:p>
            <a:pPr indent="0" marL="0">
              <a:buNone/>
            </a:pPr>
            <a:r>
              <a:rPr lang="en-US" sz="1400" dirty="0">
                <a:solidFill>
                  <a:schemeClr val="tx1"/>
                </a:solidFill>
              </a:rPr>
              <a:t>What comes after FCI, Sentinel, and ORM AI, and what do we take on for credit risk?</a:t>
            </a:r>
            <a:endParaRPr lang="en-US" sz="1400" dirty="0"/>
          </a:p>
        </p:txBody>
      </p:sp>
      <p:sp>
        <p:nvSpPr>
          <p:cNvPr id="8" name="Question card"/>
          <p:cNvSpPr/>
          <p:nvPr/>
        </p:nvSpPr>
        <p:spPr>
          <a:xfrm>
            <a:off x="6231636" y="1645920"/>
            <a:ext cx="5408676" cy="914400"/>
          </a:xfrm>
          <a:prstGeom prst="roundRect">
            <a:avLst>
              <a:gd name="adj" fmla="val 8000"/>
            </a:avLst>
          </a:prstGeom>
          <a:solidFill>
            <a:schemeClr val="bg2"/>
          </a:solidFill>
          <a:ln/>
        </p:spPr>
      </p:sp>
      <p:sp>
        <p:nvSpPr>
          <p:cNvPr id="9" name="Question circle"/>
          <p:cNvSpPr/>
          <p:nvPr/>
        </p:nvSpPr>
        <p:spPr>
          <a:xfrm>
            <a:off x="6460236" y="1883664"/>
            <a:ext cx="438912" cy="438912"/>
          </a:xfrm>
          <a:prstGeom prst="ellipse">
            <a:avLst/>
          </a:prstGeom>
          <a:solidFill>
            <a:schemeClr val="accent1"/>
          </a:solidFill>
          <a:ln/>
        </p:spPr>
      </p:sp>
      <p:pic>
        <p:nvPicPr>
          <p:cNvPr id="10" name="Question" descr="Question">    </p:cNvPr>
          <p:cNvPicPr>
            <a:picLocks noChangeAspect="1"/>
          </p:cNvPicPr>
          <p:nvPr/>
        </p:nvPicPr>
        <p:blipFill>
          <a:blip r:embed="rId2"/>
          <a:stretch>
            <a:fillRect/>
          </a:stretch>
        </p:blipFill>
        <p:spPr>
          <a:xfrm>
            <a:off x="6556797" y="1980225"/>
            <a:ext cx="245791" cy="245791"/>
          </a:xfrm>
          <a:prstGeom prst="rect">
            <a:avLst/>
          </a:prstGeom>
        </p:spPr>
      </p:pic>
      <p:sp>
        <p:nvSpPr>
          <p:cNvPr id="11" name="Text 7"/>
          <p:cNvSpPr txBox="1"/>
          <p:nvPr/>
        </p:nvSpPr>
        <p:spPr>
          <a:xfrm>
            <a:off x="7100316" y="1645920"/>
            <a:ext cx="4357116" cy="914400"/>
          </a:xfrm>
          <a:prstGeom prst="rect">
            <a:avLst/>
          </a:prstGeom>
          <a:noFill/>
          <a:ln/>
        </p:spPr>
        <p:txBody>
          <a:bodyPr wrap="square" lIns="0" tIns="0" rIns="0" bIns="0" rtlCol="0" anchor="ctr"/>
          <a:lstStyle/>
          <a:p>
            <a:pPr indent="0" marL="0">
              <a:buNone/>
            </a:pPr>
            <a:r>
              <a:rPr lang="en-US" sz="1400" dirty="0">
                <a:solidFill>
                  <a:schemeClr val="tx1"/>
                </a:solidFill>
              </a:rPr>
              <a:t>How does the work split across teams?</a:t>
            </a:r>
            <a:endParaRPr lang="en-US" sz="1400" dirty="0"/>
          </a:p>
        </p:txBody>
      </p:sp>
      <p:sp>
        <p:nvSpPr>
          <p:cNvPr id="12" name="Question card"/>
          <p:cNvSpPr/>
          <p:nvPr/>
        </p:nvSpPr>
        <p:spPr>
          <a:xfrm>
            <a:off x="548640" y="2743200"/>
            <a:ext cx="5408676" cy="914400"/>
          </a:xfrm>
          <a:prstGeom prst="roundRect">
            <a:avLst>
              <a:gd name="adj" fmla="val 8000"/>
            </a:avLst>
          </a:prstGeom>
          <a:solidFill>
            <a:schemeClr val="bg2"/>
          </a:solidFill>
          <a:ln/>
        </p:spPr>
      </p:sp>
      <p:sp>
        <p:nvSpPr>
          <p:cNvPr id="13" name="Question circle"/>
          <p:cNvSpPr/>
          <p:nvPr/>
        </p:nvSpPr>
        <p:spPr>
          <a:xfrm>
            <a:off x="777240" y="2980944"/>
            <a:ext cx="438912" cy="438912"/>
          </a:xfrm>
          <a:prstGeom prst="ellipse">
            <a:avLst/>
          </a:prstGeom>
          <a:solidFill>
            <a:schemeClr val="accent1"/>
          </a:solidFill>
          <a:ln/>
        </p:spPr>
      </p:sp>
      <p:pic>
        <p:nvPicPr>
          <p:cNvPr id="14" name="Question" descr="Question">    </p:cNvPr>
          <p:cNvPicPr>
            <a:picLocks noChangeAspect="1"/>
          </p:cNvPicPr>
          <p:nvPr/>
        </p:nvPicPr>
        <p:blipFill>
          <a:blip r:embed="rId3"/>
          <a:stretch>
            <a:fillRect/>
          </a:stretch>
        </p:blipFill>
        <p:spPr>
          <a:xfrm>
            <a:off x="873801" y="3077505"/>
            <a:ext cx="245791" cy="245791"/>
          </a:xfrm>
          <a:prstGeom prst="rect">
            <a:avLst/>
          </a:prstGeom>
        </p:spPr>
      </p:pic>
      <p:sp>
        <p:nvSpPr>
          <p:cNvPr id="15" name="Text 10"/>
          <p:cNvSpPr txBox="1"/>
          <p:nvPr/>
        </p:nvSpPr>
        <p:spPr>
          <a:xfrm>
            <a:off x="1417320" y="2743200"/>
            <a:ext cx="4357116" cy="914400"/>
          </a:xfrm>
          <a:prstGeom prst="rect">
            <a:avLst/>
          </a:prstGeom>
          <a:noFill/>
          <a:ln/>
        </p:spPr>
        <p:txBody>
          <a:bodyPr wrap="square" lIns="0" tIns="0" rIns="0" bIns="0" rtlCol="0" anchor="ctr"/>
          <a:lstStyle/>
          <a:p>
            <a:pPr indent="0" marL="0">
              <a:buNone/>
            </a:pPr>
            <a:r>
              <a:rPr lang="en-US" sz="1400" dirty="0">
                <a:solidFill>
                  <a:schemeClr val="tx1"/>
                </a:solidFill>
              </a:rPr>
              <a:t>How quickly can technology deliver the intake tool and DataHub?</a:t>
            </a:r>
            <a:endParaRPr lang="en-US" sz="1400" dirty="0"/>
          </a:p>
        </p:txBody>
      </p:sp>
      <p:sp>
        <p:nvSpPr>
          <p:cNvPr id="16" name="Question card"/>
          <p:cNvSpPr/>
          <p:nvPr/>
        </p:nvSpPr>
        <p:spPr>
          <a:xfrm>
            <a:off x="6231636" y="2743200"/>
            <a:ext cx="5408676" cy="914400"/>
          </a:xfrm>
          <a:prstGeom prst="roundRect">
            <a:avLst>
              <a:gd name="adj" fmla="val 8000"/>
            </a:avLst>
          </a:prstGeom>
          <a:solidFill>
            <a:schemeClr val="bg2"/>
          </a:solidFill>
          <a:ln/>
        </p:spPr>
      </p:sp>
      <p:sp>
        <p:nvSpPr>
          <p:cNvPr id="17" name="Question circle"/>
          <p:cNvSpPr/>
          <p:nvPr/>
        </p:nvSpPr>
        <p:spPr>
          <a:xfrm>
            <a:off x="6460236" y="2980944"/>
            <a:ext cx="438912" cy="438912"/>
          </a:xfrm>
          <a:prstGeom prst="ellipse">
            <a:avLst/>
          </a:prstGeom>
          <a:solidFill>
            <a:schemeClr val="accent1"/>
          </a:solidFill>
          <a:ln/>
        </p:spPr>
      </p:sp>
      <p:pic>
        <p:nvPicPr>
          <p:cNvPr id="18" name="Question" descr="Question">    </p:cNvPr>
          <p:cNvPicPr>
            <a:picLocks noChangeAspect="1"/>
          </p:cNvPicPr>
          <p:nvPr/>
        </p:nvPicPr>
        <p:blipFill>
          <a:blip r:embed="rId4"/>
          <a:stretch>
            <a:fillRect/>
          </a:stretch>
        </p:blipFill>
        <p:spPr>
          <a:xfrm>
            <a:off x="6556797" y="3077505"/>
            <a:ext cx="245791" cy="245791"/>
          </a:xfrm>
          <a:prstGeom prst="rect">
            <a:avLst/>
          </a:prstGeom>
        </p:spPr>
      </p:pic>
      <p:sp>
        <p:nvSpPr>
          <p:cNvPr id="19" name="Text 13"/>
          <p:cNvSpPr txBox="1"/>
          <p:nvPr/>
        </p:nvSpPr>
        <p:spPr>
          <a:xfrm>
            <a:off x="7100316" y="2743200"/>
            <a:ext cx="4357116" cy="914400"/>
          </a:xfrm>
          <a:prstGeom prst="rect">
            <a:avLst/>
          </a:prstGeom>
          <a:noFill/>
          <a:ln/>
        </p:spPr>
        <p:txBody>
          <a:bodyPr wrap="square" lIns="0" tIns="0" rIns="0" bIns="0" rtlCol="0" anchor="ctr"/>
          <a:lstStyle/>
          <a:p>
            <a:pPr indent="0" marL="0">
              <a:buNone/>
            </a:pPr>
            <a:r>
              <a:rPr lang="en-US" sz="1400" dirty="0">
                <a:solidFill>
                  <a:schemeClr val="tx1"/>
                </a:solidFill>
              </a:rPr>
              <a:t>What does eGRC need, and which of its applications belong to risk?</a:t>
            </a:r>
            <a:endParaRPr lang="en-US" sz="1400" dirty="0"/>
          </a:p>
        </p:txBody>
      </p:sp>
      <p:sp>
        <p:nvSpPr>
          <p:cNvPr id="20" name="Question card"/>
          <p:cNvSpPr/>
          <p:nvPr/>
        </p:nvSpPr>
        <p:spPr>
          <a:xfrm>
            <a:off x="548640" y="3840480"/>
            <a:ext cx="5408676" cy="914400"/>
          </a:xfrm>
          <a:prstGeom prst="roundRect">
            <a:avLst>
              <a:gd name="adj" fmla="val 8000"/>
            </a:avLst>
          </a:prstGeom>
          <a:solidFill>
            <a:schemeClr val="bg2"/>
          </a:solidFill>
          <a:ln/>
        </p:spPr>
      </p:sp>
      <p:sp>
        <p:nvSpPr>
          <p:cNvPr id="21" name="Question circle"/>
          <p:cNvSpPr/>
          <p:nvPr/>
        </p:nvSpPr>
        <p:spPr>
          <a:xfrm>
            <a:off x="777240" y="4078224"/>
            <a:ext cx="438912" cy="438912"/>
          </a:xfrm>
          <a:prstGeom prst="ellipse">
            <a:avLst/>
          </a:prstGeom>
          <a:solidFill>
            <a:schemeClr val="accent1"/>
          </a:solidFill>
          <a:ln/>
        </p:spPr>
      </p:sp>
      <p:pic>
        <p:nvPicPr>
          <p:cNvPr id="22" name="Question" descr="Question">    </p:cNvPr>
          <p:cNvPicPr>
            <a:picLocks noChangeAspect="1"/>
          </p:cNvPicPr>
          <p:nvPr/>
        </p:nvPicPr>
        <p:blipFill>
          <a:blip r:embed="rId5"/>
          <a:stretch>
            <a:fillRect/>
          </a:stretch>
        </p:blipFill>
        <p:spPr>
          <a:xfrm>
            <a:off x="873801" y="4174785"/>
            <a:ext cx="245791" cy="245791"/>
          </a:xfrm>
          <a:prstGeom prst="rect">
            <a:avLst/>
          </a:prstGeom>
        </p:spPr>
      </p:pic>
      <p:sp>
        <p:nvSpPr>
          <p:cNvPr id="23" name="Text 16"/>
          <p:cNvSpPr txBox="1"/>
          <p:nvPr/>
        </p:nvSpPr>
        <p:spPr>
          <a:xfrm>
            <a:off x="1417320" y="3840480"/>
            <a:ext cx="4357116" cy="914400"/>
          </a:xfrm>
          <a:prstGeom prst="rect">
            <a:avLst/>
          </a:prstGeom>
          <a:noFill/>
          <a:ln/>
        </p:spPr>
        <p:txBody>
          <a:bodyPr wrap="square" lIns="0" tIns="0" rIns="0" bIns="0" rtlCol="0" anchor="ctr"/>
          <a:lstStyle/>
          <a:p>
            <a:pPr indent="0" marL="0">
              <a:buNone/>
            </a:pPr>
            <a:r>
              <a:rPr lang="en-US" sz="1400" dirty="0">
                <a:solidFill>
                  <a:schemeClr val="tx1"/>
                </a:solidFill>
              </a:rPr>
              <a:t>Will eGRC land in one bucket or one per application (Tandems has its own S3)?</a:t>
            </a:r>
            <a:endParaRPr lang="en-US" sz="1400" dirty="0"/>
          </a:p>
        </p:txBody>
      </p:sp>
      <p:sp>
        <p:nvSpPr>
          <p:cNvPr id="24" name="Question card"/>
          <p:cNvSpPr/>
          <p:nvPr/>
        </p:nvSpPr>
        <p:spPr>
          <a:xfrm>
            <a:off x="6231636" y="3840480"/>
            <a:ext cx="5408676" cy="914400"/>
          </a:xfrm>
          <a:prstGeom prst="roundRect">
            <a:avLst>
              <a:gd name="adj" fmla="val 8000"/>
            </a:avLst>
          </a:prstGeom>
          <a:solidFill>
            <a:schemeClr val="bg2"/>
          </a:solidFill>
          <a:ln/>
        </p:spPr>
      </p:sp>
      <p:sp>
        <p:nvSpPr>
          <p:cNvPr id="25" name="Question circle"/>
          <p:cNvSpPr/>
          <p:nvPr/>
        </p:nvSpPr>
        <p:spPr>
          <a:xfrm>
            <a:off x="6460236" y="4078224"/>
            <a:ext cx="438912" cy="438912"/>
          </a:xfrm>
          <a:prstGeom prst="ellipse">
            <a:avLst/>
          </a:prstGeom>
          <a:solidFill>
            <a:schemeClr val="accent1"/>
          </a:solidFill>
          <a:ln/>
        </p:spPr>
      </p:sp>
      <p:pic>
        <p:nvPicPr>
          <p:cNvPr id="26" name="Question" descr="Question">    </p:cNvPr>
          <p:cNvPicPr>
            <a:picLocks noChangeAspect="1"/>
          </p:cNvPicPr>
          <p:nvPr/>
        </p:nvPicPr>
        <p:blipFill>
          <a:blip r:embed="rId6"/>
          <a:stretch>
            <a:fillRect/>
          </a:stretch>
        </p:blipFill>
        <p:spPr>
          <a:xfrm>
            <a:off x="6556797" y="4174785"/>
            <a:ext cx="245791" cy="245791"/>
          </a:xfrm>
          <a:prstGeom prst="rect">
            <a:avLst/>
          </a:prstGeom>
        </p:spPr>
      </p:pic>
      <p:sp>
        <p:nvSpPr>
          <p:cNvPr id="27" name="Text 19"/>
          <p:cNvSpPr txBox="1"/>
          <p:nvPr/>
        </p:nvSpPr>
        <p:spPr>
          <a:xfrm>
            <a:off x="7100316" y="3840480"/>
            <a:ext cx="4357116" cy="914400"/>
          </a:xfrm>
          <a:prstGeom prst="rect">
            <a:avLst/>
          </a:prstGeom>
          <a:noFill/>
          <a:ln/>
        </p:spPr>
        <p:txBody>
          <a:bodyPr wrap="square" lIns="0" tIns="0" rIns="0" bIns="0" rtlCol="0" anchor="ctr"/>
          <a:lstStyle/>
          <a:p>
            <a:pPr indent="0" marL="0">
              <a:buNone/>
            </a:pPr>
            <a:r>
              <a:rPr lang="en-US" sz="1400" dirty="0">
                <a:solidFill>
                  <a:schemeClr val="tx1"/>
                </a:solidFill>
              </a:rPr>
              <a:t>Which raw RDS data sets are unused and can be cut?</a:t>
            </a:r>
            <a:endParaRPr lang="en-US" sz="1400" dirty="0"/>
          </a:p>
        </p:txBody>
      </p:sp>
      <p:sp>
        <p:nvSpPr>
          <p:cNvPr id="28" name="Question card"/>
          <p:cNvSpPr/>
          <p:nvPr/>
        </p:nvSpPr>
        <p:spPr>
          <a:xfrm>
            <a:off x="548640" y="4937760"/>
            <a:ext cx="5408676" cy="914400"/>
          </a:xfrm>
          <a:prstGeom prst="roundRect">
            <a:avLst>
              <a:gd name="adj" fmla="val 8000"/>
            </a:avLst>
          </a:prstGeom>
          <a:solidFill>
            <a:schemeClr val="bg2"/>
          </a:solidFill>
          <a:ln/>
        </p:spPr>
      </p:sp>
      <p:sp>
        <p:nvSpPr>
          <p:cNvPr id="29" name="Question circle"/>
          <p:cNvSpPr/>
          <p:nvPr/>
        </p:nvSpPr>
        <p:spPr>
          <a:xfrm>
            <a:off x="777240" y="5175504"/>
            <a:ext cx="438912" cy="438912"/>
          </a:xfrm>
          <a:prstGeom prst="ellipse">
            <a:avLst/>
          </a:prstGeom>
          <a:solidFill>
            <a:schemeClr val="accent1"/>
          </a:solidFill>
          <a:ln/>
        </p:spPr>
      </p:sp>
      <p:pic>
        <p:nvPicPr>
          <p:cNvPr id="30" name="Question" descr="Question">    </p:cNvPr>
          <p:cNvPicPr>
            <a:picLocks noChangeAspect="1"/>
          </p:cNvPicPr>
          <p:nvPr/>
        </p:nvPicPr>
        <p:blipFill>
          <a:blip r:embed="rId7"/>
          <a:stretch>
            <a:fillRect/>
          </a:stretch>
        </p:blipFill>
        <p:spPr>
          <a:xfrm>
            <a:off x="873801" y="5272065"/>
            <a:ext cx="245791" cy="245791"/>
          </a:xfrm>
          <a:prstGeom prst="rect">
            <a:avLst/>
          </a:prstGeom>
        </p:spPr>
      </p:pic>
      <p:sp>
        <p:nvSpPr>
          <p:cNvPr id="31" name="Text 22"/>
          <p:cNvSpPr txBox="1"/>
          <p:nvPr/>
        </p:nvSpPr>
        <p:spPr>
          <a:xfrm>
            <a:off x="1417320" y="4937760"/>
            <a:ext cx="4357116" cy="914400"/>
          </a:xfrm>
          <a:prstGeom prst="rect">
            <a:avLst/>
          </a:prstGeom>
          <a:noFill/>
          <a:ln/>
        </p:spPr>
        <p:txBody>
          <a:bodyPr wrap="square" lIns="0" tIns="0" rIns="0" bIns="0" rtlCol="0" anchor="ctr"/>
          <a:lstStyle/>
          <a:p>
            <a:pPr indent="0" marL="0">
              <a:buNone/>
            </a:pPr>
            <a:r>
              <a:rPr lang="en-US" sz="1400" dirty="0">
                <a:solidFill>
                  <a:schemeClr val="tx1"/>
                </a:solidFill>
              </a:rPr>
              <a:t>When can MARS and CORS be addressed?</a:t>
            </a:r>
            <a:endParaRPr lang="en-US" sz="1400" dirty="0"/>
          </a:p>
        </p:txBody>
      </p:sp>
      <p:sp>
        <p:nvSpPr>
          <p:cNvPr id="32" name="Question card"/>
          <p:cNvSpPr/>
          <p:nvPr/>
        </p:nvSpPr>
        <p:spPr>
          <a:xfrm>
            <a:off x="6231636" y="4937760"/>
            <a:ext cx="5408676" cy="914400"/>
          </a:xfrm>
          <a:prstGeom prst="roundRect">
            <a:avLst>
              <a:gd name="adj" fmla="val 8000"/>
            </a:avLst>
          </a:prstGeom>
          <a:solidFill>
            <a:schemeClr val="bg2"/>
          </a:solidFill>
          <a:ln/>
        </p:spPr>
      </p:sp>
      <p:sp>
        <p:nvSpPr>
          <p:cNvPr id="33" name="Question circle"/>
          <p:cNvSpPr/>
          <p:nvPr/>
        </p:nvSpPr>
        <p:spPr>
          <a:xfrm>
            <a:off x="6460236" y="5175504"/>
            <a:ext cx="438912" cy="438912"/>
          </a:xfrm>
          <a:prstGeom prst="ellipse">
            <a:avLst/>
          </a:prstGeom>
          <a:solidFill>
            <a:schemeClr val="accent1"/>
          </a:solidFill>
          <a:ln/>
        </p:spPr>
      </p:sp>
      <p:pic>
        <p:nvPicPr>
          <p:cNvPr id="34" name="Question" descr="Question">    </p:cNvPr>
          <p:cNvPicPr>
            <a:picLocks noChangeAspect="1"/>
          </p:cNvPicPr>
          <p:nvPr/>
        </p:nvPicPr>
        <p:blipFill>
          <a:blip r:embed="rId8"/>
          <a:stretch>
            <a:fillRect/>
          </a:stretch>
        </p:blipFill>
        <p:spPr>
          <a:xfrm>
            <a:off x="6556797" y="5272065"/>
            <a:ext cx="245791" cy="245791"/>
          </a:xfrm>
          <a:prstGeom prst="rect">
            <a:avLst/>
          </a:prstGeom>
        </p:spPr>
      </p:pic>
      <p:sp>
        <p:nvSpPr>
          <p:cNvPr id="35" name="Text 25"/>
          <p:cNvSpPr txBox="1"/>
          <p:nvPr/>
        </p:nvSpPr>
        <p:spPr>
          <a:xfrm>
            <a:off x="7100316" y="4937760"/>
            <a:ext cx="4357116" cy="914400"/>
          </a:xfrm>
          <a:prstGeom prst="rect">
            <a:avLst/>
          </a:prstGeom>
          <a:noFill/>
          <a:ln/>
        </p:spPr>
        <p:txBody>
          <a:bodyPr wrap="square" lIns="0" tIns="0" rIns="0" bIns="0" rtlCol="0" anchor="ctr"/>
          <a:lstStyle/>
          <a:p>
            <a:pPr indent="0" marL="0">
              <a:buNone/>
            </a:pPr>
            <a:r>
              <a:rPr lang="en-US" sz="1400" dirty="0">
                <a:solidFill>
                  <a:schemeClr val="tx1"/>
                </a:solidFill>
              </a:rPr>
              <a:t>How long will ORM's baseline really take?</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5B4B8A"/>
      </a:accent5>
      <a:accent6>
        <a:srgbClr val="5E6670"/>
      </a:accent6>
      <a:hlink>
        <a:srgbClr val="2F5D8A"/>
      </a:hlink>
      <a:folHlink>
        <a:srgbClr val="5B4B8A"/>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Three-pillar structure for risk data sourcing</dc:subject>
  <dc:creator>Jake and Vic (Kevin's team)</dc:creator>
  <cp:lastModifiedBy>Jake and Vic (Kevin's team)</cp:lastModifiedBy>
  <cp:revision>1</cp:revision>
  <dcterms:created xsi:type="dcterms:W3CDTF">2026-10-14T00:02:41Z</dcterms:created>
  <dcterms:modified xsi:type="dcterms:W3CDTF">2026-10-14T00:02:41Z</dcterms:modified>
</cp:coreProperties>
</file>