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79" r:id="rId3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63B0C9-10DB-607B-409F-08E5BEE4083E}">
          <p14:sldIdLst>
            <p14:sldId id="256"/>
            <p14:sldId id="257"/>
            <p14:sldId id="258"/>
            <p14:sldId id="259"/>
            <p14:sldId id="260"/>
          </p14:sldIdLst>
        </p14:section>
        <p14:section name="Pillar 1" id="{0BB47F10-AC53-73D2-F98F-B79647CD08F0}">
          <p14:sldIdLst>
            <p14:sldId id="261"/>
            <p14:sldId id="262"/>
            <p14:sldId id="263"/>
            <p14:sldId id="264"/>
          </p14:sldIdLst>
        </p14:section>
        <p14:section name="Pillar 2" id="{F9507F76-3FDC-054C-EF4E-1B92A58C3F02}">
          <p14:sldIdLst>
            <p14:sldId id="265"/>
            <p14:sldId id="266"/>
            <p14:sldId id="279"/>
            <p14:sldId id="267"/>
          </p14:sldIdLst>
        </p14:section>
        <p14:section name="Pillar 3" id="{CFF7B73F-83D3-D1C7-0040-BCE68CF181EF}">
          <p14:sldIdLst>
            <p14:sldId id="268"/>
            <p14:sldId id="269"/>
            <p14:sldId id="270"/>
            <p14:sldId id="271"/>
            <p14:sldId id="272"/>
            <p14:sldId id="273"/>
          </p14:sldIdLst>
        </p14:section>
        <p14:section name="Wrap-up" id="{750458AC-ABE1-14A6-56CE-88576B264D61}">
          <p14:sldIdLst>
            <p14:sldId id="274"/>
            <p14:sldId id="275"/>
            <p14:sldId id="276"/>
          </p14:sldIdLst>
        </p14:section>
        <p14:section name="Appendix" id="{C1A38215-0F03-B617-A718-BEB2CB0A5BDC}">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BE6FA5-28D6-4FD6-BF80-A9CBA437CE3B}" v="12" dt="2026-10-16T01:34:47.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4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  <Relationship Id="rId32" Type="http://schemas.openxmlformats.org/officeDocument/2006/relationships/slide" Target="slides/slide2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Sanchez" userId="26f73c70b2efd3e2" providerId="LiveId" clId="{66FAA10A-858A-4901-9BC4-4A708FC6DA4A}"/>
    <pc:docChg chg="undo custSel addSld delSld modSld addMainMaster delMainMaster modMainMaster delSection modSection modNotesMaster">
      <pc:chgData name="Victor Sanchez" userId="26f73c70b2efd3e2" providerId="LiveId" clId="{66FAA10A-858A-4901-9BC4-4A708FC6DA4A}" dt="2026-10-16T02:50:03.113" v="1554" actId="20577"/>
      <pc:docMkLst>
        <pc:docMk/>
      </pc:docMkLst>
      <pc:sldChg chg="modSp mod modClrScheme chgLayout">
        <pc:chgData name="Victor Sanchez" userId="26f73c70b2efd3e2" providerId="LiveId" clId="{66FAA10A-858A-4901-9BC4-4A708FC6DA4A}" dt="2026-10-16T00:52:33.228" v="1086"/>
        <pc:sldMkLst>
          <pc:docMk/>
          <pc:sldMk cId="0" sldId="257"/>
        </pc:sldMkLst>
        <pc:spChg chg="mod">
          <ac:chgData name="Victor Sanchez" userId="26f73c70b2efd3e2" providerId="LiveId" clId="{66FAA10A-858A-4901-9BC4-4A708FC6DA4A}" dt="2026-10-15T23:27:47.068" v="87" actId="26606"/>
          <ac:spMkLst>
            <pc:docMk/>
            <pc:sldMk cId="0" sldId="257"/>
            <ac:spMk id="2" creationId="{00000000-0000-0000-0000-000000000000}"/>
          </ac:spMkLst>
        </pc:spChg>
        <pc:spChg chg="add mod">
          <ac:chgData name="Victor Sanchez" userId="26f73c70b2efd3e2" providerId="LiveId" clId="{66FAA10A-858A-4901-9BC4-4A708FC6DA4A}" dt="2026-10-15T23:27:47.068" v="87" actId="26606"/>
          <ac:spMkLst>
            <pc:docMk/>
            <pc:sldMk cId="0" sldId="257"/>
            <ac:spMk id="4" creationId="{00000000-0000-0000-0000-000000000000}"/>
          </ac:spMkLst>
        </pc:spChg>
        <pc:spChg chg="mod">
          <ac:chgData name="Victor Sanchez" userId="26f73c70b2efd3e2" providerId="LiveId" clId="{66FAA10A-858A-4901-9BC4-4A708FC6DA4A}" dt="2026-10-16T00:43:20.879" v="1020"/>
          <ac:spMkLst>
            <pc:docMk/>
            <pc:sldMk cId="0" sldId="257"/>
            <ac:spMk id="7" creationId="{00000000-0000-0000-0000-000000000000}"/>
          </ac:spMkLst>
        </pc:spChg>
        <pc:spChg chg="mod">
          <ac:chgData name="Victor Sanchez" userId="26f73c70b2efd3e2" providerId="LiveId" clId="{66FAA10A-858A-4901-9BC4-4A708FC6DA4A}" dt="2026-10-16T00:47:58.225" v="1080" actId="113"/>
          <ac:spMkLst>
            <pc:docMk/>
            <pc:sldMk cId="0" sldId="257"/>
            <ac:spMk id="10" creationId="{00000000-0000-0000-0000-000000000000}"/>
          </ac:spMkLst>
        </pc:spChg>
        <pc:spChg chg="mod">
          <ac:chgData name="Victor Sanchez" userId="26f73c70b2efd3e2" providerId="LiveId" clId="{66FAA10A-858A-4901-9BC4-4A708FC6DA4A}" dt="2026-10-16T00:49:17.461" v="1081"/>
          <ac:spMkLst>
            <pc:docMk/>
            <pc:sldMk cId="0" sldId="257"/>
            <ac:spMk id="13" creationId="{00000000-0000-0000-0000-000000000000}"/>
          </ac:spMkLst>
        </pc:spChg>
        <pc:spChg chg="mod">
          <ac:chgData name="Victor Sanchez" userId="26f73c70b2efd3e2" providerId="LiveId" clId="{66FAA10A-858A-4901-9BC4-4A708FC6DA4A}" dt="2026-10-16T00:50:37.942" v="1082"/>
          <ac:spMkLst>
            <pc:docMk/>
            <pc:sldMk cId="0" sldId="257"/>
            <ac:spMk id="19" creationId="{00000000-0000-0000-0000-000000000000}"/>
          </ac:spMkLst>
        </pc:spChg>
        <pc:spChg chg="mod">
          <ac:chgData name="Victor Sanchez" userId="26f73c70b2efd3e2" providerId="LiveId" clId="{66FAA10A-858A-4901-9BC4-4A708FC6DA4A}" dt="2026-10-16T00:52:03.661" v="1085" actId="20577"/>
          <ac:spMkLst>
            <pc:docMk/>
            <pc:sldMk cId="0" sldId="257"/>
            <ac:spMk id="24" creationId="{00000000-0000-0000-0000-000000000000}"/>
          </ac:spMkLst>
        </pc:spChg>
        <pc:spChg chg="mod">
          <ac:chgData name="Victor Sanchez" userId="26f73c70b2efd3e2" providerId="LiveId" clId="{66FAA10A-858A-4901-9BC4-4A708FC6DA4A}" dt="2026-10-16T00:52:33.228" v="1086"/>
          <ac:spMkLst>
            <pc:docMk/>
            <pc:sldMk cId="0" sldId="257"/>
            <ac:spMk id="26" creationId="{00000000-0000-0000-0000-000000000000}"/>
          </ac:spMkLst>
        </pc:spChg>
      </pc:sldChg>
      <pc:sldChg chg="modSp mod modClrScheme chgLayout">
        <pc:chgData name="Victor Sanchez" userId="26f73c70b2efd3e2" providerId="LiveId" clId="{66FAA10A-858A-4901-9BC4-4A708FC6DA4A}" dt="2026-10-16T00:18:27.395" v="1019" actId="20577"/>
        <pc:sldMkLst>
          <pc:docMk/>
          <pc:sldMk cId="0" sldId="258"/>
        </pc:sldMkLst>
        <pc:spChg chg="mod">
          <ac:chgData name="Victor Sanchez" userId="26f73c70b2efd3e2" providerId="LiveId" clId="{66FAA10A-858A-4901-9BC4-4A708FC6DA4A}" dt="2026-10-15T23:27:47.068" v="87" actId="26606"/>
          <ac:spMkLst>
            <pc:docMk/>
            <pc:sldMk cId="0" sldId="258"/>
            <ac:spMk id="2" creationId="{00000000-0000-0000-0000-000000000000}"/>
          </ac:spMkLst>
        </pc:spChg>
        <pc:spChg chg="mod">
          <ac:chgData name="Victor Sanchez" userId="26f73c70b2efd3e2" providerId="LiveId" clId="{66FAA10A-858A-4901-9BC4-4A708FC6DA4A}" dt="2026-10-15T23:44:06.289" v="506" actId="14100"/>
          <ac:spMkLst>
            <pc:docMk/>
            <pc:sldMk cId="0" sldId="258"/>
            <ac:spMk id="6" creationId="{00000000-0000-0000-0000-000000000000}"/>
          </ac:spMkLst>
        </pc:spChg>
        <pc:spChg chg="mod">
          <ac:chgData name="Victor Sanchez" userId="26f73c70b2efd3e2" providerId="LiveId" clId="{66FAA10A-858A-4901-9BC4-4A708FC6DA4A}" dt="2026-10-15T23:43:36.288" v="505" actId="1035"/>
          <ac:spMkLst>
            <pc:docMk/>
            <pc:sldMk cId="0" sldId="258"/>
            <ac:spMk id="7" creationId="{00000000-0000-0000-0000-000000000000}"/>
          </ac:spMkLst>
        </pc:spChg>
        <pc:spChg chg="mod">
          <ac:chgData name="Victor Sanchez" userId="26f73c70b2efd3e2" providerId="LiveId" clId="{66FAA10A-858A-4901-9BC4-4A708FC6DA4A}" dt="2026-10-15T23:43:36.288" v="505" actId="1035"/>
          <ac:spMkLst>
            <pc:docMk/>
            <pc:sldMk cId="0" sldId="258"/>
            <ac:spMk id="8" creationId="{00000000-0000-0000-0000-000000000000}"/>
          </ac:spMkLst>
        </pc:spChg>
        <pc:spChg chg="mod">
          <ac:chgData name="Victor Sanchez" userId="26f73c70b2efd3e2" providerId="LiveId" clId="{66FAA10A-858A-4901-9BC4-4A708FC6DA4A}" dt="2026-10-16T00:18:27.395" v="1019" actId="20577"/>
          <ac:spMkLst>
            <pc:docMk/>
            <pc:sldMk cId="0" sldId="258"/>
            <ac:spMk id="9" creationId="{00000000-0000-0000-0000-000000000000}"/>
          </ac:spMkLst>
        </pc:spChg>
        <pc:spChg chg="mod">
          <ac:chgData name="Victor Sanchez" userId="26f73c70b2efd3e2" providerId="LiveId" clId="{66FAA10A-858A-4901-9BC4-4A708FC6DA4A}" dt="2026-10-15T23:44:06.289" v="506" actId="14100"/>
          <ac:spMkLst>
            <pc:docMk/>
            <pc:sldMk cId="0" sldId="258"/>
            <ac:spMk id="10" creationId="{00000000-0000-0000-0000-000000000000}"/>
          </ac:spMkLst>
        </pc:spChg>
        <pc:spChg chg="mod">
          <ac:chgData name="Victor Sanchez" userId="26f73c70b2efd3e2" providerId="LiveId" clId="{66FAA10A-858A-4901-9BC4-4A708FC6DA4A}" dt="2026-10-15T23:43:36.288" v="505" actId="1035"/>
          <ac:spMkLst>
            <pc:docMk/>
            <pc:sldMk cId="0" sldId="258"/>
            <ac:spMk id="12" creationId="{00000000-0000-0000-0000-000000000000}"/>
          </ac:spMkLst>
        </pc:spChg>
        <pc:spChg chg="mod">
          <ac:chgData name="Victor Sanchez" userId="26f73c70b2efd3e2" providerId="LiveId" clId="{66FAA10A-858A-4901-9BC4-4A708FC6DA4A}" dt="2026-10-15T23:47:26.119" v="613" actId="255"/>
          <ac:spMkLst>
            <pc:docMk/>
            <pc:sldMk cId="0" sldId="258"/>
            <ac:spMk id="13" creationId="{00000000-0000-0000-0000-000000000000}"/>
          </ac:spMkLst>
        </pc:spChg>
        <pc:spChg chg="mod">
          <ac:chgData name="Victor Sanchez" userId="26f73c70b2efd3e2" providerId="LiveId" clId="{66FAA10A-858A-4901-9BC4-4A708FC6DA4A}" dt="2026-10-15T23:44:06.289" v="506" actId="14100"/>
          <ac:spMkLst>
            <pc:docMk/>
            <pc:sldMk cId="0" sldId="258"/>
            <ac:spMk id="14" creationId="{00000000-0000-0000-0000-000000000000}"/>
          </ac:spMkLst>
        </pc:spChg>
        <pc:spChg chg="mod">
          <ac:chgData name="Victor Sanchez" userId="26f73c70b2efd3e2" providerId="LiveId" clId="{66FAA10A-858A-4901-9BC4-4A708FC6DA4A}" dt="2026-10-15T23:43:36.288" v="505" actId="1035"/>
          <ac:spMkLst>
            <pc:docMk/>
            <pc:sldMk cId="0" sldId="258"/>
            <ac:spMk id="15" creationId="{00000000-0000-0000-0000-000000000000}"/>
          </ac:spMkLst>
        </pc:spChg>
        <pc:spChg chg="mod">
          <ac:chgData name="Victor Sanchez" userId="26f73c70b2efd3e2" providerId="LiveId" clId="{66FAA10A-858A-4901-9BC4-4A708FC6DA4A}" dt="2026-10-15T23:43:36.288" v="505" actId="1035"/>
          <ac:spMkLst>
            <pc:docMk/>
            <pc:sldMk cId="0" sldId="258"/>
            <ac:spMk id="16" creationId="{00000000-0000-0000-0000-000000000000}"/>
          </ac:spMkLst>
        </pc:spChg>
        <pc:spChg chg="mod">
          <ac:chgData name="Victor Sanchez" userId="26f73c70b2efd3e2" providerId="LiveId" clId="{66FAA10A-858A-4901-9BC4-4A708FC6DA4A}" dt="2026-10-15T23:52:37.319" v="939" actId="20577"/>
          <ac:spMkLst>
            <pc:docMk/>
            <pc:sldMk cId="0" sldId="258"/>
            <ac:spMk id="17" creationId="{00000000-0000-0000-0000-000000000000}"/>
          </ac:spMkLst>
        </pc:spChg>
        <pc:spChg chg="mod">
          <ac:chgData name="Victor Sanchez" userId="26f73c70b2efd3e2" providerId="LiveId" clId="{66FAA10A-858A-4901-9BC4-4A708FC6DA4A}" dt="2026-10-15T23:58:09.497" v="951" actId="20577"/>
          <ac:spMkLst>
            <pc:docMk/>
            <pc:sldMk cId="0" sldId="258"/>
            <ac:spMk id="22" creationId="{00000000-0000-0000-0000-000000000000}"/>
          </ac:spMkLst>
        </pc:spChg>
        <pc:spChg chg="add mod">
          <ac:chgData name="Victor Sanchez" userId="26f73c70b2efd3e2" providerId="LiveId" clId="{66FAA10A-858A-4901-9BC4-4A708FC6DA4A}" dt="2026-10-15T23:27:47.068" v="87" actId="26606"/>
          <ac:spMkLst>
            <pc:docMk/>
            <pc:sldMk cId="0" sldId="258"/>
            <ac:spMk id="25" creationId="{00000000-0000-0000-0000-000000000000}"/>
          </ac:spMkLst>
        </pc:spChg>
      </pc:sldChg>
      <pc:sldChg chg="modSp mod modClrScheme chgLayout">
        <pc:chgData name="Victor Sanchez" userId="26f73c70b2efd3e2" providerId="LiveId" clId="{66FAA10A-858A-4901-9BC4-4A708FC6DA4A}" dt="2026-10-16T00:54:32.462" v="1087" actId="33524"/>
        <pc:sldMkLst>
          <pc:docMk/>
          <pc:sldMk cId="0" sldId="259"/>
        </pc:sldMkLst>
        <pc:spChg chg="mod">
          <ac:chgData name="Victor Sanchez" userId="26f73c70b2efd3e2" providerId="LiveId" clId="{66FAA10A-858A-4901-9BC4-4A708FC6DA4A}" dt="2026-10-15T23:27:47.068" v="87" actId="26606"/>
          <ac:spMkLst>
            <pc:docMk/>
            <pc:sldMk cId="0" sldId="259"/>
            <ac:spMk id="2" creationId="{00000000-0000-0000-0000-000000000000}"/>
          </ac:spMkLst>
        </pc:spChg>
        <pc:spChg chg="add mod">
          <ac:chgData name="Victor Sanchez" userId="26f73c70b2efd3e2" providerId="LiveId" clId="{66FAA10A-858A-4901-9BC4-4A708FC6DA4A}" dt="2026-10-15T23:27:47.068" v="87" actId="26606"/>
          <ac:spMkLst>
            <pc:docMk/>
            <pc:sldMk cId="0" sldId="259"/>
            <ac:spMk id="4" creationId="{00000000-0000-0000-0000-000000000000}"/>
          </ac:spMkLst>
        </pc:spChg>
        <pc:spChg chg="mod">
          <ac:chgData name="Victor Sanchez" userId="26f73c70b2efd3e2" providerId="LiveId" clId="{66FAA10A-858A-4901-9BC4-4A708FC6DA4A}" dt="2026-10-16T00:54:32.462" v="1087" actId="33524"/>
          <ac:spMkLst>
            <pc:docMk/>
            <pc:sldMk cId="0" sldId="259"/>
            <ac:spMk id="13" creationId="{00000000-0000-0000-0000-000000000000}"/>
          </ac:spMkLst>
        </pc:spChg>
      </pc:sldChg>
      <pc:sldChg chg="modSp mod modClrScheme chgLayout">
        <pc:chgData name="Victor Sanchez" userId="26f73c70b2efd3e2" providerId="LiveId" clId="{66FAA10A-858A-4901-9BC4-4A708FC6DA4A}" dt="2026-10-16T01:05:20.520" v="1136" actId="207"/>
        <pc:sldMkLst>
          <pc:docMk/>
          <pc:sldMk cId="0" sldId="260"/>
        </pc:sldMkLst>
        <pc:spChg chg="mod">
          <ac:chgData name="Victor Sanchez" userId="26f73c70b2efd3e2" providerId="LiveId" clId="{66FAA10A-858A-4901-9BC4-4A708FC6DA4A}" dt="2026-10-15T23:27:47.068" v="87" actId="26606"/>
          <ac:spMkLst>
            <pc:docMk/>
            <pc:sldMk cId="0" sldId="260"/>
            <ac:spMk id="2" creationId="{00000000-0000-0000-0000-000000000000}"/>
          </ac:spMkLst>
        </pc:spChg>
        <pc:spChg chg="add mod">
          <ac:chgData name="Victor Sanchez" userId="26f73c70b2efd3e2" providerId="LiveId" clId="{66FAA10A-858A-4901-9BC4-4A708FC6DA4A}" dt="2026-10-15T23:27:47.068" v="87" actId="26606"/>
          <ac:spMkLst>
            <pc:docMk/>
            <pc:sldMk cId="0" sldId="260"/>
            <ac:spMk id="25" creationId="{00000000-0000-0000-0000-000000000000}"/>
          </ac:spMkLst>
        </pc:spChg>
        <pc:graphicFrameChg chg="mod modGraphic">
          <ac:chgData name="Victor Sanchez" userId="26f73c70b2efd3e2" providerId="LiveId" clId="{66FAA10A-858A-4901-9BC4-4A708FC6DA4A}" dt="2026-10-16T01:05:20.520" v="1136" actId="207"/>
          <ac:graphicFrameMkLst>
            <pc:docMk/>
            <pc:sldMk cId="0" sldId="260"/>
            <ac:graphicFrameMk id="6" creationId="{00000000-0000-0000-0000-000000000000}"/>
          </ac:graphicFrameMkLst>
        </pc:graphicFrameChg>
      </pc:sldChg>
      <pc:sldChg chg="modSp mod modClrScheme chgLayout">
        <pc:chgData name="Victor Sanchez" userId="26f73c70b2efd3e2" providerId="LiveId" clId="{66FAA10A-858A-4901-9BC4-4A708FC6DA4A}" dt="2026-10-16T01:28:44.243" v="1153" actId="255"/>
        <pc:sldMkLst>
          <pc:docMk/>
          <pc:sldMk cId="0" sldId="261"/>
        </pc:sldMkLst>
        <pc:spChg chg="mod">
          <ac:chgData name="Victor Sanchez" userId="26f73c70b2efd3e2" providerId="LiveId" clId="{66FAA10A-858A-4901-9BC4-4A708FC6DA4A}" dt="2026-10-15T23:27:47.068" v="87" actId="26606"/>
          <ac:spMkLst>
            <pc:docMk/>
            <pc:sldMk cId="0" sldId="261"/>
            <ac:spMk id="2" creationId="{00000000-0000-0000-0000-000000000000}"/>
          </ac:spMkLst>
        </pc:spChg>
        <pc:spChg chg="add mod">
          <ac:chgData name="Victor Sanchez" userId="26f73c70b2efd3e2" providerId="LiveId" clId="{66FAA10A-858A-4901-9BC4-4A708FC6DA4A}" dt="2026-10-15T23:27:47.068" v="87" actId="26606"/>
          <ac:spMkLst>
            <pc:docMk/>
            <pc:sldMk cId="0" sldId="261"/>
            <ac:spMk id="4" creationId="{00000000-0000-0000-0000-000000000000}"/>
          </ac:spMkLst>
        </pc:spChg>
        <pc:spChg chg="mod">
          <ac:chgData name="Victor Sanchez" userId="26f73c70b2efd3e2" providerId="LiveId" clId="{66FAA10A-858A-4901-9BC4-4A708FC6DA4A}" dt="2026-10-16T01:17:10.038" v="1140" actId="20577"/>
          <ac:spMkLst>
            <pc:docMk/>
            <pc:sldMk cId="0" sldId="261"/>
            <ac:spMk id="8" creationId="{00000000-0000-0000-0000-000000000000}"/>
          </ac:spMkLst>
        </pc:spChg>
        <pc:spChg chg="mod">
          <ac:chgData name="Victor Sanchez" userId="26f73c70b2efd3e2" providerId="LiveId" clId="{66FAA10A-858A-4901-9BC4-4A708FC6DA4A}" dt="2026-10-16T01:25:43.511" v="1141"/>
          <ac:spMkLst>
            <pc:docMk/>
            <pc:sldMk cId="0" sldId="261"/>
            <ac:spMk id="28" creationId="{00000000-0000-0000-0000-000000000000}"/>
          </ac:spMkLst>
        </pc:spChg>
        <pc:spChg chg="mod">
          <ac:chgData name="Victor Sanchez" userId="26f73c70b2efd3e2" providerId="LiveId" clId="{66FAA10A-858A-4901-9BC4-4A708FC6DA4A}" dt="2026-10-16T01:26:07.911" v="1142"/>
          <ac:spMkLst>
            <pc:docMk/>
            <pc:sldMk cId="0" sldId="261"/>
            <ac:spMk id="33" creationId="{00000000-0000-0000-0000-000000000000}"/>
          </ac:spMkLst>
        </pc:spChg>
        <pc:spChg chg="mod">
          <ac:chgData name="Victor Sanchez" userId="26f73c70b2efd3e2" providerId="LiveId" clId="{66FAA10A-858A-4901-9BC4-4A708FC6DA4A}" dt="2026-10-16T01:28:44.243" v="1153" actId="255"/>
          <ac:spMkLst>
            <pc:docMk/>
            <pc:sldMk cId="0" sldId="261"/>
            <ac:spMk id="35" creationId="{00000000-0000-0000-0000-000000000000}"/>
          </ac:spMkLst>
        </pc:spChg>
        <pc:spChg chg="mod">
          <ac:chgData name="Victor Sanchez" userId="26f73c70b2efd3e2" providerId="LiveId" clId="{66FAA10A-858A-4901-9BC4-4A708FC6DA4A}" dt="2026-10-16T01:28:30.824" v="1150" actId="255"/>
          <ac:spMkLst>
            <pc:docMk/>
            <pc:sldMk cId="0" sldId="261"/>
            <ac:spMk id="37" creationId="{00000000-0000-0000-0000-000000000000}"/>
          </ac:spMkLst>
        </pc:spChg>
        <pc:spChg chg="mod">
          <ac:chgData name="Victor Sanchez" userId="26f73c70b2efd3e2" providerId="LiveId" clId="{66FAA10A-858A-4901-9BC4-4A708FC6DA4A}" dt="2026-10-16T01:28:24.282" v="1149" actId="255"/>
          <ac:spMkLst>
            <pc:docMk/>
            <pc:sldMk cId="0" sldId="261"/>
            <ac:spMk id="39"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2"/>
        </pc:sldMkLst>
        <pc:spChg chg="mod">
          <ac:chgData name="Victor Sanchez" userId="26f73c70b2efd3e2" providerId="LiveId" clId="{66FAA10A-858A-4901-9BC4-4A708FC6DA4A}" dt="2026-10-15T23:27:47.068" v="87" actId="26606"/>
          <ac:spMkLst>
            <pc:docMk/>
            <pc:sldMk cId="0" sldId="262"/>
            <ac:spMk id="2" creationId="{00000000-0000-0000-0000-000000000000}"/>
          </ac:spMkLst>
        </pc:spChg>
        <pc:spChg chg="add mod">
          <ac:chgData name="Victor Sanchez" userId="26f73c70b2efd3e2" providerId="LiveId" clId="{66FAA10A-858A-4901-9BC4-4A708FC6DA4A}" dt="2026-10-15T23:27:47.068" v="87" actId="26606"/>
          <ac:spMkLst>
            <pc:docMk/>
            <pc:sldMk cId="0" sldId="262"/>
            <ac:spMk id="25" creationId="{00000000-0000-0000-0000-000000000000}"/>
          </ac:spMkLst>
        </pc:spChg>
      </pc:sldChg>
      <pc:sldChg chg="modSp mod modClrScheme chgLayout">
        <pc:chgData name="Victor Sanchez" userId="26f73c70b2efd3e2" providerId="LiveId" clId="{66FAA10A-858A-4901-9BC4-4A708FC6DA4A}" dt="2026-10-16T02:37:27.706" v="1511" actId="113"/>
        <pc:sldMkLst>
          <pc:docMk/>
          <pc:sldMk cId="0" sldId="263"/>
        </pc:sldMkLst>
        <pc:spChg chg="mod">
          <ac:chgData name="Victor Sanchez" userId="26f73c70b2efd3e2" providerId="LiveId" clId="{66FAA10A-858A-4901-9BC4-4A708FC6DA4A}" dt="2026-10-15T23:27:47.068" v="87" actId="26606"/>
          <ac:spMkLst>
            <pc:docMk/>
            <pc:sldMk cId="0" sldId="263"/>
            <ac:spMk id="2" creationId="{00000000-0000-0000-0000-000000000000}"/>
          </ac:spMkLst>
        </pc:spChg>
        <pc:spChg chg="add mod">
          <ac:chgData name="Victor Sanchez" userId="26f73c70b2efd3e2" providerId="LiveId" clId="{66FAA10A-858A-4901-9BC4-4A708FC6DA4A}" dt="2026-10-15T23:27:47.068" v="87" actId="26606"/>
          <ac:spMkLst>
            <pc:docMk/>
            <pc:sldMk cId="0" sldId="263"/>
            <ac:spMk id="4" creationId="{00000000-0000-0000-0000-000000000000}"/>
          </ac:spMkLst>
        </pc:spChg>
        <pc:spChg chg="mod">
          <ac:chgData name="Victor Sanchez" userId="26f73c70b2efd3e2" providerId="LiveId" clId="{66FAA10A-858A-4901-9BC4-4A708FC6DA4A}" dt="2026-10-16T02:34:59.248" v="1502" actId="255"/>
          <ac:spMkLst>
            <pc:docMk/>
            <pc:sldMk cId="0" sldId="263"/>
            <ac:spMk id="8" creationId="{00000000-0000-0000-0000-000000000000}"/>
          </ac:spMkLst>
        </pc:spChg>
        <pc:spChg chg="mod">
          <ac:chgData name="Victor Sanchez" userId="26f73c70b2efd3e2" providerId="LiveId" clId="{66FAA10A-858A-4901-9BC4-4A708FC6DA4A}" dt="2026-10-16T02:35:10.431" v="1505" actId="20577"/>
          <ac:spMkLst>
            <pc:docMk/>
            <pc:sldMk cId="0" sldId="263"/>
            <ac:spMk id="12" creationId="{00000000-0000-0000-0000-000000000000}"/>
          </ac:spMkLst>
        </pc:spChg>
        <pc:spChg chg="mod">
          <ac:chgData name="Victor Sanchez" userId="26f73c70b2efd3e2" providerId="LiveId" clId="{66FAA10A-858A-4901-9BC4-4A708FC6DA4A}" dt="2026-10-16T02:35:31.371" v="1506"/>
          <ac:spMkLst>
            <pc:docMk/>
            <pc:sldMk cId="0" sldId="263"/>
            <ac:spMk id="16" creationId="{00000000-0000-0000-0000-000000000000}"/>
          </ac:spMkLst>
        </pc:spChg>
        <pc:spChg chg="mod">
          <ac:chgData name="Victor Sanchez" userId="26f73c70b2efd3e2" providerId="LiveId" clId="{66FAA10A-858A-4901-9BC4-4A708FC6DA4A}" dt="2026-10-16T02:32:52.526" v="1494"/>
          <ac:spMkLst>
            <pc:docMk/>
            <pc:sldMk cId="0" sldId="263"/>
            <ac:spMk id="18" creationId="{00000000-0000-0000-0000-000000000000}"/>
          </ac:spMkLst>
        </pc:spChg>
        <pc:spChg chg="mod">
          <ac:chgData name="Victor Sanchez" userId="26f73c70b2efd3e2" providerId="LiveId" clId="{66FAA10A-858A-4901-9BC4-4A708FC6DA4A}" dt="2026-10-16T02:35:59.112" v="1507"/>
          <ac:spMkLst>
            <pc:docMk/>
            <pc:sldMk cId="0" sldId="263"/>
            <ac:spMk id="22" creationId="{00000000-0000-0000-0000-000000000000}"/>
          </ac:spMkLst>
        </pc:spChg>
        <pc:spChg chg="mod">
          <ac:chgData name="Victor Sanchez" userId="26f73c70b2efd3e2" providerId="LiveId" clId="{66FAA10A-858A-4901-9BC4-4A708FC6DA4A}" dt="2026-10-16T02:36:08.258" v="1508"/>
          <ac:spMkLst>
            <pc:docMk/>
            <pc:sldMk cId="0" sldId="263"/>
            <ac:spMk id="23" creationId="{00000000-0000-0000-0000-000000000000}"/>
          </ac:spMkLst>
        </pc:spChg>
        <pc:spChg chg="mod">
          <ac:chgData name="Victor Sanchez" userId="26f73c70b2efd3e2" providerId="LiveId" clId="{66FAA10A-858A-4901-9BC4-4A708FC6DA4A}" dt="2026-10-16T02:36:19.148" v="1509"/>
          <ac:spMkLst>
            <pc:docMk/>
            <pc:sldMk cId="0" sldId="263"/>
            <ac:spMk id="24" creationId="{00000000-0000-0000-0000-000000000000}"/>
          </ac:spMkLst>
        </pc:spChg>
        <pc:spChg chg="mod">
          <ac:chgData name="Victor Sanchez" userId="26f73c70b2efd3e2" providerId="LiveId" clId="{66FAA10A-858A-4901-9BC4-4A708FC6DA4A}" dt="2026-10-16T02:37:27.706" v="1511" actId="113"/>
          <ac:spMkLst>
            <pc:docMk/>
            <pc:sldMk cId="0" sldId="263"/>
            <ac:spMk id="26" creationId="{00000000-0000-0000-0000-000000000000}"/>
          </ac:spMkLst>
        </pc:spChg>
      </pc:sldChg>
      <pc:sldChg chg="modSp mod modClrScheme chgLayout">
        <pc:chgData name="Victor Sanchez" userId="26f73c70b2efd3e2" providerId="LiveId" clId="{66FAA10A-858A-4901-9BC4-4A708FC6DA4A}" dt="2026-10-16T02:43:43.294" v="1534"/>
        <pc:sldMkLst>
          <pc:docMk/>
          <pc:sldMk cId="0" sldId="264"/>
        </pc:sldMkLst>
        <pc:spChg chg="mod">
          <ac:chgData name="Victor Sanchez" userId="26f73c70b2efd3e2" providerId="LiveId" clId="{66FAA10A-858A-4901-9BC4-4A708FC6DA4A}" dt="2026-10-15T23:27:47.068" v="87" actId="26606"/>
          <ac:spMkLst>
            <pc:docMk/>
            <pc:sldMk cId="0" sldId="264"/>
            <ac:spMk id="2" creationId="{00000000-0000-0000-0000-000000000000}"/>
          </ac:spMkLst>
        </pc:spChg>
        <pc:spChg chg="mod">
          <ac:chgData name="Victor Sanchez" userId="26f73c70b2efd3e2" providerId="LiveId" clId="{66FAA10A-858A-4901-9BC4-4A708FC6DA4A}" dt="2026-10-16T02:41:27.693" v="1523" actId="255"/>
          <ac:spMkLst>
            <pc:docMk/>
            <pc:sldMk cId="0" sldId="264"/>
            <ac:spMk id="10" creationId="{00000000-0000-0000-0000-000000000000}"/>
          </ac:spMkLst>
        </pc:spChg>
        <pc:spChg chg="mod">
          <ac:chgData name="Victor Sanchez" userId="26f73c70b2efd3e2" providerId="LiveId" clId="{66FAA10A-858A-4901-9BC4-4A708FC6DA4A}" dt="2026-10-16T02:41:33.851" v="1524" actId="255"/>
          <ac:spMkLst>
            <pc:docMk/>
            <pc:sldMk cId="0" sldId="264"/>
            <ac:spMk id="12" creationId="{00000000-0000-0000-0000-000000000000}"/>
          </ac:spMkLst>
        </pc:spChg>
        <pc:spChg chg="mod">
          <ac:chgData name="Victor Sanchez" userId="26f73c70b2efd3e2" providerId="LiveId" clId="{66FAA10A-858A-4901-9BC4-4A708FC6DA4A}" dt="2026-10-16T02:41:23.047" v="1522" actId="255"/>
          <ac:spMkLst>
            <pc:docMk/>
            <pc:sldMk cId="0" sldId="264"/>
            <ac:spMk id="14" creationId="{00000000-0000-0000-0000-000000000000}"/>
          </ac:spMkLst>
        </pc:spChg>
        <pc:spChg chg="mod">
          <ac:chgData name="Victor Sanchez" userId="26f73c70b2efd3e2" providerId="LiveId" clId="{66FAA10A-858A-4901-9BC4-4A708FC6DA4A}" dt="2026-10-16T02:42:26.347" v="1530"/>
          <ac:spMkLst>
            <pc:docMk/>
            <pc:sldMk cId="0" sldId="264"/>
            <ac:spMk id="16" creationId="{00000000-0000-0000-0000-000000000000}"/>
          </ac:spMkLst>
        </pc:spChg>
        <pc:spChg chg="mod">
          <ac:chgData name="Victor Sanchez" userId="26f73c70b2efd3e2" providerId="LiveId" clId="{66FAA10A-858A-4901-9BC4-4A708FC6DA4A}" dt="2026-10-16T02:43:43.294" v="1534"/>
          <ac:spMkLst>
            <pc:docMk/>
            <pc:sldMk cId="0" sldId="264"/>
            <ac:spMk id="20" creationId="{00000000-0000-0000-0000-000000000000}"/>
          </ac:spMkLst>
        </pc:spChg>
        <pc:spChg chg="add mod">
          <ac:chgData name="Victor Sanchez" userId="26f73c70b2efd3e2" providerId="LiveId" clId="{66FAA10A-858A-4901-9BC4-4A708FC6DA4A}" dt="2026-10-15T23:27:47.068" v="87" actId="26606"/>
          <ac:spMkLst>
            <pc:docMk/>
            <pc:sldMk cId="0" sldId="264"/>
            <ac:spMk id="25" creationId="{00000000-0000-0000-0000-000000000000}"/>
          </ac:spMkLst>
        </pc:spChg>
      </pc:sldChg>
      <pc:sldChg chg="addSp modSp mod modClrScheme chgLayout">
        <pc:chgData name="Victor Sanchez" userId="26f73c70b2efd3e2" providerId="LiveId" clId="{66FAA10A-858A-4901-9BC4-4A708FC6DA4A}" dt="2026-10-16T01:40:10.762" v="1265"/>
        <pc:sldMkLst>
          <pc:docMk/>
          <pc:sldMk cId="0" sldId="265"/>
        </pc:sldMkLst>
        <pc:spChg chg="mod">
          <ac:chgData name="Victor Sanchez" userId="26f73c70b2efd3e2" providerId="LiveId" clId="{66FAA10A-858A-4901-9BC4-4A708FC6DA4A}" dt="2026-10-16T01:32:12.620" v="1164" actId="6549"/>
          <ac:spMkLst>
            <pc:docMk/>
            <pc:sldMk cId="0" sldId="265"/>
            <ac:spMk id="2" creationId="{00000000-0000-0000-0000-000000000000}"/>
          </ac:spMkLst>
        </pc:spChg>
        <pc:spChg chg="mod">
          <ac:chgData name="Victor Sanchez" userId="26f73c70b2efd3e2" providerId="LiveId" clId="{66FAA10A-858A-4901-9BC4-4A708FC6DA4A}" dt="2026-10-16T01:33:03.459" v="1236" actId="14100"/>
          <ac:spMkLst>
            <pc:docMk/>
            <pc:sldMk cId="0" sldId="265"/>
            <ac:spMk id="3" creationId="{00000000-0000-0000-0000-000000000000}"/>
          </ac:spMkLst>
        </pc:spChg>
        <pc:spChg chg="add mod">
          <ac:chgData name="Victor Sanchez" userId="26f73c70b2efd3e2" providerId="LiveId" clId="{66FAA10A-858A-4901-9BC4-4A708FC6DA4A}" dt="2026-10-15T23:27:47.068" v="87" actId="26606"/>
          <ac:spMkLst>
            <pc:docMk/>
            <pc:sldMk cId="0" sldId="265"/>
            <ac:spMk id="4" creationId="{00000000-0000-0000-0000-000000000000}"/>
          </ac:spMkLst>
        </pc:spChg>
        <pc:spChg chg="mod">
          <ac:chgData name="Victor Sanchez" userId="26f73c70b2efd3e2" providerId="LiveId" clId="{66FAA10A-858A-4901-9BC4-4A708FC6DA4A}" dt="2026-10-16T01:34:50.843" v="1242"/>
          <ac:spMkLst>
            <pc:docMk/>
            <pc:sldMk cId="0" sldId="265"/>
            <ac:spMk id="8" creationId="{00000000-0000-0000-0000-000000000000}"/>
          </ac:spMkLst>
        </pc:spChg>
        <pc:spChg chg="mod">
          <ac:chgData name="Victor Sanchez" userId="26f73c70b2efd3e2" providerId="LiveId" clId="{66FAA10A-858A-4901-9BC4-4A708FC6DA4A}" dt="2026-10-16T01:35:06.127" v="1243"/>
          <ac:spMkLst>
            <pc:docMk/>
            <pc:sldMk cId="0" sldId="265"/>
            <ac:spMk id="12" creationId="{00000000-0000-0000-0000-000000000000}"/>
          </ac:spMkLst>
        </pc:spChg>
        <pc:spChg chg="mod">
          <ac:chgData name="Victor Sanchez" userId="26f73c70b2efd3e2" providerId="LiveId" clId="{66FAA10A-858A-4901-9BC4-4A708FC6DA4A}" dt="2026-10-16T01:35:32.923" v="1244"/>
          <ac:spMkLst>
            <pc:docMk/>
            <pc:sldMk cId="0" sldId="265"/>
            <ac:spMk id="16" creationId="{00000000-0000-0000-0000-000000000000}"/>
          </ac:spMkLst>
        </pc:spChg>
        <pc:spChg chg="mod">
          <ac:chgData name="Victor Sanchez" userId="26f73c70b2efd3e2" providerId="LiveId" clId="{66FAA10A-858A-4901-9BC4-4A708FC6DA4A}" dt="2026-10-16T01:35:47.020" v="1245"/>
          <ac:spMkLst>
            <pc:docMk/>
            <pc:sldMk cId="0" sldId="265"/>
            <ac:spMk id="20" creationId="{00000000-0000-0000-0000-000000000000}"/>
          </ac:spMkLst>
        </pc:spChg>
        <pc:spChg chg="mod">
          <ac:chgData name="Victor Sanchez" userId="26f73c70b2efd3e2" providerId="LiveId" clId="{66FAA10A-858A-4901-9BC4-4A708FC6DA4A}" dt="2026-10-16T01:36:27.623" v="1246"/>
          <ac:spMkLst>
            <pc:docMk/>
            <pc:sldMk cId="0" sldId="265"/>
            <ac:spMk id="28" creationId="{00000000-0000-0000-0000-000000000000}"/>
          </ac:spMkLst>
        </pc:spChg>
        <pc:spChg chg="mod">
          <ac:chgData name="Victor Sanchez" userId="26f73c70b2efd3e2" providerId="LiveId" clId="{66FAA10A-858A-4901-9BC4-4A708FC6DA4A}" dt="2026-10-16T01:36:45.269" v="1247"/>
          <ac:spMkLst>
            <pc:docMk/>
            <pc:sldMk cId="0" sldId="265"/>
            <ac:spMk id="32" creationId="{00000000-0000-0000-0000-000000000000}"/>
          </ac:spMkLst>
        </pc:spChg>
        <pc:spChg chg="mod">
          <ac:chgData name="Victor Sanchez" userId="26f73c70b2efd3e2" providerId="LiveId" clId="{66FAA10A-858A-4901-9BC4-4A708FC6DA4A}" dt="2026-10-16T01:37:13.990" v="1248"/>
          <ac:spMkLst>
            <pc:docMk/>
            <pc:sldMk cId="0" sldId="265"/>
            <ac:spMk id="35" creationId="{00000000-0000-0000-0000-000000000000}"/>
          </ac:spMkLst>
        </pc:spChg>
        <pc:spChg chg="mod">
          <ac:chgData name="Victor Sanchez" userId="26f73c70b2efd3e2" providerId="LiveId" clId="{66FAA10A-858A-4901-9BC4-4A708FC6DA4A}" dt="2026-10-16T01:37:30.664" v="1249"/>
          <ac:spMkLst>
            <pc:docMk/>
            <pc:sldMk cId="0" sldId="265"/>
            <ac:spMk id="36" creationId="{00000000-0000-0000-0000-000000000000}"/>
          </ac:spMkLst>
        </pc:spChg>
        <pc:spChg chg="mod">
          <ac:chgData name="Victor Sanchez" userId="26f73c70b2efd3e2" providerId="LiveId" clId="{66FAA10A-858A-4901-9BC4-4A708FC6DA4A}" dt="2026-10-16T01:40:10.762" v="1265"/>
          <ac:spMkLst>
            <pc:docMk/>
            <pc:sldMk cId="0" sldId="265"/>
            <ac:spMk id="40" creationId="{00000000-0000-0000-0000-000000000000}"/>
          </ac:spMkLst>
        </pc:spChg>
        <pc:graphicFrameChg chg="add mod">
          <ac:chgData name="Victor Sanchez" userId="26f73c70b2efd3e2" providerId="LiveId" clId="{66FAA10A-858A-4901-9BC4-4A708FC6DA4A}" dt="2026-10-16T01:34:45.277" v="1241"/>
          <ac:graphicFrameMkLst>
            <pc:docMk/>
            <pc:sldMk cId="0" sldId="265"/>
            <ac:graphicFrameMk id="41" creationId="{A92A1EFD-B833-7B4C-C66B-8954C6CC4AA8}"/>
          </ac:graphicFrameMkLst>
        </pc:graphicFrameChg>
        <pc:graphicFrameChg chg="add mod">
          <ac:chgData name="Victor Sanchez" userId="26f73c70b2efd3e2" providerId="LiveId" clId="{66FAA10A-858A-4901-9BC4-4A708FC6DA4A}" dt="2026-10-16T01:34:45.277" v="1241"/>
          <ac:graphicFrameMkLst>
            <pc:docMk/>
            <pc:sldMk cId="0" sldId="265"/>
            <ac:graphicFrameMk id="42" creationId="{54002A6C-257D-32A4-8CEC-41405A192414}"/>
          </ac:graphicFrameMkLst>
        </pc:graphicFrameChg>
      </pc:sldChg>
      <pc:sldChg chg="addSp delSp modSp mod modClrScheme chgLayout">
        <pc:chgData name="Victor Sanchez" userId="26f73c70b2efd3e2" providerId="LiveId" clId="{66FAA10A-858A-4901-9BC4-4A708FC6DA4A}" dt="2026-10-16T01:33:31.784" v="1240" actId="22"/>
        <pc:sldMkLst>
          <pc:docMk/>
          <pc:sldMk cId="0" sldId="266"/>
        </pc:sldMkLst>
        <pc:spChg chg="mod">
          <ac:chgData name="Victor Sanchez" userId="26f73c70b2efd3e2" providerId="LiveId" clId="{66FAA10A-858A-4901-9BC4-4A708FC6DA4A}" dt="2026-10-15T23:27:47.068" v="87" actId="26606"/>
          <ac:spMkLst>
            <pc:docMk/>
            <pc:sldMk cId="0" sldId="266"/>
            <ac:spMk id="2" creationId="{00000000-0000-0000-0000-000000000000}"/>
          </ac:spMkLst>
        </pc:spChg>
        <pc:spChg chg="del">
          <ac:chgData name="Victor Sanchez" userId="26f73c70b2efd3e2" providerId="LiveId" clId="{66FAA10A-858A-4901-9BC4-4A708FC6DA4A}" dt="2026-10-16T01:33:09.622" v="1237" actId="478"/>
          <ac:spMkLst>
            <pc:docMk/>
            <pc:sldMk cId="0" sldId="266"/>
            <ac:spMk id="3" creationId="{00000000-0000-0000-0000-000000000000}"/>
          </ac:spMkLst>
        </pc:spChg>
        <pc:spChg chg="add mod">
          <ac:chgData name="Victor Sanchez" userId="26f73c70b2efd3e2" providerId="LiveId" clId="{66FAA10A-858A-4901-9BC4-4A708FC6DA4A}" dt="2026-10-15T23:27:47.068" v="87" actId="26606"/>
          <ac:spMkLst>
            <pc:docMk/>
            <pc:sldMk cId="0" sldId="266"/>
            <ac:spMk id="4" creationId="{00000000-0000-0000-0000-000000000000}"/>
          </ac:spMkLst>
        </pc:spChg>
        <pc:spChg chg="add">
          <ac:chgData name="Victor Sanchez" userId="26f73c70b2efd3e2" providerId="LiveId" clId="{66FAA10A-858A-4901-9BC4-4A708FC6DA4A}" dt="2026-10-16T01:33:31.784" v="1240" actId="22"/>
          <ac:spMkLst>
            <pc:docMk/>
            <pc:sldMk cId="0" sldId="266"/>
            <ac:spMk id="39" creationId="{A13D61BC-FED3-6009-1EDB-3C0EA149B9D3}"/>
          </ac:spMkLst>
        </pc:spChg>
      </pc:sldChg>
      <pc:sldChg chg="modSp mod modClrScheme chgLayout">
        <pc:chgData name="Victor Sanchez" userId="26f73c70b2efd3e2" providerId="LiveId" clId="{66FAA10A-858A-4901-9BC4-4A708FC6DA4A}" dt="2026-10-16T02:50:03.113" v="1554" actId="20577"/>
        <pc:sldMkLst>
          <pc:docMk/>
          <pc:sldMk cId="0" sldId="267"/>
        </pc:sldMkLst>
        <pc:spChg chg="mod">
          <ac:chgData name="Victor Sanchez" userId="26f73c70b2efd3e2" providerId="LiveId" clId="{66FAA10A-858A-4901-9BC4-4A708FC6DA4A}" dt="2026-10-16T02:46:36.370" v="1535"/>
          <ac:spMkLst>
            <pc:docMk/>
            <pc:sldMk cId="0" sldId="267"/>
            <ac:spMk id="2" creationId="{00000000-0000-0000-0000-000000000000}"/>
          </ac:spMkLst>
        </pc:spChg>
        <pc:spChg chg="mod">
          <ac:chgData name="Victor Sanchez" userId="26f73c70b2efd3e2" providerId="LiveId" clId="{66FAA10A-858A-4901-9BC4-4A708FC6DA4A}" dt="2026-10-16T02:48:31.165" v="1542" actId="255"/>
          <ac:spMkLst>
            <pc:docMk/>
            <pc:sldMk cId="0" sldId="267"/>
            <ac:spMk id="10" creationId="{00000000-0000-0000-0000-000000000000}"/>
          </ac:spMkLst>
        </pc:spChg>
        <pc:spChg chg="mod">
          <ac:chgData name="Victor Sanchez" userId="26f73c70b2efd3e2" providerId="LiveId" clId="{66FAA10A-858A-4901-9BC4-4A708FC6DA4A}" dt="2026-10-16T02:48:37.198" v="1543" actId="255"/>
          <ac:spMkLst>
            <pc:docMk/>
            <pc:sldMk cId="0" sldId="267"/>
            <ac:spMk id="12" creationId="{00000000-0000-0000-0000-000000000000}"/>
          </ac:spMkLst>
        </pc:spChg>
        <pc:spChg chg="mod">
          <ac:chgData name="Victor Sanchez" userId="26f73c70b2efd3e2" providerId="LiveId" clId="{66FAA10A-858A-4901-9BC4-4A708FC6DA4A}" dt="2026-10-16T02:48:26.268" v="1541" actId="255"/>
          <ac:spMkLst>
            <pc:docMk/>
            <pc:sldMk cId="0" sldId="267"/>
            <ac:spMk id="14" creationId="{00000000-0000-0000-0000-000000000000}"/>
          </ac:spMkLst>
        </pc:spChg>
        <pc:spChg chg="mod">
          <ac:chgData name="Victor Sanchez" userId="26f73c70b2efd3e2" providerId="LiveId" clId="{66FAA10A-858A-4901-9BC4-4A708FC6DA4A}" dt="2026-10-16T02:49:22.567" v="1549" actId="20577"/>
          <ac:spMkLst>
            <pc:docMk/>
            <pc:sldMk cId="0" sldId="267"/>
            <ac:spMk id="16" creationId="{00000000-0000-0000-0000-000000000000}"/>
          </ac:spMkLst>
        </pc:spChg>
        <pc:spChg chg="mod">
          <ac:chgData name="Victor Sanchez" userId="26f73c70b2efd3e2" providerId="LiveId" clId="{66FAA10A-858A-4901-9BC4-4A708FC6DA4A}" dt="2026-10-16T02:49:55.250" v="1551" actId="1076"/>
          <ac:spMkLst>
            <pc:docMk/>
            <pc:sldMk cId="0" sldId="267"/>
            <ac:spMk id="19" creationId="{00000000-0000-0000-0000-000000000000}"/>
          </ac:spMkLst>
        </pc:spChg>
        <pc:spChg chg="mod">
          <ac:chgData name="Victor Sanchez" userId="26f73c70b2efd3e2" providerId="LiveId" clId="{66FAA10A-858A-4901-9BC4-4A708FC6DA4A}" dt="2026-10-16T02:50:03.113" v="1554" actId="20577"/>
          <ac:spMkLst>
            <pc:docMk/>
            <pc:sldMk cId="0" sldId="267"/>
            <ac:spMk id="20" creationId="{00000000-0000-0000-0000-000000000000}"/>
          </ac:spMkLst>
        </pc:spChg>
        <pc:spChg chg="add mod">
          <ac:chgData name="Victor Sanchez" userId="26f73c70b2efd3e2" providerId="LiveId" clId="{66FAA10A-858A-4901-9BC4-4A708FC6DA4A}" dt="2026-10-15T23:27:47.068" v="87" actId="26606"/>
          <ac:spMkLst>
            <pc:docMk/>
            <pc:sldMk cId="0" sldId="267"/>
            <ac:spMk id="25" creationId="{00000000-0000-0000-0000-000000000000}"/>
          </ac:spMkLst>
        </pc:spChg>
      </pc:sldChg>
      <pc:sldChg chg="modSp mod modClrScheme chgLayout">
        <pc:chgData name="Victor Sanchez" userId="26f73c70b2efd3e2" providerId="LiveId" clId="{66FAA10A-858A-4901-9BC4-4A708FC6DA4A}" dt="2026-10-16T02:01:04.620" v="1406" actId="20577"/>
        <pc:sldMkLst>
          <pc:docMk/>
          <pc:sldMk cId="0" sldId="268"/>
        </pc:sldMkLst>
        <pc:spChg chg="mod">
          <ac:chgData name="Victor Sanchez" userId="26f73c70b2efd3e2" providerId="LiveId" clId="{66FAA10A-858A-4901-9BC4-4A708FC6DA4A}" dt="2026-10-15T23:27:47.068" v="87" actId="26606"/>
          <ac:spMkLst>
            <pc:docMk/>
            <pc:sldMk cId="0" sldId="268"/>
            <ac:spMk id="2" creationId="{00000000-0000-0000-0000-000000000000}"/>
          </ac:spMkLst>
        </pc:spChg>
        <pc:spChg chg="add mod">
          <ac:chgData name="Victor Sanchez" userId="26f73c70b2efd3e2" providerId="LiveId" clId="{66FAA10A-858A-4901-9BC4-4A708FC6DA4A}" dt="2026-10-15T23:27:47.068" v="87" actId="26606"/>
          <ac:spMkLst>
            <pc:docMk/>
            <pc:sldMk cId="0" sldId="268"/>
            <ac:spMk id="4" creationId="{00000000-0000-0000-0000-000000000000}"/>
          </ac:spMkLst>
        </pc:spChg>
        <pc:spChg chg="mod">
          <ac:chgData name="Victor Sanchez" userId="26f73c70b2efd3e2" providerId="LiveId" clId="{66FAA10A-858A-4901-9BC4-4A708FC6DA4A}" dt="2026-10-16T01:51:24.415" v="1266"/>
          <ac:spMkLst>
            <pc:docMk/>
            <pc:sldMk cId="0" sldId="268"/>
            <ac:spMk id="7" creationId="{00000000-0000-0000-0000-000000000000}"/>
          </ac:spMkLst>
        </pc:spChg>
        <pc:spChg chg="mod">
          <ac:chgData name="Victor Sanchez" userId="26f73c70b2efd3e2" providerId="LiveId" clId="{66FAA10A-858A-4901-9BC4-4A708FC6DA4A}" dt="2026-10-16T01:52:44.200" v="1284"/>
          <ac:spMkLst>
            <pc:docMk/>
            <pc:sldMk cId="0" sldId="268"/>
            <ac:spMk id="9" creationId="{00000000-0000-0000-0000-000000000000}"/>
          </ac:spMkLst>
        </pc:spChg>
        <pc:spChg chg="mod">
          <ac:chgData name="Victor Sanchez" userId="26f73c70b2efd3e2" providerId="LiveId" clId="{66FAA10A-858A-4901-9BC4-4A708FC6DA4A}" dt="2026-10-16T01:54:26.096" v="1397" actId="20577"/>
          <ac:spMkLst>
            <pc:docMk/>
            <pc:sldMk cId="0" sldId="268"/>
            <ac:spMk id="11" creationId="{00000000-0000-0000-0000-000000000000}"/>
          </ac:spMkLst>
        </pc:spChg>
        <pc:spChg chg="mod">
          <ac:chgData name="Victor Sanchez" userId="26f73c70b2efd3e2" providerId="LiveId" clId="{66FAA10A-858A-4901-9BC4-4A708FC6DA4A}" dt="2026-10-16T01:55:08.155" v="1398"/>
          <ac:spMkLst>
            <pc:docMk/>
            <pc:sldMk cId="0" sldId="268"/>
            <ac:spMk id="19" creationId="{00000000-0000-0000-0000-000000000000}"/>
          </ac:spMkLst>
        </pc:spChg>
        <pc:spChg chg="mod">
          <ac:chgData name="Victor Sanchez" userId="26f73c70b2efd3e2" providerId="LiveId" clId="{66FAA10A-858A-4901-9BC4-4A708FC6DA4A}" dt="2026-10-16T01:56:13.186" v="1399"/>
          <ac:spMkLst>
            <pc:docMk/>
            <pc:sldMk cId="0" sldId="268"/>
            <ac:spMk id="28" creationId="{00000000-0000-0000-0000-000000000000}"/>
          </ac:spMkLst>
        </pc:spChg>
        <pc:spChg chg="mod">
          <ac:chgData name="Victor Sanchez" userId="26f73c70b2efd3e2" providerId="LiveId" clId="{66FAA10A-858A-4901-9BC4-4A708FC6DA4A}" dt="2026-10-16T01:56:28.801" v="1400"/>
          <ac:spMkLst>
            <pc:docMk/>
            <pc:sldMk cId="0" sldId="268"/>
            <ac:spMk id="30" creationId="{00000000-0000-0000-0000-000000000000}"/>
          </ac:spMkLst>
        </pc:spChg>
        <pc:spChg chg="mod">
          <ac:chgData name="Victor Sanchez" userId="26f73c70b2efd3e2" providerId="LiveId" clId="{66FAA10A-858A-4901-9BC4-4A708FC6DA4A}" dt="2026-10-16T01:57:58.935" v="1402" actId="20577"/>
          <ac:spMkLst>
            <pc:docMk/>
            <pc:sldMk cId="0" sldId="268"/>
            <ac:spMk id="32" creationId="{00000000-0000-0000-0000-000000000000}"/>
          </ac:spMkLst>
        </pc:spChg>
        <pc:spChg chg="mod">
          <ac:chgData name="Victor Sanchez" userId="26f73c70b2efd3e2" providerId="LiveId" clId="{66FAA10A-858A-4901-9BC4-4A708FC6DA4A}" dt="2026-10-16T01:59:38.308" v="1403"/>
          <ac:spMkLst>
            <pc:docMk/>
            <pc:sldMk cId="0" sldId="268"/>
            <ac:spMk id="34" creationId="{00000000-0000-0000-0000-000000000000}"/>
          </ac:spMkLst>
        </pc:spChg>
        <pc:spChg chg="mod">
          <ac:chgData name="Victor Sanchez" userId="26f73c70b2efd3e2" providerId="LiveId" clId="{66FAA10A-858A-4901-9BC4-4A708FC6DA4A}" dt="2026-10-16T02:00:00.224" v="1404"/>
          <ac:spMkLst>
            <pc:docMk/>
            <pc:sldMk cId="0" sldId="268"/>
            <ac:spMk id="37" creationId="{00000000-0000-0000-0000-000000000000}"/>
          </ac:spMkLst>
        </pc:spChg>
        <pc:spChg chg="mod">
          <ac:chgData name="Victor Sanchez" userId="26f73c70b2efd3e2" providerId="LiveId" clId="{66FAA10A-858A-4901-9BC4-4A708FC6DA4A}" dt="2026-10-16T02:01:04.620" v="1406" actId="20577"/>
          <ac:spMkLst>
            <pc:docMk/>
            <pc:sldMk cId="0" sldId="268"/>
            <ac:spMk id="38"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9"/>
        </pc:sldMkLst>
        <pc:spChg chg="mod">
          <ac:chgData name="Victor Sanchez" userId="26f73c70b2efd3e2" providerId="LiveId" clId="{66FAA10A-858A-4901-9BC4-4A708FC6DA4A}" dt="2026-10-15T23:27:47.068" v="87" actId="26606"/>
          <ac:spMkLst>
            <pc:docMk/>
            <pc:sldMk cId="0" sldId="269"/>
            <ac:spMk id="2" creationId="{00000000-0000-0000-0000-000000000000}"/>
          </ac:spMkLst>
        </pc:spChg>
        <pc:spChg chg="add mod">
          <ac:chgData name="Victor Sanchez" userId="26f73c70b2efd3e2" providerId="LiveId" clId="{66FAA10A-858A-4901-9BC4-4A708FC6DA4A}" dt="2026-10-15T23:27:47.068" v="87" actId="26606"/>
          <ac:spMkLst>
            <pc:docMk/>
            <pc:sldMk cId="0" sldId="269"/>
            <ac:spMk id="4" creationId="{00000000-0000-0000-0000-000000000000}"/>
          </ac:spMkLst>
        </pc:spChg>
      </pc:sldChg>
      <pc:sldChg chg="modSp mod modClrScheme chgLayout">
        <pc:chgData name="Victor Sanchez" userId="26f73c70b2efd3e2" providerId="LiveId" clId="{66FAA10A-858A-4901-9BC4-4A708FC6DA4A}" dt="2026-10-16T02:14:00.934" v="1418"/>
        <pc:sldMkLst>
          <pc:docMk/>
          <pc:sldMk cId="0" sldId="270"/>
        </pc:sldMkLst>
        <pc:spChg chg="mod">
          <ac:chgData name="Victor Sanchez" userId="26f73c70b2efd3e2" providerId="LiveId" clId="{66FAA10A-858A-4901-9BC4-4A708FC6DA4A}" dt="2026-10-15T23:27:47.068" v="87" actId="26606"/>
          <ac:spMkLst>
            <pc:docMk/>
            <pc:sldMk cId="0" sldId="270"/>
            <ac:spMk id="2" creationId="{00000000-0000-0000-0000-000000000000}"/>
          </ac:spMkLst>
        </pc:spChg>
        <pc:spChg chg="add mod">
          <ac:chgData name="Victor Sanchez" userId="26f73c70b2efd3e2" providerId="LiveId" clId="{66FAA10A-858A-4901-9BC4-4A708FC6DA4A}" dt="2026-10-15T23:27:47.068" v="87" actId="26606"/>
          <ac:spMkLst>
            <pc:docMk/>
            <pc:sldMk cId="0" sldId="270"/>
            <ac:spMk id="4" creationId="{00000000-0000-0000-0000-000000000000}"/>
          </ac:spMkLst>
        </pc:spChg>
        <pc:spChg chg="mod">
          <ac:chgData name="Victor Sanchez" userId="26f73c70b2efd3e2" providerId="LiveId" clId="{66FAA10A-858A-4901-9BC4-4A708FC6DA4A}" dt="2026-10-16T02:11:21.353" v="1410"/>
          <ac:spMkLst>
            <pc:docMk/>
            <pc:sldMk cId="0" sldId="270"/>
            <ac:spMk id="8" creationId="{00000000-0000-0000-0000-000000000000}"/>
          </ac:spMkLst>
        </pc:spChg>
        <pc:spChg chg="mod">
          <ac:chgData name="Victor Sanchez" userId="26f73c70b2efd3e2" providerId="LiveId" clId="{66FAA10A-858A-4901-9BC4-4A708FC6DA4A}" dt="2026-10-16T02:11:46.125" v="1411"/>
          <ac:spMkLst>
            <pc:docMk/>
            <pc:sldMk cId="0" sldId="270"/>
            <ac:spMk id="12" creationId="{00000000-0000-0000-0000-000000000000}"/>
          </ac:spMkLst>
        </pc:spChg>
        <pc:spChg chg="mod">
          <ac:chgData name="Victor Sanchez" userId="26f73c70b2efd3e2" providerId="LiveId" clId="{66FAA10A-858A-4901-9BC4-4A708FC6DA4A}" dt="2026-10-16T02:12:18.729" v="1415" actId="20577"/>
          <ac:spMkLst>
            <pc:docMk/>
            <pc:sldMk cId="0" sldId="270"/>
            <ac:spMk id="16" creationId="{00000000-0000-0000-0000-000000000000}"/>
          </ac:spMkLst>
        </pc:spChg>
        <pc:spChg chg="mod">
          <ac:chgData name="Victor Sanchez" userId="26f73c70b2efd3e2" providerId="LiveId" clId="{66FAA10A-858A-4901-9BC4-4A708FC6DA4A}" dt="2026-10-16T02:06:05.725" v="1407"/>
          <ac:spMkLst>
            <pc:docMk/>
            <pc:sldMk cId="0" sldId="270"/>
            <ac:spMk id="19" creationId="{00000000-0000-0000-0000-000000000000}"/>
          </ac:spMkLst>
        </pc:spChg>
        <pc:spChg chg="mod">
          <ac:chgData name="Victor Sanchez" userId="26f73c70b2efd3e2" providerId="LiveId" clId="{66FAA10A-858A-4901-9BC4-4A708FC6DA4A}" dt="2026-10-16T02:12:53.318" v="1416"/>
          <ac:spMkLst>
            <pc:docMk/>
            <pc:sldMk cId="0" sldId="270"/>
            <ac:spMk id="20" creationId="{00000000-0000-0000-0000-000000000000}"/>
          </ac:spMkLst>
        </pc:spChg>
        <pc:spChg chg="mod">
          <ac:chgData name="Victor Sanchez" userId="26f73c70b2efd3e2" providerId="LiveId" clId="{66FAA10A-858A-4901-9BC4-4A708FC6DA4A}" dt="2026-10-16T02:13:41.937" v="1417"/>
          <ac:spMkLst>
            <pc:docMk/>
            <pc:sldMk cId="0" sldId="270"/>
            <ac:spMk id="25" creationId="{00000000-0000-0000-0000-000000000000}"/>
          </ac:spMkLst>
        </pc:spChg>
        <pc:spChg chg="mod">
          <ac:chgData name="Victor Sanchez" userId="26f73c70b2efd3e2" providerId="LiveId" clId="{66FAA10A-858A-4901-9BC4-4A708FC6DA4A}" dt="2026-10-16T02:14:00.934" v="1418"/>
          <ac:spMkLst>
            <pc:docMk/>
            <pc:sldMk cId="0" sldId="270"/>
            <ac:spMk id="27" creationId="{00000000-0000-0000-0000-000000000000}"/>
          </ac:spMkLst>
        </pc:spChg>
      </pc:sldChg>
      <pc:sldChg chg="modSp mod modClrScheme chgLayout">
        <pc:chgData name="Victor Sanchez" userId="26f73c70b2efd3e2" providerId="LiveId" clId="{66FAA10A-858A-4901-9BC4-4A708FC6DA4A}" dt="2026-10-16T02:21:21.425" v="1484"/>
        <pc:sldMkLst>
          <pc:docMk/>
          <pc:sldMk cId="0" sldId="271"/>
        </pc:sldMkLst>
        <pc:spChg chg="mod">
          <ac:chgData name="Victor Sanchez" userId="26f73c70b2efd3e2" providerId="LiveId" clId="{66FAA10A-858A-4901-9BC4-4A708FC6DA4A}" dt="2026-10-15T23:27:47.068" v="87" actId="26606"/>
          <ac:spMkLst>
            <pc:docMk/>
            <pc:sldMk cId="0" sldId="271"/>
            <ac:spMk id="2" creationId="{00000000-0000-0000-0000-000000000000}"/>
          </ac:spMkLst>
        </pc:spChg>
        <pc:spChg chg="add mod">
          <ac:chgData name="Victor Sanchez" userId="26f73c70b2efd3e2" providerId="LiveId" clId="{66FAA10A-858A-4901-9BC4-4A708FC6DA4A}" dt="2026-10-15T23:27:47.068" v="87" actId="26606"/>
          <ac:spMkLst>
            <pc:docMk/>
            <pc:sldMk cId="0" sldId="271"/>
            <ac:spMk id="4" creationId="{00000000-0000-0000-0000-000000000000}"/>
          </ac:spMkLst>
        </pc:spChg>
        <pc:spChg chg="mod">
          <ac:chgData name="Victor Sanchez" userId="26f73c70b2efd3e2" providerId="LiveId" clId="{66FAA10A-858A-4901-9BC4-4A708FC6DA4A}" dt="2026-10-16T02:18:06.368" v="1469" actId="255"/>
          <ac:spMkLst>
            <pc:docMk/>
            <pc:sldMk cId="0" sldId="271"/>
            <ac:spMk id="9" creationId="{00000000-0000-0000-0000-000000000000}"/>
          </ac:spMkLst>
        </pc:spChg>
        <pc:spChg chg="mod">
          <ac:chgData name="Victor Sanchez" userId="26f73c70b2efd3e2" providerId="LiveId" clId="{66FAA10A-858A-4901-9BC4-4A708FC6DA4A}" dt="2026-10-16T02:18:11.310" v="1470" actId="255"/>
          <ac:spMkLst>
            <pc:docMk/>
            <pc:sldMk cId="0" sldId="271"/>
            <ac:spMk id="10" creationId="{00000000-0000-0000-0000-000000000000}"/>
          </ac:spMkLst>
        </pc:spChg>
        <pc:spChg chg="mod">
          <ac:chgData name="Victor Sanchez" userId="26f73c70b2efd3e2" providerId="LiveId" clId="{66FAA10A-858A-4901-9BC4-4A708FC6DA4A}" dt="2026-10-16T02:18:47.867" v="1477" actId="255"/>
          <ac:spMkLst>
            <pc:docMk/>
            <pc:sldMk cId="0" sldId="271"/>
            <ac:spMk id="14" creationId="{00000000-0000-0000-0000-000000000000}"/>
          </ac:spMkLst>
        </pc:spChg>
        <pc:spChg chg="mod">
          <ac:chgData name="Victor Sanchez" userId="26f73c70b2efd3e2" providerId="LiveId" clId="{66FAA10A-858A-4901-9BC4-4A708FC6DA4A}" dt="2026-10-16T02:18:51.962" v="1478" actId="255"/>
          <ac:spMkLst>
            <pc:docMk/>
            <pc:sldMk cId="0" sldId="271"/>
            <ac:spMk id="15" creationId="{00000000-0000-0000-0000-000000000000}"/>
          </ac:spMkLst>
        </pc:spChg>
        <pc:spChg chg="mod">
          <ac:chgData name="Victor Sanchez" userId="26f73c70b2efd3e2" providerId="LiveId" clId="{66FAA10A-858A-4901-9BC4-4A708FC6DA4A}" dt="2026-10-16T02:18:36.727" v="1475" actId="255"/>
          <ac:spMkLst>
            <pc:docMk/>
            <pc:sldMk cId="0" sldId="271"/>
            <ac:spMk id="19" creationId="{00000000-0000-0000-0000-000000000000}"/>
          </ac:spMkLst>
        </pc:spChg>
        <pc:spChg chg="mod">
          <ac:chgData name="Victor Sanchez" userId="26f73c70b2efd3e2" providerId="LiveId" clId="{66FAA10A-858A-4901-9BC4-4A708FC6DA4A}" dt="2026-10-16T02:18:40.563" v="1476" actId="255"/>
          <ac:spMkLst>
            <pc:docMk/>
            <pc:sldMk cId="0" sldId="271"/>
            <ac:spMk id="20" creationId="{00000000-0000-0000-0000-000000000000}"/>
          </ac:spMkLst>
        </pc:spChg>
        <pc:spChg chg="mod">
          <ac:chgData name="Victor Sanchez" userId="26f73c70b2efd3e2" providerId="LiveId" clId="{66FAA10A-858A-4901-9BC4-4A708FC6DA4A}" dt="2026-10-16T02:18:27.859" v="1473" actId="255"/>
          <ac:spMkLst>
            <pc:docMk/>
            <pc:sldMk cId="0" sldId="271"/>
            <ac:spMk id="24" creationId="{00000000-0000-0000-0000-000000000000}"/>
          </ac:spMkLst>
        </pc:spChg>
        <pc:spChg chg="mod">
          <ac:chgData name="Victor Sanchez" userId="26f73c70b2efd3e2" providerId="LiveId" clId="{66FAA10A-858A-4901-9BC4-4A708FC6DA4A}" dt="2026-10-16T02:18:31.632" v="1474" actId="255"/>
          <ac:spMkLst>
            <pc:docMk/>
            <pc:sldMk cId="0" sldId="271"/>
            <ac:spMk id="25" creationId="{00000000-0000-0000-0000-000000000000}"/>
          </ac:spMkLst>
        </pc:spChg>
        <pc:spChg chg="mod">
          <ac:chgData name="Victor Sanchez" userId="26f73c70b2efd3e2" providerId="LiveId" clId="{66FAA10A-858A-4901-9BC4-4A708FC6DA4A}" dt="2026-10-16T02:16:53.147" v="1445" actId="1037"/>
          <ac:spMkLst>
            <pc:docMk/>
            <pc:sldMk cId="0" sldId="271"/>
            <ac:spMk id="27" creationId="{00000000-0000-0000-0000-000000000000}"/>
          </ac:spMkLst>
        </pc:spChg>
        <pc:spChg chg="mod">
          <ac:chgData name="Victor Sanchez" userId="26f73c70b2efd3e2" providerId="LiveId" clId="{66FAA10A-858A-4901-9BC4-4A708FC6DA4A}" dt="2026-10-16T02:17:07.401" v="1464" actId="20577"/>
          <ac:spMkLst>
            <pc:docMk/>
            <pc:sldMk cId="0" sldId="271"/>
            <ac:spMk id="28" creationId="{00000000-0000-0000-0000-000000000000}"/>
          </ac:spMkLst>
        </pc:spChg>
        <pc:spChg chg="mod">
          <ac:chgData name="Victor Sanchez" userId="26f73c70b2efd3e2" providerId="LiveId" clId="{66FAA10A-858A-4901-9BC4-4A708FC6DA4A}" dt="2026-10-16T02:18:14.966" v="1471" actId="255"/>
          <ac:spMkLst>
            <pc:docMk/>
            <pc:sldMk cId="0" sldId="271"/>
            <ac:spMk id="29" creationId="{00000000-0000-0000-0000-000000000000}"/>
          </ac:spMkLst>
        </pc:spChg>
        <pc:spChg chg="mod">
          <ac:chgData name="Victor Sanchez" userId="26f73c70b2efd3e2" providerId="LiveId" clId="{66FAA10A-858A-4901-9BC4-4A708FC6DA4A}" dt="2026-10-16T02:18:22.079" v="1472" actId="255"/>
          <ac:spMkLst>
            <pc:docMk/>
            <pc:sldMk cId="0" sldId="271"/>
            <ac:spMk id="30" creationId="{00000000-0000-0000-0000-000000000000}"/>
          </ac:spMkLst>
        </pc:spChg>
        <pc:spChg chg="mod">
          <ac:chgData name="Victor Sanchez" userId="26f73c70b2efd3e2" providerId="LiveId" clId="{66FAA10A-858A-4901-9BC4-4A708FC6DA4A}" dt="2026-10-16T02:19:40.754" v="1479"/>
          <ac:spMkLst>
            <pc:docMk/>
            <pc:sldMk cId="0" sldId="271"/>
            <ac:spMk id="33" creationId="{00000000-0000-0000-0000-000000000000}"/>
          </ac:spMkLst>
        </pc:spChg>
        <pc:spChg chg="mod">
          <ac:chgData name="Victor Sanchez" userId="26f73c70b2efd3e2" providerId="LiveId" clId="{66FAA10A-858A-4901-9BC4-4A708FC6DA4A}" dt="2026-10-16T02:19:52.227" v="1480"/>
          <ac:spMkLst>
            <pc:docMk/>
            <pc:sldMk cId="0" sldId="271"/>
            <ac:spMk id="34" creationId="{00000000-0000-0000-0000-000000000000}"/>
          </ac:spMkLst>
        </pc:spChg>
        <pc:spChg chg="mod">
          <ac:chgData name="Victor Sanchez" userId="26f73c70b2efd3e2" providerId="LiveId" clId="{66FAA10A-858A-4901-9BC4-4A708FC6DA4A}" dt="2026-10-16T02:20:35.900" v="1483"/>
          <ac:spMkLst>
            <pc:docMk/>
            <pc:sldMk cId="0" sldId="271"/>
            <ac:spMk id="35" creationId="{00000000-0000-0000-0000-000000000000}"/>
          </ac:spMkLst>
        </pc:spChg>
        <pc:spChg chg="mod">
          <ac:chgData name="Victor Sanchez" userId="26f73c70b2efd3e2" providerId="LiveId" clId="{66FAA10A-858A-4901-9BC4-4A708FC6DA4A}" dt="2026-10-16T02:21:21.425" v="1484"/>
          <ac:spMkLst>
            <pc:docMk/>
            <pc:sldMk cId="0" sldId="271"/>
            <ac:spMk id="36"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2"/>
        </pc:sldMkLst>
        <pc:spChg chg="mod">
          <ac:chgData name="Victor Sanchez" userId="26f73c70b2efd3e2" providerId="LiveId" clId="{66FAA10A-858A-4901-9BC4-4A708FC6DA4A}" dt="2026-10-15T23:27:47.068" v="87" actId="26606"/>
          <ac:spMkLst>
            <pc:docMk/>
            <pc:sldMk cId="0" sldId="272"/>
            <ac:spMk id="2" creationId="{00000000-0000-0000-0000-000000000000}"/>
          </ac:spMkLst>
        </pc:spChg>
        <pc:spChg chg="add mod">
          <ac:chgData name="Victor Sanchez" userId="26f73c70b2efd3e2" providerId="LiveId" clId="{66FAA10A-858A-4901-9BC4-4A708FC6DA4A}" dt="2026-10-15T23:27:47.068" v="87" actId="26606"/>
          <ac:spMkLst>
            <pc:docMk/>
            <pc:sldMk cId="0" sldId="272"/>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3"/>
        </pc:sldMkLst>
        <pc:spChg chg="mod">
          <ac:chgData name="Victor Sanchez" userId="26f73c70b2efd3e2" providerId="LiveId" clId="{66FAA10A-858A-4901-9BC4-4A708FC6DA4A}" dt="2026-10-15T23:27:47.068" v="87" actId="26606"/>
          <ac:spMkLst>
            <pc:docMk/>
            <pc:sldMk cId="0" sldId="273"/>
            <ac:spMk id="2" creationId="{00000000-0000-0000-0000-000000000000}"/>
          </ac:spMkLst>
        </pc:spChg>
        <pc:spChg chg="add mod">
          <ac:chgData name="Victor Sanchez" userId="26f73c70b2efd3e2" providerId="LiveId" clId="{66FAA10A-858A-4901-9BC4-4A708FC6DA4A}" dt="2026-10-15T23:27:47.068" v="87" actId="26606"/>
          <ac:spMkLst>
            <pc:docMk/>
            <pc:sldMk cId="0" sldId="273"/>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4"/>
        </pc:sldMkLst>
        <pc:spChg chg="mod">
          <ac:chgData name="Victor Sanchez" userId="26f73c70b2efd3e2" providerId="LiveId" clId="{66FAA10A-858A-4901-9BC4-4A708FC6DA4A}" dt="2026-10-15T23:27:47.068" v="87" actId="26606"/>
          <ac:spMkLst>
            <pc:docMk/>
            <pc:sldMk cId="0" sldId="274"/>
            <ac:spMk id="2" creationId="{00000000-0000-0000-0000-000000000000}"/>
          </ac:spMkLst>
        </pc:spChg>
        <pc:spChg chg="add mod">
          <ac:chgData name="Victor Sanchez" userId="26f73c70b2efd3e2" providerId="LiveId" clId="{66FAA10A-858A-4901-9BC4-4A708FC6DA4A}" dt="2026-10-15T23:27:47.068" v="87" actId="26606"/>
          <ac:spMkLst>
            <pc:docMk/>
            <pc:sldMk cId="0" sldId="274"/>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5"/>
        </pc:sldMkLst>
        <pc:spChg chg="add mod">
          <ac:chgData name="Victor Sanchez" userId="26f73c70b2efd3e2" providerId="LiveId" clId="{66FAA10A-858A-4901-9BC4-4A708FC6DA4A}" dt="2026-10-15T23:27:47.068" v="87" actId="26606"/>
          <ac:spMkLst>
            <pc:docMk/>
            <pc:sldMk cId="0" sldId="275"/>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6"/>
        </pc:sldMkLst>
        <pc:spChg chg="mod">
          <ac:chgData name="Victor Sanchez" userId="26f73c70b2efd3e2" providerId="LiveId" clId="{66FAA10A-858A-4901-9BC4-4A708FC6DA4A}" dt="2026-10-15T23:27:47.068" v="87" actId="26606"/>
          <ac:spMkLst>
            <pc:docMk/>
            <pc:sldMk cId="0" sldId="276"/>
            <ac:spMk id="2" creationId="{00000000-0000-0000-0000-000000000000}"/>
          </ac:spMkLst>
        </pc:spChg>
        <pc:spChg chg="add mod">
          <ac:chgData name="Victor Sanchez" userId="26f73c70b2efd3e2" providerId="LiveId" clId="{66FAA10A-858A-4901-9BC4-4A708FC6DA4A}" dt="2026-10-15T23:27:47.068" v="87" actId="26606"/>
          <ac:spMkLst>
            <pc:docMk/>
            <pc:sldMk cId="0" sldId="276"/>
            <ac:spMk id="25" creationId="{00000000-0000-0000-0000-000000000000}"/>
          </ac:spMkLst>
        </pc:spChg>
      </pc:sldChg>
      <pc:sldChg chg="modSp mod">
        <pc:chgData name="Victor Sanchez" userId="26f73c70b2efd3e2" providerId="LiveId" clId="{66FAA10A-858A-4901-9BC4-4A708FC6DA4A}" dt="2026-10-16T02:26:18.457" v="1492" actId="20577"/>
        <pc:sldMkLst>
          <pc:docMk/>
          <pc:sldMk cId="0" sldId="277"/>
        </pc:sldMkLst>
        <pc:spChg chg="mod">
          <ac:chgData name="Victor Sanchez" userId="26f73c70b2efd3e2" providerId="LiveId" clId="{66FAA10A-858A-4901-9BC4-4A708FC6DA4A}" dt="2026-10-16T02:26:18.457" v="1492" actId="20577"/>
          <ac:spMkLst>
            <pc:docMk/>
            <pc:sldMk cId="0" sldId="277"/>
            <ac:spMk id="3"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8"/>
        </pc:sldMkLst>
        <pc:spChg chg="mod">
          <ac:chgData name="Victor Sanchez" userId="26f73c70b2efd3e2" providerId="LiveId" clId="{66FAA10A-858A-4901-9BC4-4A708FC6DA4A}" dt="2026-10-15T23:27:47.068" v="87" actId="26606"/>
          <ac:spMkLst>
            <pc:docMk/>
            <pc:sldMk cId="0" sldId="278"/>
            <ac:spMk id="2" creationId="{00000000-0000-0000-0000-000000000000}"/>
          </ac:spMkLst>
        </pc:spChg>
        <pc:spChg chg="add mod">
          <ac:chgData name="Victor Sanchez" userId="26f73c70b2efd3e2" providerId="LiveId" clId="{66FAA10A-858A-4901-9BC4-4A708FC6DA4A}" dt="2026-10-15T23:27:47.068" v="87" actId="26606"/>
          <ac:spMkLst>
            <pc:docMk/>
            <pc:sldMk cId="0" sldId="278"/>
            <ac:spMk id="4" creationId="{00000000-0000-0000-0000-000000000000}"/>
          </ac:spMkLst>
        </pc:spChg>
      </pc:sldChg>
      <pc:sldChg chg="modSp del mod modClrScheme chgLayout">
        <pc:chgData name="Victor Sanchez" userId="26f73c70b2efd3e2" providerId="LiveId" clId="{66FAA10A-858A-4901-9BC4-4A708FC6DA4A}" dt="2026-10-16T02:25:54.342" v="1485" actId="47"/>
        <pc:sldMkLst>
          <pc:docMk/>
          <pc:sldMk cId="0" sldId="279"/>
        </pc:sldMkLst>
        <pc:spChg chg="mod">
          <ac:chgData name="Victor Sanchez" userId="26f73c70b2efd3e2" providerId="LiveId" clId="{66FAA10A-858A-4901-9BC4-4A708FC6DA4A}" dt="2026-10-15T23:27:47.068" v="87" actId="26606"/>
          <ac:spMkLst>
            <pc:docMk/>
            <pc:sldMk cId="0" sldId="279"/>
            <ac:spMk id="2" creationId="{00000000-0000-0000-0000-000000000000}"/>
          </ac:spMkLst>
        </pc:spChg>
        <pc:spChg chg="add mod">
          <ac:chgData name="Victor Sanchez" userId="26f73c70b2efd3e2" providerId="LiveId" clId="{66FAA10A-858A-4901-9BC4-4A708FC6DA4A}" dt="2026-10-15T23:27:47.068" v="87" actId="26606"/>
          <ac:spMkLst>
            <pc:docMk/>
            <pc:sldMk cId="0" sldId="279"/>
            <ac:spMk id="4" creationId="{00000000-0000-0000-0000-000000000000}"/>
          </ac:spMkLst>
        </pc:spChg>
      </pc:sldChg>
      <pc:sldChg chg="del">
        <pc:chgData name="Victor Sanchez" userId="26f73c70b2efd3e2" providerId="LiveId" clId="{66FAA10A-858A-4901-9BC4-4A708FC6DA4A}" dt="2026-10-16T02:25:59.368" v="1486" actId="47"/>
        <pc:sldMkLst>
          <pc:docMk/>
          <pc:sldMk cId="0" sldId="280"/>
        </pc:sldMkLst>
      </pc:sldChg>
      <pc:sldChg chg="modSp del mod modClrScheme chgLayout">
        <pc:chgData name="Victor Sanchez" userId="26f73c70b2efd3e2" providerId="LiveId" clId="{66FAA10A-858A-4901-9BC4-4A708FC6DA4A}" dt="2026-10-16T02:26:01.136" v="1487" actId="47"/>
        <pc:sldMkLst>
          <pc:docMk/>
          <pc:sldMk cId="0" sldId="281"/>
        </pc:sldMkLst>
        <pc:spChg chg="mod">
          <ac:chgData name="Victor Sanchez" userId="26f73c70b2efd3e2" providerId="LiveId" clId="{66FAA10A-858A-4901-9BC4-4A708FC6DA4A}" dt="2026-10-15T23:27:47.068" v="87" actId="26606"/>
          <ac:spMkLst>
            <pc:docMk/>
            <pc:sldMk cId="0" sldId="281"/>
            <ac:spMk id="2" creationId="{00000000-0000-0000-0000-000000000000}"/>
          </ac:spMkLst>
        </pc:spChg>
        <pc:spChg chg="add mod">
          <ac:chgData name="Victor Sanchez" userId="26f73c70b2efd3e2" providerId="LiveId" clId="{66FAA10A-858A-4901-9BC4-4A708FC6DA4A}" dt="2026-10-15T23:27:47.068" v="87" actId="26606"/>
          <ac:spMkLst>
            <pc:docMk/>
            <pc:sldMk cId="0" sldId="281"/>
            <ac:spMk id="4" creationId="{00000000-0000-0000-0000-000000000000}"/>
          </ac:spMkLst>
        </pc:spChg>
      </pc:sldChg>
      <pc:sldChg chg="modSp del mod modClrScheme chgLayout">
        <pc:chgData name="Victor Sanchez" userId="26f73c70b2efd3e2" providerId="LiveId" clId="{66FAA10A-858A-4901-9BC4-4A708FC6DA4A}" dt="2026-10-16T02:26:04.824" v="1488" actId="47"/>
        <pc:sldMkLst>
          <pc:docMk/>
          <pc:sldMk cId="0" sldId="282"/>
        </pc:sldMkLst>
        <pc:spChg chg="mod">
          <ac:chgData name="Victor Sanchez" userId="26f73c70b2efd3e2" providerId="LiveId" clId="{66FAA10A-858A-4901-9BC4-4A708FC6DA4A}" dt="2026-10-15T23:27:47.068" v="87" actId="26606"/>
          <ac:spMkLst>
            <pc:docMk/>
            <pc:sldMk cId="0" sldId="282"/>
            <ac:spMk id="2" creationId="{00000000-0000-0000-0000-000000000000}"/>
          </ac:spMkLst>
        </pc:spChg>
        <pc:spChg chg="add mod">
          <ac:chgData name="Victor Sanchez" userId="26f73c70b2efd3e2" providerId="LiveId" clId="{66FAA10A-858A-4901-9BC4-4A708FC6DA4A}" dt="2026-10-15T23:27:47.068" v="87" actId="26606"/>
          <ac:spMkLst>
            <pc:docMk/>
            <pc:sldMk cId="0" sldId="282"/>
            <ac:spMk id="25" creationId="{00000000-0000-0000-0000-000000000000}"/>
          </ac:spMkLst>
        </pc:spChg>
      </pc:sldChg>
      <pc:sldChg chg="add del">
        <pc:chgData name="Victor Sanchez" userId="26f73c70b2efd3e2" providerId="LiveId" clId="{66FAA10A-858A-4901-9BC4-4A708FC6DA4A}" dt="2026-10-16T01:33:24.470" v="1239" actId="47"/>
        <pc:sldMkLst>
          <pc:docMk/>
          <pc:sldMk cId="629383763" sldId="283"/>
        </pc:sldMkLst>
      </pc:sldChg>
      <pc:sldMasterChg chg="add addSldLayout delSldLayout modSldLayout sldLayoutOrd">
        <pc:chgData name="Victor Sanchez" userId="26f73c70b2efd3e2" providerId="LiveId" clId="{66FAA10A-858A-4901-9BC4-4A708FC6DA4A}" dt="2026-10-15T23:27:47.068" v="87" actId="26606"/>
        <pc:sldMasterMkLst>
          <pc:docMk/>
          <pc:sldMasterMk cId="0" sldId="2147483648"/>
        </pc:sldMasterMkLst>
        <pc:sldLayoutChg chg="mo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1"/>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2"/>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3"/>
          </pc:sldLayoutMkLst>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5"/>
          </pc:sldLayoutMkLst>
          <pc:spChg chg="mod">
            <ac:chgData name="Victor Sanchez" userId="26f73c70b2efd3e2" providerId="LiveId" clId="{66FAA10A-858A-4901-9BC4-4A708FC6DA4A}" dt="2026-10-15T23:27:47.068" v="87"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5"/>
              <ac:spMk id="25" creationId="{00000000-0000-0000-0000-000000000000}"/>
            </ac:spMkLst>
          </pc:spChg>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6"/>
          </pc:sldLayoutMkLst>
          <pc:spChg chg="mod">
            <ac:chgData name="Victor Sanchez" userId="26f73c70b2efd3e2" providerId="LiveId" clId="{66FAA10A-858A-4901-9BC4-4A708FC6DA4A}" dt="2026-10-15T23:27:47.068" v="87" actId="26606"/>
            <ac:spMkLst>
              <pc:docMk/>
              <pc:sldMasterMk cId="0" sldId="2147483648"/>
              <pc:sldLayoutMk cId="0" sldId="2147483656"/>
              <ac:spMk id="25" creationId="{00000000-0000-0000-0000-000000000000}"/>
            </ac:spMkLst>
          </pc:spChg>
        </pc:sldLayoutChg>
      </pc:sldMasterChg>
      <pc:sldMasterChg chg="add del replId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10.756" v="80"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0"/>
          </pc:sldLayoutMkLst>
          <pc:spChg chg="mod">
            <ac:chgData name="Victor Sanchez" userId="26f73c70b2efd3e2" providerId="LiveId" clId="{66FAA10A-858A-4901-9BC4-4A708FC6DA4A}" dt="2026-10-15T23:24:10.756" v="80"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1"/>
          </pc:sldLayoutMkLst>
          <pc:spChg chg="mod">
            <ac:chgData name="Victor Sanchez" userId="26f73c70b2efd3e2" providerId="LiveId" clId="{66FAA10A-858A-4901-9BC4-4A708FC6DA4A}" dt="2026-10-15T23:24:10.756" v="80"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1"/>
              <ac:spMk id="3"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2"/>
          </pc:sldLayoutMkLst>
          <pc:spChg chg="mod">
            <ac:chgData name="Victor Sanchez" userId="26f73c70b2efd3e2" providerId="LiveId" clId="{66FAA10A-858A-4901-9BC4-4A708FC6DA4A}" dt="2026-10-15T23:25:16.834" v="83"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5:16.834" v="83" actId="26606"/>
            <ac:spMkLst>
              <pc:docMk/>
              <pc:sldMasterMk cId="0" sldId="2147483648"/>
              <pc:sldLayoutMk cId="0" sldId="2147483652"/>
              <ac:spMk id="25"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3"/>
          </pc:sldLayoutMkLst>
          <pc:spChg chg="mod">
            <ac:chgData name="Victor Sanchez" userId="26f73c70b2efd3e2" providerId="LiveId" clId="{66FAA10A-858A-4901-9BC4-4A708FC6DA4A}" dt="2026-10-15T23:25:16.834" v="83" actId="26606"/>
            <ac:spMkLst>
              <pc:docMk/>
              <pc:sldMasterMk cId="0" sldId="2147483648"/>
              <pc:sldLayoutMk cId="0" sldId="2147483653"/>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5"/>
          </pc:sldLayoutMkLst>
          <pc:spChg chg="mod">
            <ac:chgData name="Victor Sanchez" userId="26f73c70b2efd3e2" providerId="LiveId" clId="{66FAA10A-858A-4901-9BC4-4A708FC6DA4A}" dt="2026-10-15T23:24:10.756" v="80"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5"/>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6"/>
          </pc:sldLayoutMkLst>
          <pc:spChg chg="mod">
            <ac:chgData name="Victor Sanchez" userId="26f73c70b2efd3e2" providerId="LiveId" clId="{66FAA10A-858A-4901-9BC4-4A708FC6DA4A}" dt="2026-10-15T23:24:10.756" v="80" actId="26606"/>
            <ac:spMkLst>
              <pc:docMk/>
              <pc:sldMasterMk cId="0" sldId="2147483648"/>
              <pc:sldLayoutMk cId="0" sldId="2147483656"/>
              <ac:spMk id="25" creationId="{00000000-0000-0000-0000-000000000000}"/>
            </ac:spMkLst>
          </pc:spChg>
        </pc:sldLayoutChg>
      </pc:sldMasterChg>
      <pc:sldMasterChg chg="add del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36.007" v="82"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0"/>
          </pc:sldLayoutMkLst>
          <pc:spChg chg="mod">
            <ac:chgData name="Victor Sanchez" userId="26f73c70b2efd3e2" providerId="LiveId" clId="{66FAA10A-858A-4901-9BC4-4A708FC6DA4A}" dt="2026-10-15T23:24:36.007" v="82"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1"/>
          </pc:sldLayoutMkLst>
          <pc:spChg chg="mod">
            <ac:chgData name="Victor Sanchez" userId="26f73c70b2efd3e2" providerId="LiveId" clId="{66FAA10A-858A-4901-9BC4-4A708FC6DA4A}" dt="2026-10-15T23:24:36.007" v="82"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1"/>
              <ac:spMk id="3" creationId="{00000000-0000-0000-0000-000000000000}"/>
            </ac:spMkLst>
          </pc:spChg>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2"/>
          </pc:sldLayoutMkLst>
          <pc:spChg chg="mod">
            <ac:chgData name="Victor Sanchez" userId="26f73c70b2efd3e2" providerId="LiveId" clId="{66FAA10A-858A-4901-9BC4-4A708FC6DA4A}" dt="2026-10-15T23:24:36.007" v="82"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2"/>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2"/>
          </pc:sldLayoutMkLst>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3"/>
          </pc:sldLayoutMkLst>
          <pc:spChg chg="mod">
            <ac:chgData name="Victor Sanchez" userId="26f73c70b2efd3e2" providerId="LiveId" clId="{66FAA10A-858A-4901-9BC4-4A708FC6DA4A}" dt="2026-10-15T23:24:36.007" v="82" actId="26606"/>
            <ac:spMkLst>
              <pc:docMk/>
              <pc:sldMasterMk cId="0" sldId="2147483648"/>
              <pc:sldLayoutMk cId="0" sldId="2147483653"/>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3"/>
          </pc:sldLayoutMkLst>
        </pc:sldLayoutChg>
      </pc:sldMasterChg>
      <pc:sldMasterChg chg="add modSldLayout sldLayoutOrd">
        <pc:chgData name="Victor Sanchez" userId="26f73c70b2efd3e2" providerId="LiveId" clId="{66FAA10A-858A-4901-9BC4-4A708FC6DA4A}" dt="2026-10-15T23:27:47.068" v="87" actId="26606"/>
        <pc:sldMasterMkLst>
          <pc:docMk/>
          <pc:sldMasterMk cId="0" sldId="2147483648"/>
        </pc:sldMasterMkLst>
        <pc:sldLayoutChg chg="mod or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0"/>
          </pc:sldLayoutMkLst>
          <pc:spChg chg="mod">
            <ac:chgData name="Victor Sanchez" userId="26f73c70b2efd3e2" providerId="LiveId" clId="{66FAA10A-858A-4901-9BC4-4A708FC6DA4A}" dt="2026-10-15T23:27:47.068" v="87"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1"/>
          </pc:sldLayoutMkLst>
          <pc:spChg chg="mod">
            <ac:chgData name="Victor Sanchez" userId="26f73c70b2efd3e2" providerId="LiveId" clId="{66FAA10A-858A-4901-9BC4-4A708FC6DA4A}" dt="2026-10-15T23:27:47.068" v="87"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1"/>
              <ac:spMk id="3"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2"/>
          </pc:sldLayoutMkLst>
          <pc:spChg chg="mod">
            <ac:chgData name="Victor Sanchez" userId="26f73c70b2efd3e2" providerId="LiveId" clId="{66FAA10A-858A-4901-9BC4-4A708FC6DA4A}" dt="2026-10-15T23:27:24.825" v="85"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7:24.825" v="85" actId="26606"/>
            <ac:spMkLst>
              <pc:docMk/>
              <pc:sldMasterMk cId="0" sldId="2147483648"/>
              <pc:sldLayoutMk cId="0" sldId="2147483652"/>
              <ac:spMk id="25"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3"/>
          </pc:sldLayoutMkLst>
          <pc:spChg chg="mod">
            <ac:chgData name="Victor Sanchez" userId="26f73c70b2efd3e2" providerId="LiveId" clId="{66FAA10A-858A-4901-9BC4-4A708FC6DA4A}" dt="2026-10-15T23:27:24.825" v="85" actId="26606"/>
            <ac:spMkLst>
              <pc:docMk/>
              <pc:sldMasterMk cId="0" sldId="2147483648"/>
              <pc:sldLayoutMk cId="0" sldId="2147483653"/>
              <ac:spMk id="25" creationId="{00000000-0000-0000-0000-000000000000}"/>
            </ac:spMkLst>
          </pc:spChg>
        </pc:sldLayoutChg>
      </pc:sldMasterChg>
      <pc:sldMasterChg chg="del replId modSldLayout sldLayoutOrd">
        <pc:chgData name="Victor Sanchez" userId="26f73c70b2efd3e2" providerId="LiveId" clId="{66FAA10A-858A-4901-9BC4-4A708FC6DA4A}" dt="2026-10-15T23:25:16.834" v="83" actId="26606"/>
        <pc:sldMasterMkLst>
          <pc:docMk/>
          <pc:sldMasterMk cId="0" sldId="2147483654"/>
        </pc:sldMasterMkLst>
        <pc:sldLayoutChg chg="replId">
          <pc:chgData name="Victor Sanchez" userId="26f73c70b2efd3e2" providerId="LiveId" clId="{66FAA10A-858A-4901-9BC4-4A708FC6DA4A}" dt="2026-10-15T23:24:10.675" v="79" actId="26606"/>
          <pc:sldLayoutMkLst>
            <pc:docMk/>
            <pc:sldMasterMk cId="0" sldId="2147483648"/>
            <pc:sldLayoutMk cId="0" sldId="2147483655"/>
          </pc:sldLayoutMkLst>
        </pc:sldLayoutChg>
        <pc:sldLayoutChg chg="replId">
          <pc:chgData name="Victor Sanchez" userId="26f73c70b2efd3e2" providerId="LiveId" clId="{66FAA10A-858A-4901-9BC4-4A708FC6DA4A}" dt="2026-10-15T23:24:10.675" v="79" actId="26606"/>
          <pc:sldLayoutMkLst>
            <pc:docMk/>
            <pc:sldMasterMk cId="0" sldId="2147483648"/>
            <pc:sldLayoutMk cId="0" sldId="2147483656"/>
          </pc:sldLayoutMkLst>
        </pc:sldLayoutChg>
      </pc:sldMasterChg>
      <pc:sldMasterChg chg="del replId modSldLayout">
        <pc:chgData name="Victor Sanchez" userId="26f73c70b2efd3e2" providerId="LiveId" clId="{66FAA10A-858A-4901-9BC4-4A708FC6DA4A}" dt="2026-10-15T23:27:24.825" v="85" actId="26606"/>
        <pc:sldMasterMkLst>
          <pc:docMk/>
          <pc:sldMasterMk cId="0" sldId="2147483654"/>
        </pc:sldMasterMkLst>
        <pc:sldLayoutChg chg="replId">
          <pc:chgData name="Victor Sanchez" userId="26f73c70b2efd3e2" providerId="LiveId" clId="{66FAA10A-858A-4901-9BC4-4A708FC6DA4A}" dt="2026-10-15T23:27:24.768" v="84" actId="26606"/>
          <pc:sldLayoutMkLst>
            <pc:docMk/>
            <pc:sldMasterMk cId="0" sldId="2147483654"/>
            <pc:sldLayoutMk cId="0" sldId="2147483655"/>
          </pc:sldLayoutMkLst>
        </pc:sldLayoutChg>
        <pc:sldLayoutChg chg="replId">
          <pc:chgData name="Victor Sanchez" userId="26f73c70b2efd3e2" providerId="LiveId" clId="{66FAA10A-858A-4901-9BC4-4A708FC6DA4A}" dt="2026-10-15T23:27:24.768" v="84" actId="26606"/>
          <pc:sldLayoutMkLst>
            <pc:docMk/>
            <pc:sldMasterMk cId="0" sldId="2147483654"/>
            <pc:sldLayoutMk cId="0" sldId="2147483656"/>
          </pc:sldLayoutMkLst>
        </pc:sldLayoutChg>
      </pc:sldMasterChg>
      <pc:sldMasterChg chg="add del replId addSldLayout delSldLayout modSldLayout sldLayoutOrd">
        <pc:chgData name="Victor Sanchez" userId="26f73c70b2efd3e2" providerId="LiveId" clId="{66FAA10A-858A-4901-9BC4-4A708FC6DA4A}" dt="2026-10-15T23:27:47.068" v="87" actId="26606"/>
        <pc:sldMasterMkLst>
          <pc:docMk/>
          <pc:sldMasterMk cId="0" sldId="2147483654"/>
        </pc:sldMasterMkLst>
        <pc:sldLayoutChg chg="mod">
          <pc:chgData name="Victor Sanchez" userId="26f73c70b2efd3e2" providerId="LiveId" clId="{66FAA10A-858A-4901-9BC4-4A708FC6DA4A}" dt="2026-10-15T23:27:24.825" v="85"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1"/>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2"/>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3"/>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6"/>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1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after the October 15 team review with Kevin. Phase 5 is 'Enable Data Consumption': it covers AI, reporting, analytics, and any other use by risk owners, not just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overview: goal, pillars, end state, priorities. Kept for now per Kevin; placement may change. Pillar 2 is now 'Existing Data Plane Sourcing' (renamed October 15).</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Pillars come before phases (October 15). Pillar 1 provides the foundational tools, standards, and capabilities that enable and speed up Pillars 2 and 3; it takes its priorities from what those pillars need and escalates when work goes off track. Pillar 2 is renamed Existing Data Plane Sourcing: 'RDS' here means everything already sourced into the data plane (DPC). It now owns finalizing the data plane structure and a control framework, and may become ongoing plane management. Whether controls sit in Pillar 1 or Pillar 2 is still open. Pillar 3 is all new demand: requests can't stop while Pillar 2 gets the shop in order.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now follow the pillars (October 15). Phase 1 is the book of work for data in RDS today or newly requested: do we still need it, who uses it, and why? Phase 2 tags uses as tier 1, 2, 3, or non-tier and sequences the work across workstreams (a waterfall, not everything at once). Phase 3 depends on how the data plane is structured, for example whether there are sub-ADSs inside the plane. Phase 4 is done in tandem with the business groups who set the requirements. Phase 5 is enabled data consumption, not just 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Shaded cells mark where a pillar leads the work in that phase. Pillar 1's capabilities are needed in every phase and drive Pillars 2 and 3. Pillar 2 makes sure existing data comes from the right upstream source (the strategic ADS, or tactical while the ADS is far out), with lineage and metadata aligned. Pillar 3 captures requirements, checks RDS, separates ad hoc reports from real use cases, then prioritizes, sources, lands, and validates.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15 additions: standards (one standard across the plane for dictionaries, metadata, and technical conventions such as result tables and rule names; technology is building group-specific versions today) and the team operating model (responsibilities, how we organize, and how we escalate). Requests to technology have stalled in the past; a dedicated Pillar 1 owner drives the work, takes input from Pillars 2 and 3, and escalates to technology and senior leadership when needed work isn't getting done.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up to sit with the Pillar 1 intro (October 15). First understand what we have, including how RDS operates today and intake that never went through legacy RDS intake (BUSCRT and possibly FCTDS have their own paths). Then tell technology our priorities and monitor delivery against a roadmap. Work still gets done with current tooling; the target is automation.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1's example workstream. Pillar 1 owns the capability: defines intake requirements and takes them to technology. Pillar 3 is the main user: business partners log requirements in one place instead of emails and ad hoc asks, and items feed into workstreams. Pillar 2 uses the same intake for data needed elsewhere that it finds during rationalization.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15: a mock four-blocker for each pillar, to show Jacqueline how we'll track. Illustrative status and dates, to confirm with the Pillar 1 lead. Origin story: ORM asked for data from 54 sources with no detail on usage, purpose, or fields; we built an Excel template that works as a BRD; a UI mockup sits on top of it; next, technology builds it (Jacqueline wants technology to build it, with our requirements and the why). DataHub is the next Pillar 1 example: our priority list is with technology, but the review meeting keeps being rescheduled.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Renamed October 15 from 'Existing RDS'. 'RDS' here means everything already sourced into the data plane (DPC), including Credit 360, financial crimes, and everything in the RDS bucket in Dremio. Start from the inventory of raw tables, then work out how each is used: is the raw data used in a use case, or sourced in and never looked at? That needs Pillar 1 lineage. New scope: finalizing the data plane structure (is the plane separate from the ADS applications, with sub-ADSs inside it?) and a control framework for the data on the plane. Pillar 2 is partly time-bound: once the baseline is done, it becomes ongoing plane management.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Moved into Pillar 2 from the reference slide, per Jake's comment and the October 15 review. Top: where risk data lives today. Bottom: how it's organized on the plane, by line of business rather than by source application. ORCAP goes first: organize it into sensible folders by subject instead of by application. Use the pineapples, kiwis, bananas framing with Jacqueline. Merge Jake's earlier folder-structure slide here before sharing.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October 15: Pillar 2's example four-blocker. WS1 organizes risk-owned data (ORCAP first); WS2 organizes business data once current sourcing is understood. Illustrative status and dates, to confirm with the Pillar 2 lead. Open: whether the data plane will be separate from the ADS applications and whether there are sub-ADSs inside the plane; and whether controls sit in Pillar 1 or Pillar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live in the October 15 review. 1) Get the business requirements: today via the DSA, the Excel BRD, the RDS intake tool, or eventually the new intake tool; how these fold together is a Pillar 1 question. 2) Check whether the data is already in RDS: via Dremio today, built into the tool later. 3) Yes: validate fit for purpose (the happy path); anything already on the plane, strategic or not, is Pillar 2's job, hence the new arrow. 4) No: identify the authoritative source: strategic (net new strategic source), justified tactical (Kevin's 'conditional ADS' today, e.g., Hogan, the only place for certain data needed by end of 2026), or escalate. Justified tactical lands in a separate tactical zone and is purged once the strategic source exists; re-plumbing sits with Pillar 2 and comes back through Pillar 3 as a new request. 'Legacy to evaluate' is now 'Non-strategic evaluation needed' in Pillar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to the business why identifying the business need matters, and why Pillar 3 is important. Requesters often say 'I need these elements' without saying when or why. Scenario requirements should be built into the conformance layer or AI prompt, so the AI pulls from the conformed zone rather than raw, duplicated data. It also separates ad hoc reports from real use cases.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Placed after the Pillar 3 intro as a summary of how Pillars 2 and 3 fit together (October 15). Three routes for new demand sit in Pillar 3; anything already on the plane, or sourced tactically for now, goes to Pillar 2 as 'Non-strategic evaluation needed' (renamed from 'Legacy to evaluate'). How to tell justified tactical data apart from strategic data on the plane is a Pillar 2 problem.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October 15: added a fifth 'What else?' bucket, an open question for Jacqueline and partners (e.g., Sean): any other high-priority AI use cases needing data today, key reports missing data, or what matters going into 2027? Jake's comment: show the Pillar 2 sourcing side too. FCI and Sentinel are Nick's; ORM AI is the new request from the Vera team, probably not super critical but a good way to work out our process. eGRC is unscheduled; how the Tandems work relates is still open. Today workstreams are organized by use case; longer term, by subject-matter domain (e.g., customer, commercial loans).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Pillar 3's example four-blocker. Kevin's four-blocker tracks each workstream's progress, roadblocks, and progress since the last report-out. Each pillar has its own workstreams with deliverables, timelines, and an accountable person. Workstream counts can range from 2 to 10; the count doesn't measure effort.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project plan to track against. The legacy team is very project-management oriented: without set deliverables and dates, people assume nothing is happening. Each pillar gets the same shell; each lead keeps their own tracker. Task 6 depends on the Pillar 2 data plane structure decision.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Kevin's direction: no separate tracker. Ryan's DPC readiness slide (next) is the tracking view and stays current. It answers Jacqueline's question about how we know everything is tracked at DPC.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Rebuilt October 16 as a native slide from Ryan's latest DPC readiness slide (draft); Ryan owns the content, so keep it in sync with his updates. The first three phases completed with delays. Parallel testing (10/9–11/9) is delayed but on track with risk and now begins 10/19. The go-live window (11/9–11/30) is conditional, with the exact date TBD. September 30 was a planned pre-production validation milestone, not production approval, cutover, or go-live. Issue numbers in the milestone table map to the driving issues on the right.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Refreshed after the October 15 team review. The 'decisions: who does what' slide is held back until the pillars are agreed with Jacqueline.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slides. 'Where risk data lives today' moved into Pillar 2. The internal team-model slides follow in a hidden section.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as an appendix item (October 15). eGRC is on the back burner but will need data. Taylor is handling everything with Tandems; whether that work relates to this effort is still open.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October 16. How data moves onto the plane: it lands in DPC in its current, source-aligned folders; each folder is then inventoried, checked for dependencies, and sequenced; and the agreed category model is applied after migration. Risk-owned data (issues, RCSA) goes first, in line with ORCAP first on the previous slide. Migration order only sets when a folder can be worked on; it doesn't decide which category the folder ends up in. Data categories A to C are placeholders until the data plane structure is finalized (pineapples, kiwis, bananas).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a:p>
        </p:txBody>
      </p:sp>
      <p:sp>
        <p:nvSpPr>
          <p:cNvPr id="3" name="Text 0"/>
          <p:cNvSpPr/>
          <p:nvPr/>
        </p:nvSpPr>
        <p:spPr>
          <a:xfrm>
            <a:off x="548640" y="6419088"/>
            <a:ext cx="7315200" cy="256032"/>
          </a:xfrm>
          <a:prstGeom prst="rect">
            <a:avLst/>
          </a:prstGeom>
          <a:noFill/>
          <a:ln/>
        </p:spPr>
        <p:txBody>
          <a:bodyPr wrap="square" lIns="0" tIns="0" rIns="0" bIns="0" rtlCol="0" anchor="ctr"/>
          <a:lstStyle/>
          <a:p>
            <a:pPr marL="0" indent="0">
              <a:buNone/>
            </a:pPr>
            <a:r>
              <a:rPr lang="en-US" sz="1000">
                <a:solidFill>
                  <a:schemeClr val="tx2"/>
                </a:solidFill>
              </a:rPr>
              <a:t>Risk data sourcing · Working draft for discussion</a:t>
            </a:r>
            <a:endParaRPr lang="en-US" sz="100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10" Type="http://schemas.openxmlformats.org/officeDocument/2006/relationships/image" Target="../media/dpc_folder_blue.png"/><Relationship Id="rId11" Type="http://schemas.openxmlformats.org/officeDocument/2006/relationships/image" Target="../media/dpc_folder_blue.png"/><Relationship Id="rId12" Type="http://schemas.openxmlformats.org/officeDocument/2006/relationships/image" Target="../media/dpc_folder_blue.png"/><Relationship Id="rId13" Type="http://schemas.openxmlformats.org/officeDocument/2006/relationships/image" Target="../media/dpc_folder_blue.png"/><Relationship Id="rId14" Type="http://schemas.openxmlformats.org/officeDocument/2006/relationships/image" Target="../media/dpc_folder_blue.png"/><Relationship Id="rId15" Type="http://schemas.openxmlformats.org/officeDocument/2006/relationships/image" Target="../media/dpc_folder_blue.png"/><Relationship Id="rId16" Type="http://schemas.openxmlformats.org/officeDocument/2006/relationships/image" Target="../media/dpc_folder_blue.png"/><Relationship Id="rId17" Type="http://schemas.openxmlformats.org/officeDocument/2006/relationships/image" Target="../media/dpc_folder_blue.png"/><Relationship Id="rId18" Type="http://schemas.openxmlformats.org/officeDocument/2006/relationships/image" Target="../media/dpc_folder_grey.png"/><Relationship Id="rId19" Type="http://schemas.openxmlformats.org/officeDocument/2006/relationships/image" Target="../media/dpc_lock_white.png"/><Relationship Id="rId20" Type="http://schemas.openxmlformats.org/officeDocument/2006/relationships/image" Target="../media/dpc_folders_grey.png"/><Relationship Id="rId21" Type="http://schemas.openxmlformats.org/officeDocument/2006/relationships/image" Target="../media/dpc_folder_blue.png"/><Relationship Id="rId22" Type="http://schemas.openxmlformats.org/officeDocument/2006/relationships/image" Target="../media/dpc_clock_white.png"/><Relationship Id="rId9"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lIns="0" tIns="0" rIns="0" bIns="0" rtlCol="0" anchor="b"/>
          <a:lstStyle/>
          <a:p>
            <a:pPr marL="0" indent="0" algn="l">
              <a:buNone/>
            </a:pPr>
            <a:r>
              <a:rPr lang="en-US" sz="4800" b="1" dirty="0">
                <a:solidFill>
                  <a:schemeClr val="bg1"/>
                </a:solidFill>
              </a:rPr>
              <a:t>Risk Data Sourcing Strategy</a:t>
            </a: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lIns="0" tIns="0" rIns="0" bIns="0" rtlCol="0" anchor="t"/>
          <a:lstStyle/>
          <a:p>
            <a:pPr marL="0" indent="0" algn="l">
              <a:buNone/>
            </a:pPr>
            <a:r>
              <a:rPr lang="en-US" sz="2400" dirty="0">
                <a:solidFill>
                  <a:schemeClr val="bg2"/>
                </a:solidFill>
              </a:rPr>
              <a:t>Three pillars, the order of work, and how we track it</a:t>
            </a:r>
            <a:endParaRPr lang="en-US" sz="2400" dirty="0"/>
          </a:p>
        </p:txBody>
      </p:sp>
      <p:sp>
        <p:nvSpPr>
          <p:cNvPr id="4" name="Phase line"/>
          <p:cNvSpPr/>
          <p:nvPr/>
        </p:nvSpPr>
        <p:spPr>
          <a:xfrm>
            <a:off x="960120" y="4572000"/>
            <a:ext cx="8595360" cy="0"/>
          </a:xfrm>
          <a:prstGeom prst="line">
            <a:avLst/>
          </a:prstGeom>
          <a:noFill/>
          <a:ln w="19050">
            <a:solidFill>
              <a:schemeClr val="tx2"/>
            </a:solidFill>
            <a:prstDash val="solid"/>
          </a:ln>
        </p:spPr>
        <p:txBody>
          <a:bodyPr/>
          <a:lstStyle/>
          <a:p>
            <a:endParaRPr lang="en-US"/>
          </a:p>
        </p:txBody>
      </p:sp>
      <p:sp>
        <p:nvSpPr>
          <p:cNvPr id="5" name="Number 1"/>
          <p:cNvSpPr txBox="1"/>
          <p:nvPr/>
        </p:nvSpPr>
        <p:spPr>
          <a:xfrm>
            <a:off x="73152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8288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Understand usage</a:t>
            </a:r>
            <a:endParaRPr lang="en-US" sz="1300" dirty="0"/>
          </a:p>
        </p:txBody>
      </p:sp>
      <p:sp>
        <p:nvSpPr>
          <p:cNvPr id="7" name="Number 2"/>
          <p:cNvSpPr txBox="1"/>
          <p:nvPr/>
        </p:nvSpPr>
        <p:spPr>
          <a:xfrm>
            <a:off x="288036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8" name="Text 6"/>
          <p:cNvSpPr txBox="1"/>
          <p:nvPr/>
        </p:nvSpPr>
        <p:spPr>
          <a:xfrm>
            <a:off x="233172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Prioritize</a:t>
            </a:r>
            <a:endParaRPr lang="en-US" sz="1300" dirty="0"/>
          </a:p>
        </p:txBody>
      </p:sp>
      <p:sp>
        <p:nvSpPr>
          <p:cNvPr id="9" name="Number 3"/>
          <p:cNvSpPr txBox="1"/>
          <p:nvPr/>
        </p:nvSpPr>
        <p:spPr>
          <a:xfrm>
            <a:off x="502920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0" name="Text 8"/>
          <p:cNvSpPr txBox="1"/>
          <p:nvPr/>
        </p:nvSpPr>
        <p:spPr>
          <a:xfrm>
            <a:off x="448056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Source and land</a:t>
            </a:r>
            <a:endParaRPr lang="en-US" sz="1300" dirty="0"/>
          </a:p>
        </p:txBody>
      </p:sp>
      <p:sp>
        <p:nvSpPr>
          <p:cNvPr id="11" name="Number 4"/>
          <p:cNvSpPr txBox="1"/>
          <p:nvPr/>
        </p:nvSpPr>
        <p:spPr>
          <a:xfrm>
            <a:off x="7178040" y="434340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2" name="Text 10"/>
          <p:cNvSpPr txBox="1"/>
          <p:nvPr/>
        </p:nvSpPr>
        <p:spPr>
          <a:xfrm>
            <a:off x="662940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Validate</a:t>
            </a:r>
            <a:endParaRPr lang="en-US" sz="1300" dirty="0"/>
          </a:p>
        </p:txBody>
      </p:sp>
      <p:sp>
        <p:nvSpPr>
          <p:cNvPr id="13" name="Number 5"/>
          <p:cNvSpPr txBox="1"/>
          <p:nvPr/>
        </p:nvSpPr>
        <p:spPr>
          <a:xfrm>
            <a:off x="9326880" y="4343400"/>
            <a:ext cx="457200" cy="457200"/>
          </a:xfrm>
          <a:prstGeom prst="ellipse">
            <a:avLst/>
          </a:prstGeom>
          <a:solidFill>
            <a:schemeClr val="accent5"/>
          </a:solid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4" name="Text 12"/>
          <p:cNvSpPr txBox="1"/>
          <p:nvPr/>
        </p:nvSpPr>
        <p:spPr>
          <a:xfrm>
            <a:off x="8778240" y="4892040"/>
            <a:ext cx="1554480" cy="457200"/>
          </a:xfrm>
          <a:prstGeom prst="rect">
            <a:avLst/>
          </a:prstGeom>
          <a:noFill/>
          <a:ln/>
        </p:spPr>
        <p:txBody>
          <a:bodyPr wrap="square" lIns="0" tIns="0" rIns="0" bIns="0" rtlCol="0" anchor="t"/>
          <a:lstStyle/>
          <a:p>
            <a:pPr marL="0" indent="0" algn="ctr">
              <a:buNone/>
            </a:pPr>
            <a:r>
              <a:rPr lang="en-US" sz="1300" dirty="0">
                <a:solidFill>
                  <a:schemeClr val="bg2"/>
                </a:solidFill>
              </a:rPr>
              <a:t>Enable Data Consumption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Three Pillars Enable Trusted Risk Data for AI, Reporting &amp; Analytics</a:t>
            </a:r>
            <a:endParaRPr lang="en-US" sz="2800" dirty="0"/>
          </a:p>
        </p:txBody>
      </p:sp>
      <p:sp>
        <p:nvSpPr>
          <p:cNvPr id="3" name="Section tag"/>
          <p:cNvSpPr txBox="1"/>
          <p:nvPr/>
        </p:nvSpPr>
        <p:spPr>
          <a:xfrm>
            <a:off x="548640" y="274320"/>
            <a:ext cx="892454"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SUMMARY</a:t>
            </a:r>
            <a:endParaRPr lang="en-US" sz="1000" dirty="0"/>
          </a:p>
        </p:txBody>
      </p:sp>
      <p:sp>
        <p:nvSpPr>
          <p:cNvPr id="5" name="Card"/>
          <p:cNvSpPr/>
          <p:nvPr/>
        </p:nvSpPr>
        <p:spPr>
          <a:xfrm>
            <a:off x="548640" y="1600200"/>
            <a:ext cx="7269480" cy="822960"/>
          </a:xfrm>
          <a:prstGeom prst="roundRect">
            <a:avLst>
              <a:gd name="adj" fmla="val 8889"/>
            </a:avLst>
          </a:prstGeom>
          <a:solidFill>
            <a:schemeClr val="bg2"/>
          </a:solidFill>
          <a:ln/>
        </p:spPr>
        <p:txBody>
          <a:bodyPr/>
          <a:lstStyle/>
          <a:p>
            <a:endParaRPr lang="en-US"/>
          </a:p>
        </p:txBody>
      </p:sp>
      <p:sp>
        <p:nvSpPr>
          <p:cNvPr id="6" name="Text 3"/>
          <p:cNvSpPr txBox="1"/>
          <p:nvPr/>
        </p:nvSpPr>
        <p:spPr>
          <a:xfrm>
            <a:off x="749808" y="16002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The Goal</a:t>
            </a:r>
            <a:endParaRPr lang="en-US" sz="1500" dirty="0"/>
          </a:p>
        </p:txBody>
      </p:sp>
      <p:sp>
        <p:nvSpPr>
          <p:cNvPr id="7" name="Text 4"/>
          <p:cNvSpPr txBox="1"/>
          <p:nvPr/>
        </p:nvSpPr>
        <p:spPr>
          <a:xfrm>
            <a:off x="2240280" y="1600200"/>
            <a:ext cx="5440680" cy="822960"/>
          </a:xfrm>
          <a:prstGeom prst="rect">
            <a:avLst/>
          </a:prstGeom>
          <a:noFill/>
          <a:ln/>
        </p:spPr>
        <p:txBody>
          <a:bodyPr wrap="square" lIns="0" tIns="0" rIns="0" bIns="0" rtlCol="0" anchor="ctr"/>
          <a:lstStyle/>
          <a:p>
            <a:pPr marL="0" indent="0">
              <a:buNone/>
            </a:pPr>
            <a:r>
              <a:rPr lang="en-US" sz="1300" dirty="0">
                <a:solidFill>
                  <a:schemeClr val="tx1"/>
                </a:solidFill>
              </a:rPr>
              <a:t>Enable trusted, reusable risk data for AI, reporting, and analytics through one common data plane.</a:t>
            </a:r>
            <a:endParaRPr lang="en-US" sz="1300" dirty="0"/>
          </a:p>
        </p:txBody>
      </p:sp>
      <p:sp>
        <p:nvSpPr>
          <p:cNvPr id="8" name="Card"/>
          <p:cNvSpPr/>
          <p:nvPr/>
        </p:nvSpPr>
        <p:spPr>
          <a:xfrm>
            <a:off x="548640" y="2514600"/>
            <a:ext cx="7269480" cy="822960"/>
          </a:xfrm>
          <a:prstGeom prst="roundRect">
            <a:avLst>
              <a:gd name="adj" fmla="val 8889"/>
            </a:avLst>
          </a:prstGeom>
          <a:solidFill>
            <a:schemeClr val="bg2"/>
          </a:solidFill>
          <a:ln/>
        </p:spPr>
        <p:txBody>
          <a:bodyPr/>
          <a:lstStyle/>
          <a:p>
            <a:endParaRPr lang="en-US"/>
          </a:p>
        </p:txBody>
      </p:sp>
      <p:sp>
        <p:nvSpPr>
          <p:cNvPr id="9" name="Text 6"/>
          <p:cNvSpPr txBox="1"/>
          <p:nvPr/>
        </p:nvSpPr>
        <p:spPr>
          <a:xfrm>
            <a:off x="749808" y="25146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The Pillars</a:t>
            </a:r>
            <a:endParaRPr lang="en-US" sz="1500" dirty="0"/>
          </a:p>
        </p:txBody>
      </p:sp>
      <p:sp>
        <p:nvSpPr>
          <p:cNvPr id="10" name="Text 7"/>
          <p:cNvSpPr txBox="1"/>
          <p:nvPr/>
        </p:nvSpPr>
        <p:spPr>
          <a:xfrm>
            <a:off x="2240280" y="2514600"/>
            <a:ext cx="5440680" cy="822960"/>
          </a:xfrm>
          <a:prstGeom prst="rect">
            <a:avLst/>
          </a:prstGeom>
          <a:noFill/>
          <a:ln/>
        </p:spPr>
        <p:txBody>
          <a:bodyPr wrap="square" lIns="0" tIns="0" rIns="0" bIns="0" rtlCol="0" anchor="ctr"/>
          <a:lstStyle/>
          <a:p>
            <a:pPr marL="0" indent="0">
              <a:buNone/>
            </a:pPr>
            <a:r>
              <a:rPr lang="en-US" sz="1300" b="1" dirty="0">
                <a:solidFill>
                  <a:schemeClr val="tx1"/>
                </a:solidFill>
              </a:rPr>
              <a:t>Pillar 1</a:t>
            </a:r>
            <a:r>
              <a:rPr lang="en-US" sz="1300" dirty="0">
                <a:solidFill>
                  <a:schemeClr val="tx1"/>
                </a:solidFill>
              </a:rPr>
              <a:t> enables data capabilities, tooling, and standards. </a:t>
            </a:r>
            <a:r>
              <a:rPr lang="en-US" sz="1300" b="1" dirty="0">
                <a:solidFill>
                  <a:schemeClr val="tx1"/>
                </a:solidFill>
              </a:rPr>
              <a:t>Pillar 2</a:t>
            </a:r>
            <a:r>
              <a:rPr lang="en-US" sz="1300" dirty="0">
                <a:solidFill>
                  <a:schemeClr val="tx1"/>
                </a:solidFill>
              </a:rPr>
              <a:t> assesses and rationalizes existing sourcing while establishing and managing the data plane. </a:t>
            </a:r>
            <a:r>
              <a:rPr lang="en-US" sz="1300" b="1" dirty="0">
                <a:solidFill>
                  <a:schemeClr val="tx1"/>
                </a:solidFill>
              </a:rPr>
              <a:t>Pillar 3</a:t>
            </a:r>
            <a:r>
              <a:rPr lang="en-US" sz="1300" dirty="0">
                <a:solidFill>
                  <a:schemeClr val="tx1"/>
                </a:solidFill>
              </a:rPr>
              <a:t> manages new demand and strategic sourcing.</a:t>
            </a:r>
            <a:endParaRPr lang="en-US" sz="1300" dirty="0"/>
          </a:p>
        </p:txBody>
      </p:sp>
      <p:sp>
        <p:nvSpPr>
          <p:cNvPr id="11" name="Card"/>
          <p:cNvSpPr/>
          <p:nvPr/>
        </p:nvSpPr>
        <p:spPr>
          <a:xfrm>
            <a:off x="548640" y="3429000"/>
            <a:ext cx="7269480" cy="822960"/>
          </a:xfrm>
          <a:prstGeom prst="roundRect">
            <a:avLst>
              <a:gd name="adj" fmla="val 8889"/>
            </a:avLst>
          </a:prstGeom>
          <a:solidFill>
            <a:schemeClr val="bg2"/>
          </a:solidFill>
          <a:ln/>
        </p:spPr>
        <p:txBody>
          <a:bodyPr/>
          <a:lstStyle/>
          <a:p>
            <a:endParaRPr lang="en-US"/>
          </a:p>
        </p:txBody>
      </p:sp>
      <p:sp>
        <p:nvSpPr>
          <p:cNvPr id="12" name="Text 9"/>
          <p:cNvSpPr txBox="1"/>
          <p:nvPr/>
        </p:nvSpPr>
        <p:spPr>
          <a:xfrm>
            <a:off x="749808" y="3429000"/>
            <a:ext cx="1417320" cy="822960"/>
          </a:xfrm>
          <a:prstGeom prst="rect">
            <a:avLst/>
          </a:prstGeom>
          <a:noFill/>
          <a:ln/>
        </p:spPr>
        <p:txBody>
          <a:bodyPr wrap="square" lIns="0" tIns="0" rIns="0" bIns="0" rtlCol="0" anchor="ctr"/>
          <a:lstStyle/>
          <a:p>
            <a:pPr marL="0" indent="0">
              <a:buNone/>
            </a:pPr>
            <a:r>
              <a:rPr lang="en-US" sz="1500" b="1" dirty="0">
                <a:solidFill>
                  <a:schemeClr val="accent4"/>
                </a:solidFill>
              </a:rPr>
              <a:t>Underneath</a:t>
            </a:r>
            <a:endParaRPr lang="en-US" sz="1500" dirty="0"/>
          </a:p>
        </p:txBody>
      </p:sp>
      <p:sp>
        <p:nvSpPr>
          <p:cNvPr id="13" name="Text 10"/>
          <p:cNvSpPr txBox="1"/>
          <p:nvPr/>
        </p:nvSpPr>
        <p:spPr>
          <a:xfrm>
            <a:off x="2240280" y="3429000"/>
            <a:ext cx="5440680" cy="822960"/>
          </a:xfrm>
          <a:prstGeom prst="rect">
            <a:avLst/>
          </a:prstGeom>
          <a:noFill/>
          <a:ln/>
        </p:spPr>
        <p:txBody>
          <a:bodyPr wrap="square" lIns="0" tIns="0" rIns="0" bIns="0" rtlCol="0" anchor="ctr"/>
          <a:lstStyle/>
          <a:p>
            <a:pPr marL="0" indent="0">
              <a:buNone/>
            </a:pPr>
            <a:r>
              <a:rPr lang="en-US" sz="1300" dirty="0">
                <a:solidFill>
                  <a:schemeClr val="tx1"/>
                </a:solidFill>
              </a:rPr>
              <a:t>DPC migration progresses toward the year-end target, while all three pillars continue advancing in parallel before, during, and after migration.</a:t>
            </a:r>
            <a:endParaRPr lang="en-US" sz="1300" dirty="0"/>
          </a:p>
        </p:txBody>
      </p:sp>
      <p:sp>
        <p:nvSpPr>
          <p:cNvPr id="14" name="Card"/>
          <p:cNvSpPr/>
          <p:nvPr/>
        </p:nvSpPr>
        <p:spPr>
          <a:xfrm>
            <a:off x="548640" y="4343400"/>
            <a:ext cx="7269480" cy="822960"/>
          </a:xfrm>
          <a:prstGeom prst="roundRect">
            <a:avLst>
              <a:gd name="adj" fmla="val 8889"/>
            </a:avLst>
          </a:prstGeom>
          <a:solidFill>
            <a:schemeClr val="bg2"/>
          </a:solidFill>
          <a:ln/>
        </p:spPr>
        <p:txBody>
          <a:bodyPr/>
          <a:lstStyle/>
          <a:p>
            <a:endParaRPr lang="en-US"/>
          </a:p>
        </p:txBody>
      </p:sp>
      <p:sp>
        <p:nvSpPr>
          <p:cNvPr id="15" name="Text 12"/>
          <p:cNvSpPr txBox="1"/>
          <p:nvPr/>
        </p:nvSpPr>
        <p:spPr>
          <a:xfrm>
            <a:off x="749808" y="43434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Priorities</a:t>
            </a:r>
            <a:endParaRPr lang="en-US" sz="1500" dirty="0"/>
          </a:p>
        </p:txBody>
      </p:sp>
      <p:sp>
        <p:nvSpPr>
          <p:cNvPr id="16" name="Text 13"/>
          <p:cNvSpPr txBox="1"/>
          <p:nvPr/>
        </p:nvSpPr>
        <p:spPr>
          <a:xfrm>
            <a:off x="2240280" y="4343400"/>
            <a:ext cx="5440680" cy="822960"/>
          </a:xfrm>
          <a:prstGeom prst="rect">
            <a:avLst/>
          </a:prstGeom>
          <a:noFill/>
          <a:ln/>
        </p:spPr>
        <p:txBody>
          <a:bodyPr wrap="square" lIns="0" tIns="0" rIns="0" bIns="0" rtlCol="0" anchor="ctr"/>
          <a:lstStyle/>
          <a:p>
            <a:pPr marL="0" indent="0">
              <a:buNone/>
            </a:pPr>
            <a:r>
              <a:rPr lang="en-US" sz="1300" dirty="0">
                <a:solidFill>
                  <a:schemeClr val="tx1"/>
                </a:solidFill>
              </a:rPr>
              <a:t>FCI and Sentinel (financial-crimes use cases) are under way. ORM AI is validating the approach, while Credit 360 and FCTDS existing sourcing are assessed through Pillar 2.</a:t>
            </a:r>
            <a:endParaRPr lang="en-US" sz="1300" dirty="0"/>
          </a:p>
        </p:txBody>
      </p:sp>
      <p:sp>
        <p:nvSpPr>
          <p:cNvPr id="17" name="Card"/>
          <p:cNvSpPr/>
          <p:nvPr/>
        </p:nvSpPr>
        <p:spPr>
          <a:xfrm>
            <a:off x="548640" y="5257800"/>
            <a:ext cx="7269480" cy="822960"/>
          </a:xfrm>
          <a:prstGeom prst="roundRect">
            <a:avLst>
              <a:gd name="adj" fmla="val 8889"/>
            </a:avLst>
          </a:prstGeom>
          <a:solidFill>
            <a:schemeClr val="bg2"/>
          </a:solidFill>
          <a:ln/>
        </p:spPr>
        <p:txBody>
          <a:bodyPr/>
          <a:lstStyle/>
          <a:p>
            <a:endParaRPr lang="en-US"/>
          </a:p>
        </p:txBody>
      </p:sp>
      <p:sp>
        <p:nvSpPr>
          <p:cNvPr id="18" name="Text 15"/>
          <p:cNvSpPr txBox="1"/>
          <p:nvPr/>
        </p:nvSpPr>
        <p:spPr>
          <a:xfrm>
            <a:off x="749808" y="5257800"/>
            <a:ext cx="1417320" cy="822960"/>
          </a:xfrm>
          <a:prstGeom prst="rect">
            <a:avLst/>
          </a:prstGeom>
          <a:noFill/>
          <a:ln/>
        </p:spPr>
        <p:txBody>
          <a:bodyPr wrap="square" lIns="0" tIns="0" rIns="0" bIns="0" rtlCol="0" anchor="ctr"/>
          <a:lstStyle/>
          <a:p>
            <a:pPr marL="0" indent="0">
              <a:buNone/>
            </a:pPr>
            <a:r>
              <a:rPr lang="en-US" sz="1500" b="1" dirty="0">
                <a:solidFill>
                  <a:schemeClr val="accent1"/>
                </a:solidFill>
              </a:rPr>
              <a:t>Running It</a:t>
            </a:r>
            <a:endParaRPr lang="en-US" sz="1500" dirty="0"/>
          </a:p>
        </p:txBody>
      </p:sp>
      <p:sp>
        <p:nvSpPr>
          <p:cNvPr id="19" name="Text 16"/>
          <p:cNvSpPr txBox="1"/>
          <p:nvPr/>
        </p:nvSpPr>
        <p:spPr>
          <a:xfrm>
            <a:off x="2240280" y="5257800"/>
            <a:ext cx="5440680" cy="822960"/>
          </a:xfrm>
          <a:prstGeom prst="rect">
            <a:avLst/>
          </a:prstGeom>
          <a:noFill/>
          <a:ln/>
        </p:spPr>
        <p:txBody>
          <a:bodyPr wrap="square" lIns="0" tIns="0" rIns="0" bIns="0" rtlCol="0" anchor="ctr"/>
          <a:lstStyle/>
          <a:p>
            <a:pPr marL="0" indent="0">
              <a:buNone/>
            </a:pPr>
            <a:r>
              <a:rPr lang="en-US" sz="1300" dirty="0">
                <a:solidFill>
                  <a:schemeClr val="tx1"/>
                </a:solidFill>
              </a:rPr>
              <a:t>Dedicated pillar leads and workstream trackers provide visibility into progress, milestones, risks, dependencies, and key decisions.</a:t>
            </a:r>
            <a:endParaRPr lang="en-US" sz="1300" dirty="0"/>
          </a:p>
        </p:txBody>
      </p:sp>
      <p:sp>
        <p:nvSpPr>
          <p:cNvPr id="20" name="Text 17"/>
          <p:cNvSpPr txBox="1"/>
          <p:nvPr/>
        </p:nvSpPr>
        <p:spPr>
          <a:xfrm>
            <a:off x="8183880" y="1600200"/>
            <a:ext cx="3456432" cy="237744"/>
          </a:xfrm>
          <a:prstGeom prst="rect">
            <a:avLst/>
          </a:prstGeom>
          <a:noFill/>
          <a:ln/>
        </p:spPr>
        <p:txBody>
          <a:bodyPr wrap="square" lIns="0" tIns="0" rIns="0" bIns="0" rtlCol="0" anchor="t"/>
          <a:lstStyle/>
          <a:p>
            <a:pPr marL="0" indent="0">
              <a:buNone/>
            </a:pPr>
            <a:r>
              <a:rPr lang="en-US" sz="1100" b="1" kern="0" spc="100" dirty="0">
                <a:solidFill>
                  <a:schemeClr val="tx2"/>
                </a:solidFill>
              </a:rPr>
              <a:t>IN FLIGHT TODAY</a:t>
            </a:r>
            <a:endParaRPr lang="en-US" sz="1100" dirty="0"/>
          </a:p>
        </p:txBody>
      </p:sp>
      <p:sp>
        <p:nvSpPr>
          <p:cNvPr id="21" name="Card"/>
          <p:cNvSpPr/>
          <p:nvPr/>
        </p:nvSpPr>
        <p:spPr>
          <a:xfrm>
            <a:off x="8183880" y="1920240"/>
            <a:ext cx="3456432" cy="1325880"/>
          </a:xfrm>
          <a:prstGeom prst="roundRect">
            <a:avLst>
              <a:gd name="adj" fmla="val 5517"/>
            </a:avLst>
          </a:prstGeom>
          <a:solidFill>
            <a:schemeClr val="accent3">
              <a:alpha val="18000"/>
            </a:schemeClr>
          </a:solidFill>
          <a:ln/>
        </p:spPr>
        <p:txBody>
          <a:bodyPr/>
          <a:lstStyle/>
          <a:p>
            <a:endParaRPr lang="en-US"/>
          </a:p>
        </p:txBody>
      </p:sp>
      <p:sp>
        <p:nvSpPr>
          <p:cNvPr id="22" name="Text 19"/>
          <p:cNvSpPr txBox="1"/>
          <p:nvPr/>
        </p:nvSpPr>
        <p:spPr>
          <a:xfrm>
            <a:off x="8348472" y="1920240"/>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FCI</a:t>
            </a:r>
            <a:endParaRPr lang="en-US" sz="1400" dirty="0"/>
          </a:p>
          <a:p>
            <a:pPr marL="0" indent="0">
              <a:spcAft>
                <a:spcPts val="200"/>
              </a:spcAft>
              <a:buNone/>
            </a:pPr>
            <a:r>
              <a:rPr lang="en-US" sz="1200" dirty="0">
                <a:solidFill>
                  <a:schemeClr val="tx2"/>
                </a:solidFill>
              </a:rPr>
              <a:t>Financial crimes use case</a:t>
            </a:r>
            <a:endParaRPr lang="en-US" sz="1400" dirty="0"/>
          </a:p>
          <a:p>
            <a:pPr marL="0" indent="0">
              <a:spcAft>
                <a:spcPts val="200"/>
              </a:spcAft>
              <a:buNone/>
            </a:pPr>
            <a:r>
              <a:rPr lang="en-US" sz="1300" dirty="0">
                <a:solidFill>
                  <a:schemeClr val="tx1"/>
                </a:solidFill>
              </a:rPr>
              <a:t>Active sourcing through strategic, justified tactical, and escalation paths.</a:t>
            </a:r>
            <a:endParaRPr lang="en-US" sz="1400" dirty="0"/>
          </a:p>
        </p:txBody>
      </p:sp>
      <p:sp>
        <p:nvSpPr>
          <p:cNvPr id="23" name="Card"/>
          <p:cNvSpPr/>
          <p:nvPr/>
        </p:nvSpPr>
        <p:spPr>
          <a:xfrm>
            <a:off x="8183880" y="3355848"/>
            <a:ext cx="3456432" cy="1325880"/>
          </a:xfrm>
          <a:prstGeom prst="roundRect">
            <a:avLst>
              <a:gd name="adj" fmla="val 5517"/>
            </a:avLst>
          </a:prstGeom>
          <a:solidFill>
            <a:schemeClr val="accent3">
              <a:alpha val="18000"/>
            </a:schemeClr>
          </a:solidFill>
          <a:ln/>
        </p:spPr>
        <p:txBody>
          <a:bodyPr/>
          <a:lstStyle/>
          <a:p>
            <a:endParaRPr lang="en-US"/>
          </a:p>
        </p:txBody>
      </p:sp>
      <p:sp>
        <p:nvSpPr>
          <p:cNvPr id="24" name="Text 21"/>
          <p:cNvSpPr txBox="1"/>
          <p:nvPr/>
        </p:nvSpPr>
        <p:spPr>
          <a:xfrm>
            <a:off x="8348472" y="3355848"/>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Sentinel</a:t>
            </a:r>
            <a:endParaRPr lang="en-US" sz="1400" dirty="0"/>
          </a:p>
          <a:p>
            <a:pPr marL="0" indent="0">
              <a:spcAft>
                <a:spcPts val="200"/>
              </a:spcAft>
              <a:buNone/>
            </a:pPr>
            <a:r>
              <a:rPr lang="en-US" sz="1200" dirty="0">
                <a:solidFill>
                  <a:schemeClr val="tx2"/>
                </a:solidFill>
              </a:rPr>
              <a:t>Financial crimes use case</a:t>
            </a:r>
            <a:endParaRPr lang="en-US" sz="1400" dirty="0"/>
          </a:p>
          <a:p>
            <a:pPr marL="0" indent="0">
              <a:spcAft>
                <a:spcPts val="200"/>
              </a:spcAft>
              <a:buNone/>
            </a:pPr>
            <a:r>
              <a:rPr lang="en-US" sz="1300" dirty="0">
                <a:solidFill>
                  <a:schemeClr val="tx1"/>
                </a:solidFill>
              </a:rPr>
              <a:t>Leveraging existing sourcing while assessing new demand and FCTDS alignment.</a:t>
            </a:r>
            <a:endParaRPr lang="en-US" sz="1400" dirty="0"/>
          </a:p>
        </p:txBody>
      </p:sp>
      <p:sp>
        <p:nvSpPr>
          <p:cNvPr id="25" name="Card"/>
          <p:cNvSpPr/>
          <p:nvPr/>
        </p:nvSpPr>
        <p:spPr>
          <a:xfrm>
            <a:off x="8183880" y="4791456"/>
            <a:ext cx="3456432" cy="1325880"/>
          </a:xfrm>
          <a:prstGeom prst="roundRect">
            <a:avLst>
              <a:gd name="adj" fmla="val 5517"/>
            </a:avLst>
          </a:prstGeom>
          <a:solidFill>
            <a:schemeClr val="accent3">
              <a:alpha val="10000"/>
            </a:schemeClr>
          </a:solidFill>
          <a:ln/>
        </p:spPr>
        <p:txBody>
          <a:bodyPr/>
          <a:lstStyle/>
          <a:p>
            <a:endParaRPr lang="en-US"/>
          </a:p>
        </p:txBody>
      </p:sp>
      <p:sp>
        <p:nvSpPr>
          <p:cNvPr id="26" name="Text 23"/>
          <p:cNvSpPr txBox="1"/>
          <p:nvPr/>
        </p:nvSpPr>
        <p:spPr>
          <a:xfrm>
            <a:off x="8348472" y="4791456"/>
            <a:ext cx="3154680" cy="1325880"/>
          </a:xfrm>
          <a:prstGeom prst="rect">
            <a:avLst/>
          </a:prstGeom>
          <a:noFill/>
          <a:ln/>
        </p:spPr>
        <p:txBody>
          <a:bodyPr wrap="square" lIns="0" tIns="0" rIns="0" bIns="0" rtlCol="0" anchor="ctr"/>
          <a:lstStyle/>
          <a:p>
            <a:pPr marL="0" indent="0">
              <a:spcAft>
                <a:spcPts val="200"/>
              </a:spcAft>
              <a:buNone/>
            </a:pPr>
            <a:r>
              <a:rPr lang="en-US" sz="1900" b="1" dirty="0">
                <a:solidFill>
                  <a:schemeClr val="accent3"/>
                </a:solidFill>
              </a:rPr>
              <a:t>ORM AI</a:t>
            </a:r>
            <a:endParaRPr lang="en-US" sz="1400" dirty="0"/>
          </a:p>
          <a:p>
            <a:pPr marL="0" indent="0">
              <a:spcAft>
                <a:spcPts val="200"/>
              </a:spcAft>
              <a:buNone/>
            </a:pPr>
            <a:r>
              <a:rPr lang="en-US" sz="1200" dirty="0">
                <a:solidFill>
                  <a:schemeClr val="tx2"/>
                </a:solidFill>
              </a:rPr>
              <a:t>ORM's AI use case (Vera), our test case</a:t>
            </a:r>
            <a:endParaRPr lang="en-US" sz="1400" dirty="0"/>
          </a:p>
          <a:p>
            <a:pPr marL="0" indent="0">
              <a:spcAft>
                <a:spcPts val="200"/>
              </a:spcAft>
              <a:buNone/>
            </a:pPr>
            <a:r>
              <a:rPr lang="en-US" sz="1300" dirty="0">
                <a:solidFill>
                  <a:schemeClr val="tx1"/>
                </a:solidFill>
              </a:rPr>
              <a:t>RDS overlap assessment underway; six proposed priority sources pending confirmation.</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Three Pillars on One Common Data Plane</a:t>
            </a:r>
            <a:endParaRPr lang="en-US" sz="2800" dirty="0"/>
          </a:p>
        </p:txBody>
      </p:sp>
      <p:sp>
        <p:nvSpPr>
          <p:cNvPr id="3" name="Section tag"/>
          <p:cNvSpPr txBox="1"/>
          <p:nvPr/>
        </p:nvSpPr>
        <p:spPr>
          <a:xfrm>
            <a:off x="548640" y="274320"/>
            <a:ext cx="169712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PILLARS</a:t>
            </a:r>
            <a:endParaRPr lang="en-US" sz="1000" dirty="0"/>
          </a:p>
        </p:txBody>
      </p:sp>
      <p:sp>
        <p:nvSpPr>
          <p:cNvPr id="5" name="Goal"/>
          <p:cNvSpPr txBox="1"/>
          <p:nvPr/>
        </p:nvSpPr>
        <p:spPr>
          <a:xfrm>
            <a:off x="548640" y="1267744"/>
            <a:ext cx="11091672" cy="530352"/>
          </a:xfrm>
          <a:prstGeom prst="roundRect">
            <a:avLst>
              <a:gd name="adj" fmla="val 13793"/>
            </a:avLst>
          </a:prstGeom>
          <a:solidFill>
            <a:schemeClr val="accent5"/>
          </a:solidFill>
          <a:ln/>
        </p:spPr>
        <p:txBody>
          <a:bodyPr wrap="square" lIns="0" tIns="0" rIns="0" bIns="0" rtlCol="0" anchor="ctr"/>
          <a:lstStyle/>
          <a:p>
            <a:pPr marL="0" indent="0" algn="ctr">
              <a:buNone/>
            </a:pPr>
            <a:r>
              <a:rPr lang="en-US" sz="1600" b="1" dirty="0">
                <a:solidFill>
                  <a:schemeClr val="bg1"/>
                </a:solidFill>
              </a:rPr>
              <a:t>Goal: Deliver trusted, reusable risk data for AI, reporting, and analytics through one common data plane</a:t>
            </a:r>
            <a:endParaRPr lang="en-US" sz="1600" dirty="0"/>
          </a:p>
        </p:txBody>
      </p:sp>
      <p:sp>
        <p:nvSpPr>
          <p:cNvPr id="6" name="Card"/>
          <p:cNvSpPr/>
          <p:nvPr/>
        </p:nvSpPr>
        <p:spPr>
          <a:xfrm>
            <a:off x="548640" y="1889536"/>
            <a:ext cx="3544824" cy="3121376"/>
          </a:xfrm>
          <a:prstGeom prst="roundRect">
            <a:avLst>
              <a:gd name="adj" fmla="val 2564"/>
            </a:avLst>
          </a:prstGeom>
          <a:solidFill>
            <a:schemeClr val="accent1">
              <a:alpha val="10000"/>
            </a:schemeClr>
          </a:solidFill>
          <a:ln w="15875">
            <a:solidFill>
              <a:schemeClr val="accent1"/>
            </a:solidFill>
            <a:prstDash val="solid"/>
          </a:ln>
        </p:spPr>
        <p:txBody>
          <a:bodyPr/>
          <a:lstStyle/>
          <a:p>
            <a:endParaRPr lang="en-US"/>
          </a:p>
        </p:txBody>
      </p:sp>
      <p:sp>
        <p:nvSpPr>
          <p:cNvPr id="7" name="Card"/>
          <p:cNvSpPr/>
          <p:nvPr/>
        </p:nvSpPr>
        <p:spPr>
          <a:xfrm>
            <a:off x="548640" y="1889536"/>
            <a:ext cx="3544824" cy="640080"/>
          </a:xfrm>
          <a:prstGeom prst="roundRect">
            <a:avLst>
              <a:gd name="adj" fmla="val 11429"/>
            </a:avLst>
          </a:prstGeom>
          <a:solidFill>
            <a:schemeClr val="accent1"/>
          </a:solidFill>
          <a:ln/>
        </p:spPr>
        <p:txBody>
          <a:bodyPr/>
          <a:lstStyle/>
          <a:p>
            <a:endParaRPr lang="en-US"/>
          </a:p>
        </p:txBody>
      </p:sp>
      <p:sp>
        <p:nvSpPr>
          <p:cNvPr id="8" name="Text 5"/>
          <p:cNvSpPr txBox="1"/>
          <p:nvPr/>
        </p:nvSpPr>
        <p:spPr>
          <a:xfrm>
            <a:off x="731520"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1</a:t>
            </a:r>
            <a:endParaRPr lang="en-US" sz="1400" dirty="0"/>
          </a:p>
          <a:p>
            <a:pPr marL="0" indent="0">
              <a:buNone/>
            </a:pPr>
            <a:r>
              <a:rPr lang="en-US" sz="1600" b="1" dirty="0">
                <a:solidFill>
                  <a:schemeClr val="bg1"/>
                </a:solidFill>
              </a:rPr>
              <a:t>Data Capabilities &amp; Enablement</a:t>
            </a:r>
            <a:endParaRPr lang="en-US" sz="1400" dirty="0"/>
          </a:p>
        </p:txBody>
      </p:sp>
      <p:sp>
        <p:nvSpPr>
          <p:cNvPr id="9" name="Text 6"/>
          <p:cNvSpPr txBox="1"/>
          <p:nvPr/>
        </p:nvSpPr>
        <p:spPr>
          <a:xfrm>
            <a:off x="713232" y="2621056"/>
            <a:ext cx="3270504" cy="20482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Assess existing tools and intake processes</a:t>
            </a:r>
            <a:endParaRPr lang="en-US" sz="1200" dirty="0"/>
          </a:p>
          <a:p>
            <a:pPr marL="177800" indent="-177800">
              <a:spcAft>
                <a:spcPts val="300"/>
              </a:spcAft>
              <a:buSzPct val="100000"/>
              <a:buChar char="•"/>
            </a:pPr>
            <a:r>
              <a:rPr lang="en-US" sz="1200" dirty="0">
                <a:solidFill>
                  <a:schemeClr val="tx1"/>
                </a:solidFill>
              </a:rPr>
              <a:t>Automate and centralize sourcing intake</a:t>
            </a:r>
            <a:endParaRPr lang="en-US" sz="1200" dirty="0"/>
          </a:p>
          <a:p>
            <a:pPr marL="177800" indent="-177800">
              <a:spcAft>
                <a:spcPts val="300"/>
              </a:spcAft>
              <a:buSzPct val="100000"/>
              <a:buChar char="•"/>
            </a:pPr>
            <a:r>
              <a:rPr lang="en-US" sz="1200" dirty="0">
                <a:solidFill>
                  <a:schemeClr val="tx1"/>
                </a:solidFill>
              </a:rPr>
              <a:t>Enable </a:t>
            </a:r>
            <a:r>
              <a:rPr lang="en-US" sz="1200" dirty="0" err="1">
                <a:solidFill>
                  <a:schemeClr val="tx1"/>
                </a:solidFill>
              </a:rPr>
              <a:t>DataHub</a:t>
            </a:r>
            <a:r>
              <a:rPr lang="en-US" sz="1200" dirty="0">
                <a:solidFill>
                  <a:schemeClr val="tx1"/>
                </a:solidFill>
              </a:rPr>
              <a:t>, dictionaries, lineage, data quality</a:t>
            </a:r>
          </a:p>
          <a:p>
            <a:pPr marL="177800" indent="-177800">
              <a:spcAft>
                <a:spcPts val="300"/>
              </a:spcAft>
              <a:buSzPct val="100000"/>
              <a:buChar char="•"/>
            </a:pPr>
            <a:r>
              <a:rPr lang="en-US" sz="1200" dirty="0"/>
              <a:t>Establish metadata and data standards</a:t>
            </a:r>
          </a:p>
          <a:p>
            <a:pPr marL="177800" indent="-177800">
              <a:spcAft>
                <a:spcPts val="300"/>
              </a:spcAft>
              <a:buSzPct val="100000"/>
              <a:buChar char="•"/>
            </a:pPr>
            <a:r>
              <a:rPr lang="en-US" sz="1200" dirty="0"/>
              <a:t>Identify and designate General Use Datasets for reuse across Risk</a:t>
            </a:r>
          </a:p>
          <a:p>
            <a:pPr marL="177800" indent="-177800">
              <a:spcAft>
                <a:spcPts val="300"/>
              </a:spcAft>
              <a:buSzPct val="100000"/>
              <a:buChar char="•"/>
            </a:pPr>
            <a:r>
              <a:rPr lang="en-US" sz="1200" dirty="0">
                <a:solidFill>
                  <a:schemeClr val="tx1"/>
                </a:solidFill>
              </a:rPr>
              <a:t>Define operating model and escalation</a:t>
            </a:r>
            <a:endParaRPr lang="en-US" sz="1200" dirty="0"/>
          </a:p>
          <a:p>
            <a:pPr marL="177800" indent="-177800">
              <a:spcAft>
                <a:spcPts val="300"/>
              </a:spcAft>
              <a:buSzPct val="100000"/>
              <a:buChar char="•"/>
            </a:pPr>
            <a:r>
              <a:rPr lang="en-US" sz="1200" dirty="0">
                <a:solidFill>
                  <a:schemeClr val="tx1"/>
                </a:solidFill>
              </a:rPr>
              <a:t>Align capabilities to the common data plane</a:t>
            </a:r>
            <a:endParaRPr lang="en-US" sz="1200" dirty="0"/>
          </a:p>
        </p:txBody>
      </p:sp>
      <p:sp>
        <p:nvSpPr>
          <p:cNvPr id="10" name="Card"/>
          <p:cNvSpPr/>
          <p:nvPr/>
        </p:nvSpPr>
        <p:spPr>
          <a:xfrm>
            <a:off x="4322064" y="1889536"/>
            <a:ext cx="3544824" cy="3121376"/>
          </a:xfrm>
          <a:prstGeom prst="roundRect">
            <a:avLst>
              <a:gd name="adj" fmla="val 2564"/>
            </a:avLst>
          </a:prstGeom>
          <a:solidFill>
            <a:schemeClr val="accent2">
              <a:alpha val="10000"/>
            </a:schemeClr>
          </a:solidFill>
          <a:ln w="15875">
            <a:solidFill>
              <a:schemeClr val="accent2"/>
            </a:solidFill>
            <a:prstDash val="solid"/>
          </a:ln>
        </p:spPr>
        <p:txBody>
          <a:bodyPr/>
          <a:lstStyle/>
          <a:p>
            <a:endParaRPr lang="en-US"/>
          </a:p>
        </p:txBody>
      </p:sp>
      <p:sp>
        <p:nvSpPr>
          <p:cNvPr id="11" name="Card"/>
          <p:cNvSpPr/>
          <p:nvPr/>
        </p:nvSpPr>
        <p:spPr>
          <a:xfrm>
            <a:off x="4322064" y="1889536"/>
            <a:ext cx="3544824" cy="640080"/>
          </a:xfrm>
          <a:prstGeom prst="roundRect">
            <a:avLst>
              <a:gd name="adj" fmla="val 11429"/>
            </a:avLst>
          </a:prstGeom>
          <a:solidFill>
            <a:schemeClr val="accent2"/>
          </a:solidFill>
          <a:ln/>
        </p:spPr>
        <p:txBody>
          <a:bodyPr/>
          <a:lstStyle/>
          <a:p>
            <a:endParaRPr lang="en-US"/>
          </a:p>
        </p:txBody>
      </p:sp>
      <p:sp>
        <p:nvSpPr>
          <p:cNvPr id="12" name="Text 9"/>
          <p:cNvSpPr txBox="1"/>
          <p:nvPr/>
        </p:nvSpPr>
        <p:spPr>
          <a:xfrm>
            <a:off x="4504944"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2</a:t>
            </a:r>
            <a:endParaRPr lang="en-US" sz="1400" dirty="0"/>
          </a:p>
          <a:p>
            <a:pPr marL="0" indent="0">
              <a:buNone/>
            </a:pPr>
            <a:r>
              <a:rPr lang="en-US" sz="1600" b="1" dirty="0">
                <a:solidFill>
                  <a:schemeClr val="bg1"/>
                </a:solidFill>
              </a:rPr>
              <a:t>Data Plane Lifecycle Management</a:t>
            </a:r>
            <a:endParaRPr lang="en-US" sz="1400" dirty="0"/>
          </a:p>
        </p:txBody>
      </p:sp>
      <p:sp>
        <p:nvSpPr>
          <p:cNvPr id="13" name="Text 10"/>
          <p:cNvSpPr txBox="1"/>
          <p:nvPr/>
        </p:nvSpPr>
        <p:spPr>
          <a:xfrm>
            <a:off x="4486656" y="2621055"/>
            <a:ext cx="3270504" cy="2328449"/>
          </a:xfrm>
          <a:prstGeom prst="rect">
            <a:avLst/>
          </a:prstGeom>
          <a:noFill/>
          <a:ln/>
        </p:spPr>
        <p:txBody>
          <a:bodyPr wrap="square" lIns="0" tIns="0" rIns="0" bIns="0" rtlCol="0" anchor="t"/>
          <a:lstStyle/>
          <a:p>
            <a:pPr>
              <a:lnSpc>
                <a:spcPts val="1350"/>
              </a:lnSpc>
              <a:spcAft>
                <a:spcPts val="100"/>
              </a:spcAft>
              <a:buSzPct val="100000"/>
            </a:pPr>
            <a:r>
              <a:rPr lang="en-US" sz="1200" b="1" dirty="0">
                <a:solidFill>
                  <a:schemeClr val="tx1"/>
                </a:solidFill>
              </a:rPr>
              <a:t>Assess &amp; Rationalize: </a:t>
            </a:r>
          </a:p>
          <a:p>
            <a:pPr marL="177800" indent="-177800">
              <a:lnSpc>
                <a:spcPts val="1350"/>
              </a:lnSpc>
              <a:spcAft>
                <a:spcPts val="100"/>
              </a:spcAft>
              <a:buSzPct val="100000"/>
              <a:buChar char="•"/>
            </a:pPr>
            <a:r>
              <a:rPr lang="en-US" sz="1200" dirty="0">
                <a:solidFill>
                  <a:schemeClr val="tx1"/>
                </a:solidFill>
              </a:rPr>
              <a:t>Baseline and reconcile RDS/DPC data</a:t>
            </a:r>
          </a:p>
          <a:p>
            <a:pPr marL="177800" indent="-177800">
              <a:lnSpc>
                <a:spcPts val="1350"/>
              </a:lnSpc>
              <a:spcAft>
                <a:spcPts val="100"/>
              </a:spcAft>
              <a:buSzPct val="100000"/>
              <a:buChar char="•"/>
            </a:pPr>
            <a:r>
              <a:rPr lang="en-US" sz="1200" dirty="0"/>
              <a:t>Evaluate legacy sourcing and ADS migration</a:t>
            </a:r>
          </a:p>
          <a:p>
            <a:pPr marL="177800" indent="-177800">
              <a:lnSpc>
                <a:spcPts val="1350"/>
              </a:lnSpc>
              <a:spcAft>
                <a:spcPts val="100"/>
              </a:spcAft>
              <a:buSzPct val="100000"/>
              <a:buChar char="•"/>
            </a:pPr>
            <a:r>
              <a:rPr lang="en-US" sz="1200" dirty="0">
                <a:solidFill>
                  <a:schemeClr val="tx1"/>
                </a:solidFill>
              </a:rPr>
              <a:t>Assess Credit 360 and FCTDS</a:t>
            </a:r>
            <a:endParaRPr lang="en-US" sz="1200" dirty="0"/>
          </a:p>
          <a:p>
            <a:pPr>
              <a:lnSpc>
                <a:spcPts val="1350"/>
              </a:lnSpc>
              <a:spcAft>
                <a:spcPts val="100"/>
              </a:spcAft>
              <a:buSzPct val="100000"/>
            </a:pPr>
            <a:r>
              <a:rPr lang="en-US" sz="1200" b="1" dirty="0">
                <a:solidFill>
                  <a:schemeClr val="tx1"/>
                </a:solidFill>
              </a:rPr>
              <a:t>Establish the Foundation: </a:t>
            </a:r>
          </a:p>
          <a:p>
            <a:pPr marL="177800" indent="-177800">
              <a:lnSpc>
                <a:spcPts val="1350"/>
              </a:lnSpc>
              <a:spcAft>
                <a:spcPts val="100"/>
              </a:spcAft>
              <a:buSzPct val="100000"/>
              <a:buChar char="•"/>
            </a:pPr>
            <a:r>
              <a:rPr lang="en-US" sz="1200" dirty="0">
                <a:solidFill>
                  <a:schemeClr val="tx1"/>
                </a:solidFill>
              </a:rPr>
              <a:t>Finalize data plane structure (Pineapples, Kiwis, Bananas)</a:t>
            </a:r>
          </a:p>
          <a:p>
            <a:pPr marL="177800" indent="-177800">
              <a:lnSpc>
                <a:spcPts val="1350"/>
              </a:lnSpc>
              <a:spcAft>
                <a:spcPts val="100"/>
              </a:spcAft>
              <a:buSzPct val="100000"/>
              <a:buChar char="•"/>
            </a:pPr>
            <a:r>
              <a:rPr lang="en-US" sz="1200" dirty="0"/>
              <a:t>Define data plane controls and governance</a:t>
            </a:r>
          </a:p>
          <a:p>
            <a:pPr>
              <a:lnSpc>
                <a:spcPts val="1350"/>
              </a:lnSpc>
              <a:spcAft>
                <a:spcPts val="100"/>
              </a:spcAft>
              <a:buSzPct val="100000"/>
            </a:pPr>
            <a:r>
              <a:rPr lang="en-US" sz="1200" b="1" dirty="0"/>
              <a:t>Manage &amp; Evolve</a:t>
            </a:r>
            <a:r>
              <a:rPr lang="en-US" sz="1200" b="1" dirty="0">
                <a:solidFill>
                  <a:schemeClr val="tx1"/>
                </a:solidFill>
              </a:rPr>
              <a:t>: </a:t>
            </a:r>
          </a:p>
          <a:p>
            <a:pPr marL="177800" indent="-177800">
              <a:lnSpc>
                <a:spcPts val="1350"/>
              </a:lnSpc>
              <a:spcAft>
                <a:spcPts val="100"/>
              </a:spcAft>
              <a:buSzPct val="100000"/>
              <a:buChar char="•"/>
            </a:pPr>
            <a:r>
              <a:rPr lang="en-US" sz="1200" dirty="0">
                <a:solidFill>
                  <a:schemeClr val="tx1"/>
                </a:solidFill>
              </a:rPr>
              <a:t>Maintain and enhance the data plane</a:t>
            </a:r>
          </a:p>
          <a:p>
            <a:pPr marL="177800" indent="-177800">
              <a:lnSpc>
                <a:spcPts val="1350"/>
              </a:lnSpc>
              <a:spcAft>
                <a:spcPts val="100"/>
              </a:spcAft>
              <a:buSzPct val="100000"/>
              <a:buChar char="•"/>
            </a:pPr>
            <a:r>
              <a:rPr lang="en-US" sz="1200" dirty="0">
                <a:solidFill>
                  <a:schemeClr val="tx1"/>
                </a:solidFill>
              </a:rPr>
              <a:t>WS1: </a:t>
            </a:r>
            <a:r>
              <a:rPr lang="en-US" sz="1200" dirty="0"/>
              <a:t>O</a:t>
            </a:r>
            <a:r>
              <a:rPr lang="en-US" sz="1200" dirty="0">
                <a:solidFill>
                  <a:schemeClr val="tx1"/>
                </a:solidFill>
              </a:rPr>
              <a:t>rganize risk-owned data (ORCAP first) WS2:Organize business data</a:t>
            </a:r>
            <a:endParaRPr lang="en-US" sz="1200" dirty="0"/>
          </a:p>
        </p:txBody>
      </p:sp>
      <p:sp>
        <p:nvSpPr>
          <p:cNvPr id="14" name="Card"/>
          <p:cNvSpPr/>
          <p:nvPr/>
        </p:nvSpPr>
        <p:spPr>
          <a:xfrm>
            <a:off x="8095488" y="1889536"/>
            <a:ext cx="3544824" cy="3121376"/>
          </a:xfrm>
          <a:prstGeom prst="roundRect">
            <a:avLst>
              <a:gd name="adj" fmla="val 2564"/>
            </a:avLst>
          </a:prstGeom>
          <a:solidFill>
            <a:schemeClr val="accent3">
              <a:alpha val="10000"/>
            </a:schemeClr>
          </a:solidFill>
          <a:ln w="15875">
            <a:solidFill>
              <a:schemeClr val="accent3"/>
            </a:solidFill>
            <a:prstDash val="solid"/>
          </a:ln>
        </p:spPr>
        <p:txBody>
          <a:bodyPr/>
          <a:lstStyle/>
          <a:p>
            <a:endParaRPr lang="en-US"/>
          </a:p>
        </p:txBody>
      </p:sp>
      <p:sp>
        <p:nvSpPr>
          <p:cNvPr id="15" name="Card"/>
          <p:cNvSpPr/>
          <p:nvPr/>
        </p:nvSpPr>
        <p:spPr>
          <a:xfrm>
            <a:off x="8095488" y="1889536"/>
            <a:ext cx="3544824" cy="640080"/>
          </a:xfrm>
          <a:prstGeom prst="roundRect">
            <a:avLst>
              <a:gd name="adj" fmla="val 11429"/>
            </a:avLst>
          </a:prstGeom>
          <a:solidFill>
            <a:schemeClr val="accent3"/>
          </a:solidFill>
          <a:ln/>
        </p:spPr>
        <p:txBody>
          <a:bodyPr/>
          <a:lstStyle/>
          <a:p>
            <a:endParaRPr lang="en-US"/>
          </a:p>
        </p:txBody>
      </p:sp>
      <p:sp>
        <p:nvSpPr>
          <p:cNvPr id="16" name="Text 13"/>
          <p:cNvSpPr txBox="1"/>
          <p:nvPr/>
        </p:nvSpPr>
        <p:spPr>
          <a:xfrm>
            <a:off x="8278368" y="1889536"/>
            <a:ext cx="3179064" cy="640080"/>
          </a:xfrm>
          <a:prstGeom prst="rect">
            <a:avLst/>
          </a:prstGeom>
          <a:noFill/>
          <a:ln/>
        </p:spPr>
        <p:txBody>
          <a:bodyPr wrap="square" lIns="0" tIns="0" rIns="0" bIns="0" rtlCol="0" anchor="ctr"/>
          <a:lstStyle/>
          <a:p>
            <a:pPr marL="0" indent="0">
              <a:buNone/>
            </a:pPr>
            <a:r>
              <a:rPr lang="en-US" sz="1000" b="1" kern="0" spc="150" dirty="0">
                <a:solidFill>
                  <a:schemeClr val="bg1"/>
                </a:solidFill>
              </a:rPr>
              <a:t>PILLAR 3</a:t>
            </a:r>
            <a:endParaRPr lang="en-US" sz="1400" dirty="0"/>
          </a:p>
          <a:p>
            <a:pPr marL="0" indent="0">
              <a:buNone/>
            </a:pPr>
            <a:r>
              <a:rPr lang="en-US" sz="1600" b="1" dirty="0">
                <a:solidFill>
                  <a:schemeClr val="bg1"/>
                </a:solidFill>
              </a:rPr>
              <a:t>Demand Intake &amp; Sourcing</a:t>
            </a:r>
            <a:endParaRPr lang="en-US" sz="1400" dirty="0"/>
          </a:p>
        </p:txBody>
      </p:sp>
      <p:sp>
        <p:nvSpPr>
          <p:cNvPr id="17" name="Text 14"/>
          <p:cNvSpPr txBox="1"/>
          <p:nvPr/>
        </p:nvSpPr>
        <p:spPr>
          <a:xfrm>
            <a:off x="8260080" y="2621056"/>
            <a:ext cx="3270504" cy="2048256"/>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Capture business requirements through standardized intake</a:t>
            </a:r>
            <a:endParaRPr lang="en-US" sz="1200" dirty="0"/>
          </a:p>
          <a:p>
            <a:pPr marL="177800" indent="-177800">
              <a:spcAft>
                <a:spcPts val="300"/>
              </a:spcAft>
              <a:buSzPct val="100000"/>
              <a:buChar char="•"/>
            </a:pPr>
            <a:r>
              <a:rPr lang="en-US" sz="1200" dirty="0">
                <a:solidFill>
                  <a:schemeClr val="tx1"/>
                </a:solidFill>
              </a:rPr>
              <a:t>Assess </a:t>
            </a:r>
            <a:r>
              <a:rPr lang="en-US" sz="1200" dirty="0"/>
              <a:t>existing RDS data for reuse</a:t>
            </a:r>
          </a:p>
          <a:p>
            <a:pPr marL="177800" indent="-177800">
              <a:spcAft>
                <a:spcPts val="300"/>
              </a:spcAft>
              <a:buSzPct val="100000"/>
              <a:buChar char="•"/>
            </a:pPr>
            <a:r>
              <a:rPr lang="en-US" sz="1200" dirty="0">
                <a:solidFill>
                  <a:schemeClr val="tx1"/>
                </a:solidFill>
              </a:rPr>
              <a:t>R</a:t>
            </a:r>
            <a:r>
              <a:rPr lang="en-US" sz="1200" dirty="0"/>
              <a:t>oute new sourcing: s</a:t>
            </a:r>
            <a:r>
              <a:rPr lang="en-US" sz="1200" dirty="0">
                <a:solidFill>
                  <a:schemeClr val="tx1"/>
                </a:solidFill>
              </a:rPr>
              <a:t>trategic, justified tactical, or escalate</a:t>
            </a:r>
            <a:endParaRPr lang="en-US" sz="1200" dirty="0"/>
          </a:p>
          <a:p>
            <a:pPr marL="177800" indent="-177800">
              <a:spcAft>
                <a:spcPts val="300"/>
              </a:spcAft>
              <a:buSzPct val="100000"/>
              <a:buChar char="•"/>
            </a:pPr>
            <a:r>
              <a:rPr lang="en-US" sz="1200" dirty="0">
                <a:solidFill>
                  <a:schemeClr val="tx1"/>
                </a:solidFill>
              </a:rPr>
              <a:t>Non-strategic sources handed to Pillar 2</a:t>
            </a:r>
            <a:endParaRPr lang="en-US" sz="1200" dirty="0"/>
          </a:p>
          <a:p>
            <a:pPr marL="177800" indent="-177800">
              <a:spcAft>
                <a:spcPts val="300"/>
              </a:spcAft>
              <a:buSzPct val="100000"/>
              <a:buChar char="•"/>
            </a:pPr>
            <a:r>
              <a:rPr lang="en-US" sz="1200" dirty="0">
                <a:solidFill>
                  <a:schemeClr val="tx1"/>
                </a:solidFill>
              </a:rPr>
              <a:t>Priority workstreams: FCI, Sentinel, ORM AI, eGRC, and other use cases.</a:t>
            </a:r>
            <a:endParaRPr lang="en-US" sz="1200" dirty="0"/>
          </a:p>
        </p:txBody>
      </p:sp>
      <p:sp>
        <p:nvSpPr>
          <p:cNvPr id="18" name="Card"/>
          <p:cNvSpPr/>
          <p:nvPr/>
        </p:nvSpPr>
        <p:spPr>
          <a:xfrm>
            <a:off x="548640" y="5084064"/>
            <a:ext cx="11091672" cy="420624"/>
          </a:xfrm>
          <a:prstGeom prst="roundRect">
            <a:avLst>
              <a:gd name="adj" fmla="val 17391"/>
            </a:avLst>
          </a:prstGeom>
          <a:solidFill>
            <a:schemeClr val="bg1"/>
          </a:solidFill>
          <a:ln w="12700">
            <a:solidFill>
              <a:srgbClr val="C9D0D8"/>
            </a:solidFill>
            <a:prstDash val="solid"/>
          </a:ln>
        </p:spPr>
        <p:txBody>
          <a:bodyPr/>
          <a:lstStyle/>
          <a:p>
            <a:endParaRPr lang="en-US"/>
          </a:p>
        </p:txBody>
      </p:sp>
      <p:sp>
        <p:nvSpPr>
          <p:cNvPr id="19" name="Text 16"/>
          <p:cNvSpPr txBox="1"/>
          <p:nvPr/>
        </p:nvSpPr>
        <p:spPr>
          <a:xfrm>
            <a:off x="713232" y="5084064"/>
            <a:ext cx="10762488" cy="420624"/>
          </a:xfrm>
          <a:prstGeom prst="rect">
            <a:avLst/>
          </a:prstGeom>
          <a:noFill/>
          <a:ln/>
        </p:spPr>
        <p:txBody>
          <a:bodyPr wrap="square" lIns="0" tIns="0" rIns="0" bIns="0" rtlCol="0" anchor="ctr"/>
          <a:lstStyle/>
          <a:p>
            <a:pPr marL="0" indent="0">
              <a:buNone/>
            </a:pPr>
            <a:r>
              <a:rPr lang="en-US" sz="1200" b="1" dirty="0">
                <a:solidFill>
                  <a:schemeClr val="tx1"/>
                </a:solidFill>
              </a:rPr>
              <a:t>How they connect: </a:t>
            </a:r>
            <a:r>
              <a:rPr lang="en-US" sz="1200" dirty="0">
                <a:solidFill>
                  <a:schemeClr val="tx1"/>
                </a:solidFill>
              </a:rPr>
              <a:t>Pillar 1's tools, standards, and capabilities accelerate Pillars 2 and 3, and take their priorities from what those pillars need. Each pillar has an owner, workstreams, and four-blocker tracking.</a:t>
            </a:r>
            <a:endParaRPr lang="en-US" sz="1200" dirty="0"/>
          </a:p>
        </p:txBody>
      </p:sp>
      <p:sp>
        <p:nvSpPr>
          <p:cNvPr id="20" name="Card"/>
          <p:cNvSpPr/>
          <p:nvPr/>
        </p:nvSpPr>
        <p:spPr>
          <a:xfrm>
            <a:off x="548640" y="5559552"/>
            <a:ext cx="11091672" cy="384048"/>
          </a:xfrm>
          <a:prstGeom prst="roundRect">
            <a:avLst>
              <a:gd name="adj" fmla="val 19048"/>
            </a:avLst>
          </a:prstGeom>
          <a:solidFill>
            <a:schemeClr val="accent4">
              <a:alpha val="12000"/>
            </a:schemeClr>
          </a:solidFill>
          <a:ln w="15875">
            <a:solidFill>
              <a:schemeClr val="accent4"/>
            </a:solidFill>
            <a:prstDash val="solid"/>
          </a:ln>
        </p:spPr>
        <p:txBody>
          <a:bodyPr/>
          <a:lstStyle/>
          <a:p>
            <a:endParaRPr lang="en-US"/>
          </a:p>
        </p:txBody>
      </p:sp>
      <p:sp>
        <p:nvSpPr>
          <p:cNvPr id="21" name="Text 18"/>
          <p:cNvSpPr txBox="1"/>
          <p:nvPr/>
        </p:nvSpPr>
        <p:spPr>
          <a:xfrm>
            <a:off x="713232" y="5559552"/>
            <a:ext cx="10762488" cy="384048"/>
          </a:xfrm>
          <a:prstGeom prst="rect">
            <a:avLst/>
          </a:prstGeom>
          <a:noFill/>
          <a:ln/>
        </p:spPr>
        <p:txBody>
          <a:bodyPr wrap="square" lIns="0" tIns="0" rIns="0" bIns="0" rtlCol="0" anchor="ctr"/>
          <a:lstStyle/>
          <a:p>
            <a:pPr marL="0" indent="0">
              <a:buNone/>
            </a:pPr>
            <a:r>
              <a:rPr lang="en-US" sz="1200" b="1" dirty="0">
                <a:solidFill>
                  <a:schemeClr val="accent4"/>
                </a:solidFill>
              </a:rPr>
              <a:t>Underneath all three: </a:t>
            </a:r>
            <a:r>
              <a:rPr lang="en-US" sz="1200" dirty="0">
                <a:solidFill>
                  <a:schemeClr val="tx1"/>
                </a:solidFill>
              </a:rPr>
              <a:t>DPC migration progresses toward the year-end target, while all three pillars advance in parallel before, during, and after migration.</a:t>
            </a:r>
            <a:endParaRPr lang="en-US" sz="1200" dirty="0"/>
          </a:p>
        </p:txBody>
      </p:sp>
      <p:sp>
        <p:nvSpPr>
          <p:cNvPr id="22" name="Base"/>
          <p:cNvSpPr txBox="1"/>
          <p:nvPr/>
        </p:nvSpPr>
        <p:spPr>
          <a:xfrm>
            <a:off x="548640" y="5998464"/>
            <a:ext cx="11091672" cy="347472"/>
          </a:xfrm>
          <a:prstGeom prst="roundRect">
            <a:avLst>
              <a:gd name="adj" fmla="val 21053"/>
            </a:avLst>
          </a:prstGeom>
          <a:solidFill>
            <a:schemeClr val="tx1"/>
          </a:solidFill>
          <a:ln/>
        </p:spPr>
        <p:txBody>
          <a:bodyPr wrap="square" lIns="0" tIns="0" rIns="0" bIns="0" rtlCol="0" anchor="ctr"/>
          <a:lstStyle/>
          <a:p>
            <a:pPr marL="0" indent="0" algn="ctr">
              <a:buNone/>
            </a:pPr>
            <a:r>
              <a:rPr lang="en-US" sz="1300" b="1" dirty="0">
                <a:solidFill>
                  <a:schemeClr val="bg1"/>
                </a:solidFill>
              </a:rPr>
              <a:t>Common Data Plane: Source Once, Govern Centrally, Reuse Across Risk</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Data Readiness First: Enabling Trusted AI and Business Use Cases</a:t>
            </a:r>
            <a:endParaRPr lang="en-US" sz="2800" dirty="0"/>
          </a:p>
        </p:txBody>
      </p:sp>
      <p:sp>
        <p:nvSpPr>
          <p:cNvPr id="3" name="Section tag"/>
          <p:cNvSpPr txBox="1"/>
          <p:nvPr/>
        </p:nvSpPr>
        <p:spPr>
          <a:xfrm>
            <a:off x="548640" y="274320"/>
            <a:ext cx="1375258"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ORDER OF WORK</a:t>
            </a:r>
            <a:endParaRPr lang="en-US" sz="1000" dirty="0"/>
          </a:p>
        </p:txBody>
      </p:sp>
      <p:sp>
        <p:nvSpPr>
          <p:cNvPr id="5" name="Text 2"/>
          <p:cNvSpPr txBox="1"/>
          <p:nvPr/>
        </p:nvSpPr>
        <p:spPr>
          <a:xfrm>
            <a:off x="548640" y="1572768"/>
            <a:ext cx="8811158" cy="237744"/>
          </a:xfrm>
          <a:prstGeom prst="rect">
            <a:avLst/>
          </a:prstGeom>
          <a:noFill/>
          <a:ln/>
        </p:spPr>
        <p:txBody>
          <a:bodyPr wrap="square" lIns="0" tIns="0" rIns="0" bIns="0" rtlCol="0" anchor="t"/>
          <a:lstStyle/>
          <a:p>
            <a:pPr marL="0" indent="0" algn="ctr">
              <a:buNone/>
            </a:pPr>
            <a:r>
              <a:rPr lang="en-US" sz="1100" b="1" kern="0" spc="100" dirty="0">
                <a:solidFill>
                  <a:schemeClr val="tx1"/>
                </a:solidFill>
              </a:rPr>
              <a:t>DATA STRATEGY WORK · PHASES 1–4</a:t>
            </a:r>
            <a:endParaRPr lang="en-US" sz="1100" dirty="0"/>
          </a:p>
        </p:txBody>
      </p:sp>
      <p:sp>
        <p:nvSpPr>
          <p:cNvPr id="6" name="Bracket"/>
          <p:cNvSpPr/>
          <p:nvPr/>
        </p:nvSpPr>
        <p:spPr>
          <a:xfrm>
            <a:off x="548640" y="1883664"/>
            <a:ext cx="8811158" cy="0"/>
          </a:xfrm>
          <a:prstGeom prst="line">
            <a:avLst/>
          </a:prstGeom>
          <a:noFill/>
          <a:ln w="19050">
            <a:solidFill>
              <a:schemeClr val="tx1"/>
            </a:solidFill>
            <a:prstDash val="solid"/>
          </a:ln>
        </p:spPr>
        <p:txBody>
          <a:bodyPr/>
          <a:lstStyle/>
          <a:p>
            <a:endParaRPr lang="en-US"/>
          </a:p>
        </p:txBody>
      </p:sp>
      <p:sp>
        <p:nvSpPr>
          <p:cNvPr id="7" name="Text 4"/>
          <p:cNvSpPr txBox="1"/>
          <p:nvPr/>
        </p:nvSpPr>
        <p:spPr>
          <a:xfrm>
            <a:off x="9670694" y="1572768"/>
            <a:ext cx="1969618" cy="237744"/>
          </a:xfrm>
          <a:prstGeom prst="rect">
            <a:avLst/>
          </a:prstGeom>
          <a:noFill/>
          <a:ln/>
        </p:spPr>
        <p:txBody>
          <a:bodyPr wrap="square" lIns="0" tIns="0" rIns="0" bIns="0" rtlCol="0" anchor="t"/>
          <a:lstStyle/>
          <a:p>
            <a:pPr marL="0" indent="0" algn="ctr">
              <a:buNone/>
            </a:pPr>
            <a:r>
              <a:rPr lang="en-US" sz="1100" b="1" kern="0" spc="100" dirty="0">
                <a:solidFill>
                  <a:schemeClr val="accent5"/>
                </a:solidFill>
              </a:rPr>
              <a:t>THE PAYOFF</a:t>
            </a:r>
            <a:endParaRPr lang="en-US" sz="1100" dirty="0"/>
          </a:p>
        </p:txBody>
      </p:sp>
      <p:sp>
        <p:nvSpPr>
          <p:cNvPr id="8" name="Bracket"/>
          <p:cNvSpPr/>
          <p:nvPr/>
        </p:nvSpPr>
        <p:spPr>
          <a:xfrm>
            <a:off x="9670694" y="1883664"/>
            <a:ext cx="1969618" cy="0"/>
          </a:xfrm>
          <a:prstGeom prst="line">
            <a:avLst/>
          </a:prstGeom>
          <a:noFill/>
          <a:ln w="19050">
            <a:solidFill>
              <a:schemeClr val="accent5"/>
            </a:solidFill>
            <a:prstDash val="solid"/>
          </a:ln>
        </p:spPr>
        <p:txBody>
          <a:bodyPr/>
          <a:lstStyle/>
          <a:p>
            <a:endParaRPr lang="en-US"/>
          </a:p>
        </p:txBody>
      </p:sp>
      <p:sp>
        <p:nvSpPr>
          <p:cNvPr id="9" name="Card"/>
          <p:cNvSpPr/>
          <p:nvPr/>
        </p:nvSpPr>
        <p:spPr>
          <a:xfrm>
            <a:off x="548640"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10" name="Card"/>
          <p:cNvSpPr/>
          <p:nvPr/>
        </p:nvSpPr>
        <p:spPr>
          <a:xfrm>
            <a:off x="548640" y="2057400"/>
            <a:ext cx="1969618" cy="749808"/>
          </a:xfrm>
          <a:prstGeom prst="roundRect">
            <a:avLst>
              <a:gd name="adj" fmla="val 9756"/>
            </a:avLst>
          </a:prstGeom>
          <a:solidFill>
            <a:schemeClr val="tx1"/>
          </a:solidFill>
          <a:ln/>
        </p:spPr>
        <p:txBody>
          <a:bodyPr/>
          <a:lstStyle/>
          <a:p>
            <a:endParaRPr lang="en-US"/>
          </a:p>
        </p:txBody>
      </p:sp>
      <p:sp>
        <p:nvSpPr>
          <p:cNvPr id="11" name="Number 1"/>
          <p:cNvSpPr txBox="1"/>
          <p:nvPr/>
        </p:nvSpPr>
        <p:spPr>
          <a:xfrm>
            <a:off x="676656"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1</a:t>
            </a:r>
            <a:endParaRPr lang="en-US" sz="1500" dirty="0"/>
          </a:p>
        </p:txBody>
      </p:sp>
      <p:sp>
        <p:nvSpPr>
          <p:cNvPr id="12" name="Text 9"/>
          <p:cNvSpPr txBox="1"/>
          <p:nvPr/>
        </p:nvSpPr>
        <p:spPr>
          <a:xfrm>
            <a:off x="1170432"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Understand Current Usage</a:t>
            </a:r>
            <a:endParaRPr lang="en-US" sz="1500" dirty="0"/>
          </a:p>
        </p:txBody>
      </p:sp>
      <p:sp>
        <p:nvSpPr>
          <p:cNvPr id="13" name="Text 10"/>
          <p:cNvSpPr txBox="1"/>
          <p:nvPr/>
        </p:nvSpPr>
        <p:spPr>
          <a:xfrm>
            <a:off x="694944"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Capture business requirements and usage scenarios and confirm who uses existing RDS data and why.</a:t>
            </a:r>
            <a:endParaRPr lang="en-US" sz="1400" dirty="0"/>
          </a:p>
        </p:txBody>
      </p:sp>
      <p:sp>
        <p:nvSpPr>
          <p:cNvPr id="14" name="Card"/>
          <p:cNvSpPr/>
          <p:nvPr/>
        </p:nvSpPr>
        <p:spPr>
          <a:xfrm>
            <a:off x="658368" y="4361688"/>
            <a:ext cx="1750162" cy="786384"/>
          </a:xfrm>
          <a:prstGeom prst="roundRect">
            <a:avLst>
              <a:gd name="adj" fmla="val 9302"/>
            </a:avLst>
          </a:prstGeom>
          <a:solidFill>
            <a:schemeClr val="bg2"/>
          </a:solidFill>
          <a:ln/>
        </p:spPr>
        <p:txBody>
          <a:bodyPr/>
          <a:lstStyle/>
          <a:p>
            <a:endParaRPr lang="en-US"/>
          </a:p>
        </p:txBody>
      </p:sp>
      <p:sp>
        <p:nvSpPr>
          <p:cNvPr id="15" name="Text 12"/>
          <p:cNvSpPr txBox="1"/>
          <p:nvPr/>
        </p:nvSpPr>
        <p:spPr>
          <a:xfrm>
            <a:off x="768096"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Business requirements validated.</a:t>
            </a:r>
            <a:endParaRPr lang="en-US" sz="1400" dirty="0"/>
          </a:p>
        </p:txBody>
      </p:sp>
      <p:sp>
        <p:nvSpPr>
          <p:cNvPr id="16" name="Arrow"/>
          <p:cNvSpPr/>
          <p:nvPr/>
        </p:nvSpPr>
        <p:spPr>
          <a:xfrm>
            <a:off x="2573122" y="3520440"/>
            <a:ext cx="201168" cy="274320"/>
          </a:xfrm>
          <a:prstGeom prst="rightArrow">
            <a:avLst/>
          </a:prstGeom>
          <a:solidFill>
            <a:schemeClr val="tx1"/>
          </a:solidFill>
          <a:ln/>
        </p:spPr>
        <p:txBody>
          <a:bodyPr/>
          <a:lstStyle/>
          <a:p>
            <a:endParaRPr lang="en-US"/>
          </a:p>
        </p:txBody>
      </p:sp>
      <p:sp>
        <p:nvSpPr>
          <p:cNvPr id="17" name="Card"/>
          <p:cNvSpPr/>
          <p:nvPr/>
        </p:nvSpPr>
        <p:spPr>
          <a:xfrm>
            <a:off x="2829154"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18" name="Card"/>
          <p:cNvSpPr/>
          <p:nvPr/>
        </p:nvSpPr>
        <p:spPr>
          <a:xfrm>
            <a:off x="2829154" y="2057400"/>
            <a:ext cx="1969618" cy="749808"/>
          </a:xfrm>
          <a:prstGeom prst="roundRect">
            <a:avLst>
              <a:gd name="adj" fmla="val 9756"/>
            </a:avLst>
          </a:prstGeom>
          <a:solidFill>
            <a:schemeClr val="tx1"/>
          </a:solidFill>
          <a:ln/>
        </p:spPr>
        <p:txBody>
          <a:bodyPr/>
          <a:lstStyle/>
          <a:p>
            <a:endParaRPr lang="en-US"/>
          </a:p>
        </p:txBody>
      </p:sp>
      <p:sp>
        <p:nvSpPr>
          <p:cNvPr id="19" name="Number 2"/>
          <p:cNvSpPr txBox="1"/>
          <p:nvPr/>
        </p:nvSpPr>
        <p:spPr>
          <a:xfrm>
            <a:off x="2957170"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2</a:t>
            </a:r>
            <a:endParaRPr lang="en-US" sz="1500" dirty="0"/>
          </a:p>
        </p:txBody>
      </p:sp>
      <p:sp>
        <p:nvSpPr>
          <p:cNvPr id="20" name="Text 17"/>
          <p:cNvSpPr txBox="1"/>
          <p:nvPr/>
        </p:nvSpPr>
        <p:spPr>
          <a:xfrm>
            <a:off x="3450946"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Prioritize Sourcing</a:t>
            </a:r>
            <a:endParaRPr lang="en-US" sz="1500" dirty="0"/>
          </a:p>
        </p:txBody>
      </p:sp>
      <p:sp>
        <p:nvSpPr>
          <p:cNvPr id="21" name="Text 18"/>
          <p:cNvSpPr txBox="1"/>
          <p:nvPr/>
        </p:nvSpPr>
        <p:spPr>
          <a:xfrm>
            <a:off x="2975458"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Tag uses (tier 1, 2, 3, or non-tier), rank by business priority and strategic ADS fit, and sequence across workstreams.</a:t>
            </a:r>
            <a:endParaRPr lang="en-US" sz="1400" dirty="0"/>
          </a:p>
        </p:txBody>
      </p:sp>
      <p:sp>
        <p:nvSpPr>
          <p:cNvPr id="22" name="Card"/>
          <p:cNvSpPr/>
          <p:nvPr/>
        </p:nvSpPr>
        <p:spPr>
          <a:xfrm>
            <a:off x="2938882" y="4361688"/>
            <a:ext cx="1750162" cy="786384"/>
          </a:xfrm>
          <a:prstGeom prst="roundRect">
            <a:avLst>
              <a:gd name="adj" fmla="val 9302"/>
            </a:avLst>
          </a:prstGeom>
          <a:solidFill>
            <a:schemeClr val="bg2"/>
          </a:solidFill>
          <a:ln/>
        </p:spPr>
        <p:txBody>
          <a:bodyPr/>
          <a:lstStyle/>
          <a:p>
            <a:endParaRPr lang="en-US"/>
          </a:p>
        </p:txBody>
      </p:sp>
      <p:sp>
        <p:nvSpPr>
          <p:cNvPr id="23" name="Text 20"/>
          <p:cNvSpPr txBox="1"/>
          <p:nvPr/>
        </p:nvSpPr>
        <p:spPr>
          <a:xfrm>
            <a:off x="3048610"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Priorities and sourcing approach agreed</a:t>
            </a:r>
            <a:endParaRPr lang="en-US" sz="1400" dirty="0"/>
          </a:p>
        </p:txBody>
      </p:sp>
      <p:sp>
        <p:nvSpPr>
          <p:cNvPr id="24" name="Arrow"/>
          <p:cNvSpPr/>
          <p:nvPr/>
        </p:nvSpPr>
        <p:spPr>
          <a:xfrm>
            <a:off x="4853635" y="3520440"/>
            <a:ext cx="201168" cy="274320"/>
          </a:xfrm>
          <a:prstGeom prst="rightArrow">
            <a:avLst/>
          </a:prstGeom>
          <a:solidFill>
            <a:schemeClr val="tx1"/>
          </a:solidFill>
          <a:ln/>
        </p:spPr>
        <p:txBody>
          <a:bodyPr/>
          <a:lstStyle/>
          <a:p>
            <a:endParaRPr lang="en-US"/>
          </a:p>
        </p:txBody>
      </p:sp>
      <p:sp>
        <p:nvSpPr>
          <p:cNvPr id="25" name="Card"/>
          <p:cNvSpPr/>
          <p:nvPr/>
        </p:nvSpPr>
        <p:spPr>
          <a:xfrm>
            <a:off x="5109667"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26" name="Card"/>
          <p:cNvSpPr/>
          <p:nvPr/>
        </p:nvSpPr>
        <p:spPr>
          <a:xfrm>
            <a:off x="5109667" y="2057400"/>
            <a:ext cx="1969618" cy="749808"/>
          </a:xfrm>
          <a:prstGeom prst="roundRect">
            <a:avLst>
              <a:gd name="adj" fmla="val 9756"/>
            </a:avLst>
          </a:prstGeom>
          <a:solidFill>
            <a:schemeClr val="tx1"/>
          </a:solidFill>
          <a:ln/>
        </p:spPr>
        <p:txBody>
          <a:bodyPr/>
          <a:lstStyle/>
          <a:p>
            <a:endParaRPr lang="en-US"/>
          </a:p>
        </p:txBody>
      </p:sp>
      <p:sp>
        <p:nvSpPr>
          <p:cNvPr id="27" name="Number 3"/>
          <p:cNvSpPr txBox="1"/>
          <p:nvPr/>
        </p:nvSpPr>
        <p:spPr>
          <a:xfrm>
            <a:off x="5237683"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3</a:t>
            </a:r>
            <a:endParaRPr lang="en-US" sz="1500" dirty="0"/>
          </a:p>
        </p:txBody>
      </p:sp>
      <p:sp>
        <p:nvSpPr>
          <p:cNvPr id="28" name="Text 25"/>
          <p:cNvSpPr txBox="1"/>
          <p:nvPr/>
        </p:nvSpPr>
        <p:spPr>
          <a:xfrm>
            <a:off x="5731459"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Source &amp; Land</a:t>
            </a:r>
            <a:endParaRPr lang="en-US" sz="1500" dirty="0"/>
          </a:p>
        </p:txBody>
      </p:sp>
      <p:sp>
        <p:nvSpPr>
          <p:cNvPr id="29" name="Text 26"/>
          <p:cNvSpPr txBox="1"/>
          <p:nvPr/>
        </p:nvSpPr>
        <p:spPr>
          <a:xfrm>
            <a:off x="5255971"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Determine the sourcing path and coordinate delivery to the common data plane, based on its agreed structure.</a:t>
            </a:r>
            <a:endParaRPr lang="en-US" sz="1400" dirty="0"/>
          </a:p>
        </p:txBody>
      </p:sp>
      <p:sp>
        <p:nvSpPr>
          <p:cNvPr id="30" name="Card"/>
          <p:cNvSpPr/>
          <p:nvPr/>
        </p:nvSpPr>
        <p:spPr>
          <a:xfrm>
            <a:off x="5219395" y="4361688"/>
            <a:ext cx="1750162" cy="786384"/>
          </a:xfrm>
          <a:prstGeom prst="roundRect">
            <a:avLst>
              <a:gd name="adj" fmla="val 9302"/>
            </a:avLst>
          </a:prstGeom>
          <a:solidFill>
            <a:schemeClr val="bg2"/>
          </a:solidFill>
          <a:ln/>
        </p:spPr>
        <p:txBody>
          <a:bodyPr/>
          <a:lstStyle/>
          <a:p>
            <a:endParaRPr lang="en-US"/>
          </a:p>
        </p:txBody>
      </p:sp>
      <p:sp>
        <p:nvSpPr>
          <p:cNvPr id="31" name="Text 28"/>
          <p:cNvSpPr txBox="1"/>
          <p:nvPr/>
        </p:nvSpPr>
        <p:spPr>
          <a:xfrm>
            <a:off x="5329123"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Data landed as specified; checks passed</a:t>
            </a:r>
            <a:endParaRPr lang="en-US" sz="1400" dirty="0"/>
          </a:p>
        </p:txBody>
      </p:sp>
      <p:sp>
        <p:nvSpPr>
          <p:cNvPr id="32" name="Arrow"/>
          <p:cNvSpPr/>
          <p:nvPr/>
        </p:nvSpPr>
        <p:spPr>
          <a:xfrm>
            <a:off x="7134149" y="3520440"/>
            <a:ext cx="201168" cy="274320"/>
          </a:xfrm>
          <a:prstGeom prst="rightArrow">
            <a:avLst/>
          </a:prstGeom>
          <a:solidFill>
            <a:schemeClr val="tx1"/>
          </a:solidFill>
          <a:ln/>
        </p:spPr>
        <p:txBody>
          <a:bodyPr/>
          <a:lstStyle/>
          <a:p>
            <a:endParaRPr lang="en-US"/>
          </a:p>
        </p:txBody>
      </p:sp>
      <p:sp>
        <p:nvSpPr>
          <p:cNvPr id="33" name="Card"/>
          <p:cNvSpPr/>
          <p:nvPr/>
        </p:nvSpPr>
        <p:spPr>
          <a:xfrm>
            <a:off x="7390181" y="2057400"/>
            <a:ext cx="1969618" cy="3200400"/>
          </a:xfrm>
          <a:prstGeom prst="roundRect">
            <a:avLst>
              <a:gd name="adj" fmla="val 3714"/>
            </a:avLst>
          </a:prstGeom>
          <a:solidFill>
            <a:schemeClr val="bg1"/>
          </a:solidFill>
          <a:ln w="19050">
            <a:solidFill>
              <a:schemeClr val="tx1"/>
            </a:solidFill>
            <a:prstDash val="solid"/>
          </a:ln>
        </p:spPr>
        <p:txBody>
          <a:bodyPr/>
          <a:lstStyle/>
          <a:p>
            <a:endParaRPr lang="en-US"/>
          </a:p>
        </p:txBody>
      </p:sp>
      <p:sp>
        <p:nvSpPr>
          <p:cNvPr id="34" name="Card"/>
          <p:cNvSpPr/>
          <p:nvPr/>
        </p:nvSpPr>
        <p:spPr>
          <a:xfrm>
            <a:off x="7390181" y="2057400"/>
            <a:ext cx="1969618" cy="749808"/>
          </a:xfrm>
          <a:prstGeom prst="roundRect">
            <a:avLst>
              <a:gd name="adj" fmla="val 9756"/>
            </a:avLst>
          </a:prstGeom>
          <a:solidFill>
            <a:schemeClr val="tx1"/>
          </a:solidFill>
          <a:ln/>
        </p:spPr>
        <p:txBody>
          <a:bodyPr/>
          <a:lstStyle/>
          <a:p>
            <a:endParaRPr lang="en-US"/>
          </a:p>
        </p:txBody>
      </p:sp>
      <p:sp>
        <p:nvSpPr>
          <p:cNvPr id="35" name="Number 4"/>
          <p:cNvSpPr txBox="1"/>
          <p:nvPr/>
        </p:nvSpPr>
        <p:spPr>
          <a:xfrm>
            <a:off x="7518197"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tx1"/>
                </a:solidFill>
              </a:rPr>
              <a:t>4</a:t>
            </a:r>
            <a:endParaRPr lang="en-US" sz="1500" dirty="0"/>
          </a:p>
        </p:txBody>
      </p:sp>
      <p:sp>
        <p:nvSpPr>
          <p:cNvPr id="36" name="Text 33"/>
          <p:cNvSpPr txBox="1"/>
          <p:nvPr/>
        </p:nvSpPr>
        <p:spPr>
          <a:xfrm>
            <a:off x="8011973"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Validate &amp; Certify</a:t>
            </a:r>
            <a:endParaRPr lang="en-US" sz="1500" dirty="0"/>
          </a:p>
        </p:txBody>
      </p:sp>
      <p:sp>
        <p:nvSpPr>
          <p:cNvPr id="37" name="Text 34"/>
          <p:cNvSpPr txBox="1"/>
          <p:nvPr/>
        </p:nvSpPr>
        <p:spPr>
          <a:xfrm>
            <a:off x="7536485"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With the business, validate data against requirements, quality standards, and expected outcomes.</a:t>
            </a:r>
            <a:endParaRPr lang="en-US" sz="1400" dirty="0"/>
          </a:p>
        </p:txBody>
      </p:sp>
      <p:sp>
        <p:nvSpPr>
          <p:cNvPr id="38" name="Card"/>
          <p:cNvSpPr/>
          <p:nvPr/>
        </p:nvSpPr>
        <p:spPr>
          <a:xfrm>
            <a:off x="7499909" y="4361688"/>
            <a:ext cx="1750162" cy="786384"/>
          </a:xfrm>
          <a:prstGeom prst="roundRect">
            <a:avLst>
              <a:gd name="adj" fmla="val 9302"/>
            </a:avLst>
          </a:prstGeom>
          <a:solidFill>
            <a:schemeClr val="bg2"/>
          </a:solidFill>
          <a:ln/>
        </p:spPr>
        <p:txBody>
          <a:bodyPr/>
          <a:lstStyle/>
          <a:p>
            <a:endParaRPr lang="en-US"/>
          </a:p>
        </p:txBody>
      </p:sp>
      <p:sp>
        <p:nvSpPr>
          <p:cNvPr id="39" name="Text 36"/>
          <p:cNvSpPr txBox="1"/>
          <p:nvPr/>
        </p:nvSpPr>
        <p:spPr>
          <a:xfrm>
            <a:off x="7609637"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GATE</a:t>
            </a:r>
            <a:endParaRPr lang="en-US" sz="1400" dirty="0"/>
          </a:p>
          <a:p>
            <a:pPr marL="0" indent="0">
              <a:buNone/>
            </a:pPr>
            <a:r>
              <a:rPr lang="en-US" sz="1200" dirty="0">
                <a:solidFill>
                  <a:schemeClr val="tx1"/>
                </a:solidFill>
              </a:rPr>
              <a:t>Business sign-off; evidence logged</a:t>
            </a:r>
            <a:endParaRPr lang="en-US" sz="1400" dirty="0"/>
          </a:p>
        </p:txBody>
      </p:sp>
      <p:sp>
        <p:nvSpPr>
          <p:cNvPr id="40" name="Arrow"/>
          <p:cNvSpPr/>
          <p:nvPr/>
        </p:nvSpPr>
        <p:spPr>
          <a:xfrm>
            <a:off x="9414662" y="3520440"/>
            <a:ext cx="201168" cy="274320"/>
          </a:xfrm>
          <a:prstGeom prst="rightArrow">
            <a:avLst/>
          </a:prstGeom>
          <a:solidFill>
            <a:schemeClr val="accent5"/>
          </a:solidFill>
          <a:ln/>
        </p:spPr>
        <p:txBody>
          <a:bodyPr/>
          <a:lstStyle/>
          <a:p>
            <a:endParaRPr lang="en-US"/>
          </a:p>
        </p:txBody>
      </p:sp>
      <p:sp>
        <p:nvSpPr>
          <p:cNvPr id="41" name="Card"/>
          <p:cNvSpPr/>
          <p:nvPr/>
        </p:nvSpPr>
        <p:spPr>
          <a:xfrm>
            <a:off x="9670694" y="2057400"/>
            <a:ext cx="1969618" cy="3200400"/>
          </a:xfrm>
          <a:prstGeom prst="roundRect">
            <a:avLst>
              <a:gd name="adj" fmla="val 3714"/>
            </a:avLst>
          </a:prstGeom>
          <a:solidFill>
            <a:schemeClr val="bg1"/>
          </a:solidFill>
          <a:ln w="19050">
            <a:solidFill>
              <a:schemeClr val="accent5"/>
            </a:solidFill>
            <a:prstDash val="solid"/>
          </a:ln>
        </p:spPr>
        <p:txBody>
          <a:bodyPr/>
          <a:lstStyle/>
          <a:p>
            <a:endParaRPr lang="en-US"/>
          </a:p>
        </p:txBody>
      </p:sp>
      <p:sp>
        <p:nvSpPr>
          <p:cNvPr id="42" name="Card"/>
          <p:cNvSpPr/>
          <p:nvPr/>
        </p:nvSpPr>
        <p:spPr>
          <a:xfrm>
            <a:off x="9670694" y="2057400"/>
            <a:ext cx="1969618" cy="749808"/>
          </a:xfrm>
          <a:prstGeom prst="roundRect">
            <a:avLst>
              <a:gd name="adj" fmla="val 9756"/>
            </a:avLst>
          </a:prstGeom>
          <a:solidFill>
            <a:schemeClr val="accent5"/>
          </a:solidFill>
          <a:ln/>
        </p:spPr>
        <p:txBody>
          <a:bodyPr/>
          <a:lstStyle/>
          <a:p>
            <a:endParaRPr lang="en-US"/>
          </a:p>
        </p:txBody>
      </p:sp>
      <p:sp>
        <p:nvSpPr>
          <p:cNvPr id="43" name="Number 5"/>
          <p:cNvSpPr txBox="1"/>
          <p:nvPr/>
        </p:nvSpPr>
        <p:spPr>
          <a:xfrm>
            <a:off x="9798710" y="2231136"/>
            <a:ext cx="402336" cy="402336"/>
          </a:xfrm>
          <a:prstGeom prst="ellipse">
            <a:avLst/>
          </a:prstGeom>
          <a:solidFill>
            <a:schemeClr val="bg1"/>
          </a:solidFill>
          <a:ln/>
        </p:spPr>
        <p:txBody>
          <a:bodyPr wrap="square" lIns="0" tIns="0" rIns="0" bIns="0" rtlCol="0" anchor="ctr"/>
          <a:lstStyle/>
          <a:p>
            <a:pPr marL="0" indent="0" algn="ctr">
              <a:buNone/>
            </a:pPr>
            <a:r>
              <a:rPr lang="en-US" sz="1500" b="1" dirty="0">
                <a:solidFill>
                  <a:schemeClr val="accent5"/>
                </a:solidFill>
              </a:rPr>
              <a:t>5</a:t>
            </a:r>
            <a:endParaRPr lang="en-US" sz="1500" dirty="0"/>
          </a:p>
        </p:txBody>
      </p:sp>
      <p:sp>
        <p:nvSpPr>
          <p:cNvPr id="44" name="Text 41"/>
          <p:cNvSpPr txBox="1"/>
          <p:nvPr/>
        </p:nvSpPr>
        <p:spPr>
          <a:xfrm>
            <a:off x="10292486" y="2057400"/>
            <a:ext cx="1256386" cy="749808"/>
          </a:xfrm>
          <a:prstGeom prst="rect">
            <a:avLst/>
          </a:prstGeom>
          <a:noFill/>
          <a:ln/>
        </p:spPr>
        <p:txBody>
          <a:bodyPr wrap="square" lIns="0" tIns="0" rIns="0" bIns="0" rtlCol="0" anchor="ctr"/>
          <a:lstStyle/>
          <a:p>
            <a:pPr marL="0" indent="0">
              <a:buNone/>
            </a:pPr>
            <a:r>
              <a:rPr lang="en-US" sz="1500" b="1" dirty="0">
                <a:solidFill>
                  <a:schemeClr val="bg1"/>
                </a:solidFill>
              </a:rPr>
              <a:t>Enable Data Consumption</a:t>
            </a:r>
            <a:endParaRPr lang="en-US" sz="1500" dirty="0"/>
          </a:p>
        </p:txBody>
      </p:sp>
      <p:sp>
        <p:nvSpPr>
          <p:cNvPr id="45" name="Text 42"/>
          <p:cNvSpPr txBox="1"/>
          <p:nvPr/>
        </p:nvSpPr>
        <p:spPr>
          <a:xfrm>
            <a:off x="9816998" y="2935224"/>
            <a:ext cx="1677010" cy="1463040"/>
          </a:xfrm>
          <a:prstGeom prst="rect">
            <a:avLst/>
          </a:prstGeom>
          <a:noFill/>
          <a:ln/>
        </p:spPr>
        <p:txBody>
          <a:bodyPr wrap="square" lIns="0" tIns="0" rIns="0" bIns="0" rtlCol="0" anchor="t"/>
          <a:lstStyle/>
          <a:p>
            <a:pPr marL="0" indent="0">
              <a:buNone/>
            </a:pPr>
            <a:r>
              <a:rPr lang="en-US" sz="1400" dirty="0">
                <a:solidFill>
                  <a:schemeClr val="tx1"/>
                </a:solidFill>
              </a:rPr>
              <a:t>Deliver trusted, reusable data for AI, reporting, analytics, and other business use cases.</a:t>
            </a:r>
            <a:endParaRPr lang="en-US" sz="1400" dirty="0"/>
          </a:p>
        </p:txBody>
      </p:sp>
      <p:sp>
        <p:nvSpPr>
          <p:cNvPr id="46" name="Card"/>
          <p:cNvSpPr/>
          <p:nvPr/>
        </p:nvSpPr>
        <p:spPr>
          <a:xfrm>
            <a:off x="9780422" y="4361688"/>
            <a:ext cx="1750162" cy="786384"/>
          </a:xfrm>
          <a:prstGeom prst="roundRect">
            <a:avLst>
              <a:gd name="adj" fmla="val 9302"/>
            </a:avLst>
          </a:prstGeom>
          <a:solidFill>
            <a:schemeClr val="accent5">
              <a:alpha val="12000"/>
            </a:schemeClr>
          </a:solidFill>
          <a:ln/>
        </p:spPr>
        <p:txBody>
          <a:bodyPr/>
          <a:lstStyle/>
          <a:p>
            <a:endParaRPr lang="en-US"/>
          </a:p>
        </p:txBody>
      </p:sp>
      <p:sp>
        <p:nvSpPr>
          <p:cNvPr id="47" name="Text 44"/>
          <p:cNvSpPr txBox="1"/>
          <p:nvPr/>
        </p:nvSpPr>
        <p:spPr>
          <a:xfrm>
            <a:off x="9890150" y="4416552"/>
            <a:ext cx="1530706" cy="713232"/>
          </a:xfrm>
          <a:prstGeom prst="rect">
            <a:avLst/>
          </a:prstGeom>
          <a:noFill/>
          <a:ln/>
        </p:spPr>
        <p:txBody>
          <a:bodyPr wrap="square" lIns="0" tIns="0" rIns="0" bIns="0" rtlCol="0" anchor="t"/>
          <a:lstStyle/>
          <a:p>
            <a:pPr marL="0" indent="0">
              <a:buNone/>
            </a:pPr>
            <a:r>
              <a:rPr lang="en-US" sz="1000" b="1" kern="0" spc="100" dirty="0">
                <a:solidFill>
                  <a:schemeClr val="tx2"/>
                </a:solidFill>
              </a:rPr>
              <a:t>THEN</a:t>
            </a:r>
            <a:endParaRPr lang="en-US" sz="1400" dirty="0"/>
          </a:p>
          <a:p>
            <a:pPr marL="0" indent="0">
              <a:buNone/>
            </a:pPr>
            <a:r>
              <a:rPr lang="en-US" sz="1200" dirty="0">
                <a:solidFill>
                  <a:schemeClr val="tx1"/>
                </a:solidFill>
              </a:rPr>
              <a:t>Validated data available for consumption and reuse.</a:t>
            </a:r>
            <a:endParaRPr lang="en-US" sz="1400" dirty="0"/>
          </a:p>
        </p:txBody>
      </p:sp>
      <p:sp>
        <p:nvSpPr>
          <p:cNvPr id="48" name="Card"/>
          <p:cNvSpPr/>
          <p:nvPr/>
        </p:nvSpPr>
        <p:spPr>
          <a:xfrm>
            <a:off x="548640" y="5486400"/>
            <a:ext cx="11091672" cy="658368"/>
          </a:xfrm>
          <a:prstGeom prst="roundRect">
            <a:avLst>
              <a:gd name="adj" fmla="val 11111"/>
            </a:avLst>
          </a:prstGeom>
          <a:solidFill>
            <a:schemeClr val="bg1"/>
          </a:solidFill>
          <a:ln w="15875">
            <a:solidFill>
              <a:srgbClr val="C9D0D8"/>
            </a:solidFill>
            <a:prstDash val="dash"/>
          </a:ln>
        </p:spPr>
        <p:txBody>
          <a:bodyPr/>
          <a:lstStyle/>
          <a:p>
            <a:endParaRPr lang="en-US"/>
          </a:p>
        </p:txBody>
      </p:sp>
      <p:pic>
        <p:nvPicPr>
          <p:cNvPr id="49" name="Repeat icon" descr="Repeat"/>
          <p:cNvPicPr>
            <a:picLocks noChangeAspect="1"/>
          </p:cNvPicPr>
          <p:nvPr/>
        </p:nvPicPr>
        <p:blipFill>
          <a:blip r:embed="rId3"/>
          <a:stretch>
            <a:fillRect/>
          </a:stretch>
        </p:blipFill>
        <p:spPr>
          <a:xfrm>
            <a:off x="731520" y="5623560"/>
            <a:ext cx="384048" cy="384048"/>
          </a:xfrm>
          <a:prstGeom prst="rect">
            <a:avLst/>
          </a:prstGeom>
        </p:spPr>
      </p:pic>
      <p:sp>
        <p:nvSpPr>
          <p:cNvPr id="50" name="Text 46"/>
          <p:cNvSpPr txBox="1"/>
          <p:nvPr/>
        </p:nvSpPr>
        <p:spPr>
          <a:xfrm>
            <a:off x="1280160" y="5486400"/>
            <a:ext cx="10177272" cy="658368"/>
          </a:xfrm>
          <a:prstGeom prst="rect">
            <a:avLst/>
          </a:prstGeom>
          <a:noFill/>
          <a:ln/>
        </p:spPr>
        <p:txBody>
          <a:bodyPr wrap="square" lIns="0" tIns="0" rIns="0" bIns="0" rtlCol="0" anchor="ctr"/>
          <a:lstStyle/>
          <a:p>
            <a:pPr marL="0" indent="0">
              <a:buNone/>
            </a:pPr>
            <a:r>
              <a:rPr lang="en-US" sz="1400" b="1" dirty="0">
                <a:solidFill>
                  <a:schemeClr val="tx1"/>
                </a:solidFill>
              </a:rPr>
              <a:t>Repeatable Framework: </a:t>
            </a:r>
            <a:r>
              <a:rPr lang="en-US" sz="1400" dirty="0">
                <a:solidFill>
                  <a:schemeClr val="tx1"/>
                </a:solidFill>
              </a:rPr>
              <a:t>Apply the five phases across all three pillars and prioritized workstreams, including FCI, Sentinel, ORM AI, and other use cases, leveraging existing data and capabilities wherever possible.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How Each Pillar Works Across the Five Phases</a:t>
            </a:r>
            <a:endParaRPr lang="en-US" sz="2800" dirty="0"/>
          </a:p>
        </p:txBody>
      </p:sp>
      <p:sp>
        <p:nvSpPr>
          <p:cNvPr id="3" name="Section tag"/>
          <p:cNvSpPr txBox="1"/>
          <p:nvPr/>
        </p:nvSpPr>
        <p:spPr>
          <a:xfrm>
            <a:off x="548640" y="274320"/>
            <a:ext cx="169712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THE THREE PILLARS</a:t>
            </a:r>
            <a:endParaRPr lang="en-US" sz="1000" dirty="0"/>
          </a:p>
        </p:txBody>
      </p:sp>
      <p:graphicFrame>
        <p:nvGraphicFramePr>
          <p:cNvPr id="6" name="Pillar by phase matrix"/>
          <p:cNvGraphicFramePr>
            <a:graphicFrameLocks noGrp="1"/>
          </p:cNvGraphicFramePr>
          <p:nvPr>
            <p:extLst>
              <p:ext uri="{D42A27DB-BD31-4B8C-83A1-F6EECF244321}">
                <p14:modId xmlns:p14="http://schemas.microsoft.com/office/powerpoint/2010/main" val="622572310"/>
              </p:ext>
            </p:extLst>
          </p:nvPr>
        </p:nvGraphicFramePr>
        <p:xfrm>
          <a:off x="548640" y="1645920"/>
          <a:ext cx="11091672" cy="3877056"/>
        </p:xfrm>
        <a:graphic>
          <a:graphicData uri="http://schemas.openxmlformats.org/drawingml/2006/table">
            <a:tbl>
              <a:tblPr/>
              <a:tblGrid>
                <a:gridCol w="224028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53312">
                  <a:extLst>
                    <a:ext uri="{9D8B030D-6E8A-4147-A177-3AD203B41FA5}">
                      <a16:colId xmlns:a16="http://schemas.microsoft.com/office/drawing/2014/main" val="20005"/>
                    </a:ext>
                  </a:extLst>
                </a:gridCol>
              </a:tblGrid>
              <a:tr h="411480">
                <a:tc>
                  <a:txBody>
                    <a:bodyPr/>
                    <a:lstStyle/>
                    <a:p>
                      <a:pPr marL="0" indent="0">
                        <a:buNone/>
                      </a:pP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1. Understand usage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2. Prioritize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3. Source and land</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4. Validate</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5. Enable Data Consumption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914400">
                <a:tc>
                  <a:txBody>
                    <a:bodyPr/>
                    <a:lstStyle/>
                    <a:p>
                      <a:pPr marL="0" indent="0">
                        <a:buNone/>
                      </a:pPr>
                      <a:r>
                        <a:rPr lang="en-US" sz="1200" b="1" dirty="0">
                          <a:solidFill>
                            <a:schemeClr val="tx1"/>
                          </a:solidFill>
                        </a:rPr>
                        <a:t>Pillar 1: Data Capabilities &amp; Enablement</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alpha val="20000"/>
                      </a:schemeClr>
                    </a:solidFill>
                  </a:tcPr>
                </a:tc>
                <a:tc>
                  <a:txBody>
                    <a:bodyPr/>
                    <a:lstStyle/>
                    <a:p>
                      <a:pPr marL="0" indent="0">
                        <a:buNone/>
                      </a:pPr>
                      <a:r>
                        <a:rPr lang="en-US" sz="1200" dirty="0">
                          <a:solidFill>
                            <a:schemeClr val="tx1"/>
                          </a:solidFill>
                        </a:rPr>
                        <a:t>Intake automation, standards, metadata, glossaries, and data dictionaries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Lineage, data discovery, and General Use Dataset designation</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Define tooling and automation requirements with Technology</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00" dirty="0">
                          <a:solidFill>
                            <a:schemeClr val="tx1"/>
                          </a:solidFill>
                        </a:rPr>
                        <a:t>Data quality monitoring, controls, and validation capabilities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rowSpan="4">
                  <a:txBody>
                    <a:bodyPr/>
                    <a:lstStyle/>
                    <a:p>
                      <a:pPr marL="0" indent="0">
                        <a:buNone/>
                      </a:pPr>
                      <a:r>
                        <a:rPr lang="en-US" sz="1200" b="1" dirty="0">
                          <a:solidFill>
                            <a:schemeClr val="accent5"/>
                          </a:solidFill>
                        </a:rPr>
                        <a:t>Trusted, validated data supports prioritized AI, reporting, analytics, and other business use cases</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5">
                        <a:alpha val="10000"/>
                      </a:schemeClr>
                    </a:solidFill>
                  </a:tcPr>
                </a:tc>
                <a:extLst>
                  <a:ext uri="{0D108BD9-81ED-4DB2-BD59-A6C34878D82A}">
                    <a16:rowId xmlns:a16="http://schemas.microsoft.com/office/drawing/2014/main" val="10001"/>
                  </a:ext>
                </a:extLst>
              </a:tr>
              <a:tr h="914400">
                <a:tc>
                  <a:txBody>
                    <a:bodyPr/>
                    <a:lstStyle/>
                    <a:p>
                      <a:pPr marL="0" indent="0">
                        <a:buNone/>
                      </a:pPr>
                      <a:r>
                        <a:rPr lang="en-US" sz="1200" b="1" dirty="0">
                          <a:solidFill>
                            <a:schemeClr val="tx1"/>
                          </a:solidFill>
                        </a:rPr>
                        <a:t>Pillar 2: Data Plane Lifecycle Management</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20000"/>
                      </a:schemeClr>
                    </a:solidFill>
                  </a:tcPr>
                </a:tc>
                <a:tc>
                  <a:txBody>
                    <a:bodyPr/>
                    <a:lstStyle/>
                    <a:p>
                      <a:pPr marL="0" indent="0">
                        <a:buNone/>
                      </a:pPr>
                      <a:r>
                        <a:rPr lang="en-US" sz="1200" dirty="0">
                          <a:solidFill>
                            <a:schemeClr val="tx1"/>
                          </a:solidFill>
                        </a:rPr>
                        <a:t>Baseline RDS/DPC inventory, usage, and existing sourcing</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marL="0" indent="0" algn="l" defTabSz="914400" rtl="0" eaLnBrk="1" latinLnBrk="0" hangingPunct="1">
                        <a:buNone/>
                      </a:pPr>
                      <a:r>
                        <a:rPr lang="en-US" sz="1200" kern="1200" dirty="0">
                          <a:solidFill>
                            <a:schemeClr val="tx1"/>
                          </a:solidFill>
                          <a:latin typeface="+mn-lt"/>
                          <a:ea typeface="+mn-ea"/>
                          <a:cs typeface="+mn-cs"/>
                        </a:rPr>
                        <a:t>Assess legacy sourcing, gaps, and strategic migration priorities</a:t>
                      </a:r>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lumMod val="10000"/>
                        <a:lumOff val="90000"/>
                      </a:schemeClr>
                    </a:solidFill>
                  </a:tcPr>
                </a:tc>
                <a:tc>
                  <a:txBody>
                    <a:bodyPr/>
                    <a:lstStyle/>
                    <a:p>
                      <a:pPr marL="0" indent="0">
                        <a:buNone/>
                      </a:pPr>
                      <a:r>
                        <a:rPr lang="en-US" sz="1200" dirty="0">
                          <a:solidFill>
                            <a:schemeClr val="tx1"/>
                          </a:solidFill>
                        </a:rPr>
                        <a:t>Finalize data plane structure, reconcile upstream sources, and plan ADS migration</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a:txBody>
                    <a:bodyPr/>
                    <a:lstStyle/>
                    <a:p>
                      <a:pPr marL="0" indent="0">
                        <a:buNone/>
                      </a:pPr>
                      <a:r>
                        <a:rPr lang="en-US" sz="1200" dirty="0">
                          <a:solidFill>
                            <a:schemeClr val="tx1"/>
                          </a:solidFill>
                        </a:rPr>
                        <a:t>Validate lineage, sourcing alignment, data quality, and controls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2">
                        <a:alpha val="15000"/>
                      </a:schemeClr>
                    </a:solidFill>
                  </a:tcPr>
                </a:tc>
                <a:tc vMerge="1">
                  <a:txBody>
                    <a:bodyPr/>
                    <a:lstStyle/>
                    <a:p>
                      <a:endParaRPr lang="en-US"/>
                    </a:p>
                  </a:txBody>
                  <a:tcPr/>
                </a:tc>
                <a:extLst>
                  <a:ext uri="{0D108BD9-81ED-4DB2-BD59-A6C34878D82A}">
                    <a16:rowId xmlns:a16="http://schemas.microsoft.com/office/drawing/2014/main" val="10002"/>
                  </a:ext>
                </a:extLst>
              </a:tr>
              <a:tr h="914400">
                <a:tc>
                  <a:txBody>
                    <a:bodyPr/>
                    <a:lstStyle/>
                    <a:p>
                      <a:pPr marL="0" indent="0">
                        <a:buNone/>
                      </a:pPr>
                      <a:r>
                        <a:rPr lang="en-US" sz="1200" b="1" dirty="0">
                          <a:solidFill>
                            <a:schemeClr val="tx1"/>
                          </a:solidFill>
                        </a:rPr>
                        <a:t>Pillar 3: Demand Intake &amp; Sourcing</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20000"/>
                      </a:schemeClr>
                    </a:solidFill>
                  </a:tcPr>
                </a:tc>
                <a:tc>
                  <a:txBody>
                    <a:bodyPr/>
                    <a:lstStyle/>
                    <a:p>
                      <a:pPr marL="0" indent="0">
                        <a:buNone/>
                      </a:pPr>
                      <a:r>
                        <a:rPr lang="en-US" sz="1200" dirty="0">
                          <a:solidFill>
                            <a:schemeClr val="tx1"/>
                          </a:solidFill>
                        </a:rPr>
                        <a:t>Capture business requirements, usage scenarios, and assess RDS reuse</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Prioritize demand with business owners and leadership</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Determine strategic, tactical, or escalation sourcing paths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a:txBody>
                    <a:bodyPr/>
                    <a:lstStyle/>
                    <a:p>
                      <a:pPr marL="0" indent="0">
                        <a:buNone/>
                      </a:pPr>
                      <a:r>
                        <a:rPr lang="en-US" sz="1200" dirty="0">
                          <a:solidFill>
                            <a:schemeClr val="tx1"/>
                          </a:solidFill>
                        </a:rPr>
                        <a:t>Validate sourced data against business requirements</a:t>
                      </a:r>
                      <a:endParaRPr lang="en-US" sz="1200" dirty="0"/>
                    </a:p>
                  </a:txBody>
                  <a:tcPr marL="73152" marR="73152" marT="64008" marB="64008">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alpha val="15000"/>
                      </a:schemeClr>
                    </a:solidFill>
                  </a:tcPr>
                </a:tc>
                <a:tc vMerge="1">
                  <a:txBody>
                    <a:bodyPr/>
                    <a:lstStyle/>
                    <a:p>
                      <a:endParaRPr lang="en-US"/>
                    </a:p>
                  </a:txBody>
                  <a:tcPr/>
                </a:tc>
                <a:extLst>
                  <a:ext uri="{0D108BD9-81ED-4DB2-BD59-A6C34878D82A}">
                    <a16:rowId xmlns:a16="http://schemas.microsoft.com/office/drawing/2014/main" val="10003"/>
                  </a:ext>
                </a:extLst>
              </a:tr>
              <a:tr h="640080">
                <a:tc>
                  <a:txBody>
                    <a:bodyPr/>
                    <a:lstStyle/>
                    <a:p>
                      <a:pPr marL="0" indent="0">
                        <a:buNone/>
                      </a:pPr>
                      <a:r>
                        <a:rPr lang="en-US" sz="1200" b="1" dirty="0">
                          <a:solidFill>
                            <a:schemeClr val="tx1"/>
                          </a:solidFill>
                        </a:rPr>
                        <a:t>Underneath all three: DPC migration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20000"/>
                      </a:schemeClr>
                    </a:solidFill>
                  </a:tcPr>
                </a:tc>
                <a:tc gridSpan="4">
                  <a:txBody>
                    <a:bodyPr/>
                    <a:lstStyle/>
                    <a:p>
                      <a:pPr marL="0" indent="0">
                        <a:buNone/>
                      </a:pPr>
                      <a:r>
                        <a:rPr lang="en-US" sz="1200" dirty="0">
                          <a:solidFill>
                            <a:schemeClr val="tx1"/>
                          </a:solidFill>
                        </a:rPr>
                        <a:t>Progresses in parallel toward the year-end target, aligned to the DPC timeline, while all three pillars continue advancing across the five phases before, during, and after migration.</a:t>
                      </a:r>
                      <a:endParaRPr lang="en-US" sz="1200" dirty="0"/>
                    </a:p>
                  </a:txBody>
                  <a:tcPr marL="73152" marR="73152" marT="64008" marB="64008"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4">
                        <a:alpha val="8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4"/>
                  </a:ext>
                </a:extLst>
              </a:tr>
            </a:tbl>
          </a:graphicData>
        </a:graphic>
      </p:graphicFrame>
      <p:sp>
        <p:nvSpPr>
          <p:cNvPr id="4" name="Text 2"/>
          <p:cNvSpPr txBox="1"/>
          <p:nvPr/>
        </p:nvSpPr>
        <p:spPr>
          <a:xfrm>
            <a:off x="548640" y="5806440"/>
            <a:ext cx="11091672" cy="274320"/>
          </a:xfrm>
          <a:prstGeom prst="rect">
            <a:avLst/>
          </a:prstGeom>
          <a:noFill/>
          <a:ln/>
        </p:spPr>
        <p:txBody>
          <a:bodyPr wrap="square" lIns="0" tIns="0" rIns="0" bIns="0" rtlCol="0" anchor="t"/>
          <a:lstStyle/>
          <a:p>
            <a:pPr marL="0" indent="0">
              <a:buNone/>
            </a:pPr>
            <a:r>
              <a:rPr lang="en-US" sz="1200" i="1" dirty="0">
                <a:solidFill>
                  <a:schemeClr val="tx2"/>
                </a:solidFill>
              </a:rPr>
              <a:t>Shaded cells highlight primary pillar responsibilities. Pillar 1 capabilities enable and accelerate execution across all five phases.</a:t>
            </a:r>
            <a:endParaRPr lang="en-US" sz="12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1: Enabling the Data Capabilities and Tools We Need</a:t>
            </a:r>
            <a:endParaRPr lang="en-US" sz="2800" dirty="0"/>
          </a:p>
        </p:txBody>
      </p:sp>
      <p:sp>
        <p:nvSpPr>
          <p:cNvPr id="3" name="Section tag"/>
          <p:cNvSpPr txBox="1"/>
          <p:nvPr/>
        </p:nvSpPr>
        <p:spPr>
          <a:xfrm>
            <a:off x="548640" y="274320"/>
            <a:ext cx="3628339"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DATA CAPABILITIES &amp; ENABLEMENT</a:t>
            </a:r>
            <a:endParaRPr lang="en-US" sz="1000" dirty="0"/>
          </a:p>
        </p:txBody>
      </p:sp>
      <p:sp>
        <p:nvSpPr>
          <p:cNvPr id="5" name="Intake tool circle"/>
          <p:cNvSpPr/>
          <p:nvPr/>
        </p:nvSpPr>
        <p:spPr>
          <a:xfrm>
            <a:off x="548640" y="1691640"/>
            <a:ext cx="512064" cy="512064"/>
          </a:xfrm>
          <a:prstGeom prst="ellipse">
            <a:avLst/>
          </a:prstGeom>
          <a:solidFill>
            <a:schemeClr val="accent1"/>
          </a:solidFill>
          <a:ln/>
        </p:spPr>
        <p:txBody>
          <a:bodyPr/>
          <a:lstStyle/>
          <a:p>
            <a:endParaRPr lang="en-US"/>
          </a:p>
        </p:txBody>
      </p:sp>
      <p:pic>
        <p:nvPicPr>
          <p:cNvPr id="6" name="Intake tool" descr="Intake tool"/>
          <p:cNvPicPr>
            <a:picLocks noChangeAspect="1"/>
          </p:cNvPicPr>
          <p:nvPr/>
        </p:nvPicPr>
        <p:blipFill>
          <a:blip r:embed="rId3"/>
          <a:stretch>
            <a:fillRect/>
          </a:stretch>
        </p:blipFill>
        <p:spPr>
          <a:xfrm>
            <a:off x="661294" y="1804294"/>
            <a:ext cx="286756" cy="286756"/>
          </a:xfrm>
          <a:prstGeom prst="rect">
            <a:avLst/>
          </a:prstGeom>
        </p:spPr>
      </p:pic>
      <p:sp>
        <p:nvSpPr>
          <p:cNvPr id="7" name="Text 3"/>
          <p:cNvSpPr txBox="1"/>
          <p:nvPr/>
        </p:nvSpPr>
        <p:spPr>
          <a:xfrm>
            <a:off x="1207008" y="1600200"/>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Intake tool</a:t>
            </a:r>
            <a:endParaRPr lang="en-US" sz="1500" dirty="0"/>
          </a:p>
        </p:txBody>
      </p:sp>
      <p:sp>
        <p:nvSpPr>
          <p:cNvPr id="8" name="Text 4"/>
          <p:cNvSpPr txBox="1"/>
          <p:nvPr/>
        </p:nvSpPr>
        <p:spPr>
          <a:xfrm>
            <a:off x="2926080" y="1600200"/>
            <a:ext cx="4983480" cy="731520"/>
          </a:xfrm>
          <a:prstGeom prst="rect">
            <a:avLst/>
          </a:prstGeom>
          <a:noFill/>
          <a:ln/>
        </p:spPr>
        <p:txBody>
          <a:bodyPr wrap="square" lIns="0" tIns="0" rIns="0" bIns="0" rtlCol="0" anchor="ctr"/>
          <a:lstStyle/>
          <a:p>
            <a:pPr marL="0" indent="0">
              <a:buNone/>
            </a:pPr>
            <a:r>
              <a:rPr lang="en-US" sz="1250" dirty="0">
                <a:solidFill>
                  <a:schemeClr val="tx1"/>
                </a:solidFill>
              </a:rPr>
              <a:t>Enhance RDMGR intake with automated workflows to capture, prioritize, and track Risk sourcing requests, including those outside legacy RDS intake. Our example workstream (slides 8–9).</a:t>
            </a:r>
            <a:endParaRPr lang="en-US" sz="1250" dirty="0"/>
          </a:p>
        </p:txBody>
      </p:sp>
      <p:sp>
        <p:nvSpPr>
          <p:cNvPr id="9" name="Row rule"/>
          <p:cNvSpPr/>
          <p:nvPr/>
        </p:nvSpPr>
        <p:spPr>
          <a:xfrm>
            <a:off x="1207008" y="2350008"/>
            <a:ext cx="6702552" cy="0"/>
          </a:xfrm>
          <a:prstGeom prst="line">
            <a:avLst/>
          </a:prstGeom>
          <a:noFill/>
          <a:ln w="9525">
            <a:solidFill>
              <a:srgbClr val="E3E7EB"/>
            </a:solidFill>
            <a:prstDash val="solid"/>
          </a:ln>
        </p:spPr>
        <p:txBody>
          <a:bodyPr/>
          <a:lstStyle/>
          <a:p>
            <a:endParaRPr lang="en-US"/>
          </a:p>
        </p:txBody>
      </p:sp>
      <p:sp>
        <p:nvSpPr>
          <p:cNvPr id="10" name="DataHub circle"/>
          <p:cNvSpPr/>
          <p:nvPr/>
        </p:nvSpPr>
        <p:spPr>
          <a:xfrm>
            <a:off x="548640" y="2459736"/>
            <a:ext cx="512064" cy="512064"/>
          </a:xfrm>
          <a:prstGeom prst="ellipse">
            <a:avLst/>
          </a:prstGeom>
          <a:solidFill>
            <a:schemeClr val="accent1"/>
          </a:solidFill>
          <a:ln/>
        </p:spPr>
        <p:txBody>
          <a:bodyPr/>
          <a:lstStyle/>
          <a:p>
            <a:endParaRPr lang="en-US"/>
          </a:p>
        </p:txBody>
      </p:sp>
      <p:pic>
        <p:nvPicPr>
          <p:cNvPr id="11" name="DataHub" descr="DataHub"/>
          <p:cNvPicPr>
            <a:picLocks noChangeAspect="1"/>
          </p:cNvPicPr>
          <p:nvPr/>
        </p:nvPicPr>
        <p:blipFill>
          <a:blip r:embed="rId4"/>
          <a:stretch>
            <a:fillRect/>
          </a:stretch>
        </p:blipFill>
        <p:spPr>
          <a:xfrm>
            <a:off x="661294" y="2572390"/>
            <a:ext cx="286756" cy="286756"/>
          </a:xfrm>
          <a:prstGeom prst="rect">
            <a:avLst/>
          </a:prstGeom>
        </p:spPr>
      </p:pic>
      <p:sp>
        <p:nvSpPr>
          <p:cNvPr id="12" name="Text 7"/>
          <p:cNvSpPr txBox="1"/>
          <p:nvPr/>
        </p:nvSpPr>
        <p:spPr>
          <a:xfrm>
            <a:off x="1207008" y="2368296"/>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DataHub</a:t>
            </a:r>
            <a:endParaRPr lang="en-US" sz="1500" dirty="0"/>
          </a:p>
        </p:txBody>
      </p:sp>
      <p:sp>
        <p:nvSpPr>
          <p:cNvPr id="13" name="Text 8"/>
          <p:cNvSpPr txBox="1"/>
          <p:nvPr/>
        </p:nvSpPr>
        <p:spPr>
          <a:xfrm>
            <a:off x="2926080" y="2368296"/>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centralized business glossaries, data dictionaries, and metadata to improve discovery, standardization, and understanding across applications and sources.</a:t>
            </a:r>
            <a:endParaRPr lang="en-US" sz="1250" dirty="0"/>
          </a:p>
        </p:txBody>
      </p:sp>
      <p:sp>
        <p:nvSpPr>
          <p:cNvPr id="14" name="Row rule"/>
          <p:cNvSpPr/>
          <p:nvPr/>
        </p:nvSpPr>
        <p:spPr>
          <a:xfrm>
            <a:off x="1207008" y="3118104"/>
            <a:ext cx="6702552" cy="0"/>
          </a:xfrm>
          <a:prstGeom prst="line">
            <a:avLst/>
          </a:prstGeom>
          <a:noFill/>
          <a:ln w="9525">
            <a:solidFill>
              <a:srgbClr val="E3E7EB"/>
            </a:solidFill>
            <a:prstDash val="solid"/>
          </a:ln>
        </p:spPr>
        <p:txBody>
          <a:bodyPr/>
          <a:lstStyle/>
          <a:p>
            <a:endParaRPr lang="en-US"/>
          </a:p>
        </p:txBody>
      </p:sp>
      <p:sp>
        <p:nvSpPr>
          <p:cNvPr id="15" name="Lineage circle"/>
          <p:cNvSpPr/>
          <p:nvPr/>
        </p:nvSpPr>
        <p:spPr>
          <a:xfrm>
            <a:off x="548640" y="3227832"/>
            <a:ext cx="512064" cy="512064"/>
          </a:xfrm>
          <a:prstGeom prst="ellipse">
            <a:avLst/>
          </a:prstGeom>
          <a:solidFill>
            <a:schemeClr val="accent1"/>
          </a:solidFill>
          <a:ln/>
        </p:spPr>
        <p:txBody>
          <a:bodyPr/>
          <a:lstStyle/>
          <a:p>
            <a:endParaRPr lang="en-US"/>
          </a:p>
        </p:txBody>
      </p:sp>
      <p:pic>
        <p:nvPicPr>
          <p:cNvPr id="16" name="Lineage" descr="Lineage"/>
          <p:cNvPicPr>
            <a:picLocks noChangeAspect="1"/>
          </p:cNvPicPr>
          <p:nvPr/>
        </p:nvPicPr>
        <p:blipFill>
          <a:blip r:embed="rId5"/>
          <a:stretch>
            <a:fillRect/>
          </a:stretch>
        </p:blipFill>
        <p:spPr>
          <a:xfrm>
            <a:off x="661294" y="3340486"/>
            <a:ext cx="286756" cy="286756"/>
          </a:xfrm>
          <a:prstGeom prst="rect">
            <a:avLst/>
          </a:prstGeom>
        </p:spPr>
      </p:pic>
      <p:sp>
        <p:nvSpPr>
          <p:cNvPr id="17" name="Text 11"/>
          <p:cNvSpPr txBox="1"/>
          <p:nvPr/>
        </p:nvSpPr>
        <p:spPr>
          <a:xfrm>
            <a:off x="1207008" y="3136392"/>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Lineage</a:t>
            </a:r>
            <a:endParaRPr lang="en-US" sz="1500" dirty="0"/>
          </a:p>
        </p:txBody>
      </p:sp>
      <p:sp>
        <p:nvSpPr>
          <p:cNvPr id="18" name="Text 12"/>
          <p:cNvSpPr txBox="1"/>
          <p:nvPr/>
        </p:nvSpPr>
        <p:spPr>
          <a:xfrm>
            <a:off x="2926080" y="3136392"/>
            <a:ext cx="4983480" cy="731520"/>
          </a:xfrm>
          <a:prstGeom prst="rect">
            <a:avLst/>
          </a:prstGeom>
          <a:noFill/>
          <a:ln/>
        </p:spPr>
        <p:txBody>
          <a:bodyPr wrap="square" lIns="0" tIns="0" rIns="0" bIns="0" rtlCol="0" anchor="ctr"/>
          <a:lstStyle/>
          <a:p>
            <a:pPr marL="0" indent="0">
              <a:buNone/>
            </a:pPr>
            <a:r>
              <a:rPr lang="en-US" sz="1250" dirty="0">
                <a:solidFill>
                  <a:schemeClr val="tx1"/>
                </a:solidFill>
              </a:rPr>
              <a:t>Enable end-to-end lineage to trace data from originating sources through transformation and downstream consumption.</a:t>
            </a:r>
            <a:endParaRPr lang="en-US" sz="1250" dirty="0"/>
          </a:p>
        </p:txBody>
      </p:sp>
      <p:sp>
        <p:nvSpPr>
          <p:cNvPr id="19" name="Row rule"/>
          <p:cNvSpPr/>
          <p:nvPr/>
        </p:nvSpPr>
        <p:spPr>
          <a:xfrm>
            <a:off x="1207008" y="3886200"/>
            <a:ext cx="6702552" cy="0"/>
          </a:xfrm>
          <a:prstGeom prst="line">
            <a:avLst/>
          </a:prstGeom>
          <a:noFill/>
          <a:ln w="9525">
            <a:solidFill>
              <a:srgbClr val="E3E7EB"/>
            </a:solidFill>
            <a:prstDash val="solid"/>
          </a:ln>
        </p:spPr>
        <p:txBody>
          <a:bodyPr/>
          <a:lstStyle/>
          <a:p>
            <a:endParaRPr lang="en-US"/>
          </a:p>
        </p:txBody>
      </p:sp>
      <p:sp>
        <p:nvSpPr>
          <p:cNvPr id="20" name="Data quality circle"/>
          <p:cNvSpPr/>
          <p:nvPr/>
        </p:nvSpPr>
        <p:spPr>
          <a:xfrm>
            <a:off x="548640" y="3995928"/>
            <a:ext cx="512064" cy="512064"/>
          </a:xfrm>
          <a:prstGeom prst="ellipse">
            <a:avLst/>
          </a:prstGeom>
          <a:solidFill>
            <a:schemeClr val="accent1"/>
          </a:solidFill>
          <a:ln/>
        </p:spPr>
        <p:txBody>
          <a:bodyPr/>
          <a:lstStyle/>
          <a:p>
            <a:endParaRPr lang="en-US"/>
          </a:p>
        </p:txBody>
      </p:sp>
      <p:pic>
        <p:nvPicPr>
          <p:cNvPr id="21" name="Data quality" descr="Data quality"/>
          <p:cNvPicPr>
            <a:picLocks noChangeAspect="1"/>
          </p:cNvPicPr>
          <p:nvPr/>
        </p:nvPicPr>
        <p:blipFill>
          <a:blip r:embed="rId6"/>
          <a:stretch>
            <a:fillRect/>
          </a:stretch>
        </p:blipFill>
        <p:spPr>
          <a:xfrm>
            <a:off x="661294" y="4108582"/>
            <a:ext cx="286756" cy="286756"/>
          </a:xfrm>
          <a:prstGeom prst="rect">
            <a:avLst/>
          </a:prstGeom>
        </p:spPr>
      </p:pic>
      <p:sp>
        <p:nvSpPr>
          <p:cNvPr id="22" name="Text 15"/>
          <p:cNvSpPr txBox="1"/>
          <p:nvPr/>
        </p:nvSpPr>
        <p:spPr>
          <a:xfrm>
            <a:off x="1207008" y="3904488"/>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Data quality</a:t>
            </a:r>
            <a:endParaRPr lang="en-US" sz="1500" dirty="0"/>
          </a:p>
        </p:txBody>
      </p:sp>
      <p:sp>
        <p:nvSpPr>
          <p:cNvPr id="23" name="Text 16"/>
          <p:cNvSpPr txBox="1"/>
          <p:nvPr/>
        </p:nvSpPr>
        <p:spPr>
          <a:xfrm>
            <a:off x="2926080" y="3904488"/>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scalable capabilities to define, monitor, and manage data quality rules, controls, and issues across the plane (i.e., AIDA).</a:t>
            </a:r>
            <a:endParaRPr lang="en-US" sz="1250" dirty="0"/>
          </a:p>
        </p:txBody>
      </p:sp>
      <p:sp>
        <p:nvSpPr>
          <p:cNvPr id="24" name="Row rule"/>
          <p:cNvSpPr/>
          <p:nvPr/>
        </p:nvSpPr>
        <p:spPr>
          <a:xfrm>
            <a:off x="1207008" y="4654296"/>
            <a:ext cx="6702552" cy="0"/>
          </a:xfrm>
          <a:prstGeom prst="line">
            <a:avLst/>
          </a:prstGeom>
          <a:noFill/>
          <a:ln w="9525">
            <a:solidFill>
              <a:srgbClr val="E3E7EB"/>
            </a:solidFill>
            <a:prstDash val="solid"/>
          </a:ln>
        </p:spPr>
        <p:txBody>
          <a:bodyPr/>
          <a:lstStyle/>
          <a:p>
            <a:endParaRPr lang="en-US"/>
          </a:p>
        </p:txBody>
      </p:sp>
      <p:sp>
        <p:nvSpPr>
          <p:cNvPr id="25" name="Standards circle"/>
          <p:cNvSpPr/>
          <p:nvPr/>
        </p:nvSpPr>
        <p:spPr>
          <a:xfrm>
            <a:off x="548640" y="4764024"/>
            <a:ext cx="512064" cy="512064"/>
          </a:xfrm>
          <a:prstGeom prst="ellipse">
            <a:avLst/>
          </a:prstGeom>
          <a:solidFill>
            <a:schemeClr val="accent1"/>
          </a:solidFill>
          <a:ln/>
        </p:spPr>
        <p:txBody>
          <a:bodyPr/>
          <a:lstStyle/>
          <a:p>
            <a:endParaRPr lang="en-US"/>
          </a:p>
        </p:txBody>
      </p:sp>
      <p:pic>
        <p:nvPicPr>
          <p:cNvPr id="26" name="Standards" descr="Standards"/>
          <p:cNvPicPr>
            <a:picLocks noChangeAspect="1"/>
          </p:cNvPicPr>
          <p:nvPr/>
        </p:nvPicPr>
        <p:blipFill>
          <a:blip r:embed="rId7"/>
          <a:stretch>
            <a:fillRect/>
          </a:stretch>
        </p:blipFill>
        <p:spPr>
          <a:xfrm>
            <a:off x="661294" y="4876678"/>
            <a:ext cx="286756" cy="286756"/>
          </a:xfrm>
          <a:prstGeom prst="rect">
            <a:avLst/>
          </a:prstGeom>
        </p:spPr>
      </p:pic>
      <p:sp>
        <p:nvSpPr>
          <p:cNvPr id="27" name="Text 19"/>
          <p:cNvSpPr txBox="1"/>
          <p:nvPr/>
        </p:nvSpPr>
        <p:spPr>
          <a:xfrm>
            <a:off x="1207008" y="4672584"/>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Standards</a:t>
            </a:r>
            <a:endParaRPr lang="en-US" sz="1500" dirty="0"/>
          </a:p>
        </p:txBody>
      </p:sp>
      <p:sp>
        <p:nvSpPr>
          <p:cNvPr id="28" name="Text 20"/>
          <p:cNvSpPr txBox="1"/>
          <p:nvPr/>
        </p:nvSpPr>
        <p:spPr>
          <a:xfrm>
            <a:off x="2926080" y="4672584"/>
            <a:ext cx="4983480" cy="731520"/>
          </a:xfrm>
          <a:prstGeom prst="rect">
            <a:avLst/>
          </a:prstGeom>
          <a:noFill/>
          <a:ln/>
        </p:spPr>
        <p:txBody>
          <a:bodyPr wrap="square" lIns="0" tIns="0" rIns="0" bIns="0" rtlCol="0" anchor="ctr"/>
          <a:lstStyle/>
          <a:p>
            <a:pPr marL="0" indent="0">
              <a:buNone/>
            </a:pPr>
            <a:r>
              <a:rPr lang="en-US" sz="1250" dirty="0">
                <a:solidFill>
                  <a:schemeClr val="tx1"/>
                </a:solidFill>
              </a:rPr>
              <a:t>Establish common data standards for metadata, dictionaries, and technical conventions, while identifying and designating General Use Datasets for consistent governance and reuse.</a:t>
            </a:r>
            <a:endParaRPr lang="en-US" sz="1250" dirty="0"/>
          </a:p>
        </p:txBody>
      </p:sp>
      <p:sp>
        <p:nvSpPr>
          <p:cNvPr id="29" name="Row rule"/>
          <p:cNvSpPr/>
          <p:nvPr/>
        </p:nvSpPr>
        <p:spPr>
          <a:xfrm>
            <a:off x="1207008" y="5422392"/>
            <a:ext cx="6702552" cy="0"/>
          </a:xfrm>
          <a:prstGeom prst="line">
            <a:avLst/>
          </a:prstGeom>
          <a:noFill/>
          <a:ln w="9525">
            <a:solidFill>
              <a:srgbClr val="E3E7EB"/>
            </a:solidFill>
            <a:prstDash val="solid"/>
          </a:ln>
        </p:spPr>
        <p:txBody>
          <a:bodyPr/>
          <a:lstStyle/>
          <a:p>
            <a:endParaRPr lang="en-US"/>
          </a:p>
        </p:txBody>
      </p:sp>
      <p:sp>
        <p:nvSpPr>
          <p:cNvPr id="30" name="Current-state assessment circle"/>
          <p:cNvSpPr/>
          <p:nvPr/>
        </p:nvSpPr>
        <p:spPr>
          <a:xfrm>
            <a:off x="548640" y="5532120"/>
            <a:ext cx="512064" cy="512064"/>
          </a:xfrm>
          <a:prstGeom prst="ellipse">
            <a:avLst/>
          </a:prstGeom>
          <a:solidFill>
            <a:schemeClr val="accent1"/>
          </a:solidFill>
          <a:ln/>
        </p:spPr>
        <p:txBody>
          <a:bodyPr/>
          <a:lstStyle/>
          <a:p>
            <a:endParaRPr lang="en-US"/>
          </a:p>
        </p:txBody>
      </p:sp>
      <p:pic>
        <p:nvPicPr>
          <p:cNvPr id="31" name="Current-state assessment" descr="Current-state assessment"/>
          <p:cNvPicPr>
            <a:picLocks noChangeAspect="1"/>
          </p:cNvPicPr>
          <p:nvPr/>
        </p:nvPicPr>
        <p:blipFill>
          <a:blip r:embed="rId8"/>
          <a:stretch>
            <a:fillRect/>
          </a:stretch>
        </p:blipFill>
        <p:spPr>
          <a:xfrm>
            <a:off x="661294" y="5644774"/>
            <a:ext cx="286756" cy="286756"/>
          </a:xfrm>
          <a:prstGeom prst="rect">
            <a:avLst/>
          </a:prstGeom>
        </p:spPr>
      </p:pic>
      <p:sp>
        <p:nvSpPr>
          <p:cNvPr id="32" name="Text 23"/>
          <p:cNvSpPr txBox="1"/>
          <p:nvPr/>
        </p:nvSpPr>
        <p:spPr>
          <a:xfrm>
            <a:off x="1207008" y="5440680"/>
            <a:ext cx="1691640" cy="731520"/>
          </a:xfrm>
          <a:prstGeom prst="rect">
            <a:avLst/>
          </a:prstGeom>
          <a:noFill/>
          <a:ln/>
        </p:spPr>
        <p:txBody>
          <a:bodyPr wrap="square" lIns="0" tIns="0" rIns="0" bIns="0" rtlCol="0" anchor="ctr"/>
          <a:lstStyle/>
          <a:p>
            <a:pPr marL="0" indent="0">
              <a:buNone/>
            </a:pPr>
            <a:r>
              <a:rPr lang="en-US" sz="1500" b="1" dirty="0">
                <a:solidFill>
                  <a:schemeClr val="tx1"/>
                </a:solidFill>
              </a:rPr>
              <a:t>Current-state assessment</a:t>
            </a:r>
            <a:endParaRPr lang="en-US" sz="1500" dirty="0"/>
          </a:p>
        </p:txBody>
      </p:sp>
      <p:sp>
        <p:nvSpPr>
          <p:cNvPr id="33" name="Text 24"/>
          <p:cNvSpPr txBox="1"/>
          <p:nvPr/>
        </p:nvSpPr>
        <p:spPr>
          <a:xfrm>
            <a:off x="2926080" y="5440680"/>
            <a:ext cx="4983480" cy="731520"/>
          </a:xfrm>
          <a:prstGeom prst="rect">
            <a:avLst/>
          </a:prstGeom>
          <a:noFill/>
          <a:ln/>
        </p:spPr>
        <p:txBody>
          <a:bodyPr wrap="square" lIns="0" tIns="0" rIns="0" bIns="0" rtlCol="0" anchor="ctr"/>
          <a:lstStyle/>
          <a:p>
            <a:pPr marL="0" indent="0">
              <a:buNone/>
            </a:pPr>
            <a:r>
              <a:rPr lang="en-US" sz="1250" dirty="0">
                <a:solidFill>
                  <a:schemeClr val="tx1"/>
                </a:solidFill>
              </a:rPr>
              <a:t>Evaluate existing and legacy tools, processes, and capabilities to determine what to retain, enhance, automate, consolidate, or retire.</a:t>
            </a:r>
            <a:endParaRPr lang="en-US" sz="1250" dirty="0"/>
          </a:p>
        </p:txBody>
      </p:sp>
      <p:sp>
        <p:nvSpPr>
          <p:cNvPr id="34" name="Card"/>
          <p:cNvSpPr/>
          <p:nvPr/>
        </p:nvSpPr>
        <p:spPr>
          <a:xfrm>
            <a:off x="8183880" y="1600200"/>
            <a:ext cx="3456432" cy="2606040"/>
          </a:xfrm>
          <a:prstGeom prst="roundRect">
            <a:avLst>
              <a:gd name="adj" fmla="val 2807"/>
            </a:avLst>
          </a:prstGeom>
          <a:solidFill>
            <a:schemeClr val="accent1"/>
          </a:solidFill>
          <a:ln/>
        </p:spPr>
        <p:txBody>
          <a:bodyPr/>
          <a:lstStyle/>
          <a:p>
            <a:endParaRPr lang="en-US"/>
          </a:p>
        </p:txBody>
      </p:sp>
      <p:sp>
        <p:nvSpPr>
          <p:cNvPr id="35" name="Text 26"/>
          <p:cNvSpPr txBox="1"/>
          <p:nvPr/>
        </p:nvSpPr>
        <p:spPr>
          <a:xfrm>
            <a:off x="8385048" y="1600200"/>
            <a:ext cx="3054096" cy="2606040"/>
          </a:xfrm>
          <a:prstGeom prst="rect">
            <a:avLst/>
          </a:prstGeom>
          <a:noFill/>
          <a:ln/>
        </p:spPr>
        <p:txBody>
          <a:bodyPr wrap="square" lIns="0" tIns="0" rIns="0" bIns="0" rtlCol="0" anchor="ctr"/>
          <a:lstStyle/>
          <a:p>
            <a:pPr marL="0" indent="0">
              <a:spcAft>
                <a:spcPts val="600"/>
              </a:spcAft>
              <a:buNone/>
            </a:pPr>
            <a:r>
              <a:rPr lang="en-US" sz="1100" b="1" kern="0" spc="100" dirty="0">
                <a:solidFill>
                  <a:schemeClr val="bg1"/>
                </a:solidFill>
              </a:rPr>
              <a:t>OUR ROLE</a:t>
            </a:r>
            <a:endParaRPr lang="en-US" sz="1400" dirty="0"/>
          </a:p>
          <a:p>
            <a:pPr marL="0" indent="0">
              <a:spcAft>
                <a:spcPts val="600"/>
              </a:spcAft>
              <a:buNone/>
            </a:pPr>
            <a:r>
              <a:rPr lang="en-US" sz="1800" b="1" dirty="0">
                <a:solidFill>
                  <a:schemeClr val="bg1"/>
                </a:solidFill>
              </a:rPr>
              <a:t>Product Managers of the Data Plane</a:t>
            </a:r>
            <a:endParaRPr lang="en-US" sz="1400" dirty="0"/>
          </a:p>
          <a:p>
            <a:pPr marL="0" indent="0">
              <a:spcAft>
                <a:spcPts val="600"/>
              </a:spcAft>
              <a:buNone/>
            </a:pPr>
            <a:r>
              <a:rPr lang="en-US" sz="1250" dirty="0">
                <a:solidFill>
                  <a:schemeClr val="bg1"/>
                </a:solidFill>
              </a:rPr>
              <a:t>Define requirements, prioritize capabilities, and partner with Technology to deliver. Take priorities from Pillars 2 and 3. Track progress, manage dependencies, and escalate to technology and senior leadership when work goes off track.</a:t>
            </a:r>
            <a:endParaRPr lang="en-US" sz="1250" dirty="0"/>
          </a:p>
        </p:txBody>
      </p:sp>
      <p:sp>
        <p:nvSpPr>
          <p:cNvPr id="36" name="Card"/>
          <p:cNvSpPr/>
          <p:nvPr/>
        </p:nvSpPr>
        <p:spPr>
          <a:xfrm>
            <a:off x="8183880" y="4315968"/>
            <a:ext cx="3456432" cy="914400"/>
          </a:xfrm>
          <a:prstGeom prst="roundRect">
            <a:avLst>
              <a:gd name="adj" fmla="val 8000"/>
            </a:avLst>
          </a:prstGeom>
          <a:solidFill>
            <a:schemeClr val="accent1">
              <a:alpha val="12000"/>
            </a:schemeClr>
          </a:solidFill>
          <a:ln w="12700">
            <a:solidFill>
              <a:schemeClr val="accent1"/>
            </a:solidFill>
            <a:prstDash val="solid"/>
          </a:ln>
        </p:spPr>
        <p:txBody>
          <a:bodyPr/>
          <a:lstStyle/>
          <a:p>
            <a:endParaRPr lang="en-US"/>
          </a:p>
        </p:txBody>
      </p:sp>
      <p:sp>
        <p:nvSpPr>
          <p:cNvPr id="37" name="Text 28"/>
          <p:cNvSpPr txBox="1"/>
          <p:nvPr/>
        </p:nvSpPr>
        <p:spPr>
          <a:xfrm>
            <a:off x="8385048" y="4315968"/>
            <a:ext cx="3054096" cy="914400"/>
          </a:xfrm>
          <a:prstGeom prst="rect">
            <a:avLst/>
          </a:prstGeom>
          <a:noFill/>
          <a:ln/>
        </p:spPr>
        <p:txBody>
          <a:bodyPr wrap="square" lIns="0" tIns="0" rIns="0" bIns="0" rtlCol="0" anchor="ctr"/>
          <a:lstStyle/>
          <a:p>
            <a:pPr marL="0" indent="0">
              <a:spcAft>
                <a:spcPts val="300"/>
              </a:spcAft>
              <a:buNone/>
            </a:pPr>
            <a:r>
              <a:rPr lang="en-US" sz="1100" b="1" kern="0" spc="100" dirty="0">
                <a:solidFill>
                  <a:schemeClr val="accent1"/>
                </a:solidFill>
              </a:rPr>
              <a:t>TEAM OPERATING MODEL</a:t>
            </a:r>
            <a:endParaRPr lang="en-US" sz="1400" dirty="0"/>
          </a:p>
          <a:p>
            <a:pPr marL="0" indent="0">
              <a:spcAft>
                <a:spcPts val="300"/>
              </a:spcAft>
              <a:buNone/>
            </a:pPr>
            <a:r>
              <a:rPr lang="en-US" sz="1100" dirty="0">
                <a:solidFill>
                  <a:schemeClr val="tx1"/>
                </a:solidFill>
              </a:rPr>
              <a:t>Establish clear ownership, decision rights, governance cadence, and escalation processes.</a:t>
            </a:r>
            <a:endParaRPr lang="en-US" sz="1100" dirty="0"/>
          </a:p>
        </p:txBody>
      </p:sp>
      <p:sp>
        <p:nvSpPr>
          <p:cNvPr id="38" name="Card"/>
          <p:cNvSpPr/>
          <p:nvPr/>
        </p:nvSpPr>
        <p:spPr>
          <a:xfrm>
            <a:off x="8183880" y="5340096"/>
            <a:ext cx="3456432" cy="969264"/>
          </a:xfrm>
          <a:prstGeom prst="roundRect">
            <a:avLst>
              <a:gd name="adj" fmla="val 7547"/>
            </a:avLst>
          </a:prstGeom>
          <a:solidFill>
            <a:schemeClr val="bg2"/>
          </a:solidFill>
          <a:ln/>
        </p:spPr>
        <p:txBody>
          <a:bodyPr/>
          <a:lstStyle/>
          <a:p>
            <a:endParaRPr lang="en-US"/>
          </a:p>
        </p:txBody>
      </p:sp>
      <p:sp>
        <p:nvSpPr>
          <p:cNvPr id="39" name="Text 30"/>
          <p:cNvSpPr txBox="1"/>
          <p:nvPr/>
        </p:nvSpPr>
        <p:spPr>
          <a:xfrm>
            <a:off x="8385048" y="5340096"/>
            <a:ext cx="3054096" cy="969264"/>
          </a:xfrm>
          <a:prstGeom prst="rect">
            <a:avLst/>
          </a:prstGeom>
          <a:noFill/>
          <a:ln/>
        </p:spPr>
        <p:txBody>
          <a:bodyPr wrap="square" lIns="0" tIns="0" rIns="0" bIns="0" rtlCol="0" anchor="ctr"/>
          <a:lstStyle/>
          <a:p>
            <a:pPr marL="0" indent="0">
              <a:spcAft>
                <a:spcPts val="300"/>
              </a:spcAft>
              <a:buNone/>
            </a:pPr>
            <a:r>
              <a:rPr lang="en-US" sz="1100" b="1" kern="0" spc="100" dirty="0">
                <a:solidFill>
                  <a:schemeClr val="accent4"/>
                </a:solidFill>
              </a:rPr>
              <a:t>UNTIL THEN · LEVERAGE EXISTING CAPABILITIES</a:t>
            </a:r>
            <a:endParaRPr lang="en-US" sz="1400" dirty="0"/>
          </a:p>
          <a:p>
            <a:pPr marL="0" indent="0">
              <a:spcAft>
                <a:spcPts val="300"/>
              </a:spcAft>
              <a:buNone/>
            </a:pPr>
            <a:r>
              <a:rPr lang="en-US" sz="1100" dirty="0">
                <a:solidFill>
                  <a:schemeClr val="tx1"/>
                </a:solidFill>
              </a:rPr>
              <a:t>Pillars 2 and 3 continue execution using RDS extracts, </a:t>
            </a:r>
            <a:r>
              <a:rPr lang="en-US" sz="1100" dirty="0" err="1">
                <a:solidFill>
                  <a:schemeClr val="tx1"/>
                </a:solidFill>
              </a:rPr>
              <a:t>Dremio</a:t>
            </a:r>
            <a:r>
              <a:rPr lang="en-US" sz="1100" dirty="0">
                <a:solidFill>
                  <a:schemeClr val="tx1"/>
                </a:solidFill>
              </a:rPr>
              <a:t> views, Excel/Copilot, and existing workflows while strategic capabilities are developed.</a:t>
            </a:r>
            <a:endParaRPr lang="en-US" sz="11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1: Assess Current Tooling and Define Future Capabilities</a:t>
            </a:r>
            <a:endParaRPr lang="en-US" sz="2800" dirty="0"/>
          </a:p>
        </p:txBody>
      </p:sp>
      <p:sp>
        <p:nvSpPr>
          <p:cNvPr id="3" name="Section tag"/>
          <p:cNvSpPr txBox="1"/>
          <p:nvPr/>
        </p:nvSpPr>
        <p:spPr>
          <a:xfrm>
            <a:off x="548640" y="274320"/>
            <a:ext cx="3628339"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DATA CAPABILITIES &amp; ENABLEMENT</a:t>
            </a:r>
            <a:endParaRPr lang="en-US" sz="1000" dirty="0"/>
          </a:p>
        </p:txBody>
      </p:sp>
      <p:sp>
        <p:nvSpPr>
          <p:cNvPr id="5" name="Text 2"/>
          <p:cNvSpPr txBox="1"/>
          <p:nvPr/>
        </p:nvSpPr>
        <p:spPr>
          <a:xfrm>
            <a:off x="548640" y="1627632"/>
            <a:ext cx="5486400"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TODAY · INTERIM</a:t>
            </a:r>
            <a:endParaRPr lang="en-US" sz="1100" dirty="0"/>
          </a:p>
        </p:txBody>
      </p:sp>
      <p:sp>
        <p:nvSpPr>
          <p:cNvPr id="6" name="Text 3"/>
          <p:cNvSpPr txBox="1"/>
          <p:nvPr/>
        </p:nvSpPr>
        <p:spPr>
          <a:xfrm>
            <a:off x="548640" y="1938528"/>
            <a:ext cx="5486400" cy="21031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RDS extracts, Dremio queries/views, and Copilot in Excel support data analysis</a:t>
            </a:r>
            <a:endParaRPr lang="en-US" sz="1350" dirty="0"/>
          </a:p>
          <a:p>
            <a:pPr marL="177800" indent="-177800">
              <a:spcAft>
                <a:spcPts val="500"/>
              </a:spcAft>
              <a:buSzPct val="100000"/>
              <a:buChar char="•"/>
            </a:pPr>
            <a:r>
              <a:rPr lang="en-US" sz="1350" dirty="0">
                <a:solidFill>
                  <a:schemeClr val="tx1"/>
                </a:solidFill>
              </a:rPr>
              <a:t>Requests and requirements tracked manually in spreadsheets</a:t>
            </a:r>
            <a:endParaRPr lang="en-US" sz="1350" dirty="0"/>
          </a:p>
          <a:p>
            <a:pPr marL="177800" indent="-177800">
              <a:spcAft>
                <a:spcPts val="500"/>
              </a:spcAft>
              <a:buSzPct val="100000"/>
              <a:buChar char="•"/>
            </a:pPr>
            <a:r>
              <a:rPr lang="en-US" sz="1350" dirty="0">
                <a:solidFill>
                  <a:schemeClr val="tx1"/>
                </a:solidFill>
              </a:rPr>
              <a:t>Intake outside legacy RDS intake (e.g., BUSCRT, FCTDS) isn't captured</a:t>
            </a:r>
            <a:endParaRPr lang="en-US" sz="1350" dirty="0"/>
          </a:p>
          <a:p>
            <a:pPr marL="177800" indent="-177800">
              <a:spcAft>
                <a:spcPts val="500"/>
              </a:spcAft>
              <a:buSzPct val="100000"/>
              <a:buChar char="•"/>
            </a:pPr>
            <a:r>
              <a:rPr lang="en-US" sz="1350" dirty="0">
                <a:solidFill>
                  <a:schemeClr val="tx1"/>
                </a:solidFill>
              </a:rPr>
              <a:t>Limited visibility into RDS request purpose and ownership</a:t>
            </a:r>
            <a:endParaRPr lang="en-US" sz="1350" dirty="0"/>
          </a:p>
          <a:p>
            <a:pPr marL="177800" indent="-177800">
              <a:spcAft>
                <a:spcPts val="500"/>
              </a:spcAft>
              <a:buSzPct val="100000"/>
              <a:buChar char="•"/>
            </a:pPr>
            <a:r>
              <a:rPr lang="en-US" sz="1350" dirty="0">
                <a:solidFill>
                  <a:schemeClr val="tx1"/>
                </a:solidFill>
              </a:rPr>
              <a:t>No centralized view of data usage, consumers, or dependencies</a:t>
            </a:r>
            <a:endParaRPr lang="en-US" sz="1350" dirty="0"/>
          </a:p>
          <a:p>
            <a:pPr marL="177800" indent="-177800">
              <a:spcAft>
                <a:spcPts val="500"/>
              </a:spcAft>
              <a:buSzPct val="100000"/>
              <a:buChar char="•"/>
            </a:pPr>
            <a:r>
              <a:rPr lang="en-US" sz="1350" dirty="0">
                <a:solidFill>
                  <a:schemeClr val="tx1"/>
                </a:solidFill>
              </a:rPr>
              <a:t>Group-specific standards (e.g., result tables, rule names)</a:t>
            </a:r>
            <a:endParaRPr lang="en-US" sz="1350" dirty="0"/>
          </a:p>
        </p:txBody>
      </p:sp>
      <p:sp>
        <p:nvSpPr>
          <p:cNvPr id="7" name="Text 4"/>
          <p:cNvSpPr txBox="1"/>
          <p:nvPr/>
        </p:nvSpPr>
        <p:spPr>
          <a:xfrm>
            <a:off x="548640" y="4041648"/>
            <a:ext cx="5486400" cy="411480"/>
          </a:xfrm>
          <a:prstGeom prst="rect">
            <a:avLst/>
          </a:prstGeom>
          <a:noFill/>
          <a:ln/>
        </p:spPr>
        <p:txBody>
          <a:bodyPr wrap="square" lIns="0" tIns="0" rIns="0" bIns="0" rtlCol="0" anchor="t"/>
          <a:lstStyle/>
          <a:p>
            <a:pPr marL="0" indent="0">
              <a:buNone/>
            </a:pPr>
            <a:r>
              <a:rPr lang="en-US" sz="1250" i="1" dirty="0">
                <a:solidFill>
                  <a:schemeClr val="tx2"/>
                </a:solidFill>
              </a:rPr>
              <a:t>Interim processes support ongoing execution but require automation and standardization to scale.</a:t>
            </a:r>
            <a:endParaRPr lang="en-US" sz="1250" dirty="0"/>
          </a:p>
        </p:txBody>
      </p:sp>
      <p:sp>
        <p:nvSpPr>
          <p:cNvPr id="8" name="Arrow circle"/>
          <p:cNvSpPr/>
          <p:nvPr/>
        </p:nvSpPr>
        <p:spPr>
          <a:xfrm>
            <a:off x="6144768" y="2788920"/>
            <a:ext cx="457200" cy="457200"/>
          </a:xfrm>
          <a:prstGeom prst="ellipse">
            <a:avLst/>
          </a:prstGeom>
          <a:solidFill>
            <a:schemeClr val="accent1"/>
          </a:solidFill>
          <a:ln/>
        </p:spPr>
        <p:txBody>
          <a:bodyPr/>
          <a:lstStyle/>
          <a:p>
            <a:endParaRPr lang="en-US"/>
          </a:p>
        </p:txBody>
      </p:sp>
      <p:pic>
        <p:nvPicPr>
          <p:cNvPr id="9" name="Arrow" descr="Arrow"/>
          <p:cNvPicPr>
            <a:picLocks noChangeAspect="1"/>
          </p:cNvPicPr>
          <p:nvPr/>
        </p:nvPicPr>
        <p:blipFill>
          <a:blip r:embed="rId3"/>
          <a:stretch>
            <a:fillRect/>
          </a:stretch>
        </p:blipFill>
        <p:spPr>
          <a:xfrm>
            <a:off x="6245352" y="2889504"/>
            <a:ext cx="256032" cy="256032"/>
          </a:xfrm>
          <a:prstGeom prst="rect">
            <a:avLst/>
          </a:prstGeom>
        </p:spPr>
      </p:pic>
      <p:sp>
        <p:nvSpPr>
          <p:cNvPr id="10" name="Card"/>
          <p:cNvSpPr/>
          <p:nvPr/>
        </p:nvSpPr>
        <p:spPr>
          <a:xfrm>
            <a:off x="6720840" y="1600200"/>
            <a:ext cx="4919472" cy="2834640"/>
          </a:xfrm>
          <a:prstGeom prst="roundRect">
            <a:avLst>
              <a:gd name="adj" fmla="val 2581"/>
            </a:avLst>
          </a:prstGeom>
          <a:solidFill>
            <a:schemeClr val="bg1"/>
          </a:solidFill>
          <a:ln w="15875">
            <a:solidFill>
              <a:schemeClr val="tx1"/>
            </a:solidFill>
            <a:prstDash val="solid"/>
          </a:ln>
        </p:spPr>
        <p:txBody>
          <a:bodyPr/>
          <a:lstStyle/>
          <a:p>
            <a:endParaRPr lang="en-US"/>
          </a:p>
        </p:txBody>
      </p:sp>
      <p:sp>
        <p:nvSpPr>
          <p:cNvPr id="11" name="Text 7"/>
          <p:cNvSpPr txBox="1"/>
          <p:nvPr/>
        </p:nvSpPr>
        <p:spPr>
          <a:xfrm>
            <a:off x="6922008" y="1719072"/>
            <a:ext cx="4517136" cy="237744"/>
          </a:xfrm>
          <a:prstGeom prst="rect">
            <a:avLst/>
          </a:prstGeom>
          <a:noFill/>
          <a:ln/>
        </p:spPr>
        <p:txBody>
          <a:bodyPr wrap="square" lIns="0" tIns="0" rIns="0" bIns="0" rtlCol="0" anchor="t"/>
          <a:lstStyle/>
          <a:p>
            <a:pPr marL="0" indent="0">
              <a:buNone/>
            </a:pPr>
            <a:r>
              <a:rPr lang="en-US" sz="1100" b="1" kern="0" spc="100" dirty="0">
                <a:solidFill>
                  <a:schemeClr val="accent1"/>
                </a:solidFill>
              </a:rPr>
              <a:t>TARGET · ON THE PLANE</a:t>
            </a:r>
            <a:endParaRPr lang="en-US" sz="1100" dirty="0"/>
          </a:p>
        </p:txBody>
      </p:sp>
      <p:sp>
        <p:nvSpPr>
          <p:cNvPr id="12" name="Text 8"/>
          <p:cNvSpPr txBox="1"/>
          <p:nvPr/>
        </p:nvSpPr>
        <p:spPr>
          <a:xfrm>
            <a:off x="6922008" y="2029968"/>
            <a:ext cx="4517136" cy="233172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Centralized intake and automated request tracking</a:t>
            </a:r>
            <a:endParaRPr lang="en-US" sz="1350" dirty="0"/>
          </a:p>
          <a:p>
            <a:pPr marL="177800" indent="-177800">
              <a:spcAft>
                <a:spcPts val="500"/>
              </a:spcAft>
              <a:buSzPct val="100000"/>
              <a:buChar char="•"/>
            </a:pPr>
            <a:r>
              <a:rPr lang="en-US" sz="1350" dirty="0">
                <a:solidFill>
                  <a:schemeClr val="tx1"/>
                </a:solidFill>
              </a:rPr>
              <a:t>DataHub provides searchable glossaries, dictionaries, and metadata</a:t>
            </a:r>
            <a:endParaRPr lang="en-US" sz="1350" dirty="0"/>
          </a:p>
          <a:p>
            <a:pPr marL="177800" indent="-177800">
              <a:spcAft>
                <a:spcPts val="500"/>
              </a:spcAft>
              <a:buSzPct val="100000"/>
              <a:buChar char="•"/>
            </a:pPr>
            <a:r>
              <a:rPr lang="en-US" sz="1350" dirty="0">
                <a:solidFill>
                  <a:schemeClr val="tx1"/>
                </a:solidFill>
              </a:rPr>
              <a:t>End-to-end lineage traces data sources and transformations</a:t>
            </a:r>
            <a:endParaRPr lang="en-US" sz="1350" dirty="0"/>
          </a:p>
          <a:p>
            <a:pPr marL="177800" indent="-177800">
              <a:spcAft>
                <a:spcPts val="500"/>
              </a:spcAft>
              <a:buSzPct val="100000"/>
              <a:buChar char="•"/>
            </a:pPr>
            <a:r>
              <a:rPr lang="en-US" sz="1350" dirty="0">
                <a:solidFill>
                  <a:schemeClr val="tx1"/>
                </a:solidFill>
              </a:rPr>
              <a:t>AIDA enables automated data quality monitoring</a:t>
            </a:r>
            <a:endParaRPr lang="en-US" sz="1350" dirty="0"/>
          </a:p>
          <a:p>
            <a:pPr marL="177800" indent="-177800">
              <a:spcAft>
                <a:spcPts val="500"/>
              </a:spcAft>
              <a:buSzPct val="100000"/>
              <a:buChar char="•"/>
            </a:pPr>
            <a:r>
              <a:rPr lang="en-US" sz="1350" dirty="0">
                <a:solidFill>
                  <a:schemeClr val="tx1"/>
                </a:solidFill>
              </a:rPr>
              <a:t>One standard for metadata, result tables, and rule names</a:t>
            </a:r>
            <a:endParaRPr lang="en-US" sz="1350" dirty="0"/>
          </a:p>
          <a:p>
            <a:pPr marL="177800" indent="-177800">
              <a:spcAft>
                <a:spcPts val="500"/>
              </a:spcAft>
              <a:buSzPct val="100000"/>
              <a:buChar char="•"/>
            </a:pPr>
            <a:r>
              <a:rPr lang="en-US" sz="1350" dirty="0">
                <a:solidFill>
                  <a:schemeClr val="tx1"/>
                </a:solidFill>
              </a:rPr>
              <a:t>Defined routing and ownership for sourcing requests</a:t>
            </a:r>
            <a:endParaRPr lang="en-US" sz="1350" dirty="0"/>
          </a:p>
        </p:txBody>
      </p:sp>
      <p:sp>
        <p:nvSpPr>
          <p:cNvPr id="13" name="Text 9"/>
          <p:cNvSpPr txBox="1"/>
          <p:nvPr/>
        </p:nvSpPr>
        <p:spPr>
          <a:xfrm>
            <a:off x="548640" y="4572000"/>
            <a:ext cx="3657600" cy="237744"/>
          </a:xfrm>
          <a:prstGeom prst="rect">
            <a:avLst/>
          </a:prstGeom>
          <a:noFill/>
          <a:ln/>
        </p:spPr>
        <p:txBody>
          <a:bodyPr wrap="square" lIns="0" tIns="0" rIns="0" bIns="0" rtlCol="0" anchor="t"/>
          <a:lstStyle/>
          <a:p>
            <a:pPr marL="0" indent="0">
              <a:buNone/>
            </a:pPr>
            <a:r>
              <a:rPr lang="en-US" sz="1100" b="1" kern="0" spc="100" dirty="0">
                <a:solidFill>
                  <a:schemeClr val="tx2"/>
                </a:solidFill>
              </a:rPr>
              <a:t>ASSESS FIRST</a:t>
            </a:r>
            <a:endParaRPr lang="en-US" sz="1100" dirty="0"/>
          </a:p>
        </p:txBody>
      </p:sp>
      <p:sp>
        <p:nvSpPr>
          <p:cNvPr id="14" name="Number 1"/>
          <p:cNvSpPr txBox="1"/>
          <p:nvPr/>
        </p:nvSpPr>
        <p:spPr>
          <a:xfrm>
            <a:off x="548640"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15" name="Text 11"/>
          <p:cNvSpPr txBox="1"/>
          <p:nvPr/>
        </p:nvSpPr>
        <p:spPr>
          <a:xfrm>
            <a:off x="1024128"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Assess Existing Tools</a:t>
            </a:r>
            <a:endParaRPr lang="en-US" sz="1400" dirty="0"/>
          </a:p>
          <a:p>
            <a:pPr marL="0" indent="0">
              <a:spcAft>
                <a:spcPts val="200"/>
              </a:spcAft>
              <a:buNone/>
            </a:pPr>
            <a:r>
              <a:rPr lang="en-US" sz="1250" dirty="0">
                <a:solidFill>
                  <a:schemeClr val="tx1"/>
                </a:solidFill>
              </a:rPr>
              <a:t>Inventory current and legacy tools; identify gaps and opportunities</a:t>
            </a:r>
            <a:endParaRPr lang="en-US" sz="1400" dirty="0"/>
          </a:p>
        </p:txBody>
      </p:sp>
      <p:sp>
        <p:nvSpPr>
          <p:cNvPr id="16" name="Number 2"/>
          <p:cNvSpPr txBox="1"/>
          <p:nvPr/>
        </p:nvSpPr>
        <p:spPr>
          <a:xfrm>
            <a:off x="4337304"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7" name="Text 13"/>
          <p:cNvSpPr txBox="1"/>
          <p:nvPr/>
        </p:nvSpPr>
        <p:spPr>
          <a:xfrm>
            <a:off x="4812792"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Review RDS Requests</a:t>
            </a:r>
            <a:endParaRPr lang="en-US" sz="1400" dirty="0"/>
          </a:p>
          <a:p>
            <a:pPr marL="0" indent="0">
              <a:spcAft>
                <a:spcPts val="200"/>
              </a:spcAft>
              <a:buNone/>
            </a:pPr>
            <a:r>
              <a:rPr lang="en-US" sz="1250" dirty="0">
                <a:solidFill>
                  <a:schemeClr val="tx1"/>
                </a:solidFill>
              </a:rPr>
              <a:t>Assess purpose, ownership, and ongoing need, including intake outside RDS</a:t>
            </a:r>
            <a:endParaRPr lang="en-US" sz="1400" dirty="0"/>
          </a:p>
        </p:txBody>
      </p:sp>
      <p:sp>
        <p:nvSpPr>
          <p:cNvPr id="18" name="Number 3"/>
          <p:cNvSpPr txBox="1"/>
          <p:nvPr/>
        </p:nvSpPr>
        <p:spPr>
          <a:xfrm>
            <a:off x="8125968" y="4873752"/>
            <a:ext cx="365760" cy="365760"/>
          </a:xfrm>
          <a:prstGeom prst="ellipse">
            <a:avLst/>
          </a:prstGeom>
          <a:solidFill>
            <a:schemeClr val="accent1"/>
          </a:solid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9" name="Text 15"/>
          <p:cNvSpPr txBox="1"/>
          <p:nvPr/>
        </p:nvSpPr>
        <p:spPr>
          <a:xfrm>
            <a:off x="8601456" y="4828032"/>
            <a:ext cx="3011424" cy="822960"/>
          </a:xfrm>
          <a:prstGeom prst="rect">
            <a:avLst/>
          </a:prstGeom>
          <a:noFill/>
          <a:ln/>
        </p:spPr>
        <p:txBody>
          <a:bodyPr wrap="square" lIns="0" tIns="0" rIns="0" bIns="0" rtlCol="0" anchor="t"/>
          <a:lstStyle/>
          <a:p>
            <a:pPr marL="0" indent="0">
              <a:spcAft>
                <a:spcPts val="200"/>
              </a:spcAft>
              <a:buNone/>
            </a:pPr>
            <a:r>
              <a:rPr lang="en-US" sz="1400" b="1" dirty="0">
                <a:solidFill>
                  <a:schemeClr val="tx1"/>
                </a:solidFill>
              </a:rPr>
              <a:t>Prioritize Capabilities</a:t>
            </a:r>
            <a:endParaRPr lang="en-US" sz="1400" dirty="0"/>
          </a:p>
          <a:p>
            <a:pPr marL="0" indent="0">
              <a:spcAft>
                <a:spcPts val="200"/>
              </a:spcAft>
              <a:buNone/>
            </a:pPr>
            <a:r>
              <a:rPr lang="en-US" sz="1250" dirty="0">
                <a:solidFill>
                  <a:schemeClr val="tx1"/>
                </a:solidFill>
              </a:rPr>
              <a:t>Prioritize enhancements that enable Pillars 2 &amp; 3; track delivery against a roadmap</a:t>
            </a:r>
            <a:endParaRPr lang="en-US" sz="1400" dirty="0"/>
          </a:p>
        </p:txBody>
      </p:sp>
      <p:sp>
        <p:nvSpPr>
          <p:cNvPr id="20" name="Card"/>
          <p:cNvSpPr/>
          <p:nvPr/>
        </p:nvSpPr>
        <p:spPr>
          <a:xfrm>
            <a:off x="548640" y="5742432"/>
            <a:ext cx="11091672" cy="548640"/>
          </a:xfrm>
          <a:prstGeom prst="roundRect">
            <a:avLst>
              <a:gd name="adj" fmla="val 13333"/>
            </a:avLst>
          </a:prstGeom>
          <a:solidFill>
            <a:schemeClr val="bg1"/>
          </a:solidFill>
          <a:ln w="12700">
            <a:solidFill>
              <a:schemeClr val="tx1"/>
            </a:solidFill>
            <a:prstDash val="solid"/>
          </a:ln>
        </p:spPr>
        <p:txBody>
          <a:bodyPr/>
          <a:lstStyle/>
          <a:p>
            <a:endParaRPr lang="en-US"/>
          </a:p>
        </p:txBody>
      </p:sp>
      <p:sp>
        <p:nvSpPr>
          <p:cNvPr id="21" name="Text 17"/>
          <p:cNvSpPr txBox="1"/>
          <p:nvPr/>
        </p:nvSpPr>
        <p:spPr>
          <a:xfrm>
            <a:off x="731520" y="5742432"/>
            <a:ext cx="10725912" cy="548640"/>
          </a:xfrm>
          <a:prstGeom prst="rect">
            <a:avLst/>
          </a:prstGeom>
          <a:noFill/>
          <a:ln/>
        </p:spPr>
        <p:txBody>
          <a:bodyPr wrap="square" lIns="0" tIns="0" rIns="0" bIns="0" rtlCol="0" anchor="ctr"/>
          <a:lstStyle/>
          <a:p>
            <a:pPr marL="0" indent="0">
              <a:buNone/>
            </a:pPr>
            <a:r>
              <a:rPr lang="en-US" sz="1300" b="1" dirty="0">
                <a:solidFill>
                  <a:schemeClr val="tx1"/>
                </a:solidFill>
              </a:rPr>
              <a:t>Why it matters: </a:t>
            </a:r>
            <a:r>
              <a:rPr lang="en-US" sz="1300" dirty="0">
                <a:solidFill>
                  <a:schemeClr val="tx1"/>
                </a:solidFill>
              </a:rPr>
              <a:t>Pillar 1 establishes the tools and capabilities to accelerate Pillars 2 and 3, while both keep progressing with existing processes.</a:t>
            </a:r>
            <a:endParaRPr lang="en-US" sz="13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Intake Tool: One Shared Capability Across Three Pillars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EXAMPLE WORKSTREAM</a:t>
            </a:r>
            <a:endParaRPr lang="en-US" sz="1000" dirty="0"/>
          </a:p>
        </p:txBody>
      </p:sp>
      <p:sp>
        <p:nvSpPr>
          <p:cNvPr id="5" name="Card"/>
          <p:cNvSpPr/>
          <p:nvPr/>
        </p:nvSpPr>
        <p:spPr>
          <a:xfrm>
            <a:off x="3840480" y="1554480"/>
            <a:ext cx="4507992" cy="1417320"/>
          </a:xfrm>
          <a:prstGeom prst="roundRect">
            <a:avLst>
              <a:gd name="adj" fmla="val 5161"/>
            </a:avLst>
          </a:prstGeom>
          <a:solidFill>
            <a:schemeClr val="bg1"/>
          </a:solidFill>
          <a:ln w="19050">
            <a:solidFill>
              <a:schemeClr val="accent1"/>
            </a:solidFill>
            <a:prstDash val="solid"/>
          </a:ln>
        </p:spPr>
        <p:txBody>
          <a:bodyPr/>
          <a:lstStyle/>
          <a:p>
            <a:endParaRPr lang="en-US"/>
          </a:p>
        </p:txBody>
      </p:sp>
      <p:sp>
        <p:nvSpPr>
          <p:cNvPr id="6" name="Card"/>
          <p:cNvSpPr/>
          <p:nvPr/>
        </p:nvSpPr>
        <p:spPr>
          <a:xfrm>
            <a:off x="3840480" y="1554480"/>
            <a:ext cx="4507992" cy="411480"/>
          </a:xfrm>
          <a:prstGeom prst="roundRect">
            <a:avLst>
              <a:gd name="adj" fmla="val 17778"/>
            </a:avLst>
          </a:prstGeom>
          <a:solidFill>
            <a:schemeClr val="accent1"/>
          </a:solidFill>
          <a:ln/>
        </p:spPr>
        <p:txBody>
          <a:bodyPr/>
          <a:lstStyle/>
          <a:p>
            <a:endParaRPr lang="en-US"/>
          </a:p>
        </p:txBody>
      </p:sp>
      <p:sp>
        <p:nvSpPr>
          <p:cNvPr id="7" name="Text 4"/>
          <p:cNvSpPr txBox="1"/>
          <p:nvPr/>
        </p:nvSpPr>
        <p:spPr>
          <a:xfrm>
            <a:off x="4023360" y="1554480"/>
            <a:ext cx="4142232" cy="411480"/>
          </a:xfrm>
          <a:prstGeom prst="rect">
            <a:avLst/>
          </a:prstGeom>
          <a:noFill/>
          <a:ln/>
        </p:spPr>
        <p:txBody>
          <a:bodyPr wrap="square" lIns="0" tIns="0" rIns="0" bIns="0" rtlCol="0" anchor="ctr"/>
          <a:lstStyle/>
          <a:p>
            <a:pPr marL="0" indent="0">
              <a:buNone/>
            </a:pPr>
            <a:r>
              <a:rPr lang="en-US" sz="1300" b="1" dirty="0">
                <a:solidFill>
                  <a:schemeClr val="bg1"/>
                </a:solidFill>
              </a:rPr>
              <a:t>PILLAR 1 | CAPABILITY OWNER</a:t>
            </a:r>
            <a:endParaRPr lang="en-US" sz="1300" dirty="0"/>
          </a:p>
        </p:txBody>
      </p:sp>
      <p:sp>
        <p:nvSpPr>
          <p:cNvPr id="8" name="Text 5"/>
          <p:cNvSpPr txBox="1"/>
          <p:nvPr/>
        </p:nvSpPr>
        <p:spPr>
          <a:xfrm>
            <a:off x="4023360" y="2011680"/>
            <a:ext cx="4142232" cy="52120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Defines intake requirements, prioritizes enhancements, and partners with Technology to automate and scale the capability.</a:t>
            </a:r>
            <a:endParaRPr lang="en-US" sz="1200" dirty="0"/>
          </a:p>
        </p:txBody>
      </p:sp>
      <p:sp>
        <p:nvSpPr>
          <p:cNvPr id="28" name="Box label rule"/>
          <p:cNvSpPr/>
          <p:nvPr/>
        </p:nvSpPr>
        <p:spPr>
          <a:xfrm>
            <a:off x="4023360" y="2587752"/>
            <a:ext cx="4142232" cy="0"/>
          </a:xfrm>
          <a:prstGeom prst="line">
            <a:avLst/>
          </a:prstGeom>
          <a:noFill/>
          <a:ln w="9525">
            <a:solidFill>
              <a:srgbClr val="C9D0D8"/>
            </a:solidFill>
            <a:prstDash val="solid"/>
          </a:ln>
        </p:spPr>
        <p:txBody>
          <a:bodyPr/>
          <a:lstStyle/>
          <a:p>
            <a:endParaRPr lang="en-US"/>
          </a:p>
        </p:txBody>
      </p:sp>
      <p:sp>
        <p:nvSpPr>
          <p:cNvPr id="27" name="Box label"/>
          <p:cNvSpPr txBox="1"/>
          <p:nvPr/>
        </p:nvSpPr>
        <p:spPr>
          <a:xfrm>
            <a:off x="4023360" y="2606040"/>
            <a:ext cx="4142232" cy="329184"/>
          </a:xfrm>
          <a:prstGeom prst="rect">
            <a:avLst/>
          </a:prstGeom>
          <a:noFill/>
          <a:ln/>
        </p:spPr>
        <p:txBody>
          <a:bodyPr wrap="square" lIns="0" tIns="0" rIns="0" bIns="0" rtlCol="0" anchor="ctr"/>
          <a:lstStyle/>
          <a:p>
            <a:pPr marL="0" indent="0" algn="ctr">
              <a:buNone/>
            </a:pPr>
            <a:r>
              <a:rPr lang="en-US" sz="1000" b="1" kern="0" spc="100" dirty="0">
                <a:solidFill>
                  <a:schemeClr val="accent1"/>
                </a:solidFill>
              </a:rPr>
              <a:t>ENABLES &amp; EVOLVES THE INTAKE CAPABILITY</a:t>
            </a:r>
            <a:endParaRPr lang="en-US" sz="1400" dirty="0"/>
          </a:p>
        </p:txBody>
      </p:sp>
      <p:sp>
        <p:nvSpPr>
          <p:cNvPr id="9" name="Card"/>
          <p:cNvSpPr/>
          <p:nvPr/>
        </p:nvSpPr>
        <p:spPr>
          <a:xfrm>
            <a:off x="548640" y="3794760"/>
            <a:ext cx="3886200" cy="1463040"/>
          </a:xfrm>
          <a:prstGeom prst="roundRect">
            <a:avLst>
              <a:gd name="adj" fmla="val 5000"/>
            </a:avLst>
          </a:prstGeom>
          <a:solidFill>
            <a:schemeClr val="bg1"/>
          </a:solidFill>
          <a:ln w="19050">
            <a:solidFill>
              <a:schemeClr val="accent2"/>
            </a:solidFill>
            <a:prstDash val="solid"/>
          </a:ln>
        </p:spPr>
        <p:txBody>
          <a:bodyPr/>
          <a:lstStyle/>
          <a:p>
            <a:endParaRPr lang="en-US"/>
          </a:p>
        </p:txBody>
      </p:sp>
      <p:sp>
        <p:nvSpPr>
          <p:cNvPr id="10" name="Card"/>
          <p:cNvSpPr/>
          <p:nvPr/>
        </p:nvSpPr>
        <p:spPr>
          <a:xfrm>
            <a:off x="548640" y="3794760"/>
            <a:ext cx="3886200" cy="411480"/>
          </a:xfrm>
          <a:prstGeom prst="roundRect">
            <a:avLst>
              <a:gd name="adj" fmla="val 17778"/>
            </a:avLst>
          </a:prstGeom>
          <a:solidFill>
            <a:schemeClr val="accent2"/>
          </a:solidFill>
          <a:ln/>
        </p:spPr>
        <p:txBody>
          <a:bodyPr/>
          <a:lstStyle/>
          <a:p>
            <a:endParaRPr lang="en-US"/>
          </a:p>
        </p:txBody>
      </p:sp>
      <p:sp>
        <p:nvSpPr>
          <p:cNvPr id="11" name="Text 8"/>
          <p:cNvSpPr txBox="1"/>
          <p:nvPr/>
        </p:nvSpPr>
        <p:spPr>
          <a:xfrm>
            <a:off x="731520" y="3794760"/>
            <a:ext cx="3520440" cy="411480"/>
          </a:xfrm>
          <a:prstGeom prst="rect">
            <a:avLst/>
          </a:prstGeom>
          <a:noFill/>
          <a:ln/>
        </p:spPr>
        <p:txBody>
          <a:bodyPr wrap="square" lIns="0" tIns="0" rIns="0" bIns="0" rtlCol="0" anchor="ctr"/>
          <a:lstStyle/>
          <a:p>
            <a:pPr marL="0" indent="0">
              <a:buNone/>
            </a:pPr>
            <a:r>
              <a:rPr lang="en-US" sz="1300" b="1" dirty="0">
                <a:solidFill>
                  <a:schemeClr val="bg1"/>
                </a:solidFill>
              </a:rPr>
              <a:t>PILLAR 2 | INCREMENTAL DEMAND</a:t>
            </a:r>
            <a:endParaRPr lang="en-US" sz="1300" dirty="0"/>
          </a:p>
        </p:txBody>
      </p:sp>
      <p:sp>
        <p:nvSpPr>
          <p:cNvPr id="12" name="Text 9"/>
          <p:cNvSpPr txBox="1"/>
          <p:nvPr/>
        </p:nvSpPr>
        <p:spPr>
          <a:xfrm>
            <a:off x="731520" y="4251960"/>
            <a:ext cx="3520440" cy="56692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Routes new or changed sourcing needs identified through data plane assessments. Existing RDS rationalization remains a separate workstream.</a:t>
            </a:r>
            <a:endParaRPr lang="en-US" sz="1200" dirty="0"/>
          </a:p>
        </p:txBody>
      </p:sp>
      <p:sp>
        <p:nvSpPr>
          <p:cNvPr id="30" name="Box label rule"/>
          <p:cNvSpPr/>
          <p:nvPr/>
        </p:nvSpPr>
        <p:spPr>
          <a:xfrm>
            <a:off x="731520" y="4873752"/>
            <a:ext cx="3520440" cy="0"/>
          </a:xfrm>
          <a:prstGeom prst="line">
            <a:avLst/>
          </a:prstGeom>
          <a:noFill/>
          <a:ln w="9525">
            <a:solidFill>
              <a:srgbClr val="C9D0D8"/>
            </a:solidFill>
            <a:prstDash val="solid"/>
          </a:ln>
        </p:spPr>
        <p:txBody>
          <a:bodyPr/>
          <a:lstStyle/>
          <a:p>
            <a:endParaRPr lang="en-US"/>
          </a:p>
        </p:txBody>
      </p:sp>
      <p:sp>
        <p:nvSpPr>
          <p:cNvPr id="29" name="Box label"/>
          <p:cNvSpPr txBox="1"/>
          <p:nvPr/>
        </p:nvSpPr>
        <p:spPr>
          <a:xfrm>
            <a:off x="731520" y="4892040"/>
            <a:ext cx="3520440" cy="329184"/>
          </a:xfrm>
          <a:prstGeom prst="rect">
            <a:avLst/>
          </a:prstGeom>
          <a:noFill/>
          <a:ln/>
        </p:spPr>
        <p:txBody>
          <a:bodyPr wrap="square" lIns="0" tIns="0" rIns="0" bIns="0" rtlCol="0" anchor="ctr"/>
          <a:lstStyle/>
          <a:p>
            <a:pPr marL="0" indent="0" algn="ctr">
              <a:buNone/>
            </a:pPr>
            <a:r>
              <a:rPr lang="en-US" sz="1000" b="1" kern="0" spc="100" dirty="0">
                <a:solidFill>
                  <a:schemeClr val="accent2"/>
                </a:solidFill>
              </a:rPr>
              <a:t>LEVERAGES TOOL AS NEEDED</a:t>
            </a:r>
            <a:endParaRPr lang="en-US" sz="1400" dirty="0"/>
          </a:p>
        </p:txBody>
      </p:sp>
      <p:sp>
        <p:nvSpPr>
          <p:cNvPr id="13" name="Card"/>
          <p:cNvSpPr/>
          <p:nvPr/>
        </p:nvSpPr>
        <p:spPr>
          <a:xfrm>
            <a:off x="7754112" y="3794760"/>
            <a:ext cx="3886200" cy="1463040"/>
          </a:xfrm>
          <a:prstGeom prst="roundRect">
            <a:avLst>
              <a:gd name="adj" fmla="val 5000"/>
            </a:avLst>
          </a:prstGeom>
          <a:solidFill>
            <a:schemeClr val="bg1"/>
          </a:solidFill>
          <a:ln w="19050">
            <a:solidFill>
              <a:schemeClr val="accent3"/>
            </a:solidFill>
            <a:prstDash val="solid"/>
          </a:ln>
        </p:spPr>
        <p:txBody>
          <a:bodyPr/>
          <a:lstStyle/>
          <a:p>
            <a:endParaRPr lang="en-US"/>
          </a:p>
        </p:txBody>
      </p:sp>
      <p:sp>
        <p:nvSpPr>
          <p:cNvPr id="14" name="Card"/>
          <p:cNvSpPr/>
          <p:nvPr/>
        </p:nvSpPr>
        <p:spPr>
          <a:xfrm>
            <a:off x="7754112" y="3794760"/>
            <a:ext cx="3886200" cy="411480"/>
          </a:xfrm>
          <a:prstGeom prst="roundRect">
            <a:avLst>
              <a:gd name="adj" fmla="val 17778"/>
            </a:avLst>
          </a:prstGeom>
          <a:solidFill>
            <a:schemeClr val="accent3"/>
          </a:solidFill>
          <a:ln/>
        </p:spPr>
        <p:txBody>
          <a:bodyPr/>
          <a:lstStyle/>
          <a:p>
            <a:endParaRPr lang="en-US"/>
          </a:p>
        </p:txBody>
      </p:sp>
      <p:sp>
        <p:nvSpPr>
          <p:cNvPr id="15" name="Text 12"/>
          <p:cNvSpPr txBox="1"/>
          <p:nvPr/>
        </p:nvSpPr>
        <p:spPr>
          <a:xfrm>
            <a:off x="7936992" y="3794760"/>
            <a:ext cx="3520440" cy="411480"/>
          </a:xfrm>
          <a:prstGeom prst="rect">
            <a:avLst/>
          </a:prstGeom>
          <a:noFill/>
          <a:ln/>
        </p:spPr>
        <p:txBody>
          <a:bodyPr wrap="square" lIns="0" tIns="0" rIns="0" bIns="0" rtlCol="0" anchor="ctr"/>
          <a:lstStyle/>
          <a:p>
            <a:pPr marL="0" indent="0">
              <a:buNone/>
            </a:pPr>
            <a:r>
              <a:rPr lang="en-US" sz="1300" b="1" dirty="0">
                <a:solidFill>
                  <a:schemeClr val="bg1"/>
                </a:solidFill>
              </a:rPr>
              <a:t>PILLAR 3 | PRIMARY INTAKE USER</a:t>
            </a:r>
            <a:endParaRPr lang="en-US" sz="1300" dirty="0"/>
          </a:p>
        </p:txBody>
      </p:sp>
      <p:sp>
        <p:nvSpPr>
          <p:cNvPr id="16" name="Text 13"/>
          <p:cNvSpPr txBox="1"/>
          <p:nvPr/>
        </p:nvSpPr>
        <p:spPr>
          <a:xfrm>
            <a:off x="7936992" y="4251960"/>
            <a:ext cx="3520440" cy="566928"/>
          </a:xfrm>
          <a:prstGeom prst="rect">
            <a:avLst/>
          </a:prstGeom>
          <a:noFill/>
          <a:ln/>
        </p:spPr>
        <p:txBody>
          <a:bodyPr wrap="square" lIns="0" tIns="0" rIns="0" bIns="0" rtlCol="0" anchor="t"/>
          <a:lstStyle/>
          <a:p>
            <a:pPr marL="0" indent="0">
              <a:spcAft>
                <a:spcPts val="400"/>
              </a:spcAft>
              <a:buNone/>
            </a:pPr>
            <a:r>
              <a:rPr lang="en-US" sz="1200" dirty="0">
                <a:solidFill>
                  <a:schemeClr val="tx1"/>
                </a:solidFill>
              </a:rPr>
              <a:t>Captures business requirements, prioritizes new demand, determines sourcing approaches, and tracks requests through resolution.</a:t>
            </a:r>
          </a:p>
        </p:txBody>
      </p:sp>
      <p:sp>
        <p:nvSpPr>
          <p:cNvPr id="32" name="Box label rule"/>
          <p:cNvSpPr/>
          <p:nvPr/>
        </p:nvSpPr>
        <p:spPr>
          <a:xfrm>
            <a:off x="7936992" y="4873752"/>
            <a:ext cx="3520440" cy="0"/>
          </a:xfrm>
          <a:prstGeom prst="line">
            <a:avLst/>
          </a:prstGeom>
          <a:noFill/>
          <a:ln w="9525">
            <a:solidFill>
              <a:srgbClr val="C9D0D8"/>
            </a:solidFill>
            <a:prstDash val="solid"/>
          </a:ln>
        </p:spPr>
        <p:txBody>
          <a:bodyPr/>
          <a:lstStyle/>
          <a:p>
            <a:endParaRPr lang="en-US"/>
          </a:p>
        </p:txBody>
      </p:sp>
      <p:sp>
        <p:nvSpPr>
          <p:cNvPr id="31" name="Box label"/>
          <p:cNvSpPr txBox="1"/>
          <p:nvPr/>
        </p:nvSpPr>
        <p:spPr>
          <a:xfrm>
            <a:off x="7936992" y="4892040"/>
            <a:ext cx="3520440" cy="329184"/>
          </a:xfrm>
          <a:prstGeom prst="rect">
            <a:avLst/>
          </a:prstGeom>
          <a:noFill/>
          <a:ln/>
        </p:spPr>
        <p:txBody>
          <a:bodyPr wrap="square" lIns="0" tIns="0" rIns="0" bIns="0" rtlCol="0" anchor="ctr"/>
          <a:lstStyle/>
          <a:p>
            <a:pPr marL="0" indent="0" algn="ctr">
              <a:buNone/>
            </a:pPr>
            <a:r>
              <a:rPr lang="en-US" sz="1000" b="1" kern="0" spc="100" dirty="0">
                <a:solidFill>
                  <a:schemeClr val="accent3"/>
                </a:solidFill>
              </a:rPr>
              <a:t>DRIVES NEW &amp; INCREMENTAL SOURCING DEMAND</a:t>
            </a:r>
            <a:endParaRPr lang="en-US" sz="1400" dirty="0"/>
          </a:p>
        </p:txBody>
      </p:sp>
      <p:sp>
        <p:nvSpPr>
          <p:cNvPr id="17" name="Centralized intake"/>
          <p:cNvSpPr/>
          <p:nvPr/>
        </p:nvSpPr>
        <p:spPr>
          <a:xfrm>
            <a:off x="4681728" y="3108960"/>
            <a:ext cx="2834640" cy="1234440"/>
          </a:xfrm>
          <a:prstGeom prst="ellipse">
            <a:avLst/>
          </a:prstGeom>
          <a:solidFill>
            <a:schemeClr val="bg2"/>
          </a:solidFill>
          <a:ln w="15875">
            <a:solidFill>
              <a:schemeClr val="tx1"/>
            </a:solidFill>
            <a:prstDash val="solid"/>
          </a:ln>
        </p:spPr>
        <p:txBody>
          <a:bodyPr/>
          <a:lstStyle/>
          <a:p>
            <a:endParaRPr lang="en-US"/>
          </a:p>
        </p:txBody>
      </p:sp>
      <p:sp>
        <p:nvSpPr>
          <p:cNvPr id="18" name="Text 15"/>
          <p:cNvSpPr txBox="1"/>
          <p:nvPr/>
        </p:nvSpPr>
        <p:spPr>
          <a:xfrm>
            <a:off x="4864608" y="3108960"/>
            <a:ext cx="2468880" cy="1234440"/>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Centralized Intake</a:t>
            </a:r>
            <a:endParaRPr lang="en-US" sz="1400" dirty="0"/>
          </a:p>
          <a:p>
            <a:pPr marL="0" indent="0" algn="ctr">
              <a:spcAft>
                <a:spcPts val="200"/>
              </a:spcAft>
              <a:buNone/>
            </a:pPr>
            <a:r>
              <a:rPr lang="en-US" sz="1100" dirty="0">
                <a:solidFill>
                  <a:schemeClr val="tx1"/>
                </a:solidFill>
              </a:rPr>
              <a:t>One workflow · shared visibility · consistent tracking</a:t>
            </a:r>
            <a:endParaRPr lang="en-US" sz="1400" dirty="0"/>
          </a:p>
          <a:p>
            <a:pPr marL="0" indent="0" algn="ctr">
              <a:spcAft>
                <a:spcPts val="200"/>
              </a:spcAft>
              <a:buNone/>
            </a:pPr>
            <a:r>
              <a:rPr lang="en-US" sz="1000" i="1" dirty="0">
                <a:solidFill>
                  <a:schemeClr val="tx2"/>
                </a:solidFill>
              </a:rPr>
              <a:t>Built on existing business requirements and UI prototype</a:t>
            </a:r>
            <a:endParaRPr lang="en-US" sz="1400" dirty="0"/>
          </a:p>
        </p:txBody>
      </p:sp>
      <p:sp>
        <p:nvSpPr>
          <p:cNvPr id="19" name="Informs enhancements"/>
          <p:cNvSpPr/>
          <p:nvPr/>
        </p:nvSpPr>
        <p:spPr>
          <a:xfrm flipV="1">
            <a:off x="2651760" y="2423160"/>
            <a:ext cx="1143000" cy="1325880"/>
          </a:xfrm>
          <a:prstGeom prst="line">
            <a:avLst/>
          </a:prstGeom>
          <a:noFill/>
          <a:ln w="31750">
            <a:solidFill>
              <a:schemeClr val="accent2"/>
            </a:solidFill>
            <a:prstDash val="solid"/>
            <a:tailEnd type="triangle"/>
          </a:ln>
        </p:spPr>
        <p:txBody>
          <a:bodyPr/>
          <a:lstStyle/>
          <a:p>
            <a:endParaRPr lang="en-US"/>
          </a:p>
        </p:txBody>
      </p:sp>
      <p:sp>
        <p:nvSpPr>
          <p:cNvPr id="20" name="Enables demand intake"/>
          <p:cNvSpPr/>
          <p:nvPr/>
        </p:nvSpPr>
        <p:spPr>
          <a:xfrm>
            <a:off x="8412480" y="2423160"/>
            <a:ext cx="1143000" cy="1325880"/>
          </a:xfrm>
          <a:prstGeom prst="line">
            <a:avLst/>
          </a:prstGeom>
          <a:noFill/>
          <a:ln w="31750">
            <a:solidFill>
              <a:schemeClr val="accent1"/>
            </a:solidFill>
            <a:prstDash val="solid"/>
            <a:tailEnd type="triangle"/>
          </a:ln>
        </p:spPr>
        <p:txBody>
          <a:bodyPr/>
          <a:lstStyle/>
          <a:p>
            <a:endParaRPr lang="en-US"/>
          </a:p>
        </p:txBody>
      </p:sp>
      <p:sp>
        <p:nvSpPr>
          <p:cNvPr id="21" name="Routes new sourcing needs"/>
          <p:cNvSpPr/>
          <p:nvPr/>
        </p:nvSpPr>
        <p:spPr>
          <a:xfrm flipH="1">
            <a:off x="4572000" y="4846320"/>
            <a:ext cx="3044952" cy="0"/>
          </a:xfrm>
          <a:prstGeom prst="line">
            <a:avLst/>
          </a:prstGeom>
          <a:noFill/>
          <a:ln w="31750">
            <a:solidFill>
              <a:schemeClr val="accent3"/>
            </a:solidFill>
            <a:prstDash val="solid"/>
            <a:tailEnd type="triangle"/>
          </a:ln>
        </p:spPr>
        <p:txBody>
          <a:bodyPr/>
          <a:lstStyle/>
          <a:p>
            <a:endParaRPr lang="en-US"/>
          </a:p>
        </p:txBody>
      </p:sp>
      <p:sp>
        <p:nvSpPr>
          <p:cNvPr id="22" name="Flow label"/>
          <p:cNvSpPr txBox="1"/>
          <p:nvPr/>
        </p:nvSpPr>
        <p:spPr>
          <a:xfrm>
            <a:off x="822960" y="2331720"/>
            <a:ext cx="2011680" cy="310896"/>
          </a:xfrm>
          <a:prstGeom prst="roundRect">
            <a:avLst>
              <a:gd name="adj" fmla="val 17647"/>
            </a:avLst>
          </a:prstGeom>
          <a:solidFill>
            <a:schemeClr val="bg1"/>
          </a:solidFill>
          <a:ln w="12700">
            <a:solidFill>
              <a:schemeClr val="accent2"/>
            </a:solidFill>
          </a:ln>
        </p:spPr>
        <p:txBody>
          <a:bodyPr wrap="square" lIns="0" tIns="0" rIns="0" bIns="0" rtlCol="0" anchor="ctr"/>
          <a:lstStyle/>
          <a:p>
            <a:pPr marL="0" indent="0" algn="ctr">
              <a:buNone/>
            </a:pPr>
            <a:r>
              <a:rPr lang="en-US" sz="1000" b="1" kern="0" spc="100" dirty="0">
                <a:solidFill>
                  <a:schemeClr val="tx1"/>
                </a:solidFill>
              </a:rPr>
              <a:t>Informs Capability Priorities</a:t>
            </a:r>
            <a:endParaRPr lang="en-US" sz="1000" dirty="0"/>
          </a:p>
        </p:txBody>
      </p:sp>
      <p:sp>
        <p:nvSpPr>
          <p:cNvPr id="23" name="Flow label"/>
          <p:cNvSpPr txBox="1"/>
          <p:nvPr/>
        </p:nvSpPr>
        <p:spPr>
          <a:xfrm>
            <a:off x="9372600" y="2331720"/>
            <a:ext cx="2057400" cy="310896"/>
          </a:xfrm>
          <a:prstGeom prst="roundRect">
            <a:avLst>
              <a:gd name="adj" fmla="val 17647"/>
            </a:avLst>
          </a:prstGeom>
          <a:solidFill>
            <a:schemeClr val="bg1"/>
          </a:solidFill>
          <a:ln w="12700">
            <a:solidFill>
              <a:schemeClr val="accent1"/>
            </a:solidFill>
          </a:ln>
        </p:spPr>
        <p:txBody>
          <a:bodyPr wrap="square" lIns="0" tIns="0" rIns="0" bIns="0" rtlCol="0" anchor="ctr"/>
          <a:lstStyle/>
          <a:p>
            <a:pPr marL="0" indent="0" algn="ctr">
              <a:buNone/>
            </a:pPr>
            <a:r>
              <a:rPr lang="en-US" sz="1000" b="1" kern="0" spc="100" dirty="0">
                <a:solidFill>
                  <a:schemeClr val="tx1"/>
                </a:solidFill>
              </a:rPr>
              <a:t>Enables Standardized Intake</a:t>
            </a:r>
            <a:endParaRPr lang="en-US" sz="1000" dirty="0"/>
          </a:p>
        </p:txBody>
      </p:sp>
      <p:sp>
        <p:nvSpPr>
          <p:cNvPr id="24" name="Flow label"/>
          <p:cNvSpPr txBox="1"/>
          <p:nvPr/>
        </p:nvSpPr>
        <p:spPr>
          <a:xfrm>
            <a:off x="4910328" y="4992624"/>
            <a:ext cx="2377440" cy="310896"/>
          </a:xfrm>
          <a:prstGeom prst="roundRect">
            <a:avLst>
              <a:gd name="adj" fmla="val 17647"/>
            </a:avLst>
          </a:prstGeom>
          <a:solidFill>
            <a:schemeClr val="bg1"/>
          </a:solidFill>
          <a:ln w="12700">
            <a:solidFill>
              <a:schemeClr val="accent3"/>
            </a:solidFill>
          </a:ln>
        </p:spPr>
        <p:txBody>
          <a:bodyPr wrap="square" lIns="0" tIns="0" rIns="0" bIns="0" rtlCol="0" anchor="ctr"/>
          <a:lstStyle/>
          <a:p>
            <a:pPr marL="0" indent="0" algn="ctr">
              <a:buNone/>
            </a:pPr>
            <a:r>
              <a:rPr lang="en-US" sz="1000" b="1" kern="0" spc="100" dirty="0">
                <a:solidFill>
                  <a:schemeClr val="tx1"/>
                </a:solidFill>
              </a:rPr>
              <a:t>Coordinates Sourcing &amp; Migration</a:t>
            </a:r>
            <a:endParaRPr lang="en-US" sz="1000" dirty="0"/>
          </a:p>
        </p:txBody>
      </p:sp>
      <p:sp>
        <p:nvSpPr>
          <p:cNvPr id="25" name="Card"/>
          <p:cNvSpPr/>
          <p:nvPr/>
        </p:nvSpPr>
        <p:spPr>
          <a:xfrm>
            <a:off x="548640" y="5559552"/>
            <a:ext cx="11091672" cy="731520"/>
          </a:xfrm>
          <a:prstGeom prst="roundRect">
            <a:avLst>
              <a:gd name="adj" fmla="val 10000"/>
            </a:avLst>
          </a:prstGeom>
          <a:solidFill>
            <a:schemeClr val="bg2"/>
          </a:solidFill>
          <a:ln/>
        </p:spPr>
        <p:txBody>
          <a:bodyPr/>
          <a:lstStyle/>
          <a:p>
            <a:endParaRPr lang="en-US"/>
          </a:p>
        </p:txBody>
      </p:sp>
      <p:sp>
        <p:nvSpPr>
          <p:cNvPr id="26" name="Text 23"/>
          <p:cNvSpPr txBox="1"/>
          <p:nvPr/>
        </p:nvSpPr>
        <p:spPr>
          <a:xfrm>
            <a:off x="749808" y="5559552"/>
            <a:ext cx="10689336" cy="731520"/>
          </a:xfrm>
          <a:prstGeom prst="rect">
            <a:avLst/>
          </a:prstGeom>
          <a:noFill/>
          <a:ln/>
        </p:spPr>
        <p:txBody>
          <a:bodyPr wrap="square" lIns="0" tIns="0" rIns="0" bIns="0" rtlCol="0" anchor="ctr"/>
          <a:lstStyle/>
          <a:p>
            <a:pPr marL="0" indent="0">
              <a:spcAft>
                <a:spcPts val="200"/>
              </a:spcAft>
              <a:buNone/>
            </a:pPr>
            <a:r>
              <a:rPr lang="en-US" sz="1000" b="1" kern="0" spc="100" dirty="0">
                <a:solidFill>
                  <a:schemeClr val="tx2"/>
                </a:solidFill>
              </a:rPr>
              <a:t>EXECUTIVE TAKEAWAY</a:t>
            </a:r>
            <a:endParaRPr lang="en-US" sz="1400" dirty="0"/>
          </a:p>
          <a:p>
            <a:pPr marL="0" indent="0">
              <a:spcAft>
                <a:spcPts val="200"/>
              </a:spcAft>
              <a:buNone/>
            </a:pPr>
            <a:r>
              <a:rPr lang="en-US" sz="1300" dirty="0">
                <a:solidFill>
                  <a:schemeClr val="tx1"/>
                </a:solidFill>
              </a:rPr>
              <a:t>Pillar 1 enables and evolves the intake capability; Pillar 3 manages new and incremental demand; and Pillar 2 leverages intake as needed while maintaining and rationalizing the data plane.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Intake Tool: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000" b="1" kern="0" spc="150" dirty="0">
                <a:solidFill>
                  <a:schemeClr val="bg1"/>
                </a:solidFill>
              </a:rPr>
              <a:t>PILLAR 1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Intake Tool</a:t>
            </a:r>
            <a:endParaRPr lang="en-US" sz="1400" dirty="0"/>
          </a:p>
          <a:p>
            <a:pPr marL="0" indent="0">
              <a:buNone/>
            </a:pPr>
            <a:r>
              <a:rPr lang="en-US" sz="1200" dirty="0">
                <a:solidFill>
                  <a:schemeClr val="bg1"/>
                </a:solidFill>
              </a:rPr>
              <a:t>Pillar 1 workstream · Users: Pillars 2 and 3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1"/>
          </a:solidFill>
          <a:ln/>
        </p:spPr>
        <p:txBody>
          <a:bodyPr wrap="square" lIns="0" tIns="0" rIns="0" bIns="0" rtlCol="0" anchor="ctr"/>
          <a:lstStyle/>
          <a:p>
            <a:pPr marL="0" indent="0" algn="ctr">
              <a:buNone/>
            </a:pPr>
            <a:r>
              <a:rPr lang="en-US" sz="1300" b="1" kern="0" spc="100" dirty="0">
                <a:solidFill>
                  <a:schemeClr val="bg1"/>
                </a:solidFill>
              </a:rPr>
              <a:t>GREEN</a:t>
            </a:r>
            <a:endParaRPr lang="en-US" sz="1300" dirty="0"/>
          </a:p>
        </p:txBody>
      </p:sp>
      <p:sp>
        <p:nvSpPr>
          <p:cNvPr id="26" name="Quadrant card"/>
          <p:cNvSpPr/>
          <p:nvPr/>
        </p:nvSpPr>
        <p:spPr>
          <a:xfrm>
            <a:off x="548640" y="2395728"/>
            <a:ext cx="5408676" cy="1481328"/>
          </a:xfrm>
          <a:prstGeom prst="roundRect">
            <a:avLst>
              <a:gd name="adj" fmla="val 4938"/>
            </a:avLst>
          </a:prstGeom>
          <a:solidFill>
            <a:schemeClr val="bg2"/>
          </a:solidFill>
          <a:ln/>
        </p:spPr>
        <p:txBody>
          <a:bodyPr/>
          <a:lstStyle/>
          <a:p>
            <a:endParaRPr lang="en-US"/>
          </a:p>
        </p:txBody>
      </p:sp>
      <p:sp>
        <p:nvSpPr>
          <p:cNvPr id="27" name="Quadrant card"/>
          <p:cNvSpPr/>
          <p:nvPr/>
        </p:nvSpPr>
        <p:spPr>
          <a:xfrm>
            <a:off x="6231636" y="2395728"/>
            <a:ext cx="5408676" cy="1481328"/>
          </a:xfrm>
          <a:prstGeom prst="roundRect">
            <a:avLst>
              <a:gd name="adj" fmla="val 4938"/>
            </a:avLst>
          </a:prstGeom>
          <a:solidFill>
            <a:schemeClr val="bg2"/>
          </a:solidFill>
          <a:ln/>
        </p:spPr>
        <p:txBody>
          <a:bodyPr/>
          <a:lstStyle/>
          <a:p>
            <a:endParaRPr lang="en-US"/>
          </a:p>
        </p:txBody>
      </p:sp>
      <p:sp>
        <p:nvSpPr>
          <p:cNvPr id="28" name="Quadrant card"/>
          <p:cNvSpPr/>
          <p:nvPr/>
        </p:nvSpPr>
        <p:spPr>
          <a:xfrm>
            <a:off x="548640" y="3968496"/>
            <a:ext cx="5408676" cy="1481328"/>
          </a:xfrm>
          <a:prstGeom prst="roundRect">
            <a:avLst>
              <a:gd name="adj" fmla="val 4938"/>
            </a:avLst>
          </a:prstGeom>
          <a:solidFill>
            <a:schemeClr val="bg2"/>
          </a:solidFill>
          <a:ln/>
        </p:spPr>
        <p:txBody>
          <a:bodyPr/>
          <a:lstStyle/>
          <a:p>
            <a:endParaRPr lang="en-US"/>
          </a:p>
        </p:txBody>
      </p:sp>
      <p:sp>
        <p:nvSpPr>
          <p:cNvPr id="29" name="Quadrant card"/>
          <p:cNvSpPr/>
          <p:nvPr/>
        </p:nvSpPr>
        <p:spPr>
          <a:xfrm>
            <a:off x="6231636" y="3968496"/>
            <a:ext cx="5408676" cy="1481328"/>
          </a:xfrm>
          <a:prstGeom prst="roundRect">
            <a:avLst>
              <a:gd name="adj" fmla="val 4938"/>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097280"/>
          </a:xfrm>
          <a:prstGeom prst="rect">
            <a:avLst/>
          </a:prstGeom>
          <a:noFill/>
          <a:ln/>
        </p:spPr>
        <p:txBody>
          <a:bodyPr wrap="square" lIns="0" tIns="0" rIns="0" bIns="0" rtlCol="0" anchor="t"/>
          <a:lstStyle/>
          <a:p>
            <a:pPr marL="0" indent="0">
              <a:buNone/>
            </a:pPr>
            <a:r>
              <a:rPr lang="en-US" sz="1200" dirty="0">
                <a:solidFill>
                  <a:schemeClr val="tx1"/>
                </a:solidFill>
              </a:rPr>
              <a:t>Developed a standardized business requirements template and internal UI mockup to streamline Risk sourcing intake. These capabilities provide a starting point for Technology implementation, with the goal of consolidating existing intake processes into a scalable, automated solution.</a:t>
            </a:r>
            <a:endParaRPr lang="en-US" sz="12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Business requirements template developed and adopted for ORM</a:t>
            </a:r>
          </a:p>
          <a:p>
            <a:pPr marL="177800" indent="-177800">
              <a:spcAft>
                <a:spcPts val="300"/>
              </a:spcAft>
              <a:buSzPct val="100000"/>
              <a:buChar char="•"/>
            </a:pPr>
            <a:r>
              <a:rPr lang="en-US" sz="1200" dirty="0">
                <a:solidFill>
                  <a:schemeClr val="tx1"/>
                </a:solidFill>
              </a:rPr>
              <a:t>Internal UI mockup completed based on intake requirements </a:t>
            </a:r>
          </a:p>
          <a:p>
            <a:pPr marL="177800" indent="-177800">
              <a:spcAft>
                <a:spcPts val="300"/>
              </a:spcAft>
              <a:buSzPct val="100000"/>
              <a:buChar char="•"/>
            </a:pPr>
            <a:r>
              <a:rPr lang="en-US" sz="1200" dirty="0">
                <a:solidFill>
                  <a:schemeClr val="tx1"/>
                </a:solidFill>
              </a:rPr>
              <a:t>Cross-pillar intake needs and benefits identified </a:t>
            </a:r>
          </a:p>
        </p:txBody>
      </p:sp>
      <p:sp>
        <p:nvSpPr>
          <p:cNvPr id="13" name="Text 10"/>
          <p:cNvSpPr txBox="1"/>
          <p:nvPr/>
        </p:nvSpPr>
        <p:spPr>
          <a:xfrm>
            <a:off x="685800" y="4023360"/>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Finalize requirements and UI mockup for Technology handoff · TBD</a:t>
            </a:r>
          </a:p>
          <a:p>
            <a:pPr marL="177800" indent="-177800">
              <a:spcAft>
                <a:spcPts val="300"/>
              </a:spcAft>
              <a:buSzPct val="100000"/>
              <a:buChar char="•"/>
            </a:pPr>
            <a:r>
              <a:rPr lang="en-US" sz="1200" dirty="0">
                <a:solidFill>
                  <a:schemeClr val="tx1"/>
                </a:solidFill>
              </a:rPr>
              <a:t>Engage Technology to confirm ownership and delivery approach · TBD</a:t>
            </a:r>
          </a:p>
          <a:p>
            <a:pPr marL="177800" indent="-177800">
              <a:spcAft>
                <a:spcPts val="300"/>
              </a:spcAft>
              <a:buSzPct val="100000"/>
              <a:buChar char="•"/>
            </a:pPr>
            <a:r>
              <a:rPr lang="en-US" sz="1200" dirty="0">
                <a:solidFill>
                  <a:schemeClr val="tx1"/>
                </a:solidFill>
              </a:rPr>
              <a:t>Align DSA, Excel BRD, and RDS intake into a standardized workflow · TBD </a:t>
            </a:r>
          </a:p>
        </p:txBody>
      </p:sp>
      <p:sp>
        <p:nvSpPr>
          <p:cNvPr id="15" name="Text 12"/>
          <p:cNvSpPr txBox="1"/>
          <p:nvPr/>
        </p:nvSpPr>
        <p:spPr>
          <a:xfrm>
            <a:off x="6368796" y="4023360"/>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Technology ownership and delivery commitment not yet confirmed</a:t>
            </a:r>
          </a:p>
          <a:p>
            <a:pPr marL="177800" indent="-177800">
              <a:spcAft>
                <a:spcPts val="300"/>
              </a:spcAft>
              <a:buSzPct val="100000"/>
              <a:buChar char="•"/>
            </a:pPr>
            <a:r>
              <a:rPr lang="en-US" sz="1200" dirty="0">
                <a:solidFill>
                  <a:schemeClr val="tx1"/>
                </a:solidFill>
              </a:rPr>
              <a:t>Multiple intake channels create fragmented workflows</a:t>
            </a:r>
          </a:p>
          <a:p>
            <a:pPr marL="177800" indent="-177800">
              <a:spcAft>
                <a:spcPts val="300"/>
              </a:spcAft>
              <a:buSzPct val="100000"/>
              <a:buChar char="•"/>
            </a:pPr>
            <a:r>
              <a:rPr lang="en-US" sz="1200" dirty="0">
                <a:solidFill>
                  <a:schemeClr val="tx1"/>
                </a:solidFill>
              </a:rPr>
              <a:t>Technology capacity and competing DPC priorities may affect timing </a:t>
            </a:r>
          </a:p>
        </p:txBody>
      </p:sp>
      <p:sp>
        <p:nvSpPr>
          <p:cNvPr id="19" name="Card"/>
          <p:cNvSpPr/>
          <p:nvPr/>
        </p:nvSpPr>
        <p:spPr>
          <a:xfrm>
            <a:off x="548640" y="5522976"/>
            <a:ext cx="11091672" cy="502920"/>
          </a:xfrm>
          <a:prstGeom prst="roundRect">
            <a:avLst>
              <a:gd name="adj" fmla="val 14545"/>
            </a:avLst>
          </a:prstGeom>
          <a:solidFill>
            <a:schemeClr val="bg2"/>
          </a:solidFill>
          <a:ln/>
        </p:spPr>
        <p:txBody>
          <a:bodyPr/>
          <a:lstStyle/>
          <a:p>
            <a:endParaRPr lang="en-US"/>
          </a:p>
        </p:txBody>
      </p:sp>
      <p:sp>
        <p:nvSpPr>
          <p:cNvPr id="20" name="Text 17"/>
          <p:cNvSpPr txBox="1"/>
          <p:nvPr/>
        </p:nvSpPr>
        <p:spPr>
          <a:xfrm>
            <a:off x="749808" y="5522976"/>
            <a:ext cx="8988552" cy="502920"/>
          </a:xfrm>
          <a:prstGeom prst="rect">
            <a:avLst/>
          </a:prstGeom>
          <a:noFill/>
          <a:ln/>
        </p:spPr>
        <p:txBody>
          <a:bodyPr wrap="square" lIns="0" tIns="0" rIns="0" bIns="0" rtlCol="0" anchor="ctr"/>
          <a:lstStyle/>
          <a:p>
            <a:pPr marL="0" indent="0">
              <a:buNone/>
            </a:pPr>
            <a:r>
              <a:rPr lang="en-US" sz="1300" b="1" dirty="0">
                <a:solidFill>
                  <a:schemeClr val="tx1"/>
                </a:solidFill>
              </a:rPr>
              <a:t>NEXT PILLAR 1 WORKSTREAM - DATAHUB: </a:t>
            </a:r>
            <a:r>
              <a:rPr lang="en-US" sz="1300" dirty="0">
                <a:solidFill>
                  <a:schemeClr val="tx1"/>
                </a:solidFill>
              </a:rPr>
              <a:t>Priority capabilities submitted to Technology; working to confirm review, ownership, and next steps.</a:t>
            </a:r>
            <a:endParaRPr lang="en-US" sz="1300" dirty="0"/>
          </a:p>
        </p:txBody>
      </p:sp>
      <p:sp>
        <p:nvSpPr>
          <p:cNvPr id="21" name="Status chip"/>
          <p:cNvSpPr txBox="1"/>
          <p:nvPr/>
        </p:nvSpPr>
        <p:spPr>
          <a:xfrm>
            <a:off x="10744200" y="5632704"/>
            <a:ext cx="694944"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100" b="1" dirty="0">
                <a:solidFill>
                  <a:schemeClr val="bg1"/>
                </a:solidFill>
              </a:rPr>
              <a:t>AMBER</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2: Assess, Rationalize &amp; Manage the Data Plane</a:t>
            </a:r>
            <a:endParaRPr lang="en-US" sz="2800" dirty="0"/>
          </a:p>
        </p:txBody>
      </p:sp>
      <p:sp>
        <p:nvSpPr>
          <p:cNvPr id="3" name="Section tag"/>
          <p:cNvSpPr txBox="1"/>
          <p:nvPr/>
        </p:nvSpPr>
        <p:spPr>
          <a:xfrm>
            <a:off x="548640" y="274320"/>
            <a:ext cx="36255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DATA PLANE LIFECYCLE MANAGEMENT</a:t>
            </a:r>
            <a:endParaRPr lang="en-US" sz="1000" dirty="0"/>
          </a:p>
        </p:txBody>
      </p:sp>
      <p:sp>
        <p:nvSpPr>
          <p:cNvPr id="5" name="Card"/>
          <p:cNvSpPr/>
          <p:nvPr/>
        </p:nvSpPr>
        <p:spPr>
          <a:xfrm>
            <a:off x="548640" y="1572768"/>
            <a:ext cx="3771900" cy="1060704"/>
          </a:xfrm>
          <a:prstGeom prst="roundRect">
            <a:avLst>
              <a:gd name="adj" fmla="val 6897"/>
            </a:avLst>
          </a:prstGeom>
          <a:solidFill>
            <a:schemeClr val="accent2">
              <a:alpha val="8000"/>
            </a:schemeClr>
          </a:solidFill>
          <a:ln/>
        </p:spPr>
        <p:txBody>
          <a:bodyPr/>
          <a:lstStyle/>
          <a:p>
            <a:endParaRPr lang="en-US"/>
          </a:p>
        </p:txBody>
      </p:sp>
      <p:sp>
        <p:nvSpPr>
          <p:cNvPr id="6" name="Number 1"/>
          <p:cNvSpPr txBox="1"/>
          <p:nvPr/>
        </p:nvSpPr>
        <p:spPr>
          <a:xfrm>
            <a:off x="694944" y="1719072"/>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1207008" y="1664208"/>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Assess Data Plane Inventory</a:t>
            </a:r>
            <a:endParaRPr lang="en-US" sz="1450" dirty="0"/>
          </a:p>
        </p:txBody>
      </p:sp>
      <p:sp>
        <p:nvSpPr>
          <p:cNvPr id="8" name="Text 5"/>
          <p:cNvSpPr txBox="1"/>
          <p:nvPr/>
        </p:nvSpPr>
        <p:spPr>
          <a:xfrm>
            <a:off x="1207008" y="2048256"/>
            <a:ext cx="2967228" cy="548640"/>
          </a:xfrm>
          <a:prstGeom prst="rect">
            <a:avLst/>
          </a:prstGeom>
          <a:noFill/>
          <a:ln/>
        </p:spPr>
        <p:txBody>
          <a:bodyPr wrap="square" lIns="0" tIns="0" rIns="0" bIns="0" rtlCol="0" anchor="t"/>
          <a:lstStyle/>
          <a:p>
            <a:pPr marL="0" indent="0">
              <a:buNone/>
            </a:pPr>
            <a:r>
              <a:rPr lang="en-US" sz="1250" dirty="0">
                <a:solidFill>
                  <a:schemeClr val="tx1"/>
                </a:solidFill>
              </a:rPr>
              <a:t>Assess existing RDS/DPC tables, data elements, usage, and sourcing purpose.</a:t>
            </a:r>
            <a:endParaRPr lang="en-US" sz="1250" dirty="0"/>
          </a:p>
        </p:txBody>
      </p:sp>
      <p:sp>
        <p:nvSpPr>
          <p:cNvPr id="9" name="Card"/>
          <p:cNvSpPr/>
          <p:nvPr/>
        </p:nvSpPr>
        <p:spPr>
          <a:xfrm>
            <a:off x="4549140" y="1572768"/>
            <a:ext cx="3771900" cy="1060704"/>
          </a:xfrm>
          <a:prstGeom prst="roundRect">
            <a:avLst>
              <a:gd name="adj" fmla="val 6897"/>
            </a:avLst>
          </a:prstGeom>
          <a:solidFill>
            <a:schemeClr val="accent2">
              <a:alpha val="8000"/>
            </a:schemeClr>
          </a:solidFill>
          <a:ln/>
        </p:spPr>
        <p:txBody>
          <a:bodyPr/>
          <a:lstStyle/>
          <a:p>
            <a:endParaRPr lang="en-US"/>
          </a:p>
        </p:txBody>
      </p:sp>
      <p:sp>
        <p:nvSpPr>
          <p:cNvPr id="10" name="Number 2"/>
          <p:cNvSpPr txBox="1"/>
          <p:nvPr/>
        </p:nvSpPr>
        <p:spPr>
          <a:xfrm>
            <a:off x="4695444" y="1719072"/>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1" name="Text 8"/>
          <p:cNvSpPr txBox="1"/>
          <p:nvPr/>
        </p:nvSpPr>
        <p:spPr>
          <a:xfrm>
            <a:off x="5207508" y="1664208"/>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Establish a Clean Baseline</a:t>
            </a:r>
            <a:endParaRPr lang="en-US" sz="1450" dirty="0"/>
          </a:p>
        </p:txBody>
      </p:sp>
      <p:sp>
        <p:nvSpPr>
          <p:cNvPr id="12" name="Text 9"/>
          <p:cNvSpPr txBox="1"/>
          <p:nvPr/>
        </p:nvSpPr>
        <p:spPr>
          <a:xfrm>
            <a:off x="5207508" y="2048256"/>
            <a:ext cx="2967228" cy="548640"/>
          </a:xfrm>
          <a:prstGeom prst="rect">
            <a:avLst/>
          </a:prstGeom>
          <a:noFill/>
          <a:ln/>
        </p:spPr>
        <p:txBody>
          <a:bodyPr wrap="square" lIns="0" tIns="0" rIns="0" bIns="0" rtlCol="0" anchor="t"/>
          <a:lstStyle/>
          <a:p>
            <a:pPr marL="0" indent="0">
              <a:buNone/>
            </a:pPr>
            <a:r>
              <a:rPr lang="en-US" sz="1250" dirty="0">
                <a:solidFill>
                  <a:schemeClr val="tx1"/>
                </a:solidFill>
              </a:rPr>
              <a:t>Create a standardized, reusable inventory of existing tables, elements, and sources.</a:t>
            </a:r>
            <a:endParaRPr lang="en-US" sz="1250" dirty="0"/>
          </a:p>
        </p:txBody>
      </p:sp>
      <p:sp>
        <p:nvSpPr>
          <p:cNvPr id="13" name="Card"/>
          <p:cNvSpPr/>
          <p:nvPr/>
        </p:nvSpPr>
        <p:spPr>
          <a:xfrm>
            <a:off x="548640" y="2706624"/>
            <a:ext cx="3771900" cy="1060704"/>
          </a:xfrm>
          <a:prstGeom prst="roundRect">
            <a:avLst>
              <a:gd name="adj" fmla="val 6897"/>
            </a:avLst>
          </a:prstGeom>
          <a:solidFill>
            <a:schemeClr val="accent2">
              <a:alpha val="8000"/>
            </a:schemeClr>
          </a:solidFill>
          <a:ln/>
        </p:spPr>
        <p:txBody>
          <a:bodyPr/>
          <a:lstStyle/>
          <a:p>
            <a:endParaRPr lang="en-US"/>
          </a:p>
        </p:txBody>
      </p:sp>
      <p:sp>
        <p:nvSpPr>
          <p:cNvPr id="14" name="Number 3"/>
          <p:cNvSpPr txBox="1"/>
          <p:nvPr/>
        </p:nvSpPr>
        <p:spPr>
          <a:xfrm>
            <a:off x="694944" y="28529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5" name="Text 12"/>
          <p:cNvSpPr txBox="1"/>
          <p:nvPr/>
        </p:nvSpPr>
        <p:spPr>
          <a:xfrm>
            <a:off x="1207008" y="2798064"/>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Reconcile to Upstream Sources</a:t>
            </a:r>
            <a:endParaRPr lang="en-US" sz="1450" dirty="0"/>
          </a:p>
        </p:txBody>
      </p:sp>
      <p:sp>
        <p:nvSpPr>
          <p:cNvPr id="16" name="Text 13"/>
          <p:cNvSpPr txBox="1"/>
          <p:nvPr/>
        </p:nvSpPr>
        <p:spPr>
          <a:xfrm>
            <a:off x="1207008" y="3182112"/>
            <a:ext cx="2967228" cy="548640"/>
          </a:xfrm>
          <a:prstGeom prst="rect">
            <a:avLst/>
          </a:prstGeom>
          <a:noFill/>
          <a:ln/>
        </p:spPr>
        <p:txBody>
          <a:bodyPr wrap="square" lIns="0" tIns="0" rIns="0" bIns="0" rtlCol="0" anchor="t"/>
          <a:lstStyle/>
          <a:p>
            <a:pPr marL="0" indent="0">
              <a:buNone/>
            </a:pPr>
            <a:r>
              <a:rPr lang="en-US" sz="1250" dirty="0">
                <a:solidFill>
                  <a:schemeClr val="tx1"/>
                </a:solidFill>
              </a:rPr>
              <a:t>Map existing data to originating applications, feeds, and strategic ADSs.</a:t>
            </a:r>
            <a:endParaRPr lang="en-US" sz="1250" dirty="0"/>
          </a:p>
        </p:txBody>
      </p:sp>
      <p:sp>
        <p:nvSpPr>
          <p:cNvPr id="17" name="Card"/>
          <p:cNvSpPr/>
          <p:nvPr/>
        </p:nvSpPr>
        <p:spPr>
          <a:xfrm>
            <a:off x="4549140" y="2706624"/>
            <a:ext cx="3771900" cy="1060704"/>
          </a:xfrm>
          <a:prstGeom prst="roundRect">
            <a:avLst>
              <a:gd name="adj" fmla="val 6897"/>
            </a:avLst>
          </a:prstGeom>
          <a:solidFill>
            <a:schemeClr val="accent2">
              <a:alpha val="8000"/>
            </a:schemeClr>
          </a:solidFill>
          <a:ln/>
        </p:spPr>
        <p:txBody>
          <a:bodyPr/>
          <a:lstStyle/>
          <a:p>
            <a:endParaRPr lang="en-US"/>
          </a:p>
        </p:txBody>
      </p:sp>
      <p:sp>
        <p:nvSpPr>
          <p:cNvPr id="18" name="Number 4"/>
          <p:cNvSpPr txBox="1"/>
          <p:nvPr/>
        </p:nvSpPr>
        <p:spPr>
          <a:xfrm>
            <a:off x="4695444" y="2852928"/>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9" name="Text 16"/>
          <p:cNvSpPr txBox="1"/>
          <p:nvPr/>
        </p:nvSpPr>
        <p:spPr>
          <a:xfrm>
            <a:off x="5207508" y="2798064"/>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Extend Data Lineage</a:t>
            </a:r>
            <a:endParaRPr lang="en-US" sz="1450" dirty="0"/>
          </a:p>
        </p:txBody>
      </p:sp>
      <p:sp>
        <p:nvSpPr>
          <p:cNvPr id="20" name="Text 17"/>
          <p:cNvSpPr txBox="1"/>
          <p:nvPr/>
        </p:nvSpPr>
        <p:spPr>
          <a:xfrm>
            <a:off x="5207508" y="3182112"/>
            <a:ext cx="2967228" cy="548640"/>
          </a:xfrm>
          <a:prstGeom prst="rect">
            <a:avLst/>
          </a:prstGeom>
          <a:noFill/>
          <a:ln/>
        </p:spPr>
        <p:txBody>
          <a:bodyPr wrap="square" lIns="0" tIns="0" rIns="0" bIns="0" rtlCol="0" anchor="t"/>
          <a:lstStyle/>
          <a:p>
            <a:pPr marL="0" indent="0">
              <a:buNone/>
            </a:pPr>
            <a:r>
              <a:rPr lang="en-US" sz="1250" dirty="0">
                <a:solidFill>
                  <a:schemeClr val="tx1"/>
                </a:solidFill>
              </a:rPr>
              <a:t>Establish end-to-end traceability from upstream sources through downstream consumption.</a:t>
            </a:r>
            <a:endParaRPr lang="en-US" sz="1250" dirty="0"/>
          </a:p>
        </p:txBody>
      </p:sp>
      <p:sp>
        <p:nvSpPr>
          <p:cNvPr id="21" name="Card"/>
          <p:cNvSpPr/>
          <p:nvPr/>
        </p:nvSpPr>
        <p:spPr>
          <a:xfrm>
            <a:off x="548640" y="3840480"/>
            <a:ext cx="3771900" cy="1060704"/>
          </a:xfrm>
          <a:prstGeom prst="roundRect">
            <a:avLst>
              <a:gd name="adj" fmla="val 6897"/>
            </a:avLst>
          </a:prstGeom>
          <a:solidFill>
            <a:schemeClr val="accent2">
              <a:alpha val="8000"/>
            </a:schemeClr>
          </a:solidFill>
          <a:ln/>
        </p:spPr>
        <p:txBody>
          <a:bodyPr/>
          <a:lstStyle/>
          <a:p>
            <a:endParaRPr lang="en-US"/>
          </a:p>
        </p:txBody>
      </p:sp>
      <p:sp>
        <p:nvSpPr>
          <p:cNvPr id="22" name="Number 5"/>
          <p:cNvSpPr txBox="1"/>
          <p:nvPr/>
        </p:nvSpPr>
        <p:spPr>
          <a:xfrm>
            <a:off x="694944" y="3986784"/>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23" name="Text 20"/>
          <p:cNvSpPr txBox="1"/>
          <p:nvPr/>
        </p:nvSpPr>
        <p:spPr>
          <a:xfrm>
            <a:off x="1207008" y="3931920"/>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Plan Strategic ADS Migration</a:t>
            </a:r>
            <a:endParaRPr lang="en-US" sz="1450" dirty="0"/>
          </a:p>
        </p:txBody>
      </p:sp>
      <p:sp>
        <p:nvSpPr>
          <p:cNvPr id="24" name="Text 21"/>
          <p:cNvSpPr txBox="1"/>
          <p:nvPr/>
        </p:nvSpPr>
        <p:spPr>
          <a:xfrm>
            <a:off x="1207008" y="4315968"/>
            <a:ext cx="2967228" cy="548640"/>
          </a:xfrm>
          <a:prstGeom prst="rect">
            <a:avLst/>
          </a:prstGeom>
          <a:noFill/>
          <a:ln/>
        </p:spPr>
        <p:txBody>
          <a:bodyPr wrap="square" lIns="0" tIns="0" rIns="0" bIns="0" rtlCol="0" anchor="t"/>
          <a:lstStyle/>
          <a:p>
            <a:pPr marL="0" indent="0">
              <a:buNone/>
            </a:pPr>
            <a:r>
              <a:rPr lang="en-US" sz="1250" dirty="0">
                <a:solidFill>
                  <a:schemeClr val="tx1"/>
                </a:solidFill>
              </a:rPr>
              <a:t>Identify opportunities to transition legacy sourcing to strategic ADSs.</a:t>
            </a:r>
            <a:endParaRPr lang="en-US" sz="1250" dirty="0"/>
          </a:p>
        </p:txBody>
      </p:sp>
      <p:sp>
        <p:nvSpPr>
          <p:cNvPr id="25" name="Card"/>
          <p:cNvSpPr/>
          <p:nvPr/>
        </p:nvSpPr>
        <p:spPr>
          <a:xfrm>
            <a:off x="4549140" y="3840480"/>
            <a:ext cx="3771900" cy="1060704"/>
          </a:xfrm>
          <a:prstGeom prst="roundRect">
            <a:avLst>
              <a:gd name="adj" fmla="val 6897"/>
            </a:avLst>
          </a:prstGeom>
          <a:solidFill>
            <a:schemeClr val="accent2">
              <a:alpha val="8000"/>
            </a:schemeClr>
          </a:solidFill>
          <a:ln/>
        </p:spPr>
        <p:txBody>
          <a:bodyPr/>
          <a:lstStyle/>
          <a:p>
            <a:endParaRPr lang="en-US"/>
          </a:p>
        </p:txBody>
      </p:sp>
      <p:sp>
        <p:nvSpPr>
          <p:cNvPr id="26" name="Number 6"/>
          <p:cNvSpPr txBox="1"/>
          <p:nvPr/>
        </p:nvSpPr>
        <p:spPr>
          <a:xfrm>
            <a:off x="4695444" y="3986784"/>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27" name="Text 24"/>
          <p:cNvSpPr txBox="1"/>
          <p:nvPr/>
        </p:nvSpPr>
        <p:spPr>
          <a:xfrm>
            <a:off x="5207508" y="3931920"/>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Rationalize Unused Data</a:t>
            </a:r>
            <a:endParaRPr lang="en-US" sz="1450" dirty="0"/>
          </a:p>
        </p:txBody>
      </p:sp>
      <p:sp>
        <p:nvSpPr>
          <p:cNvPr id="28" name="Text 25"/>
          <p:cNvSpPr txBox="1"/>
          <p:nvPr/>
        </p:nvSpPr>
        <p:spPr>
          <a:xfrm>
            <a:off x="5207508" y="4315968"/>
            <a:ext cx="2967228" cy="548640"/>
          </a:xfrm>
          <a:prstGeom prst="rect">
            <a:avLst/>
          </a:prstGeom>
          <a:noFill/>
          <a:ln/>
        </p:spPr>
        <p:txBody>
          <a:bodyPr wrap="square" lIns="0" tIns="0" rIns="0" bIns="0" rtlCol="0" anchor="t"/>
          <a:lstStyle/>
          <a:p>
            <a:pPr marL="0" indent="0">
              <a:buNone/>
            </a:pPr>
            <a:r>
              <a:rPr lang="en-US" sz="1250" dirty="0">
                <a:solidFill>
                  <a:schemeClr val="tx1"/>
                </a:solidFill>
              </a:rPr>
              <a:t>Identify redundant, unused, or unnecessary data for consolidation or retirement.</a:t>
            </a:r>
            <a:endParaRPr lang="en-US" sz="1250" dirty="0"/>
          </a:p>
        </p:txBody>
      </p:sp>
      <p:sp>
        <p:nvSpPr>
          <p:cNvPr id="29" name="Card"/>
          <p:cNvSpPr/>
          <p:nvPr/>
        </p:nvSpPr>
        <p:spPr>
          <a:xfrm>
            <a:off x="548640" y="4974336"/>
            <a:ext cx="3771900" cy="1060704"/>
          </a:xfrm>
          <a:prstGeom prst="roundRect">
            <a:avLst>
              <a:gd name="adj" fmla="val 6897"/>
            </a:avLst>
          </a:prstGeom>
          <a:solidFill>
            <a:schemeClr val="accent2">
              <a:alpha val="16000"/>
            </a:schemeClr>
          </a:solidFill>
          <a:ln/>
        </p:spPr>
        <p:txBody>
          <a:bodyPr/>
          <a:lstStyle/>
          <a:p>
            <a:endParaRPr lang="en-US"/>
          </a:p>
        </p:txBody>
      </p:sp>
      <p:sp>
        <p:nvSpPr>
          <p:cNvPr id="30" name="Number 7"/>
          <p:cNvSpPr txBox="1"/>
          <p:nvPr/>
        </p:nvSpPr>
        <p:spPr>
          <a:xfrm>
            <a:off x="694944" y="5120640"/>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7</a:t>
            </a:r>
            <a:endParaRPr lang="en-US" sz="1400" dirty="0"/>
          </a:p>
        </p:txBody>
      </p:sp>
      <p:sp>
        <p:nvSpPr>
          <p:cNvPr id="31" name="Text 28"/>
          <p:cNvSpPr txBox="1"/>
          <p:nvPr/>
        </p:nvSpPr>
        <p:spPr>
          <a:xfrm>
            <a:off x="1207008" y="5065776"/>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Finalize Data Plane Structure</a:t>
            </a:r>
            <a:endParaRPr lang="en-US" sz="1450" dirty="0"/>
          </a:p>
        </p:txBody>
      </p:sp>
      <p:sp>
        <p:nvSpPr>
          <p:cNvPr id="32" name="Text 29"/>
          <p:cNvSpPr txBox="1"/>
          <p:nvPr/>
        </p:nvSpPr>
        <p:spPr>
          <a:xfrm>
            <a:off x="1207008" y="5449824"/>
            <a:ext cx="2967228" cy="548640"/>
          </a:xfrm>
          <a:prstGeom prst="rect">
            <a:avLst/>
          </a:prstGeom>
          <a:noFill/>
          <a:ln/>
        </p:spPr>
        <p:txBody>
          <a:bodyPr wrap="square" lIns="0" tIns="0" rIns="0" bIns="0" rtlCol="0" anchor="t"/>
          <a:lstStyle/>
          <a:p>
            <a:pPr marL="0" indent="0">
              <a:buNone/>
            </a:pPr>
            <a:r>
              <a:rPr lang="en-US" sz="1250" dirty="0">
                <a:solidFill>
                  <a:schemeClr val="tx1"/>
                </a:solidFill>
              </a:rPr>
              <a:t>Define how data is organized, integrated, and made available for reuse across Risk.</a:t>
            </a:r>
            <a:endParaRPr lang="en-US" sz="1250" dirty="0"/>
          </a:p>
        </p:txBody>
      </p:sp>
      <p:sp>
        <p:nvSpPr>
          <p:cNvPr id="33" name="Card"/>
          <p:cNvSpPr/>
          <p:nvPr/>
        </p:nvSpPr>
        <p:spPr>
          <a:xfrm>
            <a:off x="4549140" y="4974336"/>
            <a:ext cx="3771900" cy="1060704"/>
          </a:xfrm>
          <a:prstGeom prst="roundRect">
            <a:avLst>
              <a:gd name="adj" fmla="val 6897"/>
            </a:avLst>
          </a:prstGeom>
          <a:solidFill>
            <a:schemeClr val="accent2">
              <a:alpha val="16000"/>
            </a:schemeClr>
          </a:solidFill>
          <a:ln/>
        </p:spPr>
        <p:txBody>
          <a:bodyPr/>
          <a:lstStyle/>
          <a:p>
            <a:endParaRPr lang="en-US"/>
          </a:p>
        </p:txBody>
      </p:sp>
      <p:sp>
        <p:nvSpPr>
          <p:cNvPr id="34" name="Number 8"/>
          <p:cNvSpPr txBox="1"/>
          <p:nvPr/>
        </p:nvSpPr>
        <p:spPr>
          <a:xfrm>
            <a:off x="4695444" y="5120640"/>
            <a:ext cx="384048" cy="384048"/>
          </a:xfrm>
          <a:prstGeom prst="ellipse">
            <a:avLst/>
          </a:prstGeom>
          <a:solidFill>
            <a:schemeClr val="accent2"/>
          </a:solidFill>
          <a:ln/>
        </p:spPr>
        <p:txBody>
          <a:bodyPr wrap="square" lIns="0" tIns="0" rIns="0" bIns="0" rtlCol="0" anchor="ctr"/>
          <a:lstStyle/>
          <a:p>
            <a:pPr marL="0" indent="0" algn="ctr">
              <a:buNone/>
            </a:pPr>
            <a:r>
              <a:rPr lang="en-US" sz="1400" b="1" dirty="0">
                <a:solidFill>
                  <a:schemeClr val="bg1"/>
                </a:solidFill>
              </a:rPr>
              <a:t>8</a:t>
            </a:r>
            <a:endParaRPr lang="en-US" sz="1400" dirty="0"/>
          </a:p>
        </p:txBody>
      </p:sp>
      <p:sp>
        <p:nvSpPr>
          <p:cNvPr id="35" name="Text 32"/>
          <p:cNvSpPr txBox="1"/>
          <p:nvPr/>
        </p:nvSpPr>
        <p:spPr>
          <a:xfrm>
            <a:off x="5207508" y="5065776"/>
            <a:ext cx="2967228" cy="384048"/>
          </a:xfrm>
          <a:prstGeom prst="rect">
            <a:avLst/>
          </a:prstGeom>
          <a:noFill/>
          <a:ln/>
        </p:spPr>
        <p:txBody>
          <a:bodyPr wrap="square" lIns="0" tIns="0" rIns="0" bIns="0" rtlCol="0" anchor="ctr"/>
          <a:lstStyle/>
          <a:p>
            <a:pPr marL="0" indent="0">
              <a:buNone/>
            </a:pPr>
            <a:r>
              <a:rPr lang="en-US" sz="1450" b="1" dirty="0">
                <a:solidFill>
                  <a:schemeClr val="tx1"/>
                </a:solidFill>
              </a:rPr>
              <a:t>Establish Data Plane Controls</a:t>
            </a:r>
            <a:endParaRPr lang="en-US" sz="1450" dirty="0"/>
          </a:p>
        </p:txBody>
      </p:sp>
      <p:sp>
        <p:nvSpPr>
          <p:cNvPr id="36" name="Text 33"/>
          <p:cNvSpPr txBox="1"/>
          <p:nvPr/>
        </p:nvSpPr>
        <p:spPr>
          <a:xfrm>
            <a:off x="5207508" y="5449824"/>
            <a:ext cx="2967228" cy="548640"/>
          </a:xfrm>
          <a:prstGeom prst="rect">
            <a:avLst/>
          </a:prstGeom>
          <a:noFill/>
          <a:ln/>
        </p:spPr>
        <p:txBody>
          <a:bodyPr wrap="square" lIns="0" tIns="0" rIns="0" bIns="0" rtlCol="0" anchor="t"/>
          <a:lstStyle/>
          <a:p>
            <a:pPr marL="0" indent="0">
              <a:buNone/>
            </a:pPr>
            <a:r>
              <a:rPr lang="en-US" sz="1250" dirty="0">
                <a:solidFill>
                  <a:schemeClr val="tx1"/>
                </a:solidFill>
              </a:rPr>
              <a:t>Define governance, ownership, quality controls, and ongoing oversight of the data plane.</a:t>
            </a:r>
            <a:endParaRPr lang="en-US" sz="1250" dirty="0"/>
          </a:p>
        </p:txBody>
      </p:sp>
      <p:sp>
        <p:nvSpPr>
          <p:cNvPr id="37" name="Card"/>
          <p:cNvSpPr/>
          <p:nvPr/>
        </p:nvSpPr>
        <p:spPr>
          <a:xfrm>
            <a:off x="8595360" y="1572768"/>
            <a:ext cx="3044952" cy="2514600"/>
          </a:xfrm>
          <a:prstGeom prst="roundRect">
            <a:avLst>
              <a:gd name="adj" fmla="val 2909"/>
            </a:avLst>
          </a:prstGeom>
          <a:solidFill>
            <a:schemeClr val="accent2"/>
          </a:solidFill>
          <a:ln/>
        </p:spPr>
        <p:txBody>
          <a:bodyPr/>
          <a:lstStyle/>
          <a:p>
            <a:endParaRPr lang="en-US"/>
          </a:p>
        </p:txBody>
      </p:sp>
      <p:sp>
        <p:nvSpPr>
          <p:cNvPr id="38" name="Text 35"/>
          <p:cNvSpPr txBox="1"/>
          <p:nvPr/>
        </p:nvSpPr>
        <p:spPr>
          <a:xfrm>
            <a:off x="8796528" y="1572768"/>
            <a:ext cx="2642616" cy="2514600"/>
          </a:xfrm>
          <a:prstGeom prst="rect">
            <a:avLst/>
          </a:prstGeom>
          <a:noFill/>
          <a:ln/>
        </p:spPr>
        <p:txBody>
          <a:bodyPr wrap="square" lIns="0" tIns="0" rIns="0" bIns="0" rtlCol="0" anchor="ctr"/>
          <a:lstStyle/>
          <a:p>
            <a:pPr marL="0" indent="0">
              <a:spcAft>
                <a:spcPts val="600"/>
              </a:spcAft>
              <a:buNone/>
            </a:pPr>
            <a:r>
              <a:rPr lang="en-US" sz="1100" b="1" kern="0" spc="100" dirty="0">
                <a:solidFill>
                  <a:schemeClr val="bg1"/>
                </a:solidFill>
              </a:rPr>
              <a:t>HOW IT RUNS</a:t>
            </a:r>
            <a:endParaRPr lang="en-US" sz="1400" dirty="0"/>
          </a:p>
          <a:p>
            <a:pPr marL="0" indent="0">
              <a:spcAft>
                <a:spcPts val="600"/>
              </a:spcAft>
              <a:buNone/>
            </a:pPr>
            <a:r>
              <a:rPr lang="en-US" sz="1700" b="1" dirty="0">
                <a:solidFill>
                  <a:schemeClr val="bg1"/>
                </a:solidFill>
              </a:rPr>
              <a:t>Dedicated Ownership &amp; Execution</a:t>
            </a:r>
            <a:endParaRPr lang="en-US" sz="1400" dirty="0"/>
          </a:p>
          <a:p>
            <a:pPr marL="0" indent="0">
              <a:spcAft>
                <a:spcPts val="600"/>
              </a:spcAft>
              <a:buNone/>
            </a:pPr>
            <a:r>
              <a:rPr lang="en-US" sz="1300" dirty="0">
                <a:solidFill>
                  <a:schemeClr val="bg1"/>
                </a:solidFill>
              </a:rPr>
              <a:t>A defined workstream with clear accountability, progressing independently while Pillar 1 capabilities accelerate execution. Once the baseline is done, it becomes ongoing plane management.</a:t>
            </a:r>
            <a:endParaRPr lang="en-US" sz="1400" dirty="0"/>
          </a:p>
        </p:txBody>
      </p:sp>
      <p:sp>
        <p:nvSpPr>
          <p:cNvPr id="39" name="Card"/>
          <p:cNvSpPr/>
          <p:nvPr/>
        </p:nvSpPr>
        <p:spPr>
          <a:xfrm>
            <a:off x="8595360" y="4206240"/>
            <a:ext cx="3044952" cy="2084832"/>
          </a:xfrm>
          <a:prstGeom prst="roundRect">
            <a:avLst>
              <a:gd name="adj" fmla="val 3509"/>
            </a:avLst>
          </a:prstGeom>
          <a:solidFill>
            <a:schemeClr val="bg2"/>
          </a:solidFill>
          <a:ln/>
        </p:spPr>
        <p:txBody>
          <a:bodyPr/>
          <a:lstStyle/>
          <a:p>
            <a:endParaRPr lang="en-US"/>
          </a:p>
        </p:txBody>
      </p:sp>
      <p:sp>
        <p:nvSpPr>
          <p:cNvPr id="40" name="Text 37"/>
          <p:cNvSpPr txBox="1"/>
          <p:nvPr/>
        </p:nvSpPr>
        <p:spPr>
          <a:xfrm>
            <a:off x="8796528" y="4206240"/>
            <a:ext cx="2642616" cy="2103120"/>
          </a:xfrm>
          <a:prstGeom prst="rect">
            <a:avLst/>
          </a:prstGeom>
          <a:noFill/>
          <a:ln/>
        </p:spPr>
        <p:txBody>
          <a:bodyPr wrap="square" lIns="0" tIns="0" rIns="0" bIns="0" rtlCol="0" anchor="ctr"/>
          <a:lstStyle/>
          <a:p>
            <a:pPr marL="0" indent="0">
              <a:spcAft>
                <a:spcPts val="500"/>
              </a:spcAft>
              <a:buNone/>
            </a:pPr>
            <a:r>
              <a:rPr lang="en-US" sz="1100" b="1" kern="0" spc="100" dirty="0">
                <a:solidFill>
                  <a:schemeClr val="accent2"/>
                </a:solidFill>
              </a:rPr>
              <a:t>EXAMPLES</a:t>
            </a:r>
            <a:endParaRPr lang="en-US" sz="1400" dirty="0"/>
          </a:p>
          <a:p>
            <a:pPr marL="0" indent="0">
              <a:spcAft>
                <a:spcPts val="500"/>
              </a:spcAft>
              <a:buNone/>
            </a:pPr>
            <a:r>
              <a:rPr lang="en-US" sz="1500" b="1" dirty="0">
                <a:solidFill>
                  <a:schemeClr val="tx1"/>
                </a:solidFill>
              </a:rPr>
              <a:t>Credit 360 and </a:t>
            </a:r>
            <a:r>
              <a:rPr lang="en-US" sz="1500" b="1" dirty="0"/>
              <a:t>FCTDS</a:t>
            </a:r>
            <a:endParaRPr lang="en-US" sz="1400" dirty="0"/>
          </a:p>
          <a:p>
            <a:pPr marL="0" indent="0">
              <a:spcAft>
                <a:spcPts val="500"/>
              </a:spcAft>
              <a:buNone/>
            </a:pPr>
            <a:r>
              <a:rPr lang="en-US" sz="1300" dirty="0">
                <a:solidFill>
                  <a:schemeClr val="tx1"/>
                </a:solidFill>
              </a:rPr>
              <a:t>Assess existing RDS/DPC sourcing, data usage, and lineage to identify rationalization opportunities and strategic ADS migration needs, rather than initiating new demand intake.</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Organizing Risk Data on the Plane: ORCAP First</a:t>
            </a:r>
            <a:endParaRPr lang="en-US" sz="2800" dirty="0"/>
          </a:p>
        </p:txBody>
      </p:sp>
      <p:sp>
        <p:nvSpPr>
          <p:cNvPr id="5" name="Text 2"/>
          <p:cNvSpPr txBox="1"/>
          <p:nvPr/>
        </p:nvSpPr>
        <p:spPr>
          <a:xfrm>
            <a:off x="548640" y="1554480"/>
            <a:ext cx="5486400" cy="237744"/>
          </a:xfrm>
          <a:prstGeom prst="rect">
            <a:avLst/>
          </a:prstGeom>
          <a:noFill/>
          <a:ln/>
        </p:spPr>
        <p:txBody>
          <a:bodyPr wrap="square" lIns="0" tIns="0" rIns="0" bIns="0" rtlCol="0" anchor="t"/>
          <a:lstStyle/>
          <a:p>
            <a:pPr marL="0" indent="0">
              <a:buNone/>
            </a:pPr>
            <a:r>
              <a:rPr lang="en-US" sz="1100" b="1" kern="0" spc="100" dirty="0">
                <a:solidFill>
                  <a:schemeClr val="tx2"/>
                </a:solidFill>
              </a:rPr>
              <a:t>WHERE RISK DATA LIVES TODAY</a:t>
            </a:r>
            <a:endParaRPr lang="en-US" sz="1100" dirty="0"/>
          </a:p>
        </p:txBody>
      </p:sp>
      <p:sp>
        <p:nvSpPr>
          <p:cNvPr id="6" name="Card"/>
          <p:cNvSpPr/>
          <p:nvPr/>
        </p:nvSpPr>
        <p:spPr>
          <a:xfrm>
            <a:off x="548640" y="1847088"/>
            <a:ext cx="3514344" cy="1417320"/>
          </a:xfrm>
          <a:prstGeom prst="roundRect">
            <a:avLst>
              <a:gd name="adj" fmla="val 5161"/>
            </a:avLst>
          </a:prstGeom>
          <a:solidFill>
            <a:schemeClr val="bg2"/>
          </a:solidFill>
          <a:ln/>
        </p:spPr>
        <p:txBody>
          <a:bodyPr/>
          <a:lstStyle/>
          <a:p>
            <a:endParaRPr lang="en-US"/>
          </a:p>
        </p:txBody>
      </p:sp>
      <p:sp>
        <p:nvSpPr>
          <p:cNvPr id="7" name="Text 4"/>
          <p:cNvSpPr txBox="1"/>
          <p:nvPr/>
        </p:nvSpPr>
        <p:spPr>
          <a:xfrm>
            <a:off x="749808"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ORCAP</a:t>
            </a:r>
            <a:endParaRPr lang="en-US" sz="1900" dirty="0"/>
          </a:p>
        </p:txBody>
      </p:sp>
      <p:sp>
        <p:nvSpPr>
          <p:cNvPr id="8" name="Status chip"/>
          <p:cNvSpPr txBox="1"/>
          <p:nvPr/>
        </p:nvSpPr>
        <p:spPr>
          <a:xfrm>
            <a:off x="2603602" y="2002536"/>
            <a:ext cx="1258214"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Most control</a:t>
            </a:r>
            <a:endParaRPr lang="en-US" sz="1100" dirty="0"/>
          </a:p>
        </p:txBody>
      </p:sp>
      <p:sp>
        <p:nvSpPr>
          <p:cNvPr id="9" name="Text 6"/>
          <p:cNvSpPr txBox="1"/>
          <p:nvPr/>
        </p:nvSpPr>
        <p:spPr>
          <a:xfrm>
            <a:off x="749808"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De facto home of non-financial risk data: issues, RCSA, and everything not used for financial reporting.</a:t>
            </a:r>
            <a:endParaRPr lang="en-US" sz="1300" dirty="0"/>
          </a:p>
        </p:txBody>
      </p:sp>
      <p:sp>
        <p:nvSpPr>
          <p:cNvPr id="10" name="Card"/>
          <p:cNvSpPr/>
          <p:nvPr/>
        </p:nvSpPr>
        <p:spPr>
          <a:xfrm>
            <a:off x="4337304" y="1847088"/>
            <a:ext cx="3514344" cy="1417320"/>
          </a:xfrm>
          <a:prstGeom prst="roundRect">
            <a:avLst>
              <a:gd name="adj" fmla="val 5161"/>
            </a:avLst>
          </a:prstGeom>
          <a:solidFill>
            <a:schemeClr val="bg2"/>
          </a:solidFill>
          <a:ln/>
        </p:spPr>
        <p:txBody>
          <a:bodyPr/>
          <a:lstStyle/>
          <a:p>
            <a:endParaRPr lang="en-US"/>
          </a:p>
        </p:txBody>
      </p:sp>
      <p:sp>
        <p:nvSpPr>
          <p:cNvPr id="11" name="Text 8"/>
          <p:cNvSpPr txBox="1"/>
          <p:nvPr/>
        </p:nvSpPr>
        <p:spPr>
          <a:xfrm>
            <a:off x="4538472"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BUSCRT</a:t>
            </a:r>
            <a:endParaRPr lang="en-US" sz="1900" dirty="0"/>
          </a:p>
        </p:txBody>
      </p:sp>
      <p:sp>
        <p:nvSpPr>
          <p:cNvPr id="12" name="Status chip"/>
          <p:cNvSpPr txBox="1"/>
          <p:nvPr/>
        </p:nvSpPr>
        <p:spPr>
          <a:xfrm>
            <a:off x="5668061" y="2002536"/>
            <a:ext cx="1982419" cy="274320"/>
          </a:xfrm>
          <a:prstGeom prst="roundRect">
            <a:avLst>
              <a:gd name="adj" fmla="val 50000"/>
            </a:avLst>
          </a:prstGeom>
          <a:solidFill>
            <a:schemeClr val="accent2">
              <a:alpha val="22000"/>
            </a:schemeClr>
          </a:solidFill>
          <a:ln/>
        </p:spPr>
        <p:txBody>
          <a:bodyPr wrap="square" lIns="0" tIns="0" rIns="0" bIns="0" rtlCol="0" anchor="ctr"/>
          <a:lstStyle/>
          <a:p>
            <a:pPr marL="0" indent="0" algn="ctr">
              <a:buNone/>
            </a:pPr>
            <a:r>
              <a:rPr lang="en-US" sz="1100" b="1" dirty="0">
                <a:solidFill>
                  <a:schemeClr val="tx1"/>
                </a:solidFill>
              </a:rPr>
              <a:t>Moving via Credit 360</a:t>
            </a:r>
            <a:endParaRPr lang="en-US" sz="1100" dirty="0"/>
          </a:p>
        </p:txBody>
      </p:sp>
      <p:sp>
        <p:nvSpPr>
          <p:cNvPr id="13" name="Text 10"/>
          <p:cNvSpPr txBox="1"/>
          <p:nvPr/>
        </p:nvSpPr>
        <p:spPr>
          <a:xfrm>
            <a:off x="4538472"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Heavily reliant on upstream financial sources. Already going through Credit 360.</a:t>
            </a:r>
            <a:endParaRPr lang="en-US" sz="1300" dirty="0"/>
          </a:p>
        </p:txBody>
      </p:sp>
      <p:sp>
        <p:nvSpPr>
          <p:cNvPr id="14" name="Card"/>
          <p:cNvSpPr/>
          <p:nvPr/>
        </p:nvSpPr>
        <p:spPr>
          <a:xfrm>
            <a:off x="8125968" y="1847088"/>
            <a:ext cx="3514344" cy="1417320"/>
          </a:xfrm>
          <a:prstGeom prst="roundRect">
            <a:avLst>
              <a:gd name="adj" fmla="val 5161"/>
            </a:avLst>
          </a:prstGeom>
          <a:solidFill>
            <a:schemeClr val="bg2"/>
          </a:solidFill>
          <a:ln/>
        </p:spPr>
        <p:txBody>
          <a:bodyPr/>
          <a:lstStyle/>
          <a:p>
            <a:endParaRPr lang="en-US"/>
          </a:p>
        </p:txBody>
      </p:sp>
      <p:sp>
        <p:nvSpPr>
          <p:cNvPr id="15" name="Text 12"/>
          <p:cNvSpPr txBox="1"/>
          <p:nvPr/>
        </p:nvSpPr>
        <p:spPr>
          <a:xfrm>
            <a:off x="8327136" y="1956816"/>
            <a:ext cx="1463040" cy="365760"/>
          </a:xfrm>
          <a:prstGeom prst="rect">
            <a:avLst/>
          </a:prstGeom>
          <a:noFill/>
          <a:ln/>
        </p:spPr>
        <p:txBody>
          <a:bodyPr wrap="square" lIns="0" tIns="0" rIns="0" bIns="0" rtlCol="0" anchor="t"/>
          <a:lstStyle/>
          <a:p>
            <a:pPr marL="0" indent="0">
              <a:buNone/>
            </a:pPr>
            <a:r>
              <a:rPr lang="en-US" sz="1900" b="1" dirty="0">
                <a:solidFill>
                  <a:schemeClr val="tx1"/>
                </a:solidFill>
              </a:rPr>
              <a:t>FCTDS</a:t>
            </a:r>
            <a:endParaRPr lang="en-US" sz="1900" dirty="0"/>
          </a:p>
        </p:txBody>
      </p:sp>
      <p:sp>
        <p:nvSpPr>
          <p:cNvPr id="16" name="Status chip"/>
          <p:cNvSpPr txBox="1"/>
          <p:nvPr/>
        </p:nvSpPr>
        <p:spPr>
          <a:xfrm>
            <a:off x="9456725" y="2002536"/>
            <a:ext cx="1982419"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GenAI use cases first</a:t>
            </a:r>
            <a:endParaRPr lang="en-US" sz="1100" dirty="0"/>
          </a:p>
        </p:txBody>
      </p:sp>
      <p:sp>
        <p:nvSpPr>
          <p:cNvPr id="17" name="Text 14"/>
          <p:cNvSpPr txBox="1"/>
          <p:nvPr/>
        </p:nvSpPr>
        <p:spPr>
          <a:xfrm>
            <a:off x="8327136" y="2377440"/>
            <a:ext cx="3112008" cy="822960"/>
          </a:xfrm>
          <a:prstGeom prst="rect">
            <a:avLst/>
          </a:prstGeom>
          <a:noFill/>
          <a:ln/>
        </p:spPr>
        <p:txBody>
          <a:bodyPr wrap="square" lIns="0" tIns="0" rIns="0" bIns="0" rtlCol="0" anchor="t"/>
          <a:lstStyle/>
          <a:p>
            <a:pPr marL="0" indent="0">
              <a:buNone/>
            </a:pPr>
            <a:r>
              <a:rPr lang="en-US" sz="1300" dirty="0">
                <a:solidFill>
                  <a:schemeClr val="tx1"/>
                </a:solidFill>
              </a:rPr>
              <a:t>Risk owns the aggregators, not the data (about 98 sources outside the domain).</a:t>
            </a:r>
            <a:endParaRPr lang="en-US" sz="1300" dirty="0"/>
          </a:p>
        </p:txBody>
      </p:sp>
      <p:sp>
        <p:nvSpPr>
          <p:cNvPr id="18" name="Arrow"/>
          <p:cNvSpPr/>
          <p:nvPr/>
        </p:nvSpPr>
        <p:spPr>
          <a:xfrm>
            <a:off x="2168652" y="3319272"/>
            <a:ext cx="274320" cy="329184"/>
          </a:xfrm>
          <a:prstGeom prst="downArrow">
            <a:avLst/>
          </a:prstGeom>
          <a:solidFill>
            <a:schemeClr val="accent2"/>
          </a:solidFill>
          <a:ln/>
        </p:spPr>
        <p:txBody>
          <a:bodyPr/>
          <a:lstStyle/>
          <a:p>
            <a:endParaRPr lang="en-US"/>
          </a:p>
        </p:txBody>
      </p:sp>
      <p:sp>
        <p:nvSpPr>
          <p:cNvPr id="19" name="Arrow"/>
          <p:cNvSpPr/>
          <p:nvPr/>
        </p:nvSpPr>
        <p:spPr>
          <a:xfrm>
            <a:off x="5957316" y="3319272"/>
            <a:ext cx="274320" cy="329184"/>
          </a:xfrm>
          <a:prstGeom prst="downArrow">
            <a:avLst/>
          </a:prstGeom>
          <a:solidFill>
            <a:schemeClr val="accent2"/>
          </a:solidFill>
          <a:ln/>
        </p:spPr>
        <p:txBody>
          <a:bodyPr/>
          <a:lstStyle/>
          <a:p>
            <a:endParaRPr lang="en-US"/>
          </a:p>
        </p:txBody>
      </p:sp>
      <p:sp>
        <p:nvSpPr>
          <p:cNvPr id="20" name="Arrow"/>
          <p:cNvSpPr/>
          <p:nvPr/>
        </p:nvSpPr>
        <p:spPr>
          <a:xfrm>
            <a:off x="9745980" y="3319272"/>
            <a:ext cx="274320" cy="329184"/>
          </a:xfrm>
          <a:prstGeom prst="downArrow">
            <a:avLst/>
          </a:prstGeom>
          <a:solidFill>
            <a:schemeClr val="accent2"/>
          </a:solidFill>
          <a:ln/>
        </p:spPr>
        <p:txBody>
          <a:bodyPr/>
          <a:lstStyle/>
          <a:p>
            <a:endParaRPr lang="en-US"/>
          </a:p>
        </p:txBody>
      </p:sp>
      <p:sp>
        <p:nvSpPr>
          <p:cNvPr id="21" name="Text 18"/>
          <p:cNvSpPr txBox="1"/>
          <p:nvPr/>
        </p:nvSpPr>
        <p:spPr>
          <a:xfrm>
            <a:off x="548640" y="3703320"/>
            <a:ext cx="11091672" cy="237744"/>
          </a:xfrm>
          <a:prstGeom prst="rect">
            <a:avLst/>
          </a:prstGeom>
          <a:noFill/>
          <a:ln/>
        </p:spPr>
        <p:txBody>
          <a:bodyPr wrap="square" lIns="0" tIns="0" rIns="0" bIns="0" rtlCol="0" anchor="t"/>
          <a:lstStyle/>
          <a:p>
            <a:pPr marL="0" indent="0">
              <a:buNone/>
            </a:pPr>
            <a:r>
              <a:rPr lang="en-US" sz="1100" b="1" kern="0" spc="100" dirty="0">
                <a:solidFill>
                  <a:schemeClr val="accent2"/>
                </a:solidFill>
              </a:rPr>
              <a:t>HOW IT'S ORGANIZED ON THE PLANE · BY LINE OF BUSINESS, NOT BY APPLICATION</a:t>
            </a:r>
            <a:endParaRPr lang="en-US" sz="1100" dirty="0"/>
          </a:p>
        </p:txBody>
      </p:sp>
      <p:sp>
        <p:nvSpPr>
          <p:cNvPr id="22" name="Card"/>
          <p:cNvSpPr/>
          <p:nvPr/>
        </p:nvSpPr>
        <p:spPr>
          <a:xfrm>
            <a:off x="548640" y="3995928"/>
            <a:ext cx="3514344" cy="1325880"/>
          </a:xfrm>
          <a:prstGeom prst="roundRect">
            <a:avLst>
              <a:gd name="adj" fmla="val 5517"/>
            </a:avLst>
          </a:prstGeom>
          <a:solidFill>
            <a:schemeClr val="accent2">
              <a:alpha val="16000"/>
            </a:schemeClr>
          </a:solidFill>
          <a:ln w="22225">
            <a:solidFill>
              <a:schemeClr val="accent2"/>
            </a:solidFill>
            <a:prstDash val="solid"/>
          </a:ln>
        </p:spPr>
        <p:txBody>
          <a:bodyPr/>
          <a:lstStyle/>
          <a:p>
            <a:endParaRPr lang="en-US"/>
          </a:p>
        </p:txBody>
      </p:sp>
      <p:sp>
        <p:nvSpPr>
          <p:cNvPr id="23" name="Text 20"/>
          <p:cNvSpPr txBox="1"/>
          <p:nvPr/>
        </p:nvSpPr>
        <p:spPr>
          <a:xfrm>
            <a:off x="749808"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Non-financial risk</a:t>
            </a:r>
            <a:endParaRPr lang="en-US" sz="1700" dirty="0"/>
          </a:p>
        </p:txBody>
      </p:sp>
      <p:sp>
        <p:nvSpPr>
          <p:cNvPr id="24" name="Status chip"/>
          <p:cNvSpPr txBox="1"/>
          <p:nvPr/>
        </p:nvSpPr>
        <p:spPr>
          <a:xfrm>
            <a:off x="2603602" y="4151376"/>
            <a:ext cx="1258214"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First target</a:t>
            </a:r>
            <a:endParaRPr lang="en-US" sz="1100" dirty="0"/>
          </a:p>
        </p:txBody>
      </p:sp>
      <p:sp>
        <p:nvSpPr>
          <p:cNvPr id="25" name="Text 22"/>
          <p:cNvSpPr txBox="1"/>
          <p:nvPr/>
        </p:nvSpPr>
        <p:spPr>
          <a:xfrm>
            <a:off x="749808"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ORM and compliance; ORCAP is all NFR today. Organize into folders by subject, not by application.</a:t>
            </a:r>
            <a:endParaRPr lang="en-US" sz="1300" dirty="0"/>
          </a:p>
        </p:txBody>
      </p:sp>
      <p:sp>
        <p:nvSpPr>
          <p:cNvPr id="26" name="Card"/>
          <p:cNvSpPr/>
          <p:nvPr/>
        </p:nvSpPr>
        <p:spPr>
          <a:xfrm>
            <a:off x="4337304" y="3995928"/>
            <a:ext cx="3514344" cy="1325880"/>
          </a:xfrm>
          <a:prstGeom prst="roundRect">
            <a:avLst>
              <a:gd name="adj" fmla="val 5517"/>
            </a:avLst>
          </a:prstGeom>
          <a:solidFill>
            <a:schemeClr val="accent2">
              <a:alpha val="7000"/>
            </a:schemeClr>
          </a:solidFill>
          <a:ln w="12700">
            <a:solidFill>
              <a:schemeClr val="accent2"/>
            </a:solidFill>
            <a:prstDash val="solid"/>
          </a:ln>
        </p:spPr>
        <p:txBody>
          <a:bodyPr/>
          <a:lstStyle/>
          <a:p>
            <a:endParaRPr lang="en-US"/>
          </a:p>
        </p:txBody>
      </p:sp>
      <p:sp>
        <p:nvSpPr>
          <p:cNvPr id="27" name="Text 24"/>
          <p:cNvSpPr txBox="1"/>
          <p:nvPr/>
        </p:nvSpPr>
        <p:spPr>
          <a:xfrm>
            <a:off x="4538472"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Financial risk</a:t>
            </a:r>
            <a:endParaRPr lang="en-US" sz="1700" dirty="0"/>
          </a:p>
        </p:txBody>
      </p:sp>
      <p:sp>
        <p:nvSpPr>
          <p:cNvPr id="28" name="Status chip"/>
          <p:cNvSpPr txBox="1"/>
          <p:nvPr/>
        </p:nvSpPr>
        <p:spPr>
          <a:xfrm>
            <a:off x="7036003" y="4151376"/>
            <a:ext cx="61447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Next</a:t>
            </a:r>
            <a:endParaRPr lang="en-US" sz="1100" dirty="0"/>
          </a:p>
        </p:txBody>
      </p:sp>
      <p:sp>
        <p:nvSpPr>
          <p:cNvPr id="29" name="Text 26"/>
          <p:cNvSpPr txBox="1"/>
          <p:nvPr/>
        </p:nvSpPr>
        <p:spPr>
          <a:xfrm>
            <a:off x="4538472"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Credit 360 and BUSCRT data, once current sourcing is understood.</a:t>
            </a:r>
            <a:endParaRPr lang="en-US" sz="1300" dirty="0"/>
          </a:p>
        </p:txBody>
      </p:sp>
      <p:sp>
        <p:nvSpPr>
          <p:cNvPr id="30" name="Card"/>
          <p:cNvSpPr/>
          <p:nvPr/>
        </p:nvSpPr>
        <p:spPr>
          <a:xfrm>
            <a:off x="8125968" y="3995928"/>
            <a:ext cx="3514344" cy="1325880"/>
          </a:xfrm>
          <a:prstGeom prst="roundRect">
            <a:avLst>
              <a:gd name="adj" fmla="val 5517"/>
            </a:avLst>
          </a:prstGeom>
          <a:solidFill>
            <a:schemeClr val="accent2">
              <a:alpha val="7000"/>
            </a:schemeClr>
          </a:solidFill>
          <a:ln w="12700">
            <a:solidFill>
              <a:schemeClr val="accent2"/>
            </a:solidFill>
            <a:prstDash val="solid"/>
          </a:ln>
        </p:spPr>
        <p:txBody>
          <a:bodyPr/>
          <a:lstStyle/>
          <a:p>
            <a:endParaRPr lang="en-US"/>
          </a:p>
        </p:txBody>
      </p:sp>
      <p:sp>
        <p:nvSpPr>
          <p:cNvPr id="31" name="Text 28"/>
          <p:cNvSpPr txBox="1"/>
          <p:nvPr/>
        </p:nvSpPr>
        <p:spPr>
          <a:xfrm>
            <a:off x="8327136" y="4105656"/>
            <a:ext cx="2194560" cy="365760"/>
          </a:xfrm>
          <a:prstGeom prst="rect">
            <a:avLst/>
          </a:prstGeom>
          <a:noFill/>
          <a:ln/>
        </p:spPr>
        <p:txBody>
          <a:bodyPr wrap="square" lIns="0" tIns="0" rIns="0" bIns="0" rtlCol="0" anchor="t"/>
          <a:lstStyle/>
          <a:p>
            <a:pPr marL="0" indent="0">
              <a:buNone/>
            </a:pPr>
            <a:r>
              <a:rPr lang="en-US" sz="1700" b="1" dirty="0">
                <a:solidFill>
                  <a:schemeClr val="accent2"/>
                </a:solidFill>
              </a:rPr>
              <a:t>Financial crimes</a:t>
            </a:r>
            <a:endParaRPr lang="en-US" sz="1700" dirty="0"/>
          </a:p>
        </p:txBody>
      </p:sp>
      <p:sp>
        <p:nvSpPr>
          <p:cNvPr id="32" name="Status chip"/>
          <p:cNvSpPr txBox="1"/>
          <p:nvPr/>
        </p:nvSpPr>
        <p:spPr>
          <a:xfrm>
            <a:off x="10824667" y="4151376"/>
            <a:ext cx="61447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Next</a:t>
            </a:r>
            <a:endParaRPr lang="en-US" sz="1100" dirty="0"/>
          </a:p>
        </p:txBody>
      </p:sp>
      <p:sp>
        <p:nvSpPr>
          <p:cNvPr id="33" name="Text 30"/>
          <p:cNvSpPr txBox="1"/>
          <p:nvPr/>
        </p:nvSpPr>
        <p:spPr>
          <a:xfrm>
            <a:off x="8327136" y="4526280"/>
            <a:ext cx="3112008" cy="731520"/>
          </a:xfrm>
          <a:prstGeom prst="rect">
            <a:avLst/>
          </a:prstGeom>
          <a:noFill/>
          <a:ln/>
        </p:spPr>
        <p:txBody>
          <a:bodyPr wrap="square" lIns="0" tIns="0" rIns="0" bIns="0" rtlCol="0" anchor="t"/>
          <a:lstStyle/>
          <a:p>
            <a:pPr marL="0" indent="0">
              <a:buNone/>
            </a:pPr>
            <a:r>
              <a:rPr lang="en-US" sz="1300" dirty="0">
                <a:solidFill>
                  <a:schemeClr val="tx1"/>
                </a:solidFill>
              </a:rPr>
              <a:t>FCI and Sentinel; FCTDS data.</a:t>
            </a:r>
            <a:endParaRPr lang="en-US" sz="1300" dirty="0"/>
          </a:p>
        </p:txBody>
      </p:sp>
      <p:sp>
        <p:nvSpPr>
          <p:cNvPr id="34" name="Card"/>
          <p:cNvSpPr/>
          <p:nvPr/>
        </p:nvSpPr>
        <p:spPr>
          <a:xfrm>
            <a:off x="548640" y="5449824"/>
            <a:ext cx="11091672" cy="566928"/>
          </a:xfrm>
          <a:prstGeom prst="roundRect">
            <a:avLst>
              <a:gd name="adj" fmla="val 12903"/>
            </a:avLst>
          </a:prstGeom>
          <a:solidFill>
            <a:schemeClr val="bg1"/>
          </a:solidFill>
          <a:ln w="15875">
            <a:solidFill>
              <a:schemeClr val="accent2"/>
            </a:solidFill>
            <a:prstDash val="solid"/>
          </a:ln>
        </p:spPr>
        <p:txBody>
          <a:bodyPr/>
          <a:lstStyle/>
          <a:p>
            <a:endParaRPr lang="en-US"/>
          </a:p>
        </p:txBody>
      </p:sp>
      <p:sp>
        <p:nvSpPr>
          <p:cNvPr id="35" name="Phased approach circle"/>
          <p:cNvSpPr/>
          <p:nvPr/>
        </p:nvSpPr>
        <p:spPr>
          <a:xfrm>
            <a:off x="713232" y="5541264"/>
            <a:ext cx="384048" cy="384048"/>
          </a:xfrm>
          <a:prstGeom prst="ellipse">
            <a:avLst/>
          </a:prstGeom>
          <a:solidFill>
            <a:schemeClr val="accent2"/>
          </a:solidFill>
          <a:ln/>
        </p:spPr>
        <p:txBody>
          <a:bodyPr/>
          <a:lstStyle/>
          <a:p>
            <a:endParaRPr lang="en-US"/>
          </a:p>
        </p:txBody>
      </p:sp>
      <p:pic>
        <p:nvPicPr>
          <p:cNvPr id="36" name="Phased approach" descr="Phased approach"/>
          <p:cNvPicPr>
            <a:picLocks noChangeAspect="1"/>
          </p:cNvPicPr>
          <p:nvPr/>
        </p:nvPicPr>
        <p:blipFill>
          <a:blip r:embed="rId3"/>
          <a:stretch>
            <a:fillRect/>
          </a:stretch>
        </p:blipFill>
        <p:spPr>
          <a:xfrm>
            <a:off x="797723" y="5625755"/>
            <a:ext cx="215067" cy="215067"/>
          </a:xfrm>
          <a:prstGeom prst="rect">
            <a:avLst/>
          </a:prstGeom>
        </p:spPr>
      </p:pic>
      <p:sp>
        <p:nvSpPr>
          <p:cNvPr id="37" name="Text 33"/>
          <p:cNvSpPr txBox="1"/>
          <p:nvPr/>
        </p:nvSpPr>
        <p:spPr>
          <a:xfrm>
            <a:off x="1234440" y="5449824"/>
            <a:ext cx="10222992" cy="566928"/>
          </a:xfrm>
          <a:prstGeom prst="rect">
            <a:avLst/>
          </a:prstGeom>
          <a:noFill/>
          <a:ln/>
        </p:spPr>
        <p:txBody>
          <a:bodyPr wrap="square" lIns="0" tIns="0" rIns="0" bIns="0" rtlCol="0" anchor="ctr"/>
          <a:lstStyle/>
          <a:p>
            <a:pPr marL="0" indent="0">
              <a:buNone/>
            </a:pPr>
            <a:r>
              <a:rPr lang="en-US" sz="1300" b="1" dirty="0">
                <a:solidFill>
                  <a:schemeClr val="tx1"/>
                </a:solidFill>
              </a:rPr>
              <a:t>Pineapples, kiwis, bananas: </a:t>
            </a:r>
            <a:r>
              <a:rPr lang="en-US" sz="1300" dirty="0">
                <a:solidFill>
                  <a:schemeClr val="tx1"/>
                </a:solidFill>
              </a:rPr>
              <a:t>group data by what it is, not by the application it came from. Start with ORCAP, then build category expertise (e.g., commercial, consumer) over time.</a:t>
            </a:r>
            <a:endParaRPr lang="en-US" sz="13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11</a:t>
            </a:fld>
            <a:endParaRPr lang="en-US"/>
          </a:p>
        </p:txBody>
      </p:sp>
      <p:sp>
        <p:nvSpPr>
          <p:cNvPr id="39" name="Section tag">
            <a:extLst>
              <a:ext uri="{FF2B5EF4-FFF2-40B4-BE49-F238E27FC236}">
                <a16:creationId xmlns:a16="http://schemas.microsoft.com/office/drawing/2014/main" id="{A13D61BC-FED3-6009-1EDB-3C0EA149B9D3}"/>
              </a:ext>
            </a:extLst>
          </p:cNvPr>
          <p:cNvSpPr txBox="1"/>
          <p:nvPr/>
        </p:nvSpPr>
        <p:spPr>
          <a:xfrm>
            <a:off x="548640" y="274320"/>
            <a:ext cx="36255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DATA PLANE LIFECYCLE MANAGEMENT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Data Plane Organization: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WS1 · Organize Risk-Owned Data (ORCAP First)</a:t>
            </a:r>
            <a:endParaRPr lang="en-US" sz="1400" dirty="0"/>
          </a:p>
          <a:p>
            <a:pPr marL="0" indent="0">
              <a:buNone/>
            </a:pPr>
            <a:r>
              <a:rPr lang="en-US" sz="1200" dirty="0">
                <a:solidFill>
                  <a:schemeClr val="bg1"/>
                </a:solidFill>
              </a:rPr>
              <a:t>Pillar 2 workstream · Scope: ORCAP / NFR data on the plane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kern="0" spc="100" dirty="0">
                <a:solidFill>
                  <a:schemeClr val="bg1"/>
                </a:solidFill>
              </a:rPr>
              <a:t>AMBER</a:t>
            </a:r>
            <a:endParaRPr lang="en-US" sz="1300" dirty="0"/>
          </a:p>
        </p:txBody>
      </p:sp>
      <p:sp>
        <p:nvSpPr>
          <p:cNvPr id="26" name="Quadrant card"/>
          <p:cNvSpPr/>
          <p:nvPr/>
        </p:nvSpPr>
        <p:spPr>
          <a:xfrm>
            <a:off x="548640" y="2395728"/>
            <a:ext cx="5408676" cy="1481328"/>
          </a:xfrm>
          <a:prstGeom prst="roundRect">
            <a:avLst>
              <a:gd name="adj" fmla="val 4938"/>
            </a:avLst>
          </a:prstGeom>
          <a:solidFill>
            <a:schemeClr val="bg2"/>
          </a:solidFill>
          <a:ln/>
        </p:spPr>
        <p:txBody>
          <a:bodyPr/>
          <a:lstStyle/>
          <a:p>
            <a:endParaRPr lang="en-US"/>
          </a:p>
        </p:txBody>
      </p:sp>
      <p:sp>
        <p:nvSpPr>
          <p:cNvPr id="27" name="Quadrant card"/>
          <p:cNvSpPr/>
          <p:nvPr/>
        </p:nvSpPr>
        <p:spPr>
          <a:xfrm>
            <a:off x="6231636" y="2395728"/>
            <a:ext cx="5408676" cy="1481328"/>
          </a:xfrm>
          <a:prstGeom prst="roundRect">
            <a:avLst>
              <a:gd name="adj" fmla="val 4938"/>
            </a:avLst>
          </a:prstGeom>
          <a:solidFill>
            <a:schemeClr val="bg2"/>
          </a:solidFill>
          <a:ln/>
        </p:spPr>
        <p:txBody>
          <a:bodyPr/>
          <a:lstStyle/>
          <a:p>
            <a:endParaRPr lang="en-US"/>
          </a:p>
        </p:txBody>
      </p:sp>
      <p:sp>
        <p:nvSpPr>
          <p:cNvPr id="28" name="Quadrant card"/>
          <p:cNvSpPr/>
          <p:nvPr/>
        </p:nvSpPr>
        <p:spPr>
          <a:xfrm>
            <a:off x="548640" y="3968496"/>
            <a:ext cx="5408676" cy="1481328"/>
          </a:xfrm>
          <a:prstGeom prst="roundRect">
            <a:avLst>
              <a:gd name="adj" fmla="val 4938"/>
            </a:avLst>
          </a:prstGeom>
          <a:solidFill>
            <a:schemeClr val="bg2"/>
          </a:solidFill>
          <a:ln/>
        </p:spPr>
        <p:txBody>
          <a:bodyPr/>
          <a:lstStyle/>
          <a:p>
            <a:endParaRPr lang="en-US"/>
          </a:p>
        </p:txBody>
      </p:sp>
      <p:sp>
        <p:nvSpPr>
          <p:cNvPr id="29" name="Quadrant card"/>
          <p:cNvSpPr/>
          <p:nvPr/>
        </p:nvSpPr>
        <p:spPr>
          <a:xfrm>
            <a:off x="6231636" y="3968496"/>
            <a:ext cx="5408676" cy="1481328"/>
          </a:xfrm>
          <a:prstGeom prst="roundRect">
            <a:avLst>
              <a:gd name="adj" fmla="val 4938"/>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097280"/>
          </a:xfrm>
          <a:prstGeom prst="rect">
            <a:avLst/>
          </a:prstGeom>
          <a:noFill/>
          <a:ln/>
        </p:spPr>
        <p:txBody>
          <a:bodyPr wrap="square" lIns="0" tIns="0" rIns="0" bIns="0" rtlCol="0" anchor="t"/>
          <a:lstStyle/>
          <a:p>
            <a:pPr marL="0" indent="0">
              <a:buNone/>
            </a:pPr>
            <a:r>
              <a:rPr lang="en-US" sz="1200" dirty="0">
                <a:solidFill>
                  <a:schemeClr val="tx1"/>
                </a:solidFill>
              </a:rPr>
              <a:t>Organize ORCAP data, all non-financial risk today, by subject instead of by source application. ORCAP goes first because it's the data we control most. Amber until the data plane structure is decided.</a:t>
            </a:r>
            <a:endParaRPr lang="en-US" sz="12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Raw RDS table inventory available as the starting point</a:t>
            </a:r>
            <a:endParaRPr lang="en-US" sz="1200" dirty="0"/>
          </a:p>
          <a:p>
            <a:pPr marL="177800" indent="-177800">
              <a:spcAft>
                <a:spcPts val="300"/>
              </a:spcAft>
              <a:buSzPct val="100000"/>
              <a:buChar char="•"/>
            </a:pPr>
            <a:r>
              <a:rPr lang="en-US" sz="1200" dirty="0">
                <a:solidFill>
                  <a:schemeClr val="tx1"/>
                </a:solidFill>
              </a:rPr>
              <a:t>Plane structure question raised: separate from ADS applications?</a:t>
            </a:r>
            <a:endParaRPr lang="en-US" sz="1200" dirty="0"/>
          </a:p>
          <a:p>
            <a:pPr marL="177800" indent="-177800">
              <a:spcAft>
                <a:spcPts val="300"/>
              </a:spcAft>
              <a:buSzPct val="100000"/>
              <a:buChar char="•"/>
            </a:pPr>
            <a:r>
              <a:rPr lang="en-US" sz="1200" dirty="0">
                <a:solidFill>
                  <a:schemeClr val="tx1"/>
                </a:solidFill>
              </a:rPr>
              <a:t>Subject-based data organization approach proposed </a:t>
            </a:r>
          </a:p>
        </p:txBody>
      </p:sp>
      <p:sp>
        <p:nvSpPr>
          <p:cNvPr id="13" name="Text 10"/>
          <p:cNvSpPr txBox="1"/>
          <p:nvPr/>
        </p:nvSpPr>
        <p:spPr>
          <a:xfrm>
            <a:off x="685800" y="4023360"/>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Finalize target data plane structure and organization · TBD</a:t>
            </a:r>
          </a:p>
          <a:p>
            <a:pPr marL="177800" indent="-177800">
              <a:spcAft>
                <a:spcPts val="300"/>
              </a:spcAft>
              <a:buSzPct val="100000"/>
              <a:buChar char="•"/>
            </a:pPr>
            <a:r>
              <a:rPr lang="en-US" sz="1200" dirty="0">
                <a:solidFill>
                  <a:schemeClr val="tx1"/>
                </a:solidFill>
              </a:rPr>
              <a:t>Map ORCAP tables to the target structure · TBD</a:t>
            </a:r>
            <a:endParaRPr lang="en-US" sz="1200" dirty="0"/>
          </a:p>
          <a:p>
            <a:pPr marL="177800" indent="-177800">
              <a:spcAft>
                <a:spcPts val="300"/>
              </a:spcAft>
              <a:buSzPct val="100000"/>
              <a:buChar char="•"/>
            </a:pPr>
            <a:r>
              <a:rPr lang="en-US" sz="1200" dirty="0">
                <a:solidFill>
                  <a:schemeClr val="tx1"/>
                </a:solidFill>
              </a:rPr>
              <a:t>Establish data plane governance and control framework · TBD </a:t>
            </a:r>
          </a:p>
          <a:p>
            <a:pPr marL="177800" indent="-177800">
              <a:spcAft>
                <a:spcPts val="300"/>
              </a:spcAft>
              <a:buSzPct val="100000"/>
              <a:buChar char="•"/>
            </a:pPr>
            <a:r>
              <a:rPr lang="en-US" sz="1200" dirty="0">
                <a:solidFill>
                  <a:schemeClr val="tx1"/>
                </a:solidFill>
              </a:rPr>
              <a:t>Assess raw-table usage and rationalization opportunities with Pillar 1 · TBD</a:t>
            </a:r>
            <a:endParaRPr lang="en-US" sz="1200" dirty="0"/>
          </a:p>
        </p:txBody>
      </p:sp>
      <p:sp>
        <p:nvSpPr>
          <p:cNvPr id="15" name="Text 12"/>
          <p:cNvSpPr txBox="1"/>
          <p:nvPr/>
        </p:nvSpPr>
        <p:spPr>
          <a:xfrm>
            <a:off x="6368796" y="4023360"/>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315968"/>
            <a:ext cx="5134356" cy="1097280"/>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Target data plane structure and organization pending decision</a:t>
            </a:r>
          </a:p>
          <a:p>
            <a:pPr marL="177800" indent="-177800">
              <a:spcAft>
                <a:spcPts val="300"/>
              </a:spcAft>
              <a:buSzPct val="100000"/>
              <a:buChar char="•"/>
            </a:pPr>
            <a:r>
              <a:rPr lang="en-US" sz="1200" dirty="0">
                <a:solidFill>
                  <a:schemeClr val="tx1"/>
                </a:solidFill>
              </a:rPr>
              <a:t>Limited lineage capabilities may slow usage assessments </a:t>
            </a:r>
          </a:p>
          <a:p>
            <a:pPr marL="177800" indent="-177800">
              <a:spcAft>
                <a:spcPts val="300"/>
              </a:spcAft>
              <a:buSzPct val="100000"/>
              <a:buChar char="•"/>
            </a:pPr>
            <a:r>
              <a:rPr lang="en-US" sz="1200" dirty="0">
                <a:solidFill>
                  <a:schemeClr val="tx1"/>
                </a:solidFill>
              </a:rPr>
              <a:t>Governance and control responsibilities require alignment</a:t>
            </a:r>
          </a:p>
          <a:p>
            <a:pPr marL="177800" indent="-177800">
              <a:spcAft>
                <a:spcPts val="300"/>
              </a:spcAft>
              <a:buSzPct val="100000"/>
              <a:buChar char="•"/>
            </a:pPr>
            <a:r>
              <a:rPr lang="en-US" sz="1200" dirty="0">
                <a:solidFill>
                  <a:schemeClr val="tx1"/>
                </a:solidFill>
              </a:rPr>
              <a:t>DPC year-end migration (dependency)</a:t>
            </a:r>
            <a:endParaRPr lang="en-US" sz="1200" dirty="0"/>
          </a:p>
        </p:txBody>
      </p:sp>
      <p:sp>
        <p:nvSpPr>
          <p:cNvPr id="19" name="Card"/>
          <p:cNvSpPr/>
          <p:nvPr/>
        </p:nvSpPr>
        <p:spPr>
          <a:xfrm>
            <a:off x="548640" y="5522976"/>
            <a:ext cx="11091672" cy="502920"/>
          </a:xfrm>
          <a:prstGeom prst="roundRect">
            <a:avLst>
              <a:gd name="adj" fmla="val 14545"/>
            </a:avLst>
          </a:prstGeom>
          <a:solidFill>
            <a:schemeClr val="bg2"/>
          </a:solidFill>
          <a:ln/>
        </p:spPr>
        <p:txBody>
          <a:bodyPr/>
          <a:lstStyle/>
          <a:p>
            <a:endParaRPr lang="en-US"/>
          </a:p>
        </p:txBody>
      </p:sp>
      <p:sp>
        <p:nvSpPr>
          <p:cNvPr id="20" name="Text 17"/>
          <p:cNvSpPr txBox="1"/>
          <p:nvPr/>
        </p:nvSpPr>
        <p:spPr>
          <a:xfrm>
            <a:off x="749808" y="5522976"/>
            <a:ext cx="8988552" cy="502920"/>
          </a:xfrm>
          <a:prstGeom prst="rect">
            <a:avLst/>
          </a:prstGeom>
          <a:noFill/>
          <a:ln/>
        </p:spPr>
        <p:txBody>
          <a:bodyPr wrap="square" lIns="0" tIns="0" rIns="0" bIns="0" rtlCol="0" anchor="ctr"/>
          <a:lstStyle/>
          <a:p>
            <a:pPr marL="0" indent="0">
              <a:buNone/>
            </a:pPr>
            <a:r>
              <a:rPr lang="en-US" sz="1300" b="1">
                <a:solidFill>
                  <a:schemeClr val="tx1"/>
                </a:solidFill>
              </a:rPr>
              <a:t>WS2 - Organize Business Data: </a:t>
            </a:r>
            <a:r>
              <a:rPr lang="en-US" sz="1300" dirty="0">
                <a:solidFill>
                  <a:schemeClr val="tx1"/>
                </a:solidFill>
              </a:rPr>
              <a:t>starts once current sourcing is understood</a:t>
            </a:r>
            <a:endParaRPr lang="en-US" sz="1300" dirty="0"/>
          </a:p>
        </p:txBody>
      </p:sp>
      <p:sp>
        <p:nvSpPr>
          <p:cNvPr id="21" name="Status chip"/>
          <p:cNvSpPr txBox="1"/>
          <p:nvPr/>
        </p:nvSpPr>
        <p:spPr>
          <a:xfrm>
            <a:off x="10261397" y="5632704"/>
            <a:ext cx="117774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100" b="1" dirty="0">
                <a:solidFill>
                  <a:schemeClr val="tx1"/>
                </a:solidFill>
              </a:rPr>
              <a:t>Not started</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Pillar 3: From Business Demand to Strategic Data Sourcing</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5" name="Start"/>
          <p:cNvSpPr txBox="1"/>
          <p:nvPr/>
        </p:nvSpPr>
        <p:spPr>
          <a:xfrm>
            <a:off x="548640" y="1554480"/>
            <a:ext cx="1828800" cy="914400"/>
          </a:xfrm>
          <a:prstGeom prst="roundRect">
            <a:avLst>
              <a:gd name="adj" fmla="val 8000"/>
            </a:avLst>
          </a:prstGeom>
          <a:solidFill>
            <a:schemeClr val="tx1"/>
          </a:solidFill>
          <a:ln/>
        </p:spPr>
        <p:txBody>
          <a:bodyPr wrap="square" lIns="0" tIns="0" rIns="0" bIns="0" rtlCol="0" anchor="ctr"/>
          <a:lstStyle/>
          <a:p>
            <a:pPr marL="0" indent="0" algn="ctr">
              <a:buNone/>
            </a:pPr>
            <a:r>
              <a:rPr lang="en-US" sz="1400" b="1" dirty="0">
                <a:solidFill>
                  <a:schemeClr val="bg1"/>
                </a:solidFill>
              </a:rPr>
              <a:t>New sourcing request</a:t>
            </a:r>
            <a:endParaRPr lang="en-US" sz="1400" dirty="0"/>
          </a:p>
        </p:txBody>
      </p:sp>
      <p:sp>
        <p:nvSpPr>
          <p:cNvPr id="6" name="Card"/>
          <p:cNvSpPr/>
          <p:nvPr/>
        </p:nvSpPr>
        <p:spPr>
          <a:xfrm>
            <a:off x="2697480" y="1554480"/>
            <a:ext cx="2788920" cy="914400"/>
          </a:xfrm>
          <a:prstGeom prst="roundRect">
            <a:avLst>
              <a:gd name="adj" fmla="val 8000"/>
            </a:avLst>
          </a:prstGeom>
          <a:solidFill>
            <a:schemeClr val="bg1"/>
          </a:solidFill>
          <a:ln w="15875">
            <a:solidFill>
              <a:schemeClr val="accent3"/>
            </a:solidFill>
            <a:prstDash val="solid"/>
          </a:ln>
        </p:spPr>
        <p:txBody>
          <a:bodyPr/>
          <a:lstStyle/>
          <a:p>
            <a:endParaRPr lang="en-US"/>
          </a:p>
        </p:txBody>
      </p:sp>
      <p:sp>
        <p:nvSpPr>
          <p:cNvPr id="7" name="Text 4"/>
          <p:cNvSpPr txBox="1"/>
          <p:nvPr/>
        </p:nvSpPr>
        <p:spPr>
          <a:xfrm>
            <a:off x="2807208" y="1554480"/>
            <a:ext cx="2569464" cy="914400"/>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Business requirements</a:t>
            </a:r>
            <a:endParaRPr lang="en-US" sz="1400" dirty="0"/>
          </a:p>
          <a:p>
            <a:pPr marL="0" indent="0" algn="ctr">
              <a:spcAft>
                <a:spcPts val="200"/>
              </a:spcAft>
              <a:buNone/>
            </a:pPr>
            <a:r>
              <a:rPr lang="en-US" sz="1150" dirty="0">
                <a:solidFill>
                  <a:schemeClr val="tx1"/>
                </a:solidFill>
              </a:rPr>
              <a:t>Capture required data elements, business purpose, and timing through standardized intake and requirements.</a:t>
            </a:r>
            <a:endParaRPr lang="en-US" sz="1400" dirty="0"/>
          </a:p>
        </p:txBody>
      </p:sp>
      <p:sp>
        <p:nvSpPr>
          <p:cNvPr id="8" name="Card"/>
          <p:cNvSpPr/>
          <p:nvPr/>
        </p:nvSpPr>
        <p:spPr>
          <a:xfrm>
            <a:off x="5760720" y="1554480"/>
            <a:ext cx="2331720" cy="914400"/>
          </a:xfrm>
          <a:prstGeom prst="roundRect">
            <a:avLst>
              <a:gd name="adj" fmla="val 8000"/>
            </a:avLst>
          </a:prstGeom>
          <a:solidFill>
            <a:schemeClr val="bg1"/>
          </a:solidFill>
          <a:ln w="22225">
            <a:solidFill>
              <a:schemeClr val="tx1"/>
            </a:solidFill>
            <a:prstDash val="solid"/>
          </a:ln>
        </p:spPr>
        <p:txBody>
          <a:bodyPr/>
          <a:lstStyle/>
          <a:p>
            <a:endParaRPr lang="en-US"/>
          </a:p>
        </p:txBody>
      </p:sp>
      <p:sp>
        <p:nvSpPr>
          <p:cNvPr id="9" name="Text 6"/>
          <p:cNvSpPr txBox="1"/>
          <p:nvPr/>
        </p:nvSpPr>
        <p:spPr>
          <a:xfrm>
            <a:off x="5833872" y="1554480"/>
            <a:ext cx="2185416" cy="914400"/>
          </a:xfrm>
          <a:prstGeom prst="rect">
            <a:avLst/>
          </a:prstGeom>
          <a:noFill/>
          <a:ln/>
        </p:spPr>
        <p:txBody>
          <a:bodyPr wrap="square" lIns="0" tIns="0" rIns="0" bIns="0" rtlCol="0" anchor="ctr"/>
          <a:lstStyle/>
          <a:p>
            <a:pPr marL="0" indent="0" algn="ctr">
              <a:spcAft>
                <a:spcPts val="200"/>
              </a:spcAft>
              <a:buNone/>
            </a:pPr>
            <a:r>
              <a:rPr lang="en-US" sz="1600" b="1" dirty="0">
                <a:solidFill>
                  <a:schemeClr val="tx1"/>
                </a:solidFill>
              </a:rPr>
              <a:t>Already in RDS/DPC?</a:t>
            </a:r>
            <a:endParaRPr lang="en-US" sz="1400" dirty="0"/>
          </a:p>
          <a:p>
            <a:pPr marL="0" indent="0" algn="ctr">
              <a:spcAft>
                <a:spcPts val="200"/>
              </a:spcAft>
              <a:buNone/>
            </a:pPr>
            <a:r>
              <a:rPr lang="en-US" sz="1150" dirty="0">
                <a:solidFill>
                  <a:schemeClr val="tx2"/>
                </a:solidFill>
              </a:rPr>
              <a:t>Assess RDS availability and reuse (</a:t>
            </a:r>
            <a:r>
              <a:rPr lang="en-US" sz="1150" dirty="0" err="1">
                <a:solidFill>
                  <a:schemeClr val="tx2"/>
                </a:solidFill>
              </a:rPr>
              <a:t>Dremio</a:t>
            </a:r>
            <a:r>
              <a:rPr lang="en-US" sz="1150" dirty="0">
                <a:solidFill>
                  <a:schemeClr val="tx2"/>
                </a:solidFill>
              </a:rPr>
              <a:t> today; automated in future).</a:t>
            </a:r>
            <a:endParaRPr lang="en-US" sz="1400" dirty="0"/>
          </a:p>
        </p:txBody>
      </p:sp>
      <p:sp>
        <p:nvSpPr>
          <p:cNvPr id="10" name="Card"/>
          <p:cNvSpPr/>
          <p:nvPr/>
        </p:nvSpPr>
        <p:spPr>
          <a:xfrm>
            <a:off x="8458200" y="1554480"/>
            <a:ext cx="3182112" cy="914400"/>
          </a:xfrm>
          <a:prstGeom prst="roundRect">
            <a:avLst>
              <a:gd name="adj" fmla="val 8000"/>
            </a:avLst>
          </a:prstGeom>
          <a:solidFill>
            <a:schemeClr val="accent1">
              <a:alpha val="10000"/>
            </a:schemeClr>
          </a:solidFill>
          <a:ln w="15875">
            <a:solidFill>
              <a:schemeClr val="accent1"/>
            </a:solidFill>
            <a:prstDash val="solid"/>
          </a:ln>
        </p:spPr>
        <p:txBody>
          <a:bodyPr/>
          <a:lstStyle/>
          <a:p>
            <a:endParaRPr lang="en-US"/>
          </a:p>
        </p:txBody>
      </p:sp>
      <p:sp>
        <p:nvSpPr>
          <p:cNvPr id="11" name="Text 8"/>
          <p:cNvSpPr txBox="1"/>
          <p:nvPr/>
        </p:nvSpPr>
        <p:spPr>
          <a:xfrm>
            <a:off x="8567928" y="1554480"/>
            <a:ext cx="2962656" cy="914400"/>
          </a:xfrm>
          <a:prstGeom prst="rect">
            <a:avLst/>
          </a:prstGeom>
          <a:noFill/>
          <a:ln/>
        </p:spPr>
        <p:txBody>
          <a:bodyPr wrap="square" lIns="0" tIns="0" rIns="0" bIns="0" rtlCol="0" anchor="ctr"/>
          <a:lstStyle/>
          <a:p>
            <a:pPr marL="0" indent="0" algn="ctr">
              <a:spcAft>
                <a:spcPts val="200"/>
              </a:spcAft>
              <a:buNone/>
            </a:pPr>
            <a:r>
              <a:rPr lang="en-US" sz="1400" b="1" dirty="0">
                <a:solidFill>
                  <a:schemeClr val="tx1"/>
                </a:solidFill>
              </a:rPr>
              <a:t>Map to Existing RDS/DPC Data</a:t>
            </a:r>
            <a:endParaRPr lang="en-US" sz="1400" dirty="0"/>
          </a:p>
          <a:p>
            <a:pPr marL="0" indent="0" algn="ctr">
              <a:spcAft>
                <a:spcPts val="200"/>
              </a:spcAft>
              <a:buNone/>
            </a:pPr>
            <a:r>
              <a:rPr lang="en-US" sz="1150" dirty="0">
                <a:solidFill>
                  <a:schemeClr val="tx1"/>
                </a:solidFill>
              </a:rPr>
              <a:t>Validate alignment with business requirements and reuse available data leveraging Pillar 2’s baseline</a:t>
            </a:r>
            <a:endParaRPr lang="en-US" sz="1400" dirty="0"/>
          </a:p>
        </p:txBody>
      </p:sp>
      <p:sp>
        <p:nvSpPr>
          <p:cNvPr id="12" name="Connector"/>
          <p:cNvSpPr/>
          <p:nvPr/>
        </p:nvSpPr>
        <p:spPr>
          <a:xfrm>
            <a:off x="2395728" y="2011680"/>
            <a:ext cx="283464" cy="0"/>
          </a:xfrm>
          <a:prstGeom prst="line">
            <a:avLst/>
          </a:prstGeom>
          <a:noFill/>
          <a:ln w="22225">
            <a:solidFill>
              <a:schemeClr val="tx1"/>
            </a:solidFill>
            <a:prstDash val="solid"/>
            <a:tailEnd type="triangle"/>
          </a:ln>
        </p:spPr>
        <p:txBody>
          <a:bodyPr/>
          <a:lstStyle/>
          <a:p>
            <a:endParaRPr lang="en-US"/>
          </a:p>
        </p:txBody>
      </p:sp>
      <p:sp>
        <p:nvSpPr>
          <p:cNvPr id="13" name="Connector"/>
          <p:cNvSpPr/>
          <p:nvPr/>
        </p:nvSpPr>
        <p:spPr>
          <a:xfrm>
            <a:off x="5504688" y="2011680"/>
            <a:ext cx="237744" cy="0"/>
          </a:xfrm>
          <a:prstGeom prst="line">
            <a:avLst/>
          </a:prstGeom>
          <a:noFill/>
          <a:ln w="22225">
            <a:solidFill>
              <a:schemeClr val="tx1"/>
            </a:solidFill>
            <a:prstDash val="solid"/>
            <a:tailEnd type="triangle"/>
          </a:ln>
        </p:spPr>
        <p:txBody>
          <a:bodyPr/>
          <a:lstStyle/>
          <a:p>
            <a:endParaRPr lang="en-US"/>
          </a:p>
        </p:txBody>
      </p:sp>
      <p:sp>
        <p:nvSpPr>
          <p:cNvPr id="14" name="Connector"/>
          <p:cNvSpPr/>
          <p:nvPr/>
        </p:nvSpPr>
        <p:spPr>
          <a:xfrm>
            <a:off x="8110728" y="2011680"/>
            <a:ext cx="329184" cy="0"/>
          </a:xfrm>
          <a:prstGeom prst="line">
            <a:avLst/>
          </a:prstGeom>
          <a:noFill/>
          <a:ln w="22225">
            <a:solidFill>
              <a:schemeClr val="accent1"/>
            </a:solidFill>
            <a:prstDash val="solid"/>
            <a:tailEnd type="triangle"/>
          </a:ln>
        </p:spPr>
        <p:txBody>
          <a:bodyPr/>
          <a:lstStyle/>
          <a:p>
            <a:endParaRPr lang="en-US"/>
          </a:p>
        </p:txBody>
      </p:sp>
      <p:sp>
        <p:nvSpPr>
          <p:cNvPr id="15" name="Text 12"/>
          <p:cNvSpPr txBox="1"/>
          <p:nvPr/>
        </p:nvSpPr>
        <p:spPr>
          <a:xfrm>
            <a:off x="8119872" y="1664208"/>
            <a:ext cx="329184" cy="237744"/>
          </a:xfrm>
          <a:prstGeom prst="rect">
            <a:avLst/>
          </a:prstGeom>
          <a:noFill/>
          <a:ln/>
        </p:spPr>
        <p:txBody>
          <a:bodyPr wrap="square" lIns="0" tIns="0" rIns="0" bIns="0" rtlCol="0" anchor="t"/>
          <a:lstStyle/>
          <a:p>
            <a:pPr marL="0" indent="0" algn="ctr">
              <a:buNone/>
            </a:pPr>
            <a:r>
              <a:rPr lang="en-US" sz="1100" b="1" i="1" dirty="0">
                <a:solidFill>
                  <a:schemeClr val="accent1"/>
                </a:solidFill>
              </a:rPr>
              <a:t>Yes</a:t>
            </a:r>
            <a:endParaRPr lang="en-US" sz="1100" dirty="0"/>
          </a:p>
        </p:txBody>
      </p:sp>
      <p:sp>
        <p:nvSpPr>
          <p:cNvPr id="16" name="Connector"/>
          <p:cNvSpPr/>
          <p:nvPr/>
        </p:nvSpPr>
        <p:spPr>
          <a:xfrm>
            <a:off x="6926580" y="2487168"/>
            <a:ext cx="0" cy="329184"/>
          </a:xfrm>
          <a:prstGeom prst="line">
            <a:avLst/>
          </a:prstGeom>
          <a:noFill/>
          <a:ln w="22225">
            <a:solidFill>
              <a:schemeClr val="accent4"/>
            </a:solidFill>
            <a:prstDash val="solid"/>
            <a:tailEnd type="triangle"/>
          </a:ln>
        </p:spPr>
        <p:txBody>
          <a:bodyPr/>
          <a:lstStyle/>
          <a:p>
            <a:endParaRPr lang="en-US"/>
          </a:p>
        </p:txBody>
      </p:sp>
      <p:sp>
        <p:nvSpPr>
          <p:cNvPr id="17" name="Text 14"/>
          <p:cNvSpPr txBox="1"/>
          <p:nvPr/>
        </p:nvSpPr>
        <p:spPr>
          <a:xfrm>
            <a:off x="7022592" y="2514600"/>
            <a:ext cx="365760" cy="237744"/>
          </a:xfrm>
          <a:prstGeom prst="rect">
            <a:avLst/>
          </a:prstGeom>
          <a:noFill/>
          <a:ln/>
        </p:spPr>
        <p:txBody>
          <a:bodyPr wrap="square" lIns="0" tIns="0" rIns="0" bIns="0" rtlCol="0" anchor="t"/>
          <a:lstStyle/>
          <a:p>
            <a:pPr marL="0" indent="0">
              <a:buNone/>
            </a:pPr>
            <a:r>
              <a:rPr lang="en-US" sz="1100" b="1" i="1" dirty="0">
                <a:solidFill>
                  <a:schemeClr val="accent4"/>
                </a:solidFill>
              </a:rPr>
              <a:t>No</a:t>
            </a:r>
            <a:endParaRPr lang="en-US" sz="1100" dirty="0"/>
          </a:p>
        </p:txBody>
      </p:sp>
      <p:sp>
        <p:nvSpPr>
          <p:cNvPr id="18" name="Card"/>
          <p:cNvSpPr/>
          <p:nvPr/>
        </p:nvSpPr>
        <p:spPr>
          <a:xfrm>
            <a:off x="3108960" y="2834640"/>
            <a:ext cx="4983480" cy="457200"/>
          </a:xfrm>
          <a:prstGeom prst="roundRect">
            <a:avLst>
              <a:gd name="adj" fmla="val 16000"/>
            </a:avLst>
          </a:prstGeom>
          <a:solidFill>
            <a:schemeClr val="bg1"/>
          </a:solidFill>
          <a:ln w="15875">
            <a:solidFill>
              <a:schemeClr val="tx1"/>
            </a:solidFill>
            <a:prstDash val="solid"/>
          </a:ln>
        </p:spPr>
        <p:txBody>
          <a:bodyPr/>
          <a:lstStyle/>
          <a:p>
            <a:endParaRPr lang="en-US"/>
          </a:p>
        </p:txBody>
      </p:sp>
      <p:sp>
        <p:nvSpPr>
          <p:cNvPr id="19" name="Text 16"/>
          <p:cNvSpPr txBox="1"/>
          <p:nvPr/>
        </p:nvSpPr>
        <p:spPr>
          <a:xfrm>
            <a:off x="3108960" y="2834640"/>
            <a:ext cx="4983480" cy="457200"/>
          </a:xfrm>
          <a:prstGeom prst="rect">
            <a:avLst/>
          </a:prstGeom>
          <a:noFill/>
          <a:ln/>
        </p:spPr>
        <p:txBody>
          <a:bodyPr wrap="square" lIns="0" tIns="0" rIns="0" bIns="0" rtlCol="0" anchor="ctr"/>
          <a:lstStyle/>
          <a:p>
            <a:pPr marL="0" indent="0" algn="ctr">
              <a:buNone/>
            </a:pPr>
            <a:r>
              <a:rPr lang="en-US" sz="1400" b="1" dirty="0">
                <a:solidFill>
                  <a:schemeClr val="tx1"/>
                </a:solidFill>
              </a:rPr>
              <a:t>Determine Authoritative Source &amp; Sourcing Path</a:t>
            </a:r>
            <a:endParaRPr lang="en-US" sz="1400" dirty="0"/>
          </a:p>
        </p:txBody>
      </p:sp>
      <p:sp>
        <p:nvSpPr>
          <p:cNvPr id="20" name="Connector"/>
          <p:cNvSpPr/>
          <p:nvPr/>
        </p:nvSpPr>
        <p:spPr>
          <a:xfrm>
            <a:off x="1737360" y="3456432"/>
            <a:ext cx="5120640" cy="0"/>
          </a:xfrm>
          <a:prstGeom prst="line">
            <a:avLst/>
          </a:prstGeom>
          <a:noFill/>
          <a:ln w="15875">
            <a:solidFill>
              <a:schemeClr val="tx1"/>
            </a:solidFill>
            <a:prstDash val="solid"/>
          </a:ln>
        </p:spPr>
        <p:txBody>
          <a:bodyPr/>
          <a:lstStyle/>
          <a:p>
            <a:endParaRPr lang="en-US"/>
          </a:p>
        </p:txBody>
      </p:sp>
      <p:sp>
        <p:nvSpPr>
          <p:cNvPr id="21" name="Connector"/>
          <p:cNvSpPr/>
          <p:nvPr/>
        </p:nvSpPr>
        <p:spPr>
          <a:xfrm>
            <a:off x="5600700" y="3291840"/>
            <a:ext cx="0" cy="164592"/>
          </a:xfrm>
          <a:prstGeom prst="line">
            <a:avLst/>
          </a:prstGeom>
          <a:noFill/>
          <a:ln w="15875">
            <a:solidFill>
              <a:schemeClr val="tx1"/>
            </a:solidFill>
            <a:prstDash val="solid"/>
          </a:ln>
        </p:spPr>
        <p:txBody>
          <a:bodyPr/>
          <a:lstStyle/>
          <a:p>
            <a:endParaRPr lang="en-US"/>
          </a:p>
        </p:txBody>
      </p:sp>
      <p:sp>
        <p:nvSpPr>
          <p:cNvPr id="22" name="Connector"/>
          <p:cNvSpPr/>
          <p:nvPr/>
        </p:nvSpPr>
        <p:spPr>
          <a:xfrm>
            <a:off x="1737360" y="3456432"/>
            <a:ext cx="0" cy="137160"/>
          </a:xfrm>
          <a:prstGeom prst="line">
            <a:avLst/>
          </a:prstGeom>
          <a:noFill/>
          <a:ln w="15875">
            <a:solidFill>
              <a:schemeClr val="tx1"/>
            </a:solidFill>
            <a:prstDash val="solid"/>
            <a:tailEnd type="triangle"/>
          </a:ln>
        </p:spPr>
        <p:txBody>
          <a:bodyPr/>
          <a:lstStyle/>
          <a:p>
            <a:endParaRPr lang="en-US"/>
          </a:p>
        </p:txBody>
      </p:sp>
      <p:sp>
        <p:nvSpPr>
          <p:cNvPr id="23" name="Connector"/>
          <p:cNvSpPr/>
          <p:nvPr/>
        </p:nvSpPr>
        <p:spPr>
          <a:xfrm>
            <a:off x="4297680" y="3456432"/>
            <a:ext cx="0" cy="137160"/>
          </a:xfrm>
          <a:prstGeom prst="line">
            <a:avLst/>
          </a:prstGeom>
          <a:noFill/>
          <a:ln w="15875">
            <a:solidFill>
              <a:schemeClr val="tx1"/>
            </a:solidFill>
            <a:prstDash val="solid"/>
            <a:tailEnd type="triangle"/>
          </a:ln>
        </p:spPr>
        <p:txBody>
          <a:bodyPr/>
          <a:lstStyle/>
          <a:p>
            <a:endParaRPr lang="en-US"/>
          </a:p>
        </p:txBody>
      </p:sp>
      <p:sp>
        <p:nvSpPr>
          <p:cNvPr id="24" name="Connector"/>
          <p:cNvSpPr/>
          <p:nvPr/>
        </p:nvSpPr>
        <p:spPr>
          <a:xfrm>
            <a:off x="6858000" y="3456432"/>
            <a:ext cx="0" cy="137160"/>
          </a:xfrm>
          <a:prstGeom prst="line">
            <a:avLst/>
          </a:prstGeom>
          <a:noFill/>
          <a:ln w="15875">
            <a:solidFill>
              <a:schemeClr val="tx1"/>
            </a:solidFill>
            <a:prstDash val="solid"/>
            <a:tailEnd type="triangle"/>
          </a:ln>
        </p:spPr>
        <p:txBody>
          <a:bodyPr/>
          <a:lstStyle/>
          <a:p>
            <a:endParaRPr lang="en-US"/>
          </a:p>
        </p:txBody>
      </p:sp>
      <p:sp>
        <p:nvSpPr>
          <p:cNvPr id="25" name="Card"/>
          <p:cNvSpPr/>
          <p:nvPr/>
        </p:nvSpPr>
        <p:spPr>
          <a:xfrm>
            <a:off x="548640" y="3611880"/>
            <a:ext cx="2377440" cy="1481328"/>
          </a:xfrm>
          <a:prstGeom prst="roundRect">
            <a:avLst>
              <a:gd name="adj" fmla="val 4938"/>
            </a:avLst>
          </a:prstGeom>
          <a:solidFill>
            <a:schemeClr val="bg1"/>
          </a:solidFill>
          <a:ln w="15875">
            <a:solidFill>
              <a:schemeClr val="accent1"/>
            </a:solidFill>
            <a:prstDash val="solid"/>
          </a:ln>
        </p:spPr>
        <p:txBody>
          <a:bodyPr/>
          <a:lstStyle/>
          <a:p>
            <a:endParaRPr lang="en-US"/>
          </a:p>
        </p:txBody>
      </p:sp>
      <p:sp>
        <p:nvSpPr>
          <p:cNvPr id="26" name="Text 23"/>
          <p:cNvSpPr txBox="1"/>
          <p:nvPr/>
        </p:nvSpPr>
        <p:spPr>
          <a:xfrm>
            <a:off x="66751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APPROVED ADS AVAILABLE</a:t>
            </a:r>
            <a:endParaRPr lang="en-US" sz="1400" dirty="0"/>
          </a:p>
          <a:p>
            <a:pPr marL="0" indent="0">
              <a:spcAft>
                <a:spcPts val="300"/>
              </a:spcAft>
              <a:buNone/>
            </a:pPr>
            <a:r>
              <a:rPr lang="en-US" sz="1600" b="1" dirty="0">
                <a:solidFill>
                  <a:schemeClr val="accent1"/>
                </a:solidFill>
              </a:rPr>
              <a:t>Strategic</a:t>
            </a:r>
            <a:endParaRPr lang="en-US" sz="1400" dirty="0"/>
          </a:p>
          <a:p>
            <a:pPr marL="0" indent="0">
              <a:spcAft>
                <a:spcPts val="300"/>
              </a:spcAft>
              <a:buNone/>
            </a:pPr>
            <a:r>
              <a:rPr lang="en-US" sz="1150" dirty="0">
                <a:solidFill>
                  <a:schemeClr val="tx1"/>
                </a:solidFill>
              </a:rPr>
              <a:t>Source through the common data plane using the designated strategic ADS (one of the CDO's 76).</a:t>
            </a:r>
            <a:endParaRPr lang="en-US" sz="1400" dirty="0"/>
          </a:p>
        </p:txBody>
      </p:sp>
      <p:sp>
        <p:nvSpPr>
          <p:cNvPr id="27" name="Card"/>
          <p:cNvSpPr/>
          <p:nvPr/>
        </p:nvSpPr>
        <p:spPr>
          <a:xfrm>
            <a:off x="3108960" y="3611880"/>
            <a:ext cx="2377440" cy="1481328"/>
          </a:xfrm>
          <a:prstGeom prst="roundRect">
            <a:avLst>
              <a:gd name="adj" fmla="val 4938"/>
            </a:avLst>
          </a:prstGeom>
          <a:solidFill>
            <a:schemeClr val="bg1"/>
          </a:solidFill>
          <a:ln w="15875">
            <a:solidFill>
              <a:schemeClr val="accent3"/>
            </a:solidFill>
            <a:prstDash val="solid"/>
          </a:ln>
        </p:spPr>
        <p:txBody>
          <a:bodyPr/>
          <a:lstStyle/>
          <a:p>
            <a:endParaRPr lang="en-US"/>
          </a:p>
        </p:txBody>
      </p:sp>
      <p:sp>
        <p:nvSpPr>
          <p:cNvPr id="28" name="Text 25"/>
          <p:cNvSpPr txBox="1"/>
          <p:nvPr/>
        </p:nvSpPr>
        <p:spPr>
          <a:xfrm>
            <a:off x="322783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STRATEGIC ADS NOT YET AVAILABLE</a:t>
            </a:r>
            <a:endParaRPr lang="en-US" sz="1400" dirty="0"/>
          </a:p>
          <a:p>
            <a:pPr marL="0" indent="0">
              <a:spcAft>
                <a:spcPts val="300"/>
              </a:spcAft>
              <a:buNone/>
            </a:pPr>
            <a:r>
              <a:rPr lang="en-US" sz="1600" b="1" dirty="0">
                <a:solidFill>
                  <a:schemeClr val="accent3"/>
                </a:solidFill>
              </a:rPr>
              <a:t>Justified tactical</a:t>
            </a:r>
            <a:endParaRPr lang="en-US" sz="1400" dirty="0"/>
          </a:p>
          <a:p>
            <a:pPr marL="0" indent="0">
              <a:spcAft>
                <a:spcPts val="300"/>
              </a:spcAft>
              <a:buNone/>
            </a:pPr>
            <a:r>
              <a:rPr lang="en-US" sz="1150" dirty="0">
                <a:solidFill>
                  <a:schemeClr val="tx1"/>
                </a:solidFill>
              </a:rPr>
              <a:t>Allow interim sourcing with documented justification and approval, with a defined path to strategic sourcing.</a:t>
            </a:r>
            <a:endParaRPr lang="en-US" sz="1400" dirty="0"/>
          </a:p>
        </p:txBody>
      </p:sp>
      <p:sp>
        <p:nvSpPr>
          <p:cNvPr id="29" name="Card"/>
          <p:cNvSpPr/>
          <p:nvPr/>
        </p:nvSpPr>
        <p:spPr>
          <a:xfrm>
            <a:off x="5669280" y="3611880"/>
            <a:ext cx="2377440" cy="1481328"/>
          </a:xfrm>
          <a:prstGeom prst="roundRect">
            <a:avLst>
              <a:gd name="adj" fmla="val 4938"/>
            </a:avLst>
          </a:prstGeom>
          <a:solidFill>
            <a:schemeClr val="bg1"/>
          </a:solidFill>
          <a:ln w="15875">
            <a:solidFill>
              <a:schemeClr val="accent4"/>
            </a:solidFill>
            <a:prstDash val="solid"/>
          </a:ln>
        </p:spPr>
        <p:txBody>
          <a:bodyPr/>
          <a:lstStyle/>
          <a:p>
            <a:endParaRPr lang="en-US"/>
          </a:p>
        </p:txBody>
      </p:sp>
      <p:sp>
        <p:nvSpPr>
          <p:cNvPr id="30" name="Text 27"/>
          <p:cNvSpPr txBox="1"/>
          <p:nvPr/>
        </p:nvSpPr>
        <p:spPr>
          <a:xfrm>
            <a:off x="5788152" y="3685032"/>
            <a:ext cx="2139696" cy="1371600"/>
          </a:xfrm>
          <a:prstGeom prst="rect">
            <a:avLst/>
          </a:prstGeom>
          <a:noFill/>
          <a:ln/>
        </p:spPr>
        <p:txBody>
          <a:bodyPr wrap="square" lIns="0" tIns="0" rIns="0" bIns="0" rtlCol="0" anchor="t"/>
          <a:lstStyle/>
          <a:p>
            <a:pPr marL="0" indent="0">
              <a:spcAft>
                <a:spcPts val="300"/>
              </a:spcAft>
              <a:buNone/>
            </a:pPr>
            <a:r>
              <a:rPr lang="en-US" sz="900" b="1" kern="0" spc="100" dirty="0">
                <a:solidFill>
                  <a:schemeClr val="tx2"/>
                </a:solidFill>
              </a:rPr>
              <a:t>NO VIABLE SOURCING OPTION</a:t>
            </a:r>
            <a:endParaRPr lang="en-US" sz="1400" dirty="0"/>
          </a:p>
          <a:p>
            <a:pPr marL="0" indent="0">
              <a:spcAft>
                <a:spcPts val="300"/>
              </a:spcAft>
              <a:buNone/>
            </a:pPr>
            <a:r>
              <a:rPr lang="en-US" sz="1600" b="1" dirty="0">
                <a:solidFill>
                  <a:schemeClr val="accent4"/>
                </a:solidFill>
              </a:rPr>
              <a:t>Escalate</a:t>
            </a:r>
            <a:endParaRPr lang="en-US" sz="1400" dirty="0"/>
          </a:p>
          <a:p>
            <a:pPr marL="0" indent="0">
              <a:spcAft>
                <a:spcPts val="300"/>
              </a:spcAft>
              <a:buNone/>
            </a:pPr>
            <a:r>
              <a:rPr lang="en-US" sz="1150" dirty="0">
                <a:solidFill>
                  <a:schemeClr val="tx1"/>
                </a:solidFill>
              </a:rPr>
              <a:t>Engage the owning data domain to identify an authoritative source and resolve sourcing gaps.</a:t>
            </a:r>
            <a:endParaRPr lang="en-US" sz="1400" dirty="0"/>
          </a:p>
        </p:txBody>
      </p:sp>
      <p:sp>
        <p:nvSpPr>
          <p:cNvPr id="31" name="Card"/>
          <p:cNvSpPr/>
          <p:nvPr/>
        </p:nvSpPr>
        <p:spPr>
          <a:xfrm>
            <a:off x="8458200" y="3611880"/>
            <a:ext cx="3182112" cy="1783080"/>
          </a:xfrm>
          <a:prstGeom prst="roundRect">
            <a:avLst>
              <a:gd name="adj" fmla="val 4103"/>
            </a:avLst>
          </a:prstGeom>
          <a:solidFill>
            <a:schemeClr val="accent2">
              <a:alpha val="12000"/>
            </a:schemeClr>
          </a:solidFill>
          <a:ln w="22225">
            <a:solidFill>
              <a:schemeClr val="accent2"/>
            </a:solidFill>
            <a:prstDash val="solid"/>
          </a:ln>
        </p:spPr>
        <p:txBody>
          <a:bodyPr/>
          <a:lstStyle/>
          <a:p>
            <a:endParaRPr lang="en-US"/>
          </a:p>
        </p:txBody>
      </p:sp>
      <p:sp>
        <p:nvSpPr>
          <p:cNvPr id="32" name="Text 29"/>
          <p:cNvSpPr txBox="1"/>
          <p:nvPr/>
        </p:nvSpPr>
        <p:spPr>
          <a:xfrm>
            <a:off x="8595360" y="3703320"/>
            <a:ext cx="2907792" cy="1645920"/>
          </a:xfrm>
          <a:prstGeom prst="rect">
            <a:avLst/>
          </a:prstGeom>
          <a:noFill/>
          <a:ln/>
        </p:spPr>
        <p:txBody>
          <a:bodyPr wrap="square" lIns="0" tIns="0" rIns="0" bIns="0" rtlCol="0" anchor="t"/>
          <a:lstStyle/>
          <a:p>
            <a:pPr marL="0" indent="0">
              <a:spcAft>
                <a:spcPts val="300"/>
              </a:spcAft>
              <a:buNone/>
            </a:pPr>
            <a:r>
              <a:rPr lang="en-US" sz="1000" b="1" kern="0" spc="100" dirty="0">
                <a:solidFill>
                  <a:schemeClr val="accent2"/>
                </a:solidFill>
              </a:rPr>
              <a:t>PILLAR 2</a:t>
            </a:r>
            <a:endParaRPr lang="en-US" sz="1400" dirty="0"/>
          </a:p>
          <a:p>
            <a:pPr marL="0" indent="0">
              <a:spcAft>
                <a:spcPts val="300"/>
              </a:spcAft>
              <a:buNone/>
            </a:pPr>
            <a:r>
              <a:rPr lang="en-US" sz="1500" b="1" dirty="0">
                <a:solidFill>
                  <a:schemeClr val="accent2"/>
                </a:solidFill>
              </a:rPr>
              <a:t>Existing &amp; Tactical Sourcing Rationalization</a:t>
            </a:r>
          </a:p>
          <a:p>
            <a:pPr marL="0" indent="0">
              <a:spcAft>
                <a:spcPts val="300"/>
              </a:spcAft>
              <a:buNone/>
            </a:pPr>
            <a:r>
              <a:rPr lang="en-US" sz="1150" dirty="0">
                <a:solidFill>
                  <a:schemeClr val="tx1"/>
                </a:solidFill>
              </a:rPr>
              <a:t>Baseline, re-plumb to strategic, and purge the tactical copy. Re-plumbed sources come back through Pillar 3 as new requests.</a:t>
            </a:r>
            <a:endParaRPr lang="en-US" sz="1400" dirty="0"/>
          </a:p>
        </p:txBody>
      </p:sp>
      <p:sp>
        <p:nvSpPr>
          <p:cNvPr id="33" name="Connector"/>
          <p:cNvSpPr/>
          <p:nvPr/>
        </p:nvSpPr>
        <p:spPr>
          <a:xfrm>
            <a:off x="10049256" y="2487168"/>
            <a:ext cx="0" cy="1088136"/>
          </a:xfrm>
          <a:prstGeom prst="line">
            <a:avLst/>
          </a:prstGeom>
          <a:noFill/>
          <a:ln w="25400">
            <a:solidFill>
              <a:schemeClr val="accent1"/>
            </a:solidFill>
            <a:prstDash val="solid"/>
            <a:tailEnd type="triangle"/>
          </a:ln>
        </p:spPr>
        <p:txBody>
          <a:bodyPr/>
          <a:lstStyle/>
          <a:p>
            <a:endParaRPr lang="en-US"/>
          </a:p>
        </p:txBody>
      </p:sp>
      <p:sp>
        <p:nvSpPr>
          <p:cNvPr id="34" name="Text 31"/>
          <p:cNvSpPr txBox="1"/>
          <p:nvPr/>
        </p:nvSpPr>
        <p:spPr>
          <a:xfrm>
            <a:off x="10140696" y="2743200"/>
            <a:ext cx="1481328" cy="685800"/>
          </a:xfrm>
          <a:prstGeom prst="rect">
            <a:avLst/>
          </a:prstGeom>
          <a:noFill/>
          <a:ln/>
        </p:spPr>
        <p:txBody>
          <a:bodyPr wrap="square" lIns="0" tIns="0" rIns="0" bIns="0" rtlCol="0" anchor="t"/>
          <a:lstStyle/>
          <a:p>
            <a:pPr marL="0" indent="0">
              <a:buNone/>
            </a:pPr>
            <a:r>
              <a:rPr lang="en-US" sz="1050" i="1" dirty="0">
                <a:solidFill>
                  <a:schemeClr val="accent1"/>
                </a:solidFill>
              </a:rPr>
              <a:t>Refer to Pillar 2 if existing sourcing requires rationalization</a:t>
            </a:r>
            <a:endParaRPr lang="en-US" sz="1050" dirty="0"/>
          </a:p>
        </p:txBody>
      </p:sp>
      <p:sp>
        <p:nvSpPr>
          <p:cNvPr id="35" name="Connector"/>
          <p:cNvSpPr/>
          <p:nvPr/>
        </p:nvSpPr>
        <p:spPr>
          <a:xfrm>
            <a:off x="4297680" y="5093208"/>
            <a:ext cx="0" cy="182880"/>
          </a:xfrm>
          <a:prstGeom prst="line">
            <a:avLst/>
          </a:prstGeom>
          <a:noFill/>
          <a:ln w="25400">
            <a:solidFill>
              <a:schemeClr val="accent3"/>
            </a:solidFill>
            <a:prstDash val="solid"/>
          </a:ln>
        </p:spPr>
        <p:txBody>
          <a:bodyPr/>
          <a:lstStyle/>
          <a:p>
            <a:endParaRPr lang="en-US"/>
          </a:p>
        </p:txBody>
      </p:sp>
      <p:sp>
        <p:nvSpPr>
          <p:cNvPr id="36" name="Connector"/>
          <p:cNvSpPr/>
          <p:nvPr/>
        </p:nvSpPr>
        <p:spPr>
          <a:xfrm>
            <a:off x="4297680" y="5276088"/>
            <a:ext cx="4142232" cy="0"/>
          </a:xfrm>
          <a:prstGeom prst="line">
            <a:avLst/>
          </a:prstGeom>
          <a:noFill/>
          <a:ln w="25400">
            <a:solidFill>
              <a:schemeClr val="accent3"/>
            </a:solidFill>
            <a:prstDash val="solid"/>
            <a:tailEnd type="triangle"/>
          </a:ln>
        </p:spPr>
        <p:txBody>
          <a:bodyPr/>
          <a:lstStyle/>
          <a:p>
            <a:endParaRPr lang="en-US"/>
          </a:p>
        </p:txBody>
      </p:sp>
      <p:sp>
        <p:nvSpPr>
          <p:cNvPr id="37" name="Text 34"/>
          <p:cNvSpPr txBox="1"/>
          <p:nvPr/>
        </p:nvSpPr>
        <p:spPr>
          <a:xfrm>
            <a:off x="4389120" y="5294376"/>
            <a:ext cx="3657600" cy="256032"/>
          </a:xfrm>
          <a:prstGeom prst="rect">
            <a:avLst/>
          </a:prstGeom>
          <a:noFill/>
          <a:ln/>
        </p:spPr>
        <p:txBody>
          <a:bodyPr wrap="square" lIns="0" tIns="0" rIns="0" bIns="0" rtlCol="0" anchor="t"/>
          <a:lstStyle/>
          <a:p>
            <a:pPr marL="0" indent="0">
              <a:buNone/>
            </a:pPr>
            <a:r>
              <a:rPr lang="en-US" sz="1050" i="1" dirty="0">
                <a:solidFill>
                  <a:schemeClr val="accent3"/>
                </a:solidFill>
              </a:rPr>
              <a:t>Tactical sourcing tracked for future strategic migration</a:t>
            </a:r>
            <a:endParaRPr lang="en-US" sz="1050" dirty="0"/>
          </a:p>
        </p:txBody>
      </p:sp>
      <p:sp>
        <p:nvSpPr>
          <p:cNvPr id="38" name="Text 35"/>
          <p:cNvSpPr txBox="1"/>
          <p:nvPr/>
        </p:nvSpPr>
        <p:spPr>
          <a:xfrm>
            <a:off x="548640" y="5760720"/>
            <a:ext cx="11091672" cy="548640"/>
          </a:xfrm>
          <a:prstGeom prst="rect">
            <a:avLst/>
          </a:prstGeom>
          <a:noFill/>
          <a:ln/>
        </p:spPr>
        <p:txBody>
          <a:bodyPr wrap="square" lIns="0" tIns="0" rIns="0" bIns="0" rtlCol="0" anchor="ctr"/>
          <a:lstStyle/>
          <a:p>
            <a:pPr marL="0" indent="0">
              <a:buNone/>
            </a:pPr>
            <a:r>
              <a:rPr lang="en-US" sz="1200" b="1" i="1" dirty="0">
                <a:solidFill>
                  <a:schemeClr val="tx1"/>
                </a:solidFill>
              </a:rPr>
              <a:t>Decision governance: </a:t>
            </a:r>
            <a:r>
              <a:rPr lang="en-US" sz="1200" i="1" dirty="0">
                <a:solidFill>
                  <a:schemeClr val="tx1"/>
                </a:solidFill>
              </a:rPr>
              <a:t>Pillar leads validate business requirements and recommend sourcing approaches. Tactical exceptions require approval, while requests without sufficient business justification are declined or deferred.</a:t>
            </a:r>
            <a:endParaRPr lang="en-US" sz="12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Define the Business Need, Not Just the Data Elements</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27" name="Quote box"/>
          <p:cNvSpPr/>
          <p:nvPr/>
        </p:nvSpPr>
        <p:spPr>
          <a:xfrm>
            <a:off x="548640" y="1554480"/>
            <a:ext cx="5943600" cy="1517904"/>
          </a:xfrm>
          <a:prstGeom prst="roundRect">
            <a:avLst>
              <a:gd name="adj" fmla="val 4819"/>
            </a:avLst>
          </a:prstGeom>
          <a:solidFill>
            <a:schemeClr val="bg2"/>
          </a:solidFill>
          <a:ln/>
        </p:spPr>
        <p:txBody>
          <a:bodyPr/>
          <a:lstStyle/>
          <a:p>
            <a:endParaRPr lang="en-US"/>
          </a:p>
        </p:txBody>
      </p:sp>
      <p:pic>
        <p:nvPicPr>
          <p:cNvPr id="5" name="Quote mark" descr="Quote"/>
          <p:cNvPicPr>
            <a:picLocks noChangeAspect="1"/>
          </p:cNvPicPr>
          <p:nvPr/>
        </p:nvPicPr>
        <p:blipFill>
          <a:blip r:embed="rId3"/>
          <a:stretch>
            <a:fillRect/>
          </a:stretch>
        </p:blipFill>
        <p:spPr>
          <a:xfrm>
            <a:off x="713232" y="1700784"/>
            <a:ext cx="457200" cy="457200"/>
          </a:xfrm>
          <a:prstGeom prst="rect">
            <a:avLst/>
          </a:prstGeom>
        </p:spPr>
      </p:pic>
      <p:sp>
        <p:nvSpPr>
          <p:cNvPr id="6" name="Text 2"/>
          <p:cNvSpPr txBox="1"/>
          <p:nvPr/>
        </p:nvSpPr>
        <p:spPr>
          <a:xfrm>
            <a:off x="1298448" y="1645920"/>
            <a:ext cx="5029200" cy="1371600"/>
          </a:xfrm>
          <a:prstGeom prst="rect">
            <a:avLst/>
          </a:prstGeom>
          <a:noFill/>
          <a:ln/>
        </p:spPr>
        <p:txBody>
          <a:bodyPr wrap="square" lIns="0" tIns="0" rIns="0" bIns="0" rtlCol="0" anchor="t"/>
          <a:lstStyle/>
          <a:p>
            <a:pPr marL="0" indent="0">
              <a:spcAft>
                <a:spcPts val="600"/>
              </a:spcAft>
              <a:buNone/>
            </a:pPr>
            <a:r>
              <a:rPr lang="en-US" sz="1900" i="1" dirty="0">
                <a:solidFill>
                  <a:schemeClr val="tx1"/>
                </a:solidFill>
              </a:rPr>
              <a:t>"I go to this UI and get these elements. I need them."</a:t>
            </a:r>
            <a:endParaRPr lang="en-US" sz="1400" dirty="0"/>
          </a:p>
          <a:p>
            <a:pPr marL="0" indent="0">
              <a:spcAft>
                <a:spcPts val="600"/>
              </a:spcAft>
              <a:buNone/>
            </a:pPr>
            <a:r>
              <a:rPr lang="en-US" sz="1300" dirty="0">
                <a:solidFill>
                  <a:schemeClr val="tx2"/>
                </a:solidFill>
              </a:rPr>
              <a:t>Requests often lack a clear business purpose and usage scenarios, leading to unnecessary sourcing, duplication, and inconsistent data use across AI and non-AI use cases.</a:t>
            </a:r>
            <a:endParaRPr lang="en-US" sz="1400" dirty="0"/>
          </a:p>
        </p:txBody>
      </p:sp>
      <p:sp>
        <p:nvSpPr>
          <p:cNvPr id="7" name="Text 3"/>
          <p:cNvSpPr txBox="1"/>
          <p:nvPr/>
        </p:nvSpPr>
        <p:spPr>
          <a:xfrm>
            <a:off x="548640" y="3200400"/>
            <a:ext cx="5943600" cy="237744"/>
          </a:xfrm>
          <a:prstGeom prst="rect">
            <a:avLst/>
          </a:prstGeom>
          <a:noFill/>
          <a:ln/>
        </p:spPr>
        <p:txBody>
          <a:bodyPr wrap="square" lIns="0" tIns="0" rIns="0" bIns="0" rtlCol="0" anchor="t"/>
          <a:lstStyle/>
          <a:p>
            <a:pPr marL="0" indent="0">
              <a:buNone/>
            </a:pPr>
            <a:r>
              <a:rPr lang="en-US" sz="1100" b="1" kern="0" spc="100" dirty="0">
                <a:solidFill>
                  <a:schemeClr val="tx1"/>
                </a:solidFill>
              </a:rPr>
              <a:t>WHAT THE DEMAND INTAKE TEMPLATE CAPTURES</a:t>
            </a:r>
            <a:endParaRPr lang="en-US" sz="1100" dirty="0"/>
          </a:p>
        </p:txBody>
      </p:sp>
      <p:sp>
        <p:nvSpPr>
          <p:cNvPr id="8" name="Which elements circle"/>
          <p:cNvSpPr/>
          <p:nvPr/>
        </p:nvSpPr>
        <p:spPr>
          <a:xfrm>
            <a:off x="548640" y="3566160"/>
            <a:ext cx="548640" cy="548640"/>
          </a:xfrm>
          <a:prstGeom prst="ellipse">
            <a:avLst/>
          </a:prstGeom>
          <a:solidFill>
            <a:schemeClr val="accent3"/>
          </a:solidFill>
          <a:ln/>
        </p:spPr>
        <p:txBody>
          <a:bodyPr/>
          <a:lstStyle/>
          <a:p>
            <a:endParaRPr lang="en-US"/>
          </a:p>
        </p:txBody>
      </p:sp>
      <p:pic>
        <p:nvPicPr>
          <p:cNvPr id="9" name="Which elements" descr="Which elements"/>
          <p:cNvPicPr>
            <a:picLocks noChangeAspect="1"/>
          </p:cNvPicPr>
          <p:nvPr/>
        </p:nvPicPr>
        <p:blipFill>
          <a:blip r:embed="rId4"/>
          <a:stretch>
            <a:fillRect/>
          </a:stretch>
        </p:blipFill>
        <p:spPr>
          <a:xfrm>
            <a:off x="669341" y="3686861"/>
            <a:ext cx="307238" cy="307238"/>
          </a:xfrm>
          <a:prstGeom prst="rect">
            <a:avLst/>
          </a:prstGeom>
        </p:spPr>
      </p:pic>
      <p:sp>
        <p:nvSpPr>
          <p:cNvPr id="10" name="Text 5"/>
          <p:cNvSpPr txBox="1"/>
          <p:nvPr/>
        </p:nvSpPr>
        <p:spPr>
          <a:xfrm>
            <a:off x="1280160" y="35204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Which elements</a:t>
            </a:r>
            <a:endParaRPr lang="en-US" sz="1400" dirty="0"/>
          </a:p>
          <a:p>
            <a:pPr marL="0" indent="0">
              <a:spcAft>
                <a:spcPts val="200"/>
              </a:spcAft>
              <a:buNone/>
            </a:pPr>
            <a:r>
              <a:rPr lang="en-US" sz="1300" dirty="0">
                <a:solidFill>
                  <a:schemeClr val="tx1"/>
                </a:solidFill>
              </a:rPr>
              <a:t>Identify the specific data elements required to support the business use case</a:t>
            </a:r>
            <a:endParaRPr lang="en-US" sz="1400" dirty="0"/>
          </a:p>
        </p:txBody>
      </p:sp>
      <p:sp>
        <p:nvSpPr>
          <p:cNvPr id="11" name="Why circle"/>
          <p:cNvSpPr/>
          <p:nvPr/>
        </p:nvSpPr>
        <p:spPr>
          <a:xfrm>
            <a:off x="548640" y="4480560"/>
            <a:ext cx="548640" cy="548640"/>
          </a:xfrm>
          <a:prstGeom prst="ellipse">
            <a:avLst/>
          </a:prstGeom>
          <a:solidFill>
            <a:schemeClr val="accent3"/>
          </a:solidFill>
          <a:ln/>
        </p:spPr>
        <p:txBody>
          <a:bodyPr/>
          <a:lstStyle/>
          <a:p>
            <a:endParaRPr lang="en-US"/>
          </a:p>
        </p:txBody>
      </p:sp>
      <p:pic>
        <p:nvPicPr>
          <p:cNvPr id="12" name="Why" descr="Why"/>
          <p:cNvPicPr>
            <a:picLocks noChangeAspect="1"/>
          </p:cNvPicPr>
          <p:nvPr/>
        </p:nvPicPr>
        <p:blipFill>
          <a:blip r:embed="rId5"/>
          <a:stretch>
            <a:fillRect/>
          </a:stretch>
        </p:blipFill>
        <p:spPr>
          <a:xfrm>
            <a:off x="669341" y="4601261"/>
            <a:ext cx="307238" cy="307238"/>
          </a:xfrm>
          <a:prstGeom prst="rect">
            <a:avLst/>
          </a:prstGeom>
        </p:spPr>
      </p:pic>
      <p:sp>
        <p:nvSpPr>
          <p:cNvPr id="13" name="Text 7"/>
          <p:cNvSpPr txBox="1"/>
          <p:nvPr/>
        </p:nvSpPr>
        <p:spPr>
          <a:xfrm>
            <a:off x="1280160" y="44348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Why</a:t>
            </a:r>
            <a:endParaRPr lang="en-US" sz="1400" dirty="0"/>
          </a:p>
          <a:p>
            <a:pPr marL="0" indent="0">
              <a:spcAft>
                <a:spcPts val="200"/>
              </a:spcAft>
              <a:buNone/>
            </a:pPr>
            <a:r>
              <a:rPr lang="en-US" sz="1300" dirty="0">
                <a:solidFill>
                  <a:schemeClr val="tx1"/>
                </a:solidFill>
              </a:rPr>
              <a:t>Define the business purpose, including AI, investigations, analytics, reporting, or other operational needs</a:t>
            </a:r>
            <a:endParaRPr lang="en-US" sz="1400" dirty="0"/>
          </a:p>
        </p:txBody>
      </p:sp>
      <p:sp>
        <p:nvSpPr>
          <p:cNvPr id="14" name="When circle"/>
          <p:cNvSpPr/>
          <p:nvPr/>
        </p:nvSpPr>
        <p:spPr>
          <a:xfrm>
            <a:off x="548640" y="5394960"/>
            <a:ext cx="548640" cy="548640"/>
          </a:xfrm>
          <a:prstGeom prst="ellipse">
            <a:avLst/>
          </a:prstGeom>
          <a:solidFill>
            <a:schemeClr val="accent3"/>
          </a:solidFill>
          <a:ln/>
        </p:spPr>
        <p:txBody>
          <a:bodyPr/>
          <a:lstStyle/>
          <a:p>
            <a:endParaRPr lang="en-US"/>
          </a:p>
        </p:txBody>
      </p:sp>
      <p:pic>
        <p:nvPicPr>
          <p:cNvPr id="15" name="When" descr="When"/>
          <p:cNvPicPr>
            <a:picLocks noChangeAspect="1"/>
          </p:cNvPicPr>
          <p:nvPr/>
        </p:nvPicPr>
        <p:blipFill>
          <a:blip r:embed="rId6"/>
          <a:stretch>
            <a:fillRect/>
          </a:stretch>
        </p:blipFill>
        <p:spPr>
          <a:xfrm>
            <a:off x="669341" y="5515661"/>
            <a:ext cx="307238" cy="307238"/>
          </a:xfrm>
          <a:prstGeom prst="rect">
            <a:avLst/>
          </a:prstGeom>
        </p:spPr>
      </p:pic>
      <p:sp>
        <p:nvSpPr>
          <p:cNvPr id="16" name="Text 9"/>
          <p:cNvSpPr txBox="1"/>
          <p:nvPr/>
        </p:nvSpPr>
        <p:spPr>
          <a:xfrm>
            <a:off x="1280160" y="5349240"/>
            <a:ext cx="5212080" cy="868680"/>
          </a:xfrm>
          <a:prstGeom prst="rect">
            <a:avLst/>
          </a:prstGeom>
          <a:noFill/>
          <a:ln/>
        </p:spPr>
        <p:txBody>
          <a:bodyPr wrap="square" lIns="0" tIns="0" rIns="0" bIns="0" rtlCol="0" anchor="t"/>
          <a:lstStyle/>
          <a:p>
            <a:pPr marL="0" indent="0">
              <a:spcAft>
                <a:spcPts val="200"/>
              </a:spcAft>
              <a:buNone/>
            </a:pPr>
            <a:r>
              <a:rPr lang="en-US" sz="1600" b="1" dirty="0">
                <a:solidFill>
                  <a:schemeClr val="tx1"/>
                </a:solidFill>
              </a:rPr>
              <a:t>When</a:t>
            </a:r>
            <a:endParaRPr lang="en-US" sz="1400" dirty="0"/>
          </a:p>
          <a:p>
            <a:pPr marL="0" indent="0">
              <a:spcAft>
                <a:spcPts val="200"/>
              </a:spcAft>
              <a:buNone/>
            </a:pPr>
            <a:r>
              <a:rPr lang="en-US" sz="1300" dirty="0">
                <a:solidFill>
                  <a:schemeClr val="tx1"/>
                </a:solidFill>
              </a:rPr>
              <a:t>Specify when data is needed, including business scenarios, timing, frequency, and availability requirements</a:t>
            </a:r>
            <a:endParaRPr lang="en-US" sz="1400" dirty="0"/>
          </a:p>
        </p:txBody>
      </p:sp>
      <p:sp>
        <p:nvSpPr>
          <p:cNvPr id="17" name="Card"/>
          <p:cNvSpPr/>
          <p:nvPr/>
        </p:nvSpPr>
        <p:spPr>
          <a:xfrm>
            <a:off x="6858000" y="1600200"/>
            <a:ext cx="4782312" cy="786384"/>
          </a:xfrm>
          <a:prstGeom prst="roundRect">
            <a:avLst>
              <a:gd name="adj" fmla="val 9302"/>
            </a:avLst>
          </a:prstGeom>
          <a:solidFill>
            <a:schemeClr val="accent3">
              <a:alpha val="12000"/>
            </a:schemeClr>
          </a:solidFill>
          <a:ln w="15875">
            <a:solidFill>
              <a:schemeClr val="accent3"/>
            </a:solidFill>
            <a:prstDash val="solid"/>
          </a:ln>
        </p:spPr>
        <p:txBody>
          <a:bodyPr/>
          <a:lstStyle/>
          <a:p>
            <a:endParaRPr lang="en-US"/>
          </a:p>
        </p:txBody>
      </p:sp>
      <p:sp>
        <p:nvSpPr>
          <p:cNvPr id="18" name="Text 11"/>
          <p:cNvSpPr txBox="1"/>
          <p:nvPr/>
        </p:nvSpPr>
        <p:spPr>
          <a:xfrm>
            <a:off x="7059168" y="1600200"/>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Business Requirements</a:t>
            </a:r>
            <a:endParaRPr lang="en-US" sz="1400" dirty="0"/>
          </a:p>
          <a:p>
            <a:pPr marL="0" indent="0">
              <a:spcAft>
                <a:spcPts val="100"/>
              </a:spcAft>
              <a:buNone/>
            </a:pPr>
            <a:r>
              <a:rPr lang="en-US" sz="1300" dirty="0">
                <a:solidFill>
                  <a:schemeClr val="tx1"/>
                </a:solidFill>
              </a:rPr>
              <a:t>Captured required data, business purpose, and usage scenarios</a:t>
            </a:r>
            <a:endParaRPr lang="en-US" sz="1400" dirty="0"/>
          </a:p>
        </p:txBody>
      </p:sp>
      <p:sp>
        <p:nvSpPr>
          <p:cNvPr id="19" name="Arrow"/>
          <p:cNvSpPr/>
          <p:nvPr/>
        </p:nvSpPr>
        <p:spPr>
          <a:xfrm>
            <a:off x="9148572" y="2414016"/>
            <a:ext cx="201168" cy="182880"/>
          </a:xfrm>
          <a:prstGeom prst="downArrow">
            <a:avLst/>
          </a:prstGeom>
          <a:solidFill>
            <a:schemeClr val="tx1"/>
          </a:solidFill>
          <a:ln/>
        </p:spPr>
        <p:txBody>
          <a:bodyPr/>
          <a:lstStyle/>
          <a:p>
            <a:endParaRPr lang="en-US"/>
          </a:p>
        </p:txBody>
      </p:sp>
      <p:sp>
        <p:nvSpPr>
          <p:cNvPr id="20" name="Card"/>
          <p:cNvSpPr/>
          <p:nvPr/>
        </p:nvSpPr>
        <p:spPr>
          <a:xfrm>
            <a:off x="6858000" y="2624328"/>
            <a:ext cx="4782312" cy="786384"/>
          </a:xfrm>
          <a:prstGeom prst="roundRect">
            <a:avLst>
              <a:gd name="adj" fmla="val 9302"/>
            </a:avLst>
          </a:prstGeom>
          <a:solidFill>
            <a:schemeClr val="bg1"/>
          </a:solidFill>
          <a:ln w="15875">
            <a:solidFill>
              <a:schemeClr val="tx1"/>
            </a:solidFill>
            <a:prstDash val="solid"/>
          </a:ln>
        </p:spPr>
        <p:txBody>
          <a:bodyPr/>
          <a:lstStyle/>
          <a:p>
            <a:endParaRPr lang="en-US"/>
          </a:p>
        </p:txBody>
      </p:sp>
      <p:sp>
        <p:nvSpPr>
          <p:cNvPr id="21" name="Text 14"/>
          <p:cNvSpPr txBox="1"/>
          <p:nvPr/>
        </p:nvSpPr>
        <p:spPr>
          <a:xfrm>
            <a:off x="7059168" y="2624328"/>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Apply Business Rules &amp; Standards</a:t>
            </a:r>
            <a:endParaRPr lang="en-US" sz="1400" dirty="0"/>
          </a:p>
          <a:p>
            <a:pPr marL="0" indent="0">
              <a:spcAft>
                <a:spcPts val="100"/>
              </a:spcAft>
              <a:buNone/>
            </a:pPr>
            <a:r>
              <a:rPr lang="en-US" sz="1300" dirty="0">
                <a:solidFill>
                  <a:schemeClr val="tx1"/>
                </a:solidFill>
              </a:rPr>
              <a:t>Align sourcing and transformations to defined business requirements</a:t>
            </a:r>
            <a:endParaRPr lang="en-US" sz="1400" dirty="0"/>
          </a:p>
        </p:txBody>
      </p:sp>
      <p:sp>
        <p:nvSpPr>
          <p:cNvPr id="22" name="Arrow"/>
          <p:cNvSpPr/>
          <p:nvPr/>
        </p:nvSpPr>
        <p:spPr>
          <a:xfrm>
            <a:off x="9148572" y="3438144"/>
            <a:ext cx="201168" cy="182880"/>
          </a:xfrm>
          <a:prstGeom prst="downArrow">
            <a:avLst/>
          </a:prstGeom>
          <a:solidFill>
            <a:schemeClr val="tx1"/>
          </a:solidFill>
          <a:ln/>
        </p:spPr>
        <p:txBody>
          <a:bodyPr/>
          <a:lstStyle/>
          <a:p>
            <a:endParaRPr lang="en-US"/>
          </a:p>
        </p:txBody>
      </p:sp>
      <p:sp>
        <p:nvSpPr>
          <p:cNvPr id="23" name="Card"/>
          <p:cNvSpPr/>
          <p:nvPr/>
        </p:nvSpPr>
        <p:spPr>
          <a:xfrm>
            <a:off x="6858000" y="3648456"/>
            <a:ext cx="4782312" cy="786384"/>
          </a:xfrm>
          <a:prstGeom prst="roundRect">
            <a:avLst>
              <a:gd name="adj" fmla="val 9302"/>
            </a:avLst>
          </a:prstGeom>
          <a:solidFill>
            <a:schemeClr val="accent5">
              <a:alpha val="12000"/>
            </a:schemeClr>
          </a:solidFill>
          <a:ln w="15875">
            <a:solidFill>
              <a:schemeClr val="accent5"/>
            </a:solidFill>
            <a:prstDash val="solid"/>
          </a:ln>
        </p:spPr>
        <p:txBody>
          <a:bodyPr/>
          <a:lstStyle/>
          <a:p>
            <a:endParaRPr lang="en-US"/>
          </a:p>
        </p:txBody>
      </p:sp>
      <p:sp>
        <p:nvSpPr>
          <p:cNvPr id="24" name="Text 17"/>
          <p:cNvSpPr txBox="1"/>
          <p:nvPr/>
        </p:nvSpPr>
        <p:spPr>
          <a:xfrm>
            <a:off x="7059168" y="3648456"/>
            <a:ext cx="4379976" cy="786384"/>
          </a:xfrm>
          <a:prstGeom prst="rect">
            <a:avLst/>
          </a:prstGeom>
          <a:noFill/>
          <a:ln/>
        </p:spPr>
        <p:txBody>
          <a:bodyPr wrap="square" lIns="0" tIns="0" rIns="0" bIns="0" rtlCol="0" anchor="ctr"/>
          <a:lstStyle/>
          <a:p>
            <a:pPr marL="0" indent="0">
              <a:spcAft>
                <a:spcPts val="100"/>
              </a:spcAft>
              <a:buNone/>
            </a:pPr>
            <a:r>
              <a:rPr lang="en-US" sz="1400" b="1" dirty="0">
                <a:solidFill>
                  <a:schemeClr val="tx1"/>
                </a:solidFill>
              </a:rPr>
              <a:t>Enable Trusted Data Consumption</a:t>
            </a:r>
            <a:endParaRPr lang="en-US" sz="1400" dirty="0"/>
          </a:p>
          <a:p>
            <a:pPr marL="0" indent="0">
              <a:spcAft>
                <a:spcPts val="100"/>
              </a:spcAft>
              <a:buNone/>
            </a:pPr>
            <a:r>
              <a:rPr lang="en-US" sz="1300" dirty="0">
                <a:solidFill>
                  <a:schemeClr val="tx1"/>
                </a:solidFill>
              </a:rPr>
              <a:t>Provide validated, standardized data through the common data plane for AI and non-AI use cases</a:t>
            </a:r>
            <a:endParaRPr lang="en-US" sz="1400" dirty="0"/>
          </a:p>
        </p:txBody>
      </p:sp>
      <p:sp>
        <p:nvSpPr>
          <p:cNvPr id="25" name="Card"/>
          <p:cNvSpPr/>
          <p:nvPr/>
        </p:nvSpPr>
        <p:spPr>
          <a:xfrm>
            <a:off x="6858000" y="4709160"/>
            <a:ext cx="4782312" cy="1600200"/>
          </a:xfrm>
          <a:prstGeom prst="roundRect">
            <a:avLst>
              <a:gd name="adj" fmla="val 4571"/>
            </a:avLst>
          </a:prstGeom>
          <a:solidFill>
            <a:schemeClr val="tx1"/>
          </a:solidFill>
          <a:ln/>
        </p:spPr>
        <p:txBody>
          <a:bodyPr/>
          <a:lstStyle/>
          <a:p>
            <a:endParaRPr lang="en-US"/>
          </a:p>
        </p:txBody>
      </p:sp>
      <p:sp>
        <p:nvSpPr>
          <p:cNvPr id="26" name="Text 19"/>
          <p:cNvSpPr txBox="1"/>
          <p:nvPr/>
        </p:nvSpPr>
        <p:spPr>
          <a:xfrm>
            <a:off x="7059168" y="4709160"/>
            <a:ext cx="4379976" cy="1600200"/>
          </a:xfrm>
          <a:prstGeom prst="rect">
            <a:avLst/>
          </a:prstGeom>
          <a:noFill/>
          <a:ln/>
        </p:spPr>
        <p:txBody>
          <a:bodyPr wrap="square" lIns="0" tIns="0" rIns="0" bIns="0" rtlCol="0" anchor="ctr"/>
          <a:lstStyle/>
          <a:p>
            <a:pPr marL="0" indent="0">
              <a:spcAft>
                <a:spcPts val="500"/>
              </a:spcAft>
              <a:buNone/>
            </a:pPr>
            <a:r>
              <a:rPr lang="en-US" sz="1100" b="1" kern="0" spc="100" dirty="0">
                <a:solidFill>
                  <a:schemeClr val="bg1"/>
                </a:solidFill>
              </a:rPr>
              <a:t>THE PAYOFF</a:t>
            </a:r>
            <a:endParaRPr lang="en-US" sz="1400" dirty="0"/>
          </a:p>
          <a:p>
            <a:pPr marL="0" indent="0">
              <a:spcAft>
                <a:spcPts val="500"/>
              </a:spcAft>
              <a:buNone/>
            </a:pPr>
            <a:r>
              <a:rPr lang="en-US" sz="1300" dirty="0">
                <a:solidFill>
                  <a:schemeClr val="bg1"/>
                </a:solidFill>
              </a:rPr>
              <a:t>Each request is tied to a defined business need, with clear sourcing, ownership, and usage requirements. This enables consistent, validated data consumption across AI, reporting, analytics, and operational use cases while reducing duplication and unnecessary sourcing.</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15</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How Pillars 2 and 3 Connect: Aligning Demand to Strategic Sources</a:t>
            </a:r>
            <a:endParaRPr lang="en-US" sz="2800" dirty="0"/>
          </a:p>
        </p:txBody>
      </p:sp>
      <p:sp>
        <p:nvSpPr>
          <p:cNvPr id="3" name="Section tag"/>
          <p:cNvSpPr txBox="1"/>
          <p:nvPr/>
        </p:nvSpPr>
        <p:spPr>
          <a:xfrm>
            <a:off x="548640" y="274320"/>
            <a:ext cx="2904134"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PILLARS 2 &amp; 3 · HOW THEY CONNECT</a:t>
            </a:r>
            <a:endParaRPr lang="en-US" sz="1000" dirty="0"/>
          </a:p>
        </p:txBody>
      </p:sp>
      <p:sp>
        <p:nvSpPr>
          <p:cNvPr id="5" name="Card"/>
          <p:cNvSpPr/>
          <p:nvPr/>
        </p:nvSpPr>
        <p:spPr>
          <a:xfrm>
            <a:off x="548640" y="1600200"/>
            <a:ext cx="2601468" cy="2514600"/>
          </a:xfrm>
          <a:prstGeom prst="roundRect">
            <a:avLst>
              <a:gd name="adj" fmla="val 2909"/>
            </a:avLst>
          </a:prstGeom>
          <a:solidFill>
            <a:schemeClr val="bg2"/>
          </a:solidFill>
          <a:ln/>
        </p:spPr>
        <p:txBody>
          <a:bodyPr/>
          <a:lstStyle/>
          <a:p>
            <a:endParaRPr lang="en-US"/>
          </a:p>
        </p:txBody>
      </p:sp>
      <p:sp>
        <p:nvSpPr>
          <p:cNvPr id="6" name="Status chip"/>
          <p:cNvSpPr txBox="1"/>
          <p:nvPr/>
        </p:nvSpPr>
        <p:spPr>
          <a:xfrm>
            <a:off x="731520"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7" name="Text 4"/>
          <p:cNvSpPr txBox="1"/>
          <p:nvPr/>
        </p:nvSpPr>
        <p:spPr>
          <a:xfrm>
            <a:off x="731520" y="2148840"/>
            <a:ext cx="2235708" cy="566928"/>
          </a:xfrm>
          <a:prstGeom prst="rect">
            <a:avLst/>
          </a:prstGeom>
          <a:noFill/>
          <a:ln/>
        </p:spPr>
        <p:txBody>
          <a:bodyPr wrap="square" lIns="0" tIns="0" rIns="0" bIns="0" rtlCol="0" anchor="ctr"/>
          <a:lstStyle/>
          <a:p>
            <a:pPr marL="0" indent="0">
              <a:buNone/>
            </a:pPr>
            <a:r>
              <a:rPr lang="en-US" sz="1700" b="1" dirty="0">
                <a:solidFill>
                  <a:schemeClr val="accent1"/>
                </a:solidFill>
              </a:rPr>
              <a:t>Strategic</a:t>
            </a:r>
            <a:endParaRPr lang="en-US" sz="1700" dirty="0"/>
          </a:p>
        </p:txBody>
      </p:sp>
      <p:sp>
        <p:nvSpPr>
          <p:cNvPr id="8" name="Text 5"/>
          <p:cNvSpPr txBox="1"/>
          <p:nvPr/>
        </p:nvSpPr>
        <p:spPr>
          <a:xfrm>
            <a:off x="731520"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Source through the common data plane using approved strategic ADSs.</a:t>
            </a:r>
            <a:endParaRPr lang="en-US" sz="1300" dirty="0"/>
          </a:p>
        </p:txBody>
      </p:sp>
      <p:sp>
        <p:nvSpPr>
          <p:cNvPr id="9" name="Card"/>
          <p:cNvSpPr/>
          <p:nvPr/>
        </p:nvSpPr>
        <p:spPr>
          <a:xfrm>
            <a:off x="3378708" y="1600200"/>
            <a:ext cx="2601468" cy="2514600"/>
          </a:xfrm>
          <a:prstGeom prst="roundRect">
            <a:avLst>
              <a:gd name="adj" fmla="val 2909"/>
            </a:avLst>
          </a:prstGeom>
          <a:solidFill>
            <a:schemeClr val="bg2"/>
          </a:solidFill>
          <a:ln/>
        </p:spPr>
        <p:txBody>
          <a:bodyPr/>
          <a:lstStyle/>
          <a:p>
            <a:endParaRPr lang="en-US"/>
          </a:p>
        </p:txBody>
      </p:sp>
      <p:sp>
        <p:nvSpPr>
          <p:cNvPr id="10" name="Status chip"/>
          <p:cNvSpPr txBox="1"/>
          <p:nvPr/>
        </p:nvSpPr>
        <p:spPr>
          <a:xfrm>
            <a:off x="3561588"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11" name="Text 8"/>
          <p:cNvSpPr txBox="1"/>
          <p:nvPr/>
        </p:nvSpPr>
        <p:spPr>
          <a:xfrm>
            <a:off x="3561588" y="2148840"/>
            <a:ext cx="2235708" cy="566928"/>
          </a:xfrm>
          <a:prstGeom prst="rect">
            <a:avLst/>
          </a:prstGeom>
          <a:noFill/>
          <a:ln/>
        </p:spPr>
        <p:txBody>
          <a:bodyPr wrap="square" lIns="0" tIns="0" rIns="0" bIns="0" rtlCol="0" anchor="ctr"/>
          <a:lstStyle/>
          <a:p>
            <a:pPr marL="0" indent="0">
              <a:buNone/>
            </a:pPr>
            <a:r>
              <a:rPr lang="en-US" sz="1700" b="1" dirty="0">
                <a:solidFill>
                  <a:schemeClr val="accent3"/>
                </a:solidFill>
              </a:rPr>
              <a:t>Justified tactical</a:t>
            </a:r>
            <a:endParaRPr lang="en-US" sz="1700" dirty="0"/>
          </a:p>
        </p:txBody>
      </p:sp>
      <p:sp>
        <p:nvSpPr>
          <p:cNvPr id="12" name="Text 9"/>
          <p:cNvSpPr txBox="1"/>
          <p:nvPr/>
        </p:nvSpPr>
        <p:spPr>
          <a:xfrm>
            <a:off x="3561588"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Allow interim sourcing with documented business justification, appropriate approval, and a defined strategic transition path.</a:t>
            </a:r>
            <a:endParaRPr lang="en-US" sz="1300" dirty="0"/>
          </a:p>
        </p:txBody>
      </p:sp>
      <p:sp>
        <p:nvSpPr>
          <p:cNvPr id="13" name="Card"/>
          <p:cNvSpPr/>
          <p:nvPr/>
        </p:nvSpPr>
        <p:spPr>
          <a:xfrm>
            <a:off x="6208776" y="1600200"/>
            <a:ext cx="2601468" cy="2514600"/>
          </a:xfrm>
          <a:prstGeom prst="roundRect">
            <a:avLst>
              <a:gd name="adj" fmla="val 2909"/>
            </a:avLst>
          </a:prstGeom>
          <a:solidFill>
            <a:schemeClr val="bg2"/>
          </a:solidFill>
          <a:ln/>
        </p:spPr>
        <p:txBody>
          <a:bodyPr/>
          <a:lstStyle/>
          <a:p>
            <a:endParaRPr lang="en-US"/>
          </a:p>
        </p:txBody>
      </p:sp>
      <p:sp>
        <p:nvSpPr>
          <p:cNvPr id="14" name="Status chip"/>
          <p:cNvSpPr txBox="1"/>
          <p:nvPr/>
        </p:nvSpPr>
        <p:spPr>
          <a:xfrm>
            <a:off x="6391656" y="1783080"/>
            <a:ext cx="936346" cy="274320"/>
          </a:xfrm>
          <a:prstGeom prst="roundRect">
            <a:avLst>
              <a:gd name="adj" fmla="val 50000"/>
            </a:avLst>
          </a:prstGeom>
          <a:solidFill>
            <a:schemeClr val="accent3">
              <a:alpha val="25000"/>
            </a:schemeClr>
          </a:solidFill>
          <a:ln/>
        </p:spPr>
        <p:txBody>
          <a:bodyPr wrap="square" lIns="0" tIns="0" rIns="0" bIns="0" rtlCol="0" anchor="ctr"/>
          <a:lstStyle/>
          <a:p>
            <a:pPr marL="0" indent="0" algn="ctr">
              <a:buNone/>
            </a:pPr>
            <a:r>
              <a:rPr lang="en-US" sz="1000" b="1" dirty="0">
                <a:solidFill>
                  <a:schemeClr val="tx1"/>
                </a:solidFill>
              </a:rPr>
              <a:t>PILLAR 3</a:t>
            </a:r>
            <a:endParaRPr lang="en-US" sz="1000" dirty="0"/>
          </a:p>
        </p:txBody>
      </p:sp>
      <p:sp>
        <p:nvSpPr>
          <p:cNvPr id="15" name="Text 12"/>
          <p:cNvSpPr txBox="1"/>
          <p:nvPr/>
        </p:nvSpPr>
        <p:spPr>
          <a:xfrm>
            <a:off x="6391656" y="2148840"/>
            <a:ext cx="2235708" cy="566928"/>
          </a:xfrm>
          <a:prstGeom prst="rect">
            <a:avLst/>
          </a:prstGeom>
          <a:noFill/>
          <a:ln/>
        </p:spPr>
        <p:txBody>
          <a:bodyPr wrap="square" lIns="0" tIns="0" rIns="0" bIns="0" rtlCol="0" anchor="ctr"/>
          <a:lstStyle/>
          <a:p>
            <a:pPr marL="0" indent="0">
              <a:buNone/>
            </a:pPr>
            <a:r>
              <a:rPr lang="en-US" sz="1700" b="1" dirty="0">
                <a:solidFill>
                  <a:schemeClr val="tx1"/>
                </a:solidFill>
              </a:rPr>
              <a:t>Escalate</a:t>
            </a:r>
            <a:endParaRPr lang="en-US" sz="1700" dirty="0"/>
          </a:p>
        </p:txBody>
      </p:sp>
      <p:sp>
        <p:nvSpPr>
          <p:cNvPr id="16" name="Text 13"/>
          <p:cNvSpPr txBox="1"/>
          <p:nvPr/>
        </p:nvSpPr>
        <p:spPr>
          <a:xfrm>
            <a:off x="6391656"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Engage the owning data domain when no viable sourcing option exists to identify an authoritative source.</a:t>
            </a:r>
            <a:endParaRPr lang="en-US" sz="1300" dirty="0"/>
          </a:p>
        </p:txBody>
      </p:sp>
      <p:sp>
        <p:nvSpPr>
          <p:cNvPr id="17" name="Card"/>
          <p:cNvSpPr/>
          <p:nvPr/>
        </p:nvSpPr>
        <p:spPr>
          <a:xfrm>
            <a:off x="9038844" y="1600200"/>
            <a:ext cx="2601468" cy="2514600"/>
          </a:xfrm>
          <a:prstGeom prst="roundRect">
            <a:avLst>
              <a:gd name="adj" fmla="val 2909"/>
            </a:avLst>
          </a:prstGeom>
          <a:solidFill>
            <a:schemeClr val="accent2">
              <a:alpha val="12000"/>
            </a:schemeClr>
          </a:solidFill>
          <a:ln w="19050">
            <a:solidFill>
              <a:schemeClr val="accent2"/>
            </a:solidFill>
            <a:prstDash val="solid"/>
          </a:ln>
        </p:spPr>
        <p:txBody>
          <a:bodyPr/>
          <a:lstStyle/>
          <a:p>
            <a:endParaRPr lang="en-US"/>
          </a:p>
        </p:txBody>
      </p:sp>
      <p:sp>
        <p:nvSpPr>
          <p:cNvPr id="18" name="Status chip"/>
          <p:cNvSpPr txBox="1"/>
          <p:nvPr/>
        </p:nvSpPr>
        <p:spPr>
          <a:xfrm>
            <a:off x="9221724" y="1783080"/>
            <a:ext cx="93634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dirty="0">
                <a:solidFill>
                  <a:schemeClr val="bg1"/>
                </a:solidFill>
              </a:rPr>
              <a:t>PILLAR 2</a:t>
            </a:r>
            <a:endParaRPr lang="en-US" sz="1000" dirty="0"/>
          </a:p>
        </p:txBody>
      </p:sp>
      <p:sp>
        <p:nvSpPr>
          <p:cNvPr id="19" name="Text 16"/>
          <p:cNvSpPr txBox="1"/>
          <p:nvPr/>
        </p:nvSpPr>
        <p:spPr>
          <a:xfrm>
            <a:off x="9221724" y="2148840"/>
            <a:ext cx="2235708" cy="566928"/>
          </a:xfrm>
          <a:prstGeom prst="rect">
            <a:avLst/>
          </a:prstGeom>
          <a:noFill/>
          <a:ln/>
        </p:spPr>
        <p:txBody>
          <a:bodyPr wrap="square" lIns="0" tIns="0" rIns="0" bIns="0" rtlCol="0" anchor="ctr"/>
          <a:lstStyle/>
          <a:p>
            <a:pPr marL="0" indent="0">
              <a:buNone/>
            </a:pPr>
            <a:r>
              <a:rPr lang="en-US" sz="1700" b="1" dirty="0">
                <a:solidFill>
                  <a:schemeClr val="accent2"/>
                </a:solidFill>
              </a:rPr>
              <a:t>Existing &amp; Tactical Sourcing Rationalization</a:t>
            </a:r>
          </a:p>
        </p:txBody>
      </p:sp>
      <p:sp>
        <p:nvSpPr>
          <p:cNvPr id="20" name="Text 17"/>
          <p:cNvSpPr txBox="1"/>
          <p:nvPr/>
        </p:nvSpPr>
        <p:spPr>
          <a:xfrm>
            <a:off x="9221724" y="2770632"/>
            <a:ext cx="2235708" cy="1280160"/>
          </a:xfrm>
          <a:prstGeom prst="rect">
            <a:avLst/>
          </a:prstGeom>
          <a:noFill/>
          <a:ln/>
        </p:spPr>
        <p:txBody>
          <a:bodyPr wrap="square" lIns="0" tIns="0" rIns="0" bIns="0" rtlCol="0" anchor="t"/>
          <a:lstStyle/>
          <a:p>
            <a:pPr marL="0" indent="0">
              <a:buNone/>
            </a:pPr>
            <a:r>
              <a:rPr lang="en-US" sz="1300" dirty="0">
                <a:solidFill>
                  <a:schemeClr val="tx1"/>
                </a:solidFill>
              </a:rPr>
              <a:t>Assess existing and approved interim sourcing for consolidation, retirement, or migration to strategic ADSs.</a:t>
            </a:r>
            <a:endParaRPr lang="en-US" sz="1300" dirty="0"/>
          </a:p>
        </p:txBody>
      </p:sp>
      <p:sp>
        <p:nvSpPr>
          <p:cNvPr id="21" name="Text 18"/>
          <p:cNvSpPr txBox="1"/>
          <p:nvPr/>
        </p:nvSpPr>
        <p:spPr>
          <a:xfrm>
            <a:off x="548640" y="4297680"/>
            <a:ext cx="3657600" cy="237744"/>
          </a:xfrm>
          <a:prstGeom prst="rect">
            <a:avLst/>
          </a:prstGeom>
          <a:noFill/>
          <a:ln/>
        </p:spPr>
        <p:txBody>
          <a:bodyPr wrap="square" lIns="0" tIns="0" rIns="0" bIns="0" rtlCol="0" anchor="t"/>
          <a:lstStyle/>
          <a:p>
            <a:pPr marL="0" indent="0">
              <a:buNone/>
            </a:pPr>
            <a:r>
              <a:rPr lang="en-US" sz="1100" b="1" kern="0" spc="100" dirty="0">
                <a:solidFill>
                  <a:schemeClr val="accent2"/>
                </a:solidFill>
              </a:rPr>
              <a:t>EXAMPLES</a:t>
            </a:r>
            <a:endParaRPr lang="en-US" sz="1100" dirty="0"/>
          </a:p>
        </p:txBody>
      </p:sp>
      <p:sp>
        <p:nvSpPr>
          <p:cNvPr id="22" name="Card"/>
          <p:cNvSpPr/>
          <p:nvPr/>
        </p:nvSpPr>
        <p:spPr>
          <a:xfrm>
            <a:off x="548640"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3" name="Text 20"/>
          <p:cNvSpPr txBox="1"/>
          <p:nvPr/>
        </p:nvSpPr>
        <p:spPr>
          <a:xfrm>
            <a:off x="731520"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Credit 360</a:t>
            </a:r>
            <a:endParaRPr lang="en-US" sz="1400" dirty="0"/>
          </a:p>
          <a:p>
            <a:pPr marL="0" indent="0">
              <a:spcAft>
                <a:spcPts val="300"/>
              </a:spcAft>
              <a:buNone/>
            </a:pPr>
            <a:r>
              <a:rPr lang="en-US" sz="1300" dirty="0">
                <a:solidFill>
                  <a:schemeClr val="tx1"/>
                </a:solidFill>
              </a:rPr>
              <a:t>Existing RDS data is assessed under Pillar 2 to validate business need, source alignment, and opportunities for rationalization or migration.</a:t>
            </a:r>
            <a:endParaRPr lang="en-US" sz="1400" dirty="0"/>
          </a:p>
        </p:txBody>
      </p:sp>
      <p:sp>
        <p:nvSpPr>
          <p:cNvPr id="24" name="Card"/>
          <p:cNvSpPr/>
          <p:nvPr/>
        </p:nvSpPr>
        <p:spPr>
          <a:xfrm>
            <a:off x="4337304"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5" name="Text 22"/>
          <p:cNvSpPr txBox="1"/>
          <p:nvPr/>
        </p:nvSpPr>
        <p:spPr>
          <a:xfrm>
            <a:off x="4520184"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FCTDS</a:t>
            </a:r>
            <a:endParaRPr lang="en-US" sz="1400" dirty="0"/>
          </a:p>
          <a:p>
            <a:pPr marL="0" indent="0">
              <a:spcAft>
                <a:spcPts val="300"/>
              </a:spcAft>
              <a:buNone/>
            </a:pPr>
            <a:r>
              <a:rPr lang="en-US" sz="1300" dirty="0">
                <a:solidFill>
                  <a:schemeClr val="tx1"/>
                </a:solidFill>
              </a:rPr>
              <a:t>Evaluate existing Financial Crimes sourcing, including Sentinel and FCI, to identify legacy feeds, reduce duplication, and support migration to strategic ADSs.</a:t>
            </a:r>
            <a:endParaRPr lang="en-US" sz="1400" dirty="0"/>
          </a:p>
        </p:txBody>
      </p:sp>
      <p:sp>
        <p:nvSpPr>
          <p:cNvPr id="26" name="Card"/>
          <p:cNvSpPr/>
          <p:nvPr/>
        </p:nvSpPr>
        <p:spPr>
          <a:xfrm>
            <a:off x="8125968" y="4590288"/>
            <a:ext cx="3514344" cy="1691640"/>
          </a:xfrm>
          <a:prstGeom prst="roundRect">
            <a:avLst>
              <a:gd name="adj" fmla="val 4324"/>
            </a:avLst>
          </a:prstGeom>
          <a:solidFill>
            <a:schemeClr val="bg1"/>
          </a:solidFill>
          <a:ln w="12700">
            <a:solidFill>
              <a:srgbClr val="C9D0D8"/>
            </a:solidFill>
            <a:prstDash val="solid"/>
          </a:ln>
        </p:spPr>
        <p:txBody>
          <a:bodyPr/>
          <a:lstStyle/>
          <a:p>
            <a:endParaRPr lang="en-US"/>
          </a:p>
        </p:txBody>
      </p:sp>
      <p:sp>
        <p:nvSpPr>
          <p:cNvPr id="27" name="Text 24"/>
          <p:cNvSpPr txBox="1"/>
          <p:nvPr/>
        </p:nvSpPr>
        <p:spPr>
          <a:xfrm>
            <a:off x="8308848" y="4681728"/>
            <a:ext cx="3148584" cy="155448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The Outcome</a:t>
            </a:r>
            <a:endParaRPr lang="en-US" sz="1400" dirty="0"/>
          </a:p>
          <a:p>
            <a:pPr marL="0" indent="0">
              <a:spcAft>
                <a:spcPts val="300"/>
              </a:spcAft>
              <a:buNone/>
            </a:pPr>
            <a:r>
              <a:rPr lang="en-US" sz="1300" dirty="0">
                <a:solidFill>
                  <a:schemeClr val="tx1"/>
                </a:solidFill>
              </a:rPr>
              <a:t>Transition existing and tactical sourcing toward strategic ADSs through defined ownership, governed sourcing decisions, and coordinated migration plans.</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16</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Workstreams: Coordinating New Demand &amp; Existing Sourcing</a:t>
            </a:r>
            <a:endParaRPr lang="en-US" sz="2800" dirty="0"/>
          </a:p>
        </p:txBody>
      </p:sp>
      <p:sp>
        <p:nvSpPr>
          <p:cNvPr id="3" name="Section tag"/>
          <p:cNvSpPr txBox="1"/>
          <p:nvPr/>
        </p:nvSpPr>
        <p:spPr>
          <a:xfrm>
            <a:off x="548640" y="274320"/>
            <a:ext cx="314553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DEMAND INTAKE &amp; SOURCING</a:t>
            </a:r>
            <a:endParaRPr lang="en-US" sz="1000" dirty="0"/>
          </a:p>
        </p:txBody>
      </p:sp>
      <p:sp>
        <p:nvSpPr>
          <p:cNvPr id="5" name="Pillar 3 header"/>
          <p:cNvSpPr txBox="1"/>
          <p:nvPr/>
        </p:nvSpPr>
        <p:spPr>
          <a:xfrm>
            <a:off x="548640" y="1536192"/>
            <a:ext cx="11091672" cy="365760"/>
          </a:xfrm>
          <a:prstGeom prst="roundRect">
            <a:avLst>
              <a:gd name="adj" fmla="val 20000"/>
            </a:avLst>
          </a:prstGeom>
          <a:solidFill>
            <a:schemeClr val="accent3"/>
          </a:solidFill>
          <a:ln/>
        </p:spPr>
        <p:txBody>
          <a:bodyPr wrap="square" lIns="0" tIns="0" rIns="0" bIns="0" rtlCol="0" anchor="ctr"/>
          <a:lstStyle/>
          <a:p>
            <a:pPr marL="0" indent="0" algn="ctr">
              <a:buNone/>
            </a:pPr>
            <a:r>
              <a:rPr lang="en-US" sz="1200" b="1" kern="0" spc="100" dirty="0">
                <a:solidFill>
                  <a:schemeClr val="bg1"/>
                </a:solidFill>
              </a:rPr>
              <a:t>PILLAR 3 WORKSTREAMS · PRIORITY USE CASES</a:t>
            </a:r>
            <a:endParaRPr lang="en-US" sz="1200" dirty="0"/>
          </a:p>
        </p:txBody>
      </p:sp>
      <p:sp>
        <p:nvSpPr>
          <p:cNvPr id="6" name="Card"/>
          <p:cNvSpPr/>
          <p:nvPr/>
        </p:nvSpPr>
        <p:spPr>
          <a:xfrm>
            <a:off x="548640" y="1993392"/>
            <a:ext cx="2086661" cy="2670048"/>
          </a:xfrm>
          <a:prstGeom prst="roundRect">
            <a:avLst>
              <a:gd name="adj" fmla="val 3506"/>
            </a:avLst>
          </a:prstGeom>
          <a:solidFill>
            <a:schemeClr val="accent3">
              <a:alpha val="15000"/>
            </a:schemeClr>
          </a:solidFill>
          <a:ln w="15875">
            <a:solidFill>
              <a:schemeClr val="accent3"/>
            </a:solidFill>
            <a:prstDash val="solid"/>
          </a:ln>
        </p:spPr>
        <p:txBody>
          <a:bodyPr/>
          <a:lstStyle/>
          <a:p>
            <a:endParaRPr lang="en-US"/>
          </a:p>
        </p:txBody>
      </p:sp>
      <p:sp>
        <p:nvSpPr>
          <p:cNvPr id="7" name="Text 4"/>
          <p:cNvSpPr txBox="1"/>
          <p:nvPr/>
        </p:nvSpPr>
        <p:spPr>
          <a:xfrm>
            <a:off x="685800"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FCI</a:t>
            </a:r>
            <a:endParaRPr lang="en-US" sz="1800" dirty="0"/>
          </a:p>
        </p:txBody>
      </p:sp>
      <p:sp>
        <p:nvSpPr>
          <p:cNvPr id="8" name="Status chip"/>
          <p:cNvSpPr txBox="1"/>
          <p:nvPr/>
        </p:nvSpPr>
        <p:spPr>
          <a:xfrm>
            <a:off x="685800" y="2505456"/>
            <a:ext cx="149961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50" b="1" dirty="0">
                <a:solidFill>
                  <a:schemeClr val="bg1"/>
                </a:solidFill>
              </a:rPr>
              <a:t>In flight today</a:t>
            </a:r>
            <a:endParaRPr lang="en-US" sz="1050" dirty="0"/>
          </a:p>
        </p:txBody>
      </p:sp>
      <p:sp>
        <p:nvSpPr>
          <p:cNvPr id="9" name="Text 6"/>
          <p:cNvSpPr txBox="1"/>
          <p:nvPr/>
        </p:nvSpPr>
        <p:spPr>
          <a:xfrm>
            <a:off x="685800"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Financial crimes GenAI use case</a:t>
            </a:r>
            <a:endParaRPr lang="en-US" sz="1200" dirty="0"/>
          </a:p>
        </p:txBody>
      </p:sp>
      <p:sp>
        <p:nvSpPr>
          <p:cNvPr id="10" name="Text 7"/>
          <p:cNvSpPr txBox="1"/>
          <p:nvPr/>
        </p:nvSpPr>
        <p:spPr>
          <a:xfrm>
            <a:off x="685800"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Active sourcing through strategic, justified tactical, and escalation paths based on business requirements.</a:t>
            </a:r>
            <a:endParaRPr lang="en-US" sz="1200" dirty="0"/>
          </a:p>
        </p:txBody>
      </p:sp>
      <p:sp>
        <p:nvSpPr>
          <p:cNvPr id="11" name="Card"/>
          <p:cNvSpPr/>
          <p:nvPr/>
        </p:nvSpPr>
        <p:spPr>
          <a:xfrm>
            <a:off x="2799893" y="1993392"/>
            <a:ext cx="2086661" cy="2670048"/>
          </a:xfrm>
          <a:prstGeom prst="roundRect">
            <a:avLst>
              <a:gd name="adj" fmla="val 3506"/>
            </a:avLst>
          </a:prstGeom>
          <a:solidFill>
            <a:schemeClr val="accent3">
              <a:alpha val="15000"/>
            </a:schemeClr>
          </a:solidFill>
          <a:ln w="15875">
            <a:solidFill>
              <a:schemeClr val="accent3"/>
            </a:solidFill>
            <a:prstDash val="solid"/>
          </a:ln>
        </p:spPr>
        <p:txBody>
          <a:bodyPr/>
          <a:lstStyle/>
          <a:p>
            <a:endParaRPr lang="en-US"/>
          </a:p>
        </p:txBody>
      </p:sp>
      <p:sp>
        <p:nvSpPr>
          <p:cNvPr id="12" name="Text 9"/>
          <p:cNvSpPr txBox="1"/>
          <p:nvPr/>
        </p:nvSpPr>
        <p:spPr>
          <a:xfrm>
            <a:off x="2937053"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Sentinel</a:t>
            </a:r>
            <a:endParaRPr lang="en-US" sz="1800" dirty="0"/>
          </a:p>
        </p:txBody>
      </p:sp>
      <p:sp>
        <p:nvSpPr>
          <p:cNvPr id="13" name="Status chip"/>
          <p:cNvSpPr txBox="1"/>
          <p:nvPr/>
        </p:nvSpPr>
        <p:spPr>
          <a:xfrm>
            <a:off x="2937053" y="2505456"/>
            <a:ext cx="1499616"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50" b="1" dirty="0">
                <a:solidFill>
                  <a:schemeClr val="bg1"/>
                </a:solidFill>
              </a:rPr>
              <a:t>In flight today</a:t>
            </a:r>
            <a:endParaRPr lang="en-US" sz="1050" dirty="0"/>
          </a:p>
        </p:txBody>
      </p:sp>
      <p:sp>
        <p:nvSpPr>
          <p:cNvPr id="14" name="Text 11"/>
          <p:cNvSpPr txBox="1"/>
          <p:nvPr/>
        </p:nvSpPr>
        <p:spPr>
          <a:xfrm>
            <a:off x="2937053"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Financial crimes GenAI use case</a:t>
            </a:r>
            <a:endParaRPr lang="en-US" sz="1200" dirty="0"/>
          </a:p>
        </p:txBody>
      </p:sp>
      <p:sp>
        <p:nvSpPr>
          <p:cNvPr id="15" name="Text 12"/>
          <p:cNvSpPr txBox="1"/>
          <p:nvPr/>
        </p:nvSpPr>
        <p:spPr>
          <a:xfrm>
            <a:off x="2937053"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About 75% leverages existing sourcing moving to FCTDS; about 25% needs new sourcing.</a:t>
            </a:r>
            <a:endParaRPr lang="en-US" sz="1200" dirty="0"/>
          </a:p>
        </p:txBody>
      </p:sp>
      <p:sp>
        <p:nvSpPr>
          <p:cNvPr id="16" name="Card"/>
          <p:cNvSpPr/>
          <p:nvPr/>
        </p:nvSpPr>
        <p:spPr>
          <a:xfrm>
            <a:off x="5051146" y="1993392"/>
            <a:ext cx="2086661" cy="2670048"/>
          </a:xfrm>
          <a:prstGeom prst="roundRect">
            <a:avLst>
              <a:gd name="adj" fmla="val 3506"/>
            </a:avLst>
          </a:prstGeom>
          <a:solidFill>
            <a:schemeClr val="accent3">
              <a:alpha val="8000"/>
            </a:schemeClr>
          </a:solidFill>
          <a:ln w="15875">
            <a:solidFill>
              <a:schemeClr val="accent3"/>
            </a:solidFill>
            <a:prstDash val="solid"/>
          </a:ln>
        </p:spPr>
        <p:txBody>
          <a:bodyPr/>
          <a:lstStyle/>
          <a:p>
            <a:endParaRPr lang="en-US"/>
          </a:p>
        </p:txBody>
      </p:sp>
      <p:sp>
        <p:nvSpPr>
          <p:cNvPr id="17" name="Text 14"/>
          <p:cNvSpPr txBox="1"/>
          <p:nvPr/>
        </p:nvSpPr>
        <p:spPr>
          <a:xfrm>
            <a:off x="5188306" y="2103120"/>
            <a:ext cx="1812341" cy="365760"/>
          </a:xfrm>
          <a:prstGeom prst="rect">
            <a:avLst/>
          </a:prstGeom>
          <a:noFill/>
          <a:ln/>
        </p:spPr>
        <p:txBody>
          <a:bodyPr wrap="square" lIns="0" tIns="0" rIns="0" bIns="0" rtlCol="0" anchor="t"/>
          <a:lstStyle/>
          <a:p>
            <a:pPr marL="0" indent="0">
              <a:buNone/>
            </a:pPr>
            <a:r>
              <a:rPr lang="en-US" sz="1800" b="1" dirty="0">
                <a:solidFill>
                  <a:schemeClr val="accent3"/>
                </a:solidFill>
              </a:rPr>
              <a:t>ORM AI (Vera)</a:t>
            </a:r>
            <a:endParaRPr lang="en-US" sz="1800" dirty="0"/>
          </a:p>
        </p:txBody>
      </p:sp>
      <p:sp>
        <p:nvSpPr>
          <p:cNvPr id="18" name="Status chip"/>
          <p:cNvSpPr txBox="1"/>
          <p:nvPr/>
        </p:nvSpPr>
        <p:spPr>
          <a:xfrm>
            <a:off x="5188306" y="2505456"/>
            <a:ext cx="936346" cy="274320"/>
          </a:xfrm>
          <a:prstGeom prst="roundRect">
            <a:avLst>
              <a:gd name="adj" fmla="val 50000"/>
            </a:avLst>
          </a:prstGeom>
          <a:solidFill>
            <a:schemeClr val="accent3">
              <a:alpha val="30000"/>
            </a:schemeClr>
          </a:solidFill>
          <a:ln/>
        </p:spPr>
        <p:txBody>
          <a:bodyPr wrap="square" lIns="0" tIns="0" rIns="0" bIns="0" rtlCol="0" anchor="ctr"/>
          <a:lstStyle/>
          <a:p>
            <a:pPr marL="0" indent="0" algn="ctr">
              <a:buNone/>
            </a:pPr>
            <a:r>
              <a:rPr lang="en-US" sz="1050" b="1" dirty="0">
                <a:solidFill>
                  <a:schemeClr val="tx1"/>
                </a:solidFill>
              </a:rPr>
              <a:t>Underway</a:t>
            </a:r>
            <a:endParaRPr lang="en-US" sz="1050" dirty="0"/>
          </a:p>
        </p:txBody>
      </p:sp>
      <p:sp>
        <p:nvSpPr>
          <p:cNvPr id="19" name="Text 16"/>
          <p:cNvSpPr txBox="1"/>
          <p:nvPr/>
        </p:nvSpPr>
        <p:spPr>
          <a:xfrm>
            <a:off x="5188306"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ORM's AI use case</a:t>
            </a:r>
            <a:endParaRPr lang="en-US" sz="1200" dirty="0"/>
          </a:p>
        </p:txBody>
      </p:sp>
      <p:sp>
        <p:nvSpPr>
          <p:cNvPr id="20" name="Text 17"/>
          <p:cNvSpPr txBox="1"/>
          <p:nvPr/>
        </p:nvSpPr>
        <p:spPr>
          <a:xfrm>
            <a:off x="5188306"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Assessing overlap with existing sourcing; six priority sources first.</a:t>
            </a:r>
            <a:endParaRPr lang="en-US" sz="1200" dirty="0"/>
          </a:p>
        </p:txBody>
      </p:sp>
      <p:sp>
        <p:nvSpPr>
          <p:cNvPr id="21" name="Card"/>
          <p:cNvSpPr/>
          <p:nvPr/>
        </p:nvSpPr>
        <p:spPr>
          <a:xfrm>
            <a:off x="7302398" y="1993392"/>
            <a:ext cx="2086661" cy="2670048"/>
          </a:xfrm>
          <a:prstGeom prst="roundRect">
            <a:avLst>
              <a:gd name="adj" fmla="val 3506"/>
            </a:avLst>
          </a:prstGeom>
          <a:solidFill>
            <a:schemeClr val="bg2"/>
          </a:solidFill>
          <a:ln w="15875">
            <a:solidFill>
              <a:schemeClr val="accent6"/>
            </a:solidFill>
            <a:prstDash val="dash"/>
          </a:ln>
        </p:spPr>
        <p:txBody>
          <a:bodyPr/>
          <a:lstStyle/>
          <a:p>
            <a:endParaRPr lang="en-US"/>
          </a:p>
        </p:txBody>
      </p:sp>
      <p:sp>
        <p:nvSpPr>
          <p:cNvPr id="22" name="Text 19"/>
          <p:cNvSpPr txBox="1"/>
          <p:nvPr/>
        </p:nvSpPr>
        <p:spPr>
          <a:xfrm>
            <a:off x="7439558" y="2103120"/>
            <a:ext cx="1812341" cy="365760"/>
          </a:xfrm>
          <a:prstGeom prst="rect">
            <a:avLst/>
          </a:prstGeom>
          <a:noFill/>
          <a:ln/>
        </p:spPr>
        <p:txBody>
          <a:bodyPr wrap="square" lIns="0" tIns="0" rIns="0" bIns="0" rtlCol="0" anchor="t"/>
          <a:lstStyle/>
          <a:p>
            <a:pPr marL="0" indent="0">
              <a:buNone/>
            </a:pPr>
            <a:r>
              <a:rPr lang="en-US" sz="1800" b="1" dirty="0">
                <a:solidFill>
                  <a:schemeClr val="tx1"/>
                </a:solidFill>
              </a:rPr>
              <a:t>eGRC</a:t>
            </a:r>
            <a:endParaRPr lang="en-US" sz="1800" dirty="0"/>
          </a:p>
        </p:txBody>
      </p:sp>
      <p:sp>
        <p:nvSpPr>
          <p:cNvPr id="23" name="Status chip"/>
          <p:cNvSpPr txBox="1"/>
          <p:nvPr/>
        </p:nvSpPr>
        <p:spPr>
          <a:xfrm>
            <a:off x="7439558" y="2505456"/>
            <a:ext cx="1177747"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050" b="1" dirty="0">
                <a:solidFill>
                  <a:schemeClr val="tx1"/>
                </a:solidFill>
              </a:rPr>
              <a:t>Unscheduled</a:t>
            </a:r>
            <a:endParaRPr lang="en-US" sz="1050" dirty="0"/>
          </a:p>
        </p:txBody>
      </p:sp>
      <p:sp>
        <p:nvSpPr>
          <p:cNvPr id="24" name="Text 21"/>
          <p:cNvSpPr txBox="1"/>
          <p:nvPr/>
        </p:nvSpPr>
        <p:spPr>
          <a:xfrm>
            <a:off x="7439558"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Issues, policy, testing, and audit</a:t>
            </a:r>
            <a:endParaRPr lang="en-US" sz="1200" dirty="0"/>
          </a:p>
        </p:txBody>
      </p:sp>
      <p:sp>
        <p:nvSpPr>
          <p:cNvPr id="25" name="Text 22"/>
          <p:cNvSpPr txBox="1"/>
          <p:nvPr/>
        </p:nvSpPr>
        <p:spPr>
          <a:xfrm>
            <a:off x="7439558"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Known future priority; needs business engagement and requirements.</a:t>
            </a:r>
            <a:endParaRPr lang="en-US" sz="1200" dirty="0"/>
          </a:p>
        </p:txBody>
      </p:sp>
      <p:sp>
        <p:nvSpPr>
          <p:cNvPr id="26" name="Card"/>
          <p:cNvSpPr/>
          <p:nvPr/>
        </p:nvSpPr>
        <p:spPr>
          <a:xfrm>
            <a:off x="9553651" y="1993392"/>
            <a:ext cx="2086661" cy="2670048"/>
          </a:xfrm>
          <a:prstGeom prst="roundRect">
            <a:avLst>
              <a:gd name="adj" fmla="val 3506"/>
            </a:avLst>
          </a:prstGeom>
          <a:solidFill>
            <a:schemeClr val="bg1"/>
          </a:solidFill>
          <a:ln w="19050">
            <a:solidFill>
              <a:schemeClr val="accent4"/>
            </a:solidFill>
            <a:prstDash val="dash"/>
          </a:ln>
        </p:spPr>
        <p:txBody>
          <a:bodyPr/>
          <a:lstStyle/>
          <a:p>
            <a:endParaRPr lang="en-US"/>
          </a:p>
        </p:txBody>
      </p:sp>
      <p:sp>
        <p:nvSpPr>
          <p:cNvPr id="27" name="Text 24"/>
          <p:cNvSpPr txBox="1"/>
          <p:nvPr/>
        </p:nvSpPr>
        <p:spPr>
          <a:xfrm>
            <a:off x="9675821" y="2103120"/>
            <a:ext cx="1896586" cy="365760"/>
          </a:xfrm>
          <a:prstGeom prst="rect">
            <a:avLst/>
          </a:prstGeom>
          <a:noFill/>
          <a:ln/>
        </p:spPr>
        <p:txBody>
          <a:bodyPr wrap="square" lIns="0" tIns="0" rIns="0" bIns="0" rtlCol="0" anchor="t"/>
          <a:lstStyle/>
          <a:p>
            <a:pPr marL="0" indent="0">
              <a:buNone/>
            </a:pPr>
            <a:r>
              <a:rPr lang="en-US" b="1" dirty="0">
                <a:solidFill>
                  <a:schemeClr val="accent4"/>
                </a:solidFill>
              </a:rPr>
              <a:t>Additional Priorities</a:t>
            </a:r>
            <a:endParaRPr lang="en-US" dirty="0"/>
          </a:p>
        </p:txBody>
      </p:sp>
      <p:sp>
        <p:nvSpPr>
          <p:cNvPr id="28" name="Status chip"/>
          <p:cNvSpPr txBox="1"/>
          <p:nvPr/>
        </p:nvSpPr>
        <p:spPr>
          <a:xfrm>
            <a:off x="9690811" y="2505456"/>
            <a:ext cx="1016813" cy="274320"/>
          </a:xfrm>
          <a:prstGeom prst="roundRect">
            <a:avLst>
              <a:gd name="adj" fmla="val 50000"/>
            </a:avLst>
          </a:prstGeom>
          <a:solidFill>
            <a:schemeClr val="bg1"/>
          </a:solidFill>
          <a:ln w="9525">
            <a:solidFill>
              <a:srgbClr val="C9D0D8"/>
            </a:solidFill>
          </a:ln>
        </p:spPr>
        <p:txBody>
          <a:bodyPr wrap="square" lIns="0" tIns="0" rIns="0" bIns="0" rtlCol="0" anchor="ctr"/>
          <a:lstStyle/>
          <a:p>
            <a:pPr marL="0" indent="0" algn="ctr">
              <a:buNone/>
            </a:pPr>
            <a:r>
              <a:rPr lang="en-US" sz="1050" b="1" dirty="0">
                <a:solidFill>
                  <a:schemeClr val="tx1"/>
                </a:solidFill>
              </a:rPr>
              <a:t>To be Prioritized</a:t>
            </a:r>
            <a:endParaRPr lang="en-US" sz="1050" dirty="0"/>
          </a:p>
        </p:txBody>
      </p:sp>
      <p:sp>
        <p:nvSpPr>
          <p:cNvPr id="29" name="Text 26"/>
          <p:cNvSpPr txBox="1"/>
          <p:nvPr/>
        </p:nvSpPr>
        <p:spPr>
          <a:xfrm>
            <a:off x="9690811" y="2889504"/>
            <a:ext cx="1812341" cy="713232"/>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WHAT IT IS</a:t>
            </a:r>
            <a:endParaRPr lang="en-US" sz="1400" dirty="0"/>
          </a:p>
          <a:p>
            <a:pPr marL="0" indent="0">
              <a:spcAft>
                <a:spcPts val="100"/>
              </a:spcAft>
              <a:buNone/>
            </a:pPr>
            <a:r>
              <a:rPr lang="en-US" sz="1200" dirty="0">
                <a:solidFill>
                  <a:schemeClr val="tx1"/>
                </a:solidFill>
              </a:rPr>
              <a:t>Emerging AI, reporting, analytics, and other business use cases.</a:t>
            </a:r>
            <a:endParaRPr lang="en-US" sz="1200" dirty="0"/>
          </a:p>
        </p:txBody>
      </p:sp>
      <p:sp>
        <p:nvSpPr>
          <p:cNvPr id="30" name="Text 27"/>
          <p:cNvSpPr txBox="1"/>
          <p:nvPr/>
        </p:nvSpPr>
        <p:spPr>
          <a:xfrm>
            <a:off x="9690811" y="3621024"/>
            <a:ext cx="1812341" cy="1005840"/>
          </a:xfrm>
          <a:prstGeom prst="rect">
            <a:avLst/>
          </a:prstGeom>
          <a:noFill/>
          <a:ln/>
        </p:spPr>
        <p:txBody>
          <a:bodyPr wrap="square" lIns="0" tIns="0" rIns="0" bIns="0" rtlCol="0" anchor="t"/>
          <a:lstStyle/>
          <a:p>
            <a:pPr marL="0" indent="0">
              <a:spcAft>
                <a:spcPts val="100"/>
              </a:spcAft>
              <a:buNone/>
            </a:pPr>
            <a:r>
              <a:rPr lang="en-US" sz="950" b="1" kern="0" spc="100" dirty="0">
                <a:solidFill>
                  <a:schemeClr val="tx2"/>
                </a:solidFill>
              </a:rPr>
              <a:t>WHERE IT STANDS</a:t>
            </a:r>
            <a:endParaRPr lang="en-US" sz="1400" dirty="0"/>
          </a:p>
          <a:p>
            <a:pPr marL="0" indent="0">
              <a:spcAft>
                <a:spcPts val="100"/>
              </a:spcAft>
              <a:buNone/>
            </a:pPr>
            <a:r>
              <a:rPr lang="en-US" sz="1200" dirty="0">
                <a:solidFill>
                  <a:schemeClr val="tx1"/>
                </a:solidFill>
              </a:rPr>
              <a:t>Other critical AI use cases or key reports needing data going into 2027?</a:t>
            </a:r>
            <a:endParaRPr lang="en-US" sz="1200" dirty="0"/>
          </a:p>
        </p:txBody>
      </p:sp>
      <p:sp>
        <p:nvSpPr>
          <p:cNvPr id="31" name="Card"/>
          <p:cNvSpPr/>
          <p:nvPr/>
        </p:nvSpPr>
        <p:spPr>
          <a:xfrm>
            <a:off x="548640" y="4773168"/>
            <a:ext cx="11091672" cy="960120"/>
          </a:xfrm>
          <a:prstGeom prst="roundRect">
            <a:avLst>
              <a:gd name="adj" fmla="val 7619"/>
            </a:avLst>
          </a:prstGeom>
          <a:solidFill>
            <a:schemeClr val="accent2">
              <a:alpha val="10000"/>
            </a:schemeClr>
          </a:solidFill>
          <a:ln w="15875">
            <a:solidFill>
              <a:schemeClr val="accent2"/>
            </a:solidFill>
            <a:prstDash val="solid"/>
          </a:ln>
        </p:spPr>
        <p:txBody>
          <a:bodyPr/>
          <a:lstStyle/>
          <a:p>
            <a:endParaRPr lang="en-US"/>
          </a:p>
        </p:txBody>
      </p:sp>
      <p:sp>
        <p:nvSpPr>
          <p:cNvPr id="32" name="Pillar 2 header"/>
          <p:cNvSpPr txBox="1"/>
          <p:nvPr/>
        </p:nvSpPr>
        <p:spPr>
          <a:xfrm>
            <a:off x="548640" y="4773168"/>
            <a:ext cx="1691640" cy="960120"/>
          </a:xfrm>
          <a:prstGeom prst="roundRect">
            <a:avLst>
              <a:gd name="adj" fmla="val 7619"/>
            </a:avLst>
          </a:prstGeom>
          <a:solidFill>
            <a:schemeClr val="accent2"/>
          </a:solidFill>
          <a:ln/>
        </p:spPr>
        <p:txBody>
          <a:bodyPr wrap="square" lIns="762" tIns="762" rIns="762" bIns="762" rtlCol="0" anchor="ctr"/>
          <a:lstStyle/>
          <a:p>
            <a:pPr marL="0" indent="0" algn="ctr">
              <a:buNone/>
            </a:pPr>
            <a:r>
              <a:rPr lang="en-US" sz="1100" b="1" kern="0" spc="100" dirty="0">
                <a:solidFill>
                  <a:schemeClr val="bg1"/>
                </a:solidFill>
              </a:rPr>
              <a:t>PILLAR 2 EXISTING SOURCING</a:t>
            </a:r>
            <a:endParaRPr lang="en-US" sz="1100" dirty="0"/>
          </a:p>
        </p:txBody>
      </p:sp>
      <p:sp>
        <p:nvSpPr>
          <p:cNvPr id="33" name="Text 30"/>
          <p:cNvSpPr txBox="1"/>
          <p:nvPr/>
        </p:nvSpPr>
        <p:spPr>
          <a:xfrm>
            <a:off x="2423160"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2"/>
                </a:solidFill>
              </a:rPr>
              <a:t>Credit 360</a:t>
            </a:r>
            <a:endParaRPr lang="en-US" sz="1400" dirty="0"/>
          </a:p>
          <a:p>
            <a:pPr marL="0" indent="0">
              <a:spcAft>
                <a:spcPts val="100"/>
              </a:spcAft>
              <a:buNone/>
            </a:pPr>
            <a:r>
              <a:rPr lang="en-US" sz="1200" dirty="0">
                <a:solidFill>
                  <a:schemeClr val="tx1"/>
                </a:solidFill>
              </a:rPr>
              <a:t>Assess existing RDS inventory, usage, and sourcing to identify rationalization and strategic ADS migration opportunities.</a:t>
            </a:r>
            <a:endParaRPr lang="en-US" sz="1400" dirty="0"/>
          </a:p>
        </p:txBody>
      </p:sp>
      <p:sp>
        <p:nvSpPr>
          <p:cNvPr id="34" name="Text 31"/>
          <p:cNvSpPr txBox="1"/>
          <p:nvPr/>
        </p:nvSpPr>
        <p:spPr>
          <a:xfrm>
            <a:off x="5556504"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2"/>
                </a:solidFill>
              </a:rPr>
              <a:t>FCTDS</a:t>
            </a:r>
            <a:endParaRPr lang="en-US" sz="1400" dirty="0"/>
          </a:p>
          <a:p>
            <a:pPr marL="0" indent="0">
              <a:spcAft>
                <a:spcPts val="100"/>
              </a:spcAft>
              <a:buNone/>
            </a:pPr>
            <a:r>
              <a:rPr lang="en-US" sz="1200" dirty="0">
                <a:solidFill>
                  <a:schemeClr val="tx1"/>
                </a:solidFill>
              </a:rPr>
              <a:t>Evaluate existing Financial Crimes sourcing, including Sentinel and FCI, to identify legacy feeds and strategic migration opportunities.</a:t>
            </a:r>
            <a:endParaRPr lang="en-US" sz="1400" dirty="0"/>
          </a:p>
        </p:txBody>
      </p:sp>
      <p:sp>
        <p:nvSpPr>
          <p:cNvPr id="35" name="Text 32"/>
          <p:cNvSpPr txBox="1"/>
          <p:nvPr/>
        </p:nvSpPr>
        <p:spPr>
          <a:xfrm>
            <a:off x="8689848" y="4882896"/>
            <a:ext cx="2950464" cy="813816"/>
          </a:xfrm>
          <a:prstGeom prst="rect">
            <a:avLst/>
          </a:prstGeom>
          <a:noFill/>
          <a:ln/>
        </p:spPr>
        <p:txBody>
          <a:bodyPr wrap="square" lIns="0" tIns="0" rIns="0" bIns="0" rtlCol="0" anchor="t"/>
          <a:lstStyle/>
          <a:p>
            <a:pPr marL="0" indent="0">
              <a:spcAft>
                <a:spcPts val="100"/>
              </a:spcAft>
              <a:buNone/>
            </a:pPr>
            <a:r>
              <a:rPr lang="en-US" sz="1350" b="1" dirty="0">
                <a:solidFill>
                  <a:schemeClr val="accent4"/>
                </a:solidFill>
              </a:rPr>
              <a:t>Broader Data Plane Assessment</a:t>
            </a:r>
          </a:p>
          <a:p>
            <a:pPr marL="0" indent="0">
              <a:spcAft>
                <a:spcPts val="100"/>
              </a:spcAft>
              <a:buNone/>
            </a:pPr>
            <a:r>
              <a:rPr lang="en-US" sz="1200" dirty="0">
                <a:solidFill>
                  <a:schemeClr val="tx1"/>
                </a:solidFill>
              </a:rPr>
              <a:t>Expand baseline and rationalization efforts across remaining RDS/DPC data and legacy sourcing.</a:t>
            </a:r>
            <a:endParaRPr lang="en-US" sz="1400" dirty="0"/>
          </a:p>
        </p:txBody>
      </p:sp>
      <p:sp>
        <p:nvSpPr>
          <p:cNvPr id="36" name="Text 33"/>
          <p:cNvSpPr txBox="1"/>
          <p:nvPr/>
        </p:nvSpPr>
        <p:spPr>
          <a:xfrm>
            <a:off x="548640" y="5815584"/>
            <a:ext cx="11091672" cy="502920"/>
          </a:xfrm>
          <a:prstGeom prst="rect">
            <a:avLst/>
          </a:prstGeom>
          <a:noFill/>
          <a:ln/>
        </p:spPr>
        <p:txBody>
          <a:bodyPr wrap="square" lIns="0" tIns="0" rIns="0" bIns="0" rtlCol="0" anchor="ctr"/>
          <a:lstStyle/>
          <a:p>
            <a:pPr marL="0" indent="0">
              <a:buNone/>
            </a:pPr>
            <a:r>
              <a:rPr lang="en-US" sz="1250" b="1" dirty="0">
                <a:solidFill>
                  <a:schemeClr val="tx1"/>
                </a:solidFill>
              </a:rPr>
              <a:t>How it works: </a:t>
            </a:r>
            <a:r>
              <a:rPr lang="en-US" sz="1250" dirty="0">
                <a:solidFill>
                  <a:schemeClr val="tx1"/>
                </a:solidFill>
              </a:rPr>
              <a:t>Pillar 2 assesses and rationalizes existing sourcing, while Pillar 3 manages new demand through standardized intake. Priorities are informed by enterprise AI initiatives, critical reporting needs, and Corporate Risk business requirements.</a:t>
            </a:r>
            <a:endParaRPr lang="en-US" sz="125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17</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ORM AI: Workstream Status &amp; Key Milestones</a:t>
            </a:r>
            <a:endParaRPr lang="en-US" sz="2800" dirty="0"/>
          </a:p>
        </p:txBody>
      </p:sp>
      <p:sp>
        <p:nvSpPr>
          <p:cNvPr id="3" name="Section tag"/>
          <p:cNvSpPr txBox="1"/>
          <p:nvPr/>
        </p:nvSpPr>
        <p:spPr>
          <a:xfrm>
            <a:off x="548640" y="274320"/>
            <a:ext cx="2662733"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EXAMPLE WORKSTREAM</a:t>
            </a:r>
            <a:endParaRPr lang="en-US" sz="1000" dirty="0"/>
          </a:p>
        </p:txBody>
      </p:sp>
      <p:sp>
        <p:nvSpPr>
          <p:cNvPr id="5" name="Card"/>
          <p:cNvSpPr/>
          <p:nvPr/>
        </p:nvSpPr>
        <p:spPr>
          <a:xfrm>
            <a:off x="548640" y="1572768"/>
            <a:ext cx="11091672" cy="713232"/>
          </a:xfrm>
          <a:prstGeom prst="roundRect">
            <a:avLst>
              <a:gd name="adj" fmla="val 10256"/>
            </a:avLst>
          </a:prstGeom>
          <a:solidFill>
            <a:schemeClr val="tx1"/>
          </a:solidFill>
          <a:ln/>
        </p:spPr>
        <p:txBody>
          <a:bodyPr/>
          <a:lstStyle/>
          <a:p>
            <a:endParaRPr lang="en-US"/>
          </a:p>
        </p:txBody>
      </p:sp>
      <p:sp>
        <p:nvSpPr>
          <p:cNvPr id="6" name="Text 3"/>
          <p:cNvSpPr txBox="1"/>
          <p:nvPr/>
        </p:nvSpPr>
        <p:spPr>
          <a:xfrm>
            <a:off x="777240" y="1572768"/>
            <a:ext cx="8138160" cy="713232"/>
          </a:xfrm>
          <a:prstGeom prst="rect">
            <a:avLst/>
          </a:prstGeom>
          <a:noFill/>
          <a:ln/>
        </p:spPr>
        <p:txBody>
          <a:bodyPr wrap="square" lIns="0" tIns="0" rIns="0" bIns="0" rtlCol="0" anchor="ctr"/>
          <a:lstStyle/>
          <a:p>
            <a:pPr marL="0" indent="0">
              <a:buNone/>
            </a:pPr>
            <a:r>
              <a:rPr lang="en-US" sz="1800" b="1" dirty="0">
                <a:solidFill>
                  <a:schemeClr val="bg1"/>
                </a:solidFill>
              </a:rPr>
              <a:t>ORM AI</a:t>
            </a:r>
            <a:endParaRPr lang="en-US" sz="1400" dirty="0"/>
          </a:p>
          <a:p>
            <a:pPr marL="0" indent="0">
              <a:buNone/>
            </a:pPr>
            <a:r>
              <a:rPr lang="en-US" sz="1200" dirty="0">
                <a:solidFill>
                  <a:schemeClr val="bg1"/>
                </a:solidFill>
              </a:rPr>
              <a:t>Pillar 3 workstream · Business Owner: Jennifer Willis (ORM) · lead: to be named</a:t>
            </a:r>
            <a:endParaRPr lang="en-US" sz="1400" dirty="0"/>
          </a:p>
        </p:txBody>
      </p:sp>
      <p:sp>
        <p:nvSpPr>
          <p:cNvPr id="7" name="Text 4"/>
          <p:cNvSpPr txBox="1"/>
          <p:nvPr/>
        </p:nvSpPr>
        <p:spPr>
          <a:xfrm>
            <a:off x="8686800" y="1572768"/>
            <a:ext cx="1097280" cy="713232"/>
          </a:xfrm>
          <a:prstGeom prst="rect">
            <a:avLst/>
          </a:prstGeom>
          <a:noFill/>
          <a:ln/>
        </p:spPr>
        <p:txBody>
          <a:bodyPr wrap="square" lIns="0" tIns="0" rIns="0" bIns="0" rtlCol="0" anchor="ctr"/>
          <a:lstStyle/>
          <a:p>
            <a:pPr marL="0" indent="0" algn="r">
              <a:buNone/>
            </a:pPr>
            <a:r>
              <a:rPr lang="en-US" sz="1100" b="1" kern="0" spc="100" dirty="0">
                <a:solidFill>
                  <a:schemeClr val="bg2"/>
                </a:solidFill>
              </a:rPr>
              <a:t>OVERALL</a:t>
            </a:r>
            <a:endParaRPr lang="en-US" sz="1100" dirty="0"/>
          </a:p>
        </p:txBody>
      </p:sp>
      <p:sp>
        <p:nvSpPr>
          <p:cNvPr id="8" name="Overall status"/>
          <p:cNvSpPr txBox="1"/>
          <p:nvPr/>
        </p:nvSpPr>
        <p:spPr>
          <a:xfrm>
            <a:off x="10012680" y="1764792"/>
            <a:ext cx="141732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kern="0" spc="100" dirty="0">
                <a:solidFill>
                  <a:schemeClr val="bg1"/>
                </a:solidFill>
              </a:rPr>
              <a:t>AMBER</a:t>
            </a:r>
            <a:endParaRPr lang="en-US" sz="1300" dirty="0"/>
          </a:p>
        </p:txBody>
      </p:sp>
      <p:sp>
        <p:nvSpPr>
          <p:cNvPr id="26" name="Quadrant card"/>
          <p:cNvSpPr/>
          <p:nvPr/>
        </p:nvSpPr>
        <p:spPr>
          <a:xfrm>
            <a:off x="548640" y="2395728"/>
            <a:ext cx="5408676" cy="1783080"/>
          </a:xfrm>
          <a:prstGeom prst="roundRect">
            <a:avLst>
              <a:gd name="adj" fmla="val 4103"/>
            </a:avLst>
          </a:prstGeom>
          <a:solidFill>
            <a:schemeClr val="bg2"/>
          </a:solidFill>
          <a:ln/>
        </p:spPr>
        <p:txBody>
          <a:bodyPr/>
          <a:lstStyle/>
          <a:p>
            <a:endParaRPr lang="en-US"/>
          </a:p>
        </p:txBody>
      </p:sp>
      <p:sp>
        <p:nvSpPr>
          <p:cNvPr id="27" name="Quadrant card"/>
          <p:cNvSpPr/>
          <p:nvPr/>
        </p:nvSpPr>
        <p:spPr>
          <a:xfrm>
            <a:off x="6231636" y="2395728"/>
            <a:ext cx="5408676" cy="1783080"/>
          </a:xfrm>
          <a:prstGeom prst="roundRect">
            <a:avLst>
              <a:gd name="adj" fmla="val 4103"/>
            </a:avLst>
          </a:prstGeom>
          <a:solidFill>
            <a:schemeClr val="bg2"/>
          </a:solidFill>
          <a:ln/>
        </p:spPr>
        <p:txBody>
          <a:bodyPr/>
          <a:lstStyle/>
          <a:p>
            <a:endParaRPr lang="en-US"/>
          </a:p>
        </p:txBody>
      </p:sp>
      <p:sp>
        <p:nvSpPr>
          <p:cNvPr id="28" name="Quadrant card"/>
          <p:cNvSpPr/>
          <p:nvPr/>
        </p:nvSpPr>
        <p:spPr>
          <a:xfrm>
            <a:off x="548640" y="4270248"/>
            <a:ext cx="5408676" cy="1783080"/>
          </a:xfrm>
          <a:prstGeom prst="roundRect">
            <a:avLst>
              <a:gd name="adj" fmla="val 4103"/>
            </a:avLst>
          </a:prstGeom>
          <a:solidFill>
            <a:schemeClr val="bg2"/>
          </a:solidFill>
          <a:ln/>
        </p:spPr>
        <p:txBody>
          <a:bodyPr/>
          <a:lstStyle/>
          <a:p>
            <a:endParaRPr lang="en-US"/>
          </a:p>
        </p:txBody>
      </p:sp>
      <p:sp>
        <p:nvSpPr>
          <p:cNvPr id="29" name="Quadrant card"/>
          <p:cNvSpPr/>
          <p:nvPr/>
        </p:nvSpPr>
        <p:spPr>
          <a:xfrm>
            <a:off x="6231636" y="4270248"/>
            <a:ext cx="5408676" cy="1783080"/>
          </a:xfrm>
          <a:prstGeom prst="roundRect">
            <a:avLst>
              <a:gd name="adj" fmla="val 4103"/>
            </a:avLst>
          </a:prstGeom>
          <a:solidFill>
            <a:schemeClr val="bg2"/>
          </a:solidFill>
          <a:ln/>
        </p:spPr>
        <p:txBody>
          <a:bodyPr/>
          <a:lstStyle/>
          <a:p>
            <a:endParaRPr lang="en-US"/>
          </a:p>
        </p:txBody>
      </p:sp>
      <p:sp>
        <p:nvSpPr>
          <p:cNvPr id="9" name="Text 6"/>
          <p:cNvSpPr txBox="1"/>
          <p:nvPr/>
        </p:nvSpPr>
        <p:spPr>
          <a:xfrm>
            <a:off x="685800"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SUMMARY</a:t>
            </a:r>
            <a:endParaRPr lang="en-US" sz="1100" dirty="0"/>
          </a:p>
        </p:txBody>
      </p:sp>
      <p:sp>
        <p:nvSpPr>
          <p:cNvPr id="10" name="Text 7"/>
          <p:cNvSpPr txBox="1"/>
          <p:nvPr/>
        </p:nvSpPr>
        <p:spPr>
          <a:xfrm>
            <a:off x="685800" y="2743200"/>
            <a:ext cx="5134356" cy="1399032"/>
          </a:xfrm>
          <a:prstGeom prst="rect">
            <a:avLst/>
          </a:prstGeom>
          <a:noFill/>
          <a:ln/>
        </p:spPr>
        <p:txBody>
          <a:bodyPr wrap="square" lIns="0" tIns="0" rIns="0" bIns="0" rtlCol="0" anchor="t"/>
          <a:lstStyle/>
          <a:p>
            <a:pPr marL="0" indent="0">
              <a:buNone/>
            </a:pPr>
            <a:r>
              <a:rPr lang="en-US" sz="1400" dirty="0">
                <a:solidFill>
                  <a:schemeClr val="tx1"/>
                </a:solidFill>
              </a:rPr>
              <a:t>Assessing ORM's 54 requested sources against existing RDS data to identify overlap and sourcing gaps. Initial focus is on six high-priority sources. Status remains amber pending confirmation of priority sourcing requirements.</a:t>
            </a:r>
            <a:endParaRPr lang="en-US" sz="1400" dirty="0"/>
          </a:p>
        </p:txBody>
      </p:sp>
      <p:sp>
        <p:nvSpPr>
          <p:cNvPr id="11" name="Text 8"/>
          <p:cNvSpPr txBox="1"/>
          <p:nvPr/>
        </p:nvSpPr>
        <p:spPr>
          <a:xfrm>
            <a:off x="6368796" y="245059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PROGRESS SINCE LAST MEETING</a:t>
            </a:r>
            <a:endParaRPr lang="en-US" sz="1100" dirty="0"/>
          </a:p>
        </p:txBody>
      </p:sp>
      <p:sp>
        <p:nvSpPr>
          <p:cNvPr id="12" name="Text 9"/>
          <p:cNvSpPr txBox="1"/>
          <p:nvPr/>
        </p:nvSpPr>
        <p:spPr>
          <a:xfrm>
            <a:off x="6368796" y="274320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Pillar structure and workstream model reviewed with Kevin (Oct 13) and the wider team (Oct 15)</a:t>
            </a:r>
            <a:endParaRPr lang="en-US" sz="1400" dirty="0"/>
          </a:p>
          <a:p>
            <a:pPr marL="177800" indent="-177800">
              <a:spcAft>
                <a:spcPts val="300"/>
              </a:spcAft>
              <a:buSzPct val="100000"/>
              <a:buChar char="•"/>
            </a:pPr>
            <a:r>
              <a:rPr lang="en-US" sz="1400" dirty="0">
                <a:solidFill>
                  <a:schemeClr val="tx1"/>
                </a:solidFill>
              </a:rPr>
              <a:t>Business requirements template adopted with ORM</a:t>
            </a:r>
            <a:endParaRPr lang="en-US" sz="1400" dirty="0"/>
          </a:p>
          <a:p>
            <a:pPr marL="177800" indent="-177800">
              <a:spcAft>
                <a:spcPts val="300"/>
              </a:spcAft>
              <a:buSzPct val="100000"/>
              <a:buChar char="•"/>
            </a:pPr>
            <a:r>
              <a:rPr lang="en-US" sz="1400" dirty="0">
                <a:solidFill>
                  <a:schemeClr val="tx1"/>
                </a:solidFill>
              </a:rPr>
              <a:t>RDS overlap analysis started</a:t>
            </a:r>
            <a:endParaRPr lang="en-US" sz="1400" dirty="0"/>
          </a:p>
        </p:txBody>
      </p:sp>
      <p:sp>
        <p:nvSpPr>
          <p:cNvPr id="13" name="Text 10"/>
          <p:cNvSpPr txBox="1"/>
          <p:nvPr/>
        </p:nvSpPr>
        <p:spPr>
          <a:xfrm>
            <a:off x="685800" y="4325112"/>
            <a:ext cx="5134356" cy="237744"/>
          </a:xfrm>
          <a:prstGeom prst="rect">
            <a:avLst/>
          </a:prstGeom>
          <a:noFill/>
          <a:ln/>
        </p:spPr>
        <p:txBody>
          <a:bodyPr wrap="square" lIns="0" tIns="0" rIns="0" bIns="0" rtlCol="0" anchor="t"/>
          <a:lstStyle/>
          <a:p>
            <a:pPr marL="0" indent="0">
              <a:buNone/>
            </a:pPr>
            <a:r>
              <a:rPr lang="en-US" sz="1100" b="1" kern="0" spc="100" dirty="0">
                <a:solidFill>
                  <a:schemeClr val="tx1"/>
                </a:solidFill>
              </a:rPr>
              <a:t>NEXT STEPS AND DUE DATES</a:t>
            </a:r>
            <a:endParaRPr lang="en-US" sz="1100" dirty="0"/>
          </a:p>
        </p:txBody>
      </p:sp>
      <p:sp>
        <p:nvSpPr>
          <p:cNvPr id="14" name="Text 11"/>
          <p:cNvSpPr txBox="1"/>
          <p:nvPr/>
        </p:nvSpPr>
        <p:spPr>
          <a:xfrm>
            <a:off x="685800" y="461772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Confirm six priority sources with ORM · Oct–Nov</a:t>
            </a:r>
            <a:endParaRPr lang="en-US" sz="1400" dirty="0"/>
          </a:p>
          <a:p>
            <a:pPr marL="177800" indent="-177800">
              <a:spcAft>
                <a:spcPts val="300"/>
              </a:spcAft>
              <a:buSzPct val="100000"/>
              <a:buChar char="•"/>
            </a:pPr>
            <a:r>
              <a:rPr lang="en-US" sz="1400" dirty="0">
                <a:solidFill>
                  <a:schemeClr val="tx1"/>
                </a:solidFill>
              </a:rPr>
              <a:t>Elements mapped to RDS and CDO subject areas · Oct–Nov</a:t>
            </a:r>
            <a:endParaRPr lang="en-US" sz="1400" dirty="0"/>
          </a:p>
          <a:p>
            <a:pPr marL="177800" indent="-177800">
              <a:spcAft>
                <a:spcPts val="300"/>
              </a:spcAft>
              <a:buSzPct val="100000"/>
              <a:buChar char="•"/>
            </a:pPr>
            <a:r>
              <a:rPr lang="en-US" sz="1400" dirty="0">
                <a:solidFill>
                  <a:schemeClr val="tx1"/>
                </a:solidFill>
              </a:rPr>
              <a:t>Identify initial sourcing approach · Following source confirmation</a:t>
            </a:r>
            <a:endParaRPr lang="en-US" sz="1400" dirty="0"/>
          </a:p>
          <a:p>
            <a:pPr marL="177800" indent="-177800">
              <a:spcAft>
                <a:spcPts val="300"/>
              </a:spcAft>
              <a:buSzPct val="100000"/>
              <a:buChar char="•"/>
            </a:pPr>
            <a:r>
              <a:rPr lang="en-US" sz="1400" dirty="0">
                <a:solidFill>
                  <a:schemeClr val="tx1"/>
                </a:solidFill>
              </a:rPr>
              <a:t>Complete year-end status and sourcing plan · Year-end</a:t>
            </a:r>
            <a:endParaRPr lang="en-US" sz="1400" dirty="0"/>
          </a:p>
        </p:txBody>
      </p:sp>
      <p:sp>
        <p:nvSpPr>
          <p:cNvPr id="15" name="Text 12"/>
          <p:cNvSpPr txBox="1"/>
          <p:nvPr/>
        </p:nvSpPr>
        <p:spPr>
          <a:xfrm>
            <a:off x="6368796" y="4325112"/>
            <a:ext cx="5134356"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BLOCKERS AND RISKS</a:t>
            </a:r>
            <a:endParaRPr lang="en-US" sz="1100" dirty="0"/>
          </a:p>
        </p:txBody>
      </p:sp>
      <p:sp>
        <p:nvSpPr>
          <p:cNvPr id="16" name="Text 13"/>
          <p:cNvSpPr txBox="1"/>
          <p:nvPr/>
        </p:nvSpPr>
        <p:spPr>
          <a:xfrm>
            <a:off x="6368796" y="4617720"/>
            <a:ext cx="5134356" cy="1399032"/>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Pending confirmation of six priority sources from ORM</a:t>
            </a:r>
            <a:endParaRPr lang="en-US" sz="1400" dirty="0"/>
          </a:p>
          <a:p>
            <a:pPr marL="177800" indent="-177800">
              <a:spcAft>
                <a:spcPts val="300"/>
              </a:spcAft>
              <a:buSzPct val="100000"/>
              <a:buChar char="•"/>
            </a:pPr>
            <a:r>
              <a:rPr lang="en-US" sz="1400" dirty="0">
                <a:solidFill>
                  <a:schemeClr val="tx1"/>
                </a:solidFill>
              </a:rPr>
              <a:t>Manual processes may limit execution efficiency</a:t>
            </a:r>
            <a:endParaRPr lang="en-US" sz="1400" dirty="0"/>
          </a:p>
          <a:p>
            <a:pPr marL="177800" indent="-177800">
              <a:spcAft>
                <a:spcPts val="300"/>
              </a:spcAft>
              <a:buSzPct val="100000"/>
              <a:buChar char="•"/>
            </a:pPr>
            <a:r>
              <a:rPr lang="en-US" sz="1400" dirty="0">
                <a:solidFill>
                  <a:schemeClr val="tx1"/>
                </a:solidFill>
              </a:rPr>
              <a:t>Business validation of data elements may extend timelines</a:t>
            </a:r>
            <a:endParaRPr lang="en-US" sz="1400" dirty="0"/>
          </a:p>
          <a:p>
            <a:pPr marL="177800" indent="-177800">
              <a:spcAft>
                <a:spcPts val="300"/>
              </a:spcAft>
              <a:buSzPct val="100000"/>
              <a:buChar char="•"/>
            </a:pPr>
            <a:r>
              <a:rPr lang="en-US" sz="1400" dirty="0">
                <a:solidFill>
                  <a:schemeClr val="tx1"/>
                </a:solidFill>
              </a:rPr>
              <a:t>DPC migration alignment and timing to be monitored</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18</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Standardized Workstream Tracking - ORM AI Example</a:t>
            </a:r>
            <a:endParaRPr lang="en-US" sz="2800" dirty="0"/>
          </a:p>
        </p:txBody>
      </p:sp>
      <p:sp>
        <p:nvSpPr>
          <p:cNvPr id="3" name="Section tag"/>
          <p:cNvSpPr txBox="1"/>
          <p:nvPr/>
        </p:nvSpPr>
        <p:spPr>
          <a:xfrm>
            <a:off x="548640" y="274320"/>
            <a:ext cx="2099462"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ORM ROADMAP</a:t>
            </a:r>
            <a:endParaRPr lang="en-US" sz="1000" dirty="0"/>
          </a:p>
        </p:txBody>
      </p:sp>
      <p:sp>
        <p:nvSpPr>
          <p:cNvPr id="5" name="Card"/>
          <p:cNvSpPr/>
          <p:nvPr/>
        </p:nvSpPr>
        <p:spPr>
          <a:xfrm>
            <a:off x="548640" y="1463040"/>
            <a:ext cx="11091672" cy="786384"/>
          </a:xfrm>
          <a:prstGeom prst="roundRect">
            <a:avLst>
              <a:gd name="adj" fmla="val 9302"/>
            </a:avLst>
          </a:prstGeom>
          <a:solidFill>
            <a:schemeClr val="tx1"/>
          </a:solidFill>
          <a:ln/>
        </p:spPr>
        <p:txBody>
          <a:bodyPr/>
          <a:lstStyle/>
          <a:p>
            <a:endParaRPr lang="en-US"/>
          </a:p>
        </p:txBody>
      </p:sp>
      <p:sp>
        <p:nvSpPr>
          <p:cNvPr id="6" name="Text 3"/>
          <p:cNvSpPr txBox="1"/>
          <p:nvPr/>
        </p:nvSpPr>
        <p:spPr>
          <a:xfrm>
            <a:off x="731520" y="1536192"/>
            <a:ext cx="1280160" cy="219456"/>
          </a:xfrm>
          <a:prstGeom prst="rect">
            <a:avLst/>
          </a:prstGeom>
          <a:noFill/>
          <a:ln/>
        </p:spPr>
        <p:txBody>
          <a:bodyPr wrap="square" lIns="0" tIns="0" rIns="0" bIns="0" rtlCol="0" anchor="t"/>
          <a:lstStyle/>
          <a:p>
            <a:pPr marL="0" indent="0">
              <a:buNone/>
            </a:pPr>
            <a:r>
              <a:rPr lang="en-US" sz="950" b="1" kern="0" spc="100" dirty="0">
                <a:solidFill>
                  <a:schemeClr val="bg2"/>
                </a:solidFill>
              </a:rPr>
              <a:t>OVERALL</a:t>
            </a:r>
            <a:endParaRPr lang="en-US" sz="950" dirty="0"/>
          </a:p>
        </p:txBody>
      </p:sp>
      <p:sp>
        <p:nvSpPr>
          <p:cNvPr id="7" name="Overall status"/>
          <p:cNvSpPr txBox="1"/>
          <p:nvPr/>
        </p:nvSpPr>
        <p:spPr>
          <a:xfrm>
            <a:off x="731520" y="1810512"/>
            <a:ext cx="1097280" cy="329184"/>
          </a:xfrm>
          <a:prstGeom prst="roundRect">
            <a:avLst>
              <a:gd name="adj" fmla="val 50000"/>
            </a:avLst>
          </a:prstGeom>
          <a:solidFill>
            <a:schemeClr val="accent3"/>
          </a:solidFill>
          <a:ln/>
        </p:spPr>
        <p:txBody>
          <a:bodyPr wrap="square" lIns="0" tIns="0" rIns="0" bIns="0" rtlCol="0" anchor="ctr"/>
          <a:lstStyle/>
          <a:p>
            <a:pPr marL="0" indent="0" algn="ctr">
              <a:buNone/>
            </a:pPr>
            <a:r>
              <a:rPr lang="en-US" sz="1200" b="1" dirty="0">
                <a:solidFill>
                  <a:schemeClr val="bg1"/>
                </a:solidFill>
              </a:rPr>
              <a:t>AMBER</a:t>
            </a:r>
            <a:endParaRPr lang="en-US" sz="1200" dirty="0"/>
          </a:p>
        </p:txBody>
      </p:sp>
      <p:sp>
        <p:nvSpPr>
          <p:cNvPr id="8" name="Text 5"/>
          <p:cNvSpPr txBox="1"/>
          <p:nvPr/>
        </p:nvSpPr>
        <p:spPr>
          <a:xfrm>
            <a:off x="2194560" y="1536192"/>
            <a:ext cx="3337560" cy="219456"/>
          </a:xfrm>
          <a:prstGeom prst="rect">
            <a:avLst/>
          </a:prstGeom>
          <a:noFill/>
          <a:ln/>
        </p:spPr>
        <p:txBody>
          <a:bodyPr wrap="square" lIns="0" tIns="0" rIns="0" bIns="0" rtlCol="0" anchor="t"/>
          <a:lstStyle/>
          <a:p>
            <a:pPr marL="0" indent="0">
              <a:buNone/>
            </a:pPr>
            <a:r>
              <a:rPr lang="en-US" sz="950" b="1" kern="0" spc="100" dirty="0">
                <a:solidFill>
                  <a:schemeClr val="bg2"/>
                </a:solidFill>
              </a:rPr>
              <a:t>SUMMARY</a:t>
            </a:r>
            <a:endParaRPr lang="en-US" sz="950" dirty="0"/>
          </a:p>
        </p:txBody>
      </p:sp>
      <p:sp>
        <p:nvSpPr>
          <p:cNvPr id="9" name="Text 6"/>
          <p:cNvSpPr txBox="1"/>
          <p:nvPr/>
        </p:nvSpPr>
        <p:spPr>
          <a:xfrm>
            <a:off x="2194560" y="1773936"/>
            <a:ext cx="3291840" cy="502920"/>
          </a:xfrm>
          <a:prstGeom prst="rect">
            <a:avLst/>
          </a:prstGeom>
          <a:noFill/>
          <a:ln/>
        </p:spPr>
        <p:txBody>
          <a:bodyPr wrap="square" lIns="0" tIns="0" rIns="0" bIns="0" rtlCol="0" anchor="t"/>
          <a:lstStyle/>
          <a:p>
            <a:pPr marL="0" indent="0">
              <a:buNone/>
            </a:pPr>
            <a:r>
              <a:rPr lang="en-US" sz="1150" dirty="0">
                <a:solidFill>
                  <a:schemeClr val="bg1"/>
                </a:solidFill>
              </a:rPr>
              <a:t>Assessing 54 ORM sources against RDS; six priority sources identified for initial focus</a:t>
            </a:r>
            <a:endParaRPr lang="en-US" sz="1150" dirty="0"/>
          </a:p>
        </p:txBody>
      </p:sp>
      <p:sp>
        <p:nvSpPr>
          <p:cNvPr id="10" name="Text 7"/>
          <p:cNvSpPr txBox="1"/>
          <p:nvPr/>
        </p:nvSpPr>
        <p:spPr>
          <a:xfrm>
            <a:off x="5715000" y="1536192"/>
            <a:ext cx="2743200" cy="219456"/>
          </a:xfrm>
          <a:prstGeom prst="rect">
            <a:avLst/>
          </a:prstGeom>
          <a:noFill/>
          <a:ln/>
        </p:spPr>
        <p:txBody>
          <a:bodyPr wrap="square" lIns="0" tIns="0" rIns="0" bIns="0" rtlCol="0" anchor="t"/>
          <a:lstStyle/>
          <a:p>
            <a:pPr marL="0" indent="0">
              <a:buNone/>
            </a:pPr>
            <a:r>
              <a:rPr lang="en-US" sz="950" b="1" kern="0" spc="100" dirty="0">
                <a:solidFill>
                  <a:schemeClr val="bg2"/>
                </a:solidFill>
              </a:rPr>
              <a:t>BLOCKERS</a:t>
            </a:r>
            <a:endParaRPr lang="en-US" sz="950" dirty="0"/>
          </a:p>
        </p:txBody>
      </p:sp>
      <p:sp>
        <p:nvSpPr>
          <p:cNvPr id="11" name="Text 8"/>
          <p:cNvSpPr txBox="1"/>
          <p:nvPr/>
        </p:nvSpPr>
        <p:spPr>
          <a:xfrm>
            <a:off x="5715000" y="1773936"/>
            <a:ext cx="2697480" cy="502920"/>
          </a:xfrm>
          <a:prstGeom prst="rect">
            <a:avLst/>
          </a:prstGeom>
          <a:noFill/>
          <a:ln/>
        </p:spPr>
        <p:txBody>
          <a:bodyPr wrap="square" lIns="0" tIns="0" rIns="0" bIns="0" rtlCol="0" anchor="t"/>
          <a:lstStyle/>
          <a:p>
            <a:pPr marL="0" indent="0">
              <a:buNone/>
            </a:pPr>
            <a:r>
              <a:rPr lang="en-US" sz="1150" dirty="0">
                <a:solidFill>
                  <a:schemeClr val="bg1"/>
                </a:solidFill>
              </a:rPr>
              <a:t>ORM's confirmation of the six high-priority sources</a:t>
            </a:r>
            <a:endParaRPr lang="en-US" sz="1150" dirty="0"/>
          </a:p>
        </p:txBody>
      </p:sp>
      <p:sp>
        <p:nvSpPr>
          <p:cNvPr id="12" name="Text 9"/>
          <p:cNvSpPr txBox="1"/>
          <p:nvPr/>
        </p:nvSpPr>
        <p:spPr>
          <a:xfrm>
            <a:off x="8641080" y="1536192"/>
            <a:ext cx="2999232" cy="219456"/>
          </a:xfrm>
          <a:prstGeom prst="rect">
            <a:avLst/>
          </a:prstGeom>
          <a:noFill/>
          <a:ln/>
        </p:spPr>
        <p:txBody>
          <a:bodyPr wrap="square" lIns="0" tIns="0" rIns="0" bIns="0" rtlCol="0" anchor="t"/>
          <a:lstStyle/>
          <a:p>
            <a:pPr marL="0" indent="0">
              <a:buNone/>
            </a:pPr>
            <a:r>
              <a:rPr lang="en-US" sz="950" b="1" kern="0" spc="100" dirty="0">
                <a:solidFill>
                  <a:schemeClr val="bg2"/>
                </a:solidFill>
              </a:rPr>
              <a:t>PROGRESS SINCE LAST MEETING</a:t>
            </a:r>
            <a:endParaRPr lang="en-US" sz="950" dirty="0"/>
          </a:p>
        </p:txBody>
      </p:sp>
      <p:sp>
        <p:nvSpPr>
          <p:cNvPr id="13" name="Text 10"/>
          <p:cNvSpPr txBox="1"/>
          <p:nvPr/>
        </p:nvSpPr>
        <p:spPr>
          <a:xfrm>
            <a:off x="8641080" y="1773936"/>
            <a:ext cx="2953512" cy="502920"/>
          </a:xfrm>
          <a:prstGeom prst="rect">
            <a:avLst/>
          </a:prstGeom>
          <a:noFill/>
          <a:ln/>
        </p:spPr>
        <p:txBody>
          <a:bodyPr wrap="square" lIns="0" tIns="0" rIns="0" bIns="0" rtlCol="0" anchor="t"/>
          <a:lstStyle/>
          <a:p>
            <a:pPr marL="0" indent="0">
              <a:buNone/>
            </a:pPr>
            <a:r>
              <a:rPr lang="en-US" sz="1150" dirty="0">
                <a:solidFill>
                  <a:schemeClr val="bg1"/>
                </a:solidFill>
              </a:rPr>
              <a:t>RDS overlap analysis started across 54 requested sources</a:t>
            </a:r>
            <a:endParaRPr lang="en-US" sz="1150" dirty="0"/>
          </a:p>
        </p:txBody>
      </p:sp>
      <p:graphicFrame>
        <p:nvGraphicFramePr>
          <p:cNvPr id="19" name="ORM AI tracker"/>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3474720"/>
        </p:xfrm>
        <a:graphic>
          <a:graphicData uri="http://schemas.openxmlformats.org/drawingml/2006/table">
            <a:tbl>
              <a:tblPr/>
              <a:tblGrid>
                <a:gridCol w="3657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gridCol w="2176272">
                  <a:extLst>
                    <a:ext uri="{9D8B030D-6E8A-4147-A177-3AD203B41FA5}">
                      <a16:colId xmlns:a16="http://schemas.microsoft.com/office/drawing/2014/main" val="20007"/>
                    </a:ext>
                  </a:extLst>
                </a:gridCol>
              </a:tblGrid>
              <a:tr h="347472">
                <a:tc>
                  <a:txBody>
                    <a:bodyPr/>
                    <a:lstStyle/>
                    <a:p>
                      <a:pPr marL="0" indent="0" algn="ctr">
                        <a:buNone/>
                      </a:pPr>
                      <a:r>
                        <a:rPr lang="en-US" sz="1200" b="1" dirty="0">
                          <a:solidFill>
                            <a:schemeClr val="bg1"/>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Task</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Phase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Owner</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Due</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1200" b="1" dirty="0">
                          <a:solidFill>
                            <a:schemeClr val="bg1"/>
                          </a:solidFill>
                        </a:rPr>
                        <a:t>RAG</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Status</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Notes</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47472">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Capture business use cases and requirements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 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b="1" dirty="0">
                          <a:solidFill>
                            <a:schemeClr val="bg1"/>
                          </a:solidFill>
                        </a:rPr>
                        <a:t>A</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marL="0" indent="0" algn="l">
                        <a:buNone/>
                      </a:pPr>
                      <a:r>
                        <a:rPr lang="en-US" sz="1100" dirty="0">
                          <a:solidFill>
                            <a:schemeClr val="tx1"/>
                          </a:solidFill>
                        </a:rPr>
                        <a:t>In progress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Waiting on business input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Assess overlap of 54 requested sources against RDS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1</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b="1" dirty="0">
                          <a:solidFill>
                            <a:schemeClr val="bg1"/>
                          </a:solidFill>
                        </a:rPr>
                        <a:t>G</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1"/>
                    </a:solidFill>
                  </a:tcPr>
                </a:tc>
                <a:tc>
                  <a:txBody>
                    <a:bodyPr/>
                    <a:lstStyle/>
                    <a:p>
                      <a:pPr marL="0" indent="0" algn="l">
                        <a:buNone/>
                      </a:pPr>
                      <a:r>
                        <a:rPr lang="en-US" sz="1100" dirty="0">
                          <a:solidFill>
                            <a:schemeClr val="tx1"/>
                          </a:solidFill>
                        </a:rPr>
                        <a:t>In progress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Under way</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47472">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Confirm the six high-priority sources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Q4 2026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b="1" dirty="0">
                          <a:solidFill>
                            <a:schemeClr val="bg1"/>
                          </a:solidFill>
                        </a:rPr>
                        <a:t>A</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accent3"/>
                    </a:solidFill>
                  </a:tcPr>
                </a:tc>
                <a:tc>
                  <a:txBody>
                    <a:bodyPr/>
                    <a:lstStyle/>
                    <a:p>
                      <a:pPr marL="0" indent="0" algn="l">
                        <a:buNone/>
                      </a:pPr>
                      <a:r>
                        <a:rPr lang="en-US" sz="1100" b="1" dirty="0">
                          <a:solidFill>
                            <a:schemeClr val="accent3"/>
                          </a:solidFill>
                        </a:rPr>
                        <a:t>Waiting</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Drives the first cohort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100" dirty="0">
                          <a:solidFill>
                            <a:schemeClr val="tx1"/>
                          </a:solidFill>
                        </a:rPr>
                        <a:t>4</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Map required elements to RDS and CDO data subjects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47472">
                <a:tc>
                  <a:txBody>
                    <a:bodyPr/>
                    <a:lstStyle/>
                    <a:p>
                      <a:pPr marL="0" indent="0" algn="ctr">
                        <a:buNone/>
                      </a:pPr>
                      <a:r>
                        <a:rPr lang="en-US" sz="1100" dirty="0">
                          <a:solidFill>
                            <a:schemeClr val="tx1"/>
                          </a:solidFill>
                        </a:rPr>
                        <a:t>5</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Determine sourcing approach for priority sources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After #3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Strategic, tactical, or escalate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lgn="ctr">
                        <a:buNone/>
                      </a:pPr>
                      <a:r>
                        <a:rPr lang="en-US" sz="1100" dirty="0">
                          <a:solidFill>
                            <a:schemeClr val="tx1"/>
                          </a:solidFill>
                        </a:rPr>
                        <a:t>6</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Define data plane integration approach and controls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3</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Pillar 3 lead with Business Analyst</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Depends on Pillar 2 plane structure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47472">
                <a:tc>
                  <a:txBody>
                    <a:bodyPr/>
                    <a:lstStyle/>
                    <a:p>
                      <a:pPr marL="0" indent="0" algn="ctr">
                        <a:buNone/>
                      </a:pPr>
                      <a:r>
                        <a:rPr lang="en-US" sz="1100" dirty="0">
                          <a:solidFill>
                            <a:schemeClr val="tx1"/>
                          </a:solidFill>
                        </a:rPr>
                        <a:t>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Rationalize requested sources based on business needs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2</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Pillar 3 lead with ORM</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TBD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7"/>
                  </a:ext>
                </a:extLst>
              </a:tr>
              <a:tr h="347472">
                <a:tc>
                  <a:txBody>
                    <a:bodyPr/>
                    <a:lstStyle/>
                    <a:p>
                      <a:pPr marL="0" indent="0" algn="ctr">
                        <a:buNone/>
                      </a:pPr>
                      <a:r>
                        <a:rPr lang="en-US" sz="1100" dirty="0">
                          <a:solidFill>
                            <a:schemeClr val="tx1"/>
                          </a:solidFill>
                        </a:rPr>
                        <a:t>8</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Finalize priorities and 2027 sourcing roadmap</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100" dirty="0">
                          <a:solidFill>
                            <a:schemeClr val="tx1"/>
                          </a:solidFill>
                        </a:rPr>
                        <a:t>Gate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Pillar 3 lead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Q1 2027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Not started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Sets the 2027 sequence</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47472">
                <a:tc>
                  <a:txBody>
                    <a:bodyPr/>
                    <a:lstStyle/>
                    <a:p>
                      <a:pPr marL="0" indent="0" algn="ctr">
                        <a:buNone/>
                      </a:pPr>
                      <a:r>
                        <a:rPr lang="en-US" sz="1100" dirty="0">
                          <a:solidFill>
                            <a:schemeClr val="tx1"/>
                          </a:solidFill>
                        </a:rPr>
                        <a:t>9</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Deliver by priority: high, then medium, then low</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100" dirty="0">
                          <a:solidFill>
                            <a:schemeClr val="tx1"/>
                          </a:solidFill>
                        </a:rPr>
                        <a:t>3–5</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Tech partners</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Q2 2027</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1200" dirty="0">
                          <a:solidFill>
                            <a:schemeClr val="tx2"/>
                          </a:solidFill>
                        </a:rPr>
                        <a:t>–</a:t>
                      </a:r>
                      <a:endParaRPr lang="en-US" sz="12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1100" dirty="0">
                          <a:solidFill>
                            <a:schemeClr val="tx1"/>
                          </a:solidFill>
                        </a:rPr>
                        <a:t>Planned</a:t>
                      </a: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endParaRPr lang="en-US" sz="1100" dirty="0"/>
                    </a:p>
                  </a:txBody>
                  <a:tcPr marL="64008" marR="64008"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5" name="Text 11"/>
          <p:cNvSpPr txBox="1"/>
          <p:nvPr/>
        </p:nvSpPr>
        <p:spPr>
          <a:xfrm>
            <a:off x="548640" y="5943600"/>
            <a:ext cx="11091672" cy="411480"/>
          </a:xfrm>
          <a:prstGeom prst="rect">
            <a:avLst/>
          </a:prstGeom>
          <a:noFill/>
          <a:ln/>
        </p:spPr>
        <p:txBody>
          <a:bodyPr wrap="square" lIns="0" tIns="0" rIns="0" bIns="0" rtlCol="0" anchor="t"/>
          <a:lstStyle/>
          <a:p>
            <a:pPr marL="0" indent="0">
              <a:buNone/>
            </a:pPr>
            <a:r>
              <a:rPr lang="en-US" sz="1100" b="1" i="1" dirty="0">
                <a:solidFill>
                  <a:schemeClr val="tx2"/>
                </a:solidFill>
              </a:rPr>
              <a:t>Illustrative tracker: </a:t>
            </a:r>
            <a:r>
              <a:rPr lang="en-US" sz="1100" i="1" dirty="0">
                <a:solidFill>
                  <a:schemeClr val="tx2"/>
                </a:solidFill>
              </a:rPr>
              <a:t>Dates, owners, and status to be confirmed with workstream leads. A consistent tracking framework supports each workstream, with progress, milestones, dependencies, and risk consolidated into weekly pillar reporting.</a:t>
            </a:r>
            <a:endParaRPr lang="en-US" sz="11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19</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Migration Underpins All Three Pillars</a:t>
            </a:r>
            <a:endParaRPr lang="en-US" sz="2800" dirty="0"/>
          </a:p>
        </p:txBody>
      </p:sp>
      <p:sp>
        <p:nvSpPr>
          <p:cNvPr id="3" name="Section tag"/>
          <p:cNvSpPr txBox="1"/>
          <p:nvPr/>
        </p:nvSpPr>
        <p:spPr>
          <a:xfrm>
            <a:off x="548640" y="274320"/>
            <a:ext cx="2421331"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000" b="1" kern="0" spc="150" dirty="0">
                <a:solidFill>
                  <a:schemeClr val="bg1"/>
                </a:solidFill>
              </a:rPr>
              <a:t>DPC MIGRATION · UNDERNEATH</a:t>
            </a:r>
            <a:endParaRPr lang="en-US" sz="1000" dirty="0"/>
          </a:p>
        </p:txBody>
      </p:sp>
      <p:sp>
        <p:nvSpPr>
          <p:cNvPr id="5" name="Pillar 1"/>
          <p:cNvSpPr txBox="1"/>
          <p:nvPr/>
        </p:nvSpPr>
        <p:spPr>
          <a:xfrm>
            <a:off x="548640" y="1691640"/>
            <a:ext cx="1889760" cy="1234440"/>
          </a:xfrm>
          <a:prstGeom prst="roundRect">
            <a:avLst>
              <a:gd name="adj" fmla="val 5926"/>
            </a:avLst>
          </a:prstGeom>
          <a:solidFill>
            <a:schemeClr val="accent1"/>
          </a:solidFill>
          <a:ln/>
        </p:spPr>
        <p:txBody>
          <a:bodyPr wrap="square" lIns="0" tIns="0" rIns="0" bIns="0" rtlCol="0" anchor="ctr"/>
          <a:lstStyle/>
          <a:p>
            <a:pPr marL="0" indent="0" algn="ctr">
              <a:buNone/>
            </a:pPr>
            <a:r>
              <a:rPr lang="en-US" sz="1700" b="1" dirty="0">
                <a:solidFill>
                  <a:schemeClr val="bg1"/>
                </a:solidFill>
              </a:rPr>
              <a:t>Pillar 1</a:t>
            </a:r>
            <a:endParaRPr lang="en-US" sz="1700" dirty="0"/>
          </a:p>
        </p:txBody>
      </p:sp>
      <p:sp>
        <p:nvSpPr>
          <p:cNvPr id="6" name="Pillar 2"/>
          <p:cNvSpPr txBox="1"/>
          <p:nvPr/>
        </p:nvSpPr>
        <p:spPr>
          <a:xfrm>
            <a:off x="2621280" y="1691640"/>
            <a:ext cx="1889760" cy="1234440"/>
          </a:xfrm>
          <a:prstGeom prst="roundRect">
            <a:avLst>
              <a:gd name="adj" fmla="val 5926"/>
            </a:avLst>
          </a:prstGeom>
          <a:solidFill>
            <a:schemeClr val="accent2"/>
          </a:solidFill>
          <a:ln/>
        </p:spPr>
        <p:txBody>
          <a:bodyPr wrap="square" lIns="0" tIns="0" rIns="0" bIns="0" rtlCol="0" anchor="ctr"/>
          <a:lstStyle/>
          <a:p>
            <a:pPr marL="0" indent="0" algn="ctr">
              <a:buNone/>
            </a:pPr>
            <a:r>
              <a:rPr lang="en-US" sz="1700" b="1" dirty="0">
                <a:solidFill>
                  <a:schemeClr val="bg1"/>
                </a:solidFill>
              </a:rPr>
              <a:t>Pillar 2</a:t>
            </a:r>
            <a:endParaRPr lang="en-US" sz="1700" dirty="0"/>
          </a:p>
        </p:txBody>
      </p:sp>
      <p:sp>
        <p:nvSpPr>
          <p:cNvPr id="7" name="Pillar 3"/>
          <p:cNvSpPr txBox="1"/>
          <p:nvPr/>
        </p:nvSpPr>
        <p:spPr>
          <a:xfrm>
            <a:off x="4693920" y="1691640"/>
            <a:ext cx="1889760" cy="1234440"/>
          </a:xfrm>
          <a:prstGeom prst="roundRect">
            <a:avLst>
              <a:gd name="adj" fmla="val 5926"/>
            </a:avLst>
          </a:prstGeom>
          <a:solidFill>
            <a:schemeClr val="accent3"/>
          </a:solidFill>
          <a:ln/>
        </p:spPr>
        <p:txBody>
          <a:bodyPr wrap="square" lIns="0" tIns="0" rIns="0" bIns="0" rtlCol="0" anchor="ctr"/>
          <a:lstStyle/>
          <a:p>
            <a:pPr marL="0" indent="0" algn="ctr">
              <a:buNone/>
            </a:pPr>
            <a:r>
              <a:rPr lang="en-US" sz="1700" b="1" dirty="0">
                <a:solidFill>
                  <a:schemeClr val="bg1"/>
                </a:solidFill>
              </a:rPr>
              <a:t>Pillar 3</a:t>
            </a:r>
            <a:endParaRPr lang="en-US" sz="1700" dirty="0"/>
          </a:p>
        </p:txBody>
      </p:sp>
      <p:sp>
        <p:nvSpPr>
          <p:cNvPr id="8" name="DPC base"/>
          <p:cNvSpPr txBox="1"/>
          <p:nvPr/>
        </p:nvSpPr>
        <p:spPr>
          <a:xfrm>
            <a:off x="548640" y="3035808"/>
            <a:ext cx="6035040" cy="548640"/>
          </a:xfrm>
          <a:prstGeom prst="roundRect">
            <a:avLst>
              <a:gd name="adj" fmla="val 13333"/>
            </a:avLst>
          </a:prstGeom>
          <a:solidFill>
            <a:schemeClr val="accent4"/>
          </a:solidFill>
          <a:ln/>
        </p:spPr>
        <p:txBody>
          <a:bodyPr wrap="square" lIns="0" tIns="0" rIns="0" bIns="0" rtlCol="0" anchor="ctr"/>
          <a:lstStyle/>
          <a:p>
            <a:pPr marL="0" indent="0" algn="ctr">
              <a:buNone/>
            </a:pPr>
            <a:r>
              <a:rPr lang="en-US" sz="1600" b="1" dirty="0">
                <a:solidFill>
                  <a:schemeClr val="bg1"/>
                </a:solidFill>
              </a:rPr>
              <a:t>DPC migration · year-end deadline</a:t>
            </a:r>
            <a:endParaRPr lang="en-US" sz="1600" dirty="0"/>
          </a:p>
        </p:txBody>
      </p:sp>
      <p:sp>
        <p:nvSpPr>
          <p:cNvPr id="9" name="Text 6"/>
          <p:cNvSpPr txBox="1"/>
          <p:nvPr/>
        </p:nvSpPr>
        <p:spPr>
          <a:xfrm>
            <a:off x="548640" y="3675888"/>
            <a:ext cx="6035040" cy="274320"/>
          </a:xfrm>
          <a:prstGeom prst="rect">
            <a:avLst/>
          </a:prstGeom>
          <a:noFill/>
          <a:ln/>
        </p:spPr>
        <p:txBody>
          <a:bodyPr wrap="square" lIns="0" tIns="0" rIns="0" bIns="0" rtlCol="0" anchor="t"/>
          <a:lstStyle/>
          <a:p>
            <a:pPr marL="0" indent="0" algn="ctr">
              <a:buNone/>
            </a:pPr>
            <a:r>
              <a:rPr lang="en-US" sz="1300" i="1" dirty="0">
                <a:solidFill>
                  <a:schemeClr val="tx2"/>
                </a:solidFill>
              </a:rPr>
              <a:t>Before and after DPC, the three pillars stay the same.</a:t>
            </a:r>
            <a:endParaRPr lang="en-US" sz="1300" dirty="0"/>
          </a:p>
        </p:txBody>
      </p:sp>
      <p:sp>
        <p:nvSpPr>
          <p:cNvPr id="10" name="Text 7"/>
          <p:cNvSpPr txBox="1"/>
          <p:nvPr/>
        </p:nvSpPr>
        <p:spPr>
          <a:xfrm>
            <a:off x="548640" y="4160520"/>
            <a:ext cx="6035040"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HOW WE TRACK IT</a:t>
            </a:r>
            <a:endParaRPr lang="en-US" sz="1100" dirty="0"/>
          </a:p>
        </p:txBody>
      </p:sp>
      <p:sp>
        <p:nvSpPr>
          <p:cNvPr id="11" name="Text 8"/>
          <p:cNvSpPr txBox="1"/>
          <p:nvPr/>
        </p:nvSpPr>
        <p:spPr>
          <a:xfrm>
            <a:off x="548640" y="4480560"/>
            <a:ext cx="6035040" cy="16916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rPr>
              <a:t>Ryan's DPC readiness slide is the tracking view. We keep it current, with no separate tracker.</a:t>
            </a:r>
            <a:endParaRPr lang="en-US" sz="1400" dirty="0"/>
          </a:p>
          <a:p>
            <a:pPr marL="177800" indent="-177800">
              <a:spcAft>
                <a:spcPts val="700"/>
              </a:spcAft>
              <a:buSzPct val="100000"/>
              <a:buChar char="•"/>
            </a:pPr>
            <a:r>
              <a:rPr lang="en-US" sz="1400" dirty="0">
                <a:solidFill>
                  <a:schemeClr val="tx1"/>
                </a:solidFill>
              </a:rPr>
              <a:t>It answers Jacqueline's question: how do we know everything is tracked at DPC?</a:t>
            </a:r>
            <a:endParaRPr lang="en-US" sz="1400" dirty="0"/>
          </a:p>
          <a:p>
            <a:pPr marL="177800" indent="-177800">
              <a:spcAft>
                <a:spcPts val="700"/>
              </a:spcAft>
              <a:buSzPct val="100000"/>
              <a:buChar char="•"/>
            </a:pPr>
            <a:r>
              <a:rPr lang="en-US" sz="1400" dirty="0">
                <a:solidFill>
                  <a:schemeClr val="tx1"/>
                </a:solidFill>
              </a:rPr>
              <a:t>All pillar work runs in parallel with the year-end timeline.</a:t>
            </a:r>
            <a:endParaRPr lang="en-US" sz="1400" dirty="0"/>
          </a:p>
        </p:txBody>
      </p:sp>
      <p:sp>
        <p:nvSpPr>
          <p:cNvPr id="12" name="Card"/>
          <p:cNvSpPr/>
          <p:nvPr/>
        </p:nvSpPr>
        <p:spPr>
          <a:xfrm>
            <a:off x="6903720" y="1691640"/>
            <a:ext cx="4736592" cy="4480560"/>
          </a:xfrm>
          <a:prstGeom prst="roundRect">
            <a:avLst>
              <a:gd name="adj" fmla="val 1633"/>
            </a:avLst>
          </a:prstGeom>
          <a:solidFill>
            <a:schemeClr val="bg2"/>
          </a:solidFill>
          <a:ln/>
        </p:spPr>
        <p:txBody>
          <a:bodyPr/>
          <a:lstStyle/>
          <a:p>
            <a:endParaRPr lang="en-US"/>
          </a:p>
        </p:txBody>
      </p:sp>
      <p:sp>
        <p:nvSpPr>
          <p:cNvPr id="13" name="Text 10"/>
          <p:cNvSpPr txBox="1"/>
          <p:nvPr/>
        </p:nvSpPr>
        <p:spPr>
          <a:xfrm>
            <a:off x="7086600" y="1810512"/>
            <a:ext cx="4370832" cy="237744"/>
          </a:xfrm>
          <a:prstGeom prst="rect">
            <a:avLst/>
          </a:prstGeom>
          <a:noFill/>
          <a:ln/>
        </p:spPr>
        <p:txBody>
          <a:bodyPr wrap="square" lIns="0" tIns="0" rIns="0" bIns="0" rtlCol="0" anchor="t"/>
          <a:lstStyle/>
          <a:p>
            <a:pPr marL="0" indent="0">
              <a:buNone/>
            </a:pPr>
            <a:r>
              <a:rPr lang="en-US" sz="1100" b="1" kern="0" spc="100" dirty="0">
                <a:solidFill>
                  <a:schemeClr val="accent4"/>
                </a:solidFill>
              </a:rPr>
              <a:t>RYAN'S DPC READINESS VIEW · NEXT SLIDE</a:t>
            </a:r>
            <a:endParaRPr lang="en-US" sz="1100" dirty="0"/>
          </a:p>
        </p:txBody>
      </p:sp>
      <p:pic>
        <p:nvPicPr>
          <p:cNvPr id="14" name="DPC readiness thumbnail" descr="DPC readiness slide: UAT milestone status and driving issues"/>
          <p:cNvPicPr>
            <a:picLocks noChangeAspect="1"/>
          </p:cNvPicPr>
          <p:nvPr/>
        </p:nvPicPr>
        <p:blipFill>
          <a:blip r:embed="rId3"/>
          <a:stretch>
            <a:fillRect/>
          </a:stretch>
        </p:blipFill>
        <p:spPr>
          <a:xfrm>
            <a:off x="7086600" y="2194560"/>
            <a:ext cx="4370832" cy="2261165"/>
          </a:xfrm>
          <a:prstGeom prst="rect">
            <a:avLst/>
          </a:prstGeom>
        </p:spPr>
      </p:pic>
      <p:sp>
        <p:nvSpPr>
          <p:cNvPr id="15" name="Text 11"/>
          <p:cNvSpPr txBox="1"/>
          <p:nvPr/>
        </p:nvSpPr>
        <p:spPr>
          <a:xfrm>
            <a:off x="7086600" y="4547165"/>
            <a:ext cx="4370832" cy="731520"/>
          </a:xfrm>
          <a:prstGeom prst="rect">
            <a:avLst/>
          </a:prstGeom>
          <a:noFill/>
          <a:ln/>
        </p:spPr>
        <p:txBody>
          <a:bodyPr wrap="square" lIns="0" tIns="0" rIns="0" bIns="0" rtlCol="0" anchor="t"/>
          <a:lstStyle/>
          <a:p>
            <a:pPr marL="0" indent="0">
              <a:buNone/>
            </a:pPr>
            <a:r>
              <a:rPr lang="en-US" sz="1250" dirty="0">
                <a:solidFill>
                  <a:schemeClr val="tx2"/>
                </a:solidFill>
              </a:rPr>
              <a:t>Milestone status and driving issues for DPC UAT, consolidated across testing teams (BUSCRT, ORCAP, and others).</a:t>
            </a:r>
            <a:endParaRPr lang="en-US" sz="125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20</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PC Readiness">
    <p:spTree>
      <p:nvGrpSpPr>
        <p:cNvPr id="1" name=""/>
        <p:cNvGrpSpPr/>
        <p:nvPr/>
      </p:nvGrpSpPr>
      <p:grpSpPr>
        <a:xfrm>
          <a:off x="0" y="0"/>
          <a:ext cx="0" cy="0"/>
          <a:chOff x="0" y="0"/>
          <a:chExt cx="0" cy="0"/>
        </a:xfrm>
      </p:grpSpPr>
      <p:sp>
        <p:nvSpPr>
          <p:cNvPr id="101" name="Section tag"/>
          <p:cNvSpPr txBox="1"/>
          <p:nvPr/>
        </p:nvSpPr>
        <p:spPr>
          <a:xfrm>
            <a:off x="548640" y="274320"/>
            <a:ext cx="278892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000" b="1" kern="0" spc="150" dirty="0">
                <a:solidFill>
                  <a:schemeClr val="bg1"/>
                </a:solidFill>
              </a:rPr>
              <a:t>DPC MIGRATION · READINESS</a:t>
            </a:r>
            <a:endParaRPr lang="en-US" sz="1000" dirty="0"/>
          </a:p>
        </p:txBody>
      </p:sp>
      <p:sp>
        <p:nvSpPr>
          <p:cNvPr id="102" name="Title"/>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Readiness: UAT Milestone Status and Driving Issues</a:t>
            </a:r>
            <a:endParaRPr lang="en-US" sz="2800" dirty="0"/>
          </a:p>
        </p:txBody>
      </p:sp>
      <p:sp>
        <p:nvSpPr>
          <p:cNvPr id="103" name="Intro"/>
          <p:cNvSpPr txBox="1"/>
          <p:nvPr/>
        </p:nvSpPr>
        <p:spPr>
          <a:xfrm>
            <a:off x="548640" y="1188720"/>
            <a:ext cx="11091672" cy="182880"/>
          </a:xfrm>
          <a:prstGeom prst="rect">
            <a:avLst/>
          </a:prstGeom>
          <a:noFill/>
          <a:ln/>
        </p:spPr>
        <p:txBody>
          <a:bodyPr wrap="square" lIns="0" tIns="0" rIns="0" bIns="0" rtlCol="0" anchor="t"/>
          <a:lstStyle/>
          <a:p>
            <a:pPr marL="0" indent="0" algn="l">
              <a:buNone/>
            </a:pPr>
            <a:r>
              <a:rPr lang="en-US" sz="1100" dirty="0">
                <a:solidFill>
                  <a:schemeClr val="tx2"/>
                </a:solidFill>
              </a:rPr>
              <a:t>This readiness assessment consolidates feedback across participating DPC testing teams, including BUSCRT, ORCAP, and other business and technology testing participants.</a:t>
            </a:r>
            <a:endParaRPr lang="en-US" sz="1100" dirty="0"/>
          </a:p>
        </p:txBody>
      </p:sp>
      <p:sp>
        <p:nvSpPr>
          <p:cNvPr id="104" name="Phase card"/>
          <p:cNvSpPr/>
          <p:nvPr/>
        </p:nvSpPr>
        <p:spPr>
          <a:xfrm>
            <a:off x="548640" y="1435608"/>
            <a:ext cx="2137867" cy="768096"/>
          </a:xfrm>
          <a:prstGeom prst="roundRect">
            <a:avLst>
              <a:gd name="adj" fmla="val 7000"/>
            </a:avLst>
          </a:prstGeom>
          <a:solidFill>
            <a:schemeClr val="bg2"/>
          </a:solidFill>
          <a:ln/>
        </p:spPr>
        <p:txBody>
          <a:bodyPr/>
          <a:lstStyle/>
          <a:p>
            <a:endParaRPr lang="en-US"/>
          </a:p>
        </p:txBody>
      </p:sp>
      <p:sp>
        <p:nvSpPr>
          <p:cNvPr id="105" name="Phase dates"/>
          <p:cNvSpPr txBox="1"/>
          <p:nvPr/>
        </p:nvSpPr>
        <p:spPr>
          <a:xfrm>
            <a:off x="630936"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AUGUST</a:t>
            </a:r>
            <a:endParaRPr lang="en-US" sz="850" dirty="0"/>
          </a:p>
        </p:txBody>
      </p:sp>
      <p:sp>
        <p:nvSpPr>
          <p:cNvPr id="106" name="Phase name"/>
          <p:cNvSpPr txBox="1"/>
          <p:nvPr/>
        </p:nvSpPr>
        <p:spPr>
          <a:xfrm>
            <a:off x="630936"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Foundation</a:t>
            </a:r>
            <a:endParaRPr lang="en-US" sz="1000" dirty="0"/>
          </a:p>
        </p:txBody>
      </p:sp>
      <p:sp>
        <p:nvSpPr>
          <p:cNvPr id="107" name="Phase description"/>
          <p:cNvSpPr txBox="1"/>
          <p:nvPr/>
        </p:nvSpPr>
        <p:spPr>
          <a:xfrm>
            <a:off x="630936"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UAT environment, code, and initial data movement</a:t>
            </a:r>
            <a:endParaRPr lang="en-US" sz="850" dirty="0"/>
          </a:p>
        </p:txBody>
      </p:sp>
      <p:sp>
        <p:nvSpPr>
          <p:cNvPr id="108" name="Phase status"/>
          <p:cNvSpPr txBox="1"/>
          <p:nvPr/>
        </p:nvSpPr>
        <p:spPr>
          <a:xfrm>
            <a:off x="630936" y="2039112"/>
            <a:ext cx="1973275" cy="128016"/>
          </a:xfrm>
          <a:prstGeom prst="rect">
            <a:avLst/>
          </a:prstGeom>
          <a:noFill/>
          <a:ln/>
        </p:spPr>
        <p:txBody>
          <a:bodyPr wrap="square" lIns="0" tIns="0" rIns="0" bIns="0" rtlCol="0" anchor="t"/>
          <a:lstStyle/>
          <a:p>
            <a:pPr marL="0" indent="0" algn="l">
              <a:buNone/>
            </a:pPr>
            <a:r>
              <a:rPr lang="en-US" sz="850" b="1" dirty="0">
                <a:solidFill>
                  <a:schemeClr val="accent1"/>
                </a:solidFill>
              </a:rPr>
              <a:t>Completed with delays</a:t>
            </a:r>
            <a:endParaRPr lang="en-US" sz="850" dirty="0"/>
          </a:p>
        </p:txBody>
      </p:sp>
      <p:sp>
        <p:nvSpPr>
          <p:cNvPr id="109" name="Arrow"/>
          <p:cNvSpPr/>
          <p:nvPr/>
        </p:nvSpPr>
        <p:spPr>
          <a:xfrm>
            <a:off x="2700223" y="1764792"/>
            <a:ext cx="73152" cy="109728"/>
          </a:xfrm>
          <a:prstGeom prst="chevron">
            <a:avLst/>
          </a:prstGeom>
          <a:solidFill>
            <a:schemeClr val="accent2"/>
          </a:solidFill>
          <a:ln/>
        </p:spPr>
        <p:txBody>
          <a:bodyPr/>
          <a:lstStyle/>
          <a:p>
            <a:endParaRPr lang="en-US"/>
          </a:p>
        </p:txBody>
      </p:sp>
      <p:sp>
        <p:nvSpPr>
          <p:cNvPr id="110" name="Phase card"/>
          <p:cNvSpPr/>
          <p:nvPr/>
        </p:nvSpPr>
        <p:spPr>
          <a:xfrm>
            <a:off x="2787091" y="1435608"/>
            <a:ext cx="2137867" cy="768096"/>
          </a:xfrm>
          <a:prstGeom prst="roundRect">
            <a:avLst>
              <a:gd name="adj" fmla="val 7000"/>
            </a:avLst>
          </a:prstGeom>
          <a:solidFill>
            <a:schemeClr val="bg2"/>
          </a:solidFill>
          <a:ln/>
        </p:spPr>
        <p:txBody>
          <a:bodyPr/>
          <a:lstStyle/>
          <a:p>
            <a:endParaRPr lang="en-US"/>
          </a:p>
        </p:txBody>
      </p:sp>
      <p:sp>
        <p:nvSpPr>
          <p:cNvPr id="111" name="Phase dates"/>
          <p:cNvSpPr txBox="1"/>
          <p:nvPr/>
        </p:nvSpPr>
        <p:spPr>
          <a:xfrm>
            <a:off x="2869387"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THROUGH 9/30</a:t>
            </a:r>
            <a:endParaRPr lang="en-US" sz="850" dirty="0"/>
          </a:p>
        </p:txBody>
      </p:sp>
      <p:sp>
        <p:nvSpPr>
          <p:cNvPr id="112" name="Phase name"/>
          <p:cNvSpPr txBox="1"/>
          <p:nvPr/>
        </p:nvSpPr>
        <p:spPr>
          <a:xfrm>
            <a:off x="2869387"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Pre-Prod Validation</a:t>
            </a:r>
            <a:endParaRPr lang="en-US" sz="1000" dirty="0"/>
          </a:p>
        </p:txBody>
      </p:sp>
      <p:sp>
        <p:nvSpPr>
          <p:cNvPr id="113" name="Phase description"/>
          <p:cNvSpPr txBox="1"/>
          <p:nvPr/>
        </p:nvSpPr>
        <p:spPr>
          <a:xfrm>
            <a:off x="2869387"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Technical, business, sourcing, and connectivity validation</a:t>
            </a:r>
            <a:endParaRPr lang="en-US" sz="850" dirty="0"/>
          </a:p>
        </p:txBody>
      </p:sp>
      <p:sp>
        <p:nvSpPr>
          <p:cNvPr id="114" name="Phase status"/>
          <p:cNvSpPr txBox="1"/>
          <p:nvPr/>
        </p:nvSpPr>
        <p:spPr>
          <a:xfrm>
            <a:off x="2869387" y="2039112"/>
            <a:ext cx="1973275" cy="128016"/>
          </a:xfrm>
          <a:prstGeom prst="rect">
            <a:avLst/>
          </a:prstGeom>
          <a:noFill/>
          <a:ln/>
        </p:spPr>
        <p:txBody>
          <a:bodyPr wrap="square" lIns="0" tIns="0" rIns="0" bIns="0" rtlCol="0" anchor="t"/>
          <a:lstStyle/>
          <a:p>
            <a:pPr marL="0" indent="0" algn="l">
              <a:buNone/>
            </a:pPr>
            <a:r>
              <a:rPr lang="en-US" sz="850" b="1" dirty="0">
                <a:solidFill>
                  <a:schemeClr val="accent1"/>
                </a:solidFill>
              </a:rPr>
              <a:t>Completed with delays</a:t>
            </a:r>
            <a:endParaRPr lang="en-US" sz="850" dirty="0"/>
          </a:p>
        </p:txBody>
      </p:sp>
      <p:sp>
        <p:nvSpPr>
          <p:cNvPr id="115" name="Arrow"/>
          <p:cNvSpPr/>
          <p:nvPr/>
        </p:nvSpPr>
        <p:spPr>
          <a:xfrm>
            <a:off x="4938674" y="1764792"/>
            <a:ext cx="73152" cy="109728"/>
          </a:xfrm>
          <a:prstGeom prst="chevron">
            <a:avLst/>
          </a:prstGeom>
          <a:solidFill>
            <a:schemeClr val="accent2"/>
          </a:solidFill>
          <a:ln/>
        </p:spPr>
        <p:txBody>
          <a:bodyPr/>
          <a:lstStyle/>
          <a:p>
            <a:endParaRPr lang="en-US"/>
          </a:p>
        </p:txBody>
      </p:sp>
      <p:sp>
        <p:nvSpPr>
          <p:cNvPr id="116" name="Phase card"/>
          <p:cNvSpPr/>
          <p:nvPr/>
        </p:nvSpPr>
        <p:spPr>
          <a:xfrm>
            <a:off x="5025542" y="1435608"/>
            <a:ext cx="2137867" cy="768096"/>
          </a:xfrm>
          <a:prstGeom prst="roundRect">
            <a:avLst>
              <a:gd name="adj" fmla="val 7000"/>
            </a:avLst>
          </a:prstGeom>
          <a:solidFill>
            <a:schemeClr val="bg2"/>
          </a:solidFill>
          <a:ln/>
        </p:spPr>
        <p:txBody>
          <a:bodyPr/>
          <a:lstStyle/>
          <a:p>
            <a:endParaRPr lang="en-US"/>
          </a:p>
        </p:txBody>
      </p:sp>
      <p:sp>
        <p:nvSpPr>
          <p:cNvPr id="117" name="Phase dates"/>
          <p:cNvSpPr txBox="1"/>
          <p:nvPr/>
        </p:nvSpPr>
        <p:spPr>
          <a:xfrm>
            <a:off x="5107838"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10/1–10/8</a:t>
            </a:r>
            <a:endParaRPr lang="en-US" sz="850" dirty="0"/>
          </a:p>
        </p:txBody>
      </p:sp>
      <p:sp>
        <p:nvSpPr>
          <p:cNvPr id="118" name="Phase name"/>
          <p:cNvSpPr txBox="1"/>
          <p:nvPr/>
        </p:nvSpPr>
        <p:spPr>
          <a:xfrm>
            <a:off x="5107838"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Readiness &amp; Sign-Off</a:t>
            </a:r>
            <a:endParaRPr lang="en-US" sz="1000" dirty="0"/>
          </a:p>
        </p:txBody>
      </p:sp>
      <p:sp>
        <p:nvSpPr>
          <p:cNvPr id="119" name="Phase description"/>
          <p:cNvSpPr txBox="1"/>
          <p:nvPr/>
        </p:nvSpPr>
        <p:spPr>
          <a:xfrm>
            <a:off x="5107838"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RAW validation, operational readiness, and business and technology sign-off</a:t>
            </a:r>
            <a:endParaRPr lang="en-US" sz="850" dirty="0"/>
          </a:p>
        </p:txBody>
      </p:sp>
      <p:sp>
        <p:nvSpPr>
          <p:cNvPr id="120" name="Phase status"/>
          <p:cNvSpPr txBox="1"/>
          <p:nvPr/>
        </p:nvSpPr>
        <p:spPr>
          <a:xfrm>
            <a:off x="5107838" y="2039112"/>
            <a:ext cx="1973275" cy="128016"/>
          </a:xfrm>
          <a:prstGeom prst="rect">
            <a:avLst/>
          </a:prstGeom>
          <a:noFill/>
          <a:ln/>
        </p:spPr>
        <p:txBody>
          <a:bodyPr wrap="square" lIns="0" tIns="0" rIns="0" bIns="0" rtlCol="0" anchor="t"/>
          <a:lstStyle/>
          <a:p>
            <a:pPr marL="0" indent="0" algn="l">
              <a:buNone/>
            </a:pPr>
            <a:r>
              <a:rPr lang="en-US" sz="850" b="1" dirty="0">
                <a:solidFill>
                  <a:schemeClr val="accent1"/>
                </a:solidFill>
              </a:rPr>
              <a:t>Completed with delays</a:t>
            </a:r>
            <a:endParaRPr lang="en-US" sz="850" dirty="0"/>
          </a:p>
        </p:txBody>
      </p:sp>
      <p:sp>
        <p:nvSpPr>
          <p:cNvPr id="121" name="Arrow"/>
          <p:cNvSpPr/>
          <p:nvPr/>
        </p:nvSpPr>
        <p:spPr>
          <a:xfrm>
            <a:off x="7177125" y="1764792"/>
            <a:ext cx="73152" cy="109728"/>
          </a:xfrm>
          <a:prstGeom prst="chevron">
            <a:avLst/>
          </a:prstGeom>
          <a:solidFill>
            <a:schemeClr val="accent2"/>
          </a:solidFill>
          <a:ln/>
        </p:spPr>
        <p:txBody>
          <a:bodyPr/>
          <a:lstStyle/>
          <a:p>
            <a:endParaRPr lang="en-US"/>
          </a:p>
        </p:txBody>
      </p:sp>
      <p:sp>
        <p:nvSpPr>
          <p:cNvPr id="122" name="Phase card (current)"/>
          <p:cNvSpPr/>
          <p:nvPr/>
        </p:nvSpPr>
        <p:spPr>
          <a:xfrm>
            <a:off x="7263993" y="1435608"/>
            <a:ext cx="2137867" cy="768096"/>
          </a:xfrm>
          <a:prstGeom prst="roundRect">
            <a:avLst>
              <a:gd name="adj" fmla="val 7000"/>
            </a:avLst>
          </a:prstGeom>
          <a:solidFill>
            <a:schemeClr val="accent3">
              <a:alpha val="10000"/>
            </a:schemeClr>
          </a:solidFill>
          <a:ln w="19050">
            <a:solidFill>
              <a:schemeClr val="accent3"/>
            </a:solidFill>
            <a:prstDash val="solid"/>
          </a:ln>
        </p:spPr>
        <p:txBody>
          <a:bodyPr/>
          <a:lstStyle/>
          <a:p>
            <a:endParaRPr lang="en-US"/>
          </a:p>
        </p:txBody>
      </p:sp>
      <p:sp>
        <p:nvSpPr>
          <p:cNvPr id="123" name="Phase dates"/>
          <p:cNvSpPr txBox="1"/>
          <p:nvPr/>
        </p:nvSpPr>
        <p:spPr>
          <a:xfrm>
            <a:off x="7346289"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10/9–11/9</a:t>
            </a:r>
            <a:endParaRPr lang="en-US" sz="850" dirty="0"/>
          </a:p>
        </p:txBody>
      </p:sp>
      <p:sp>
        <p:nvSpPr>
          <p:cNvPr id="124" name="Phase name"/>
          <p:cNvSpPr txBox="1"/>
          <p:nvPr/>
        </p:nvSpPr>
        <p:spPr>
          <a:xfrm>
            <a:off x="7346289"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Parallel Testing</a:t>
            </a:r>
            <a:endParaRPr lang="en-US" sz="1000" dirty="0"/>
          </a:p>
        </p:txBody>
      </p:sp>
      <p:sp>
        <p:nvSpPr>
          <p:cNvPr id="125" name="Phase description"/>
          <p:cNvSpPr txBox="1"/>
          <p:nvPr/>
        </p:nvSpPr>
        <p:spPr>
          <a:xfrm>
            <a:off x="7346289"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Business and technology testing against the production baseline</a:t>
            </a:r>
            <a:endParaRPr lang="en-US" sz="850" dirty="0"/>
          </a:p>
        </p:txBody>
      </p:sp>
      <p:sp>
        <p:nvSpPr>
          <p:cNvPr id="126" name="Phase status"/>
          <p:cNvSpPr txBox="1"/>
          <p:nvPr/>
        </p:nvSpPr>
        <p:spPr>
          <a:xfrm>
            <a:off x="7346289" y="2039112"/>
            <a:ext cx="1973275" cy="128016"/>
          </a:xfrm>
          <a:prstGeom prst="rect">
            <a:avLst/>
          </a:prstGeom>
          <a:noFill/>
          <a:ln/>
        </p:spPr>
        <p:txBody>
          <a:bodyPr wrap="square" lIns="0" tIns="0" rIns="0" bIns="0" rtlCol="0" anchor="t"/>
          <a:lstStyle/>
          <a:p>
            <a:pPr marL="0" indent="0" algn="l">
              <a:buNone/>
            </a:pPr>
            <a:r>
              <a:rPr lang="en-US" sz="850" b="1" dirty="0">
                <a:solidFill>
                  <a:schemeClr val="accent4"/>
                </a:solidFill>
              </a:rPr>
              <a:t>Delayed – on track with risk</a:t>
            </a:r>
            <a:endParaRPr lang="en-US" sz="850" dirty="0"/>
          </a:p>
        </p:txBody>
      </p:sp>
      <p:sp>
        <p:nvSpPr>
          <p:cNvPr id="127" name="Arrow"/>
          <p:cNvSpPr/>
          <p:nvPr/>
        </p:nvSpPr>
        <p:spPr>
          <a:xfrm>
            <a:off x="9415576" y="1764792"/>
            <a:ext cx="73152" cy="109728"/>
          </a:xfrm>
          <a:prstGeom prst="chevron">
            <a:avLst/>
          </a:prstGeom>
          <a:solidFill>
            <a:schemeClr val="accent2"/>
          </a:solidFill>
          <a:ln/>
        </p:spPr>
        <p:txBody>
          <a:bodyPr/>
          <a:lstStyle/>
          <a:p>
            <a:endParaRPr lang="en-US"/>
          </a:p>
        </p:txBody>
      </p:sp>
      <p:sp>
        <p:nvSpPr>
          <p:cNvPr id="128" name="Phase card (conditional)"/>
          <p:cNvSpPr/>
          <p:nvPr/>
        </p:nvSpPr>
        <p:spPr>
          <a:xfrm>
            <a:off x="9502444" y="1435608"/>
            <a:ext cx="2137867" cy="768096"/>
          </a:xfrm>
          <a:prstGeom prst="roundRect">
            <a:avLst>
              <a:gd name="adj" fmla="val 7000"/>
            </a:avLst>
          </a:prstGeom>
          <a:solidFill>
            <a:schemeClr val="bg1"/>
          </a:solidFill>
          <a:ln w="12700">
            <a:solidFill>
              <a:schemeClr val="accent2"/>
            </a:solidFill>
            <a:prstDash val="dash"/>
          </a:ln>
        </p:spPr>
        <p:txBody>
          <a:bodyPr/>
          <a:lstStyle/>
          <a:p>
            <a:endParaRPr lang="en-US"/>
          </a:p>
        </p:txBody>
      </p:sp>
      <p:sp>
        <p:nvSpPr>
          <p:cNvPr id="129" name="Phase dates"/>
          <p:cNvSpPr txBox="1"/>
          <p:nvPr/>
        </p:nvSpPr>
        <p:spPr>
          <a:xfrm>
            <a:off x="9584740" y="1499616"/>
            <a:ext cx="1973275" cy="128016"/>
          </a:xfrm>
          <a:prstGeom prst="rect">
            <a:avLst/>
          </a:prstGeom>
          <a:noFill/>
          <a:ln/>
        </p:spPr>
        <p:txBody>
          <a:bodyPr wrap="square" lIns="0" tIns="0" rIns="0" bIns="0" rtlCol="0" anchor="t"/>
          <a:lstStyle/>
          <a:p>
            <a:pPr marL="0" indent="0" algn="l">
              <a:buNone/>
            </a:pPr>
            <a:r>
              <a:rPr lang="en-US" sz="850" b="1" kern="0" spc="80" dirty="0">
                <a:solidFill>
                  <a:schemeClr val="accent2"/>
                </a:solidFill>
              </a:rPr>
              <a:t>11/9–11/30</a:t>
            </a:r>
            <a:endParaRPr lang="en-US" sz="850" dirty="0"/>
          </a:p>
        </p:txBody>
      </p:sp>
      <p:sp>
        <p:nvSpPr>
          <p:cNvPr id="130" name="Phase name"/>
          <p:cNvSpPr txBox="1"/>
          <p:nvPr/>
        </p:nvSpPr>
        <p:spPr>
          <a:xfrm>
            <a:off x="9584740" y="1627632"/>
            <a:ext cx="1973275" cy="155448"/>
          </a:xfrm>
          <a:prstGeom prst="rect">
            <a:avLst/>
          </a:prstGeom>
          <a:noFill/>
          <a:ln/>
        </p:spPr>
        <p:txBody>
          <a:bodyPr wrap="square" lIns="0" tIns="0" rIns="0" bIns="0" rtlCol="0" anchor="t"/>
          <a:lstStyle/>
          <a:p>
            <a:pPr marL="0" indent="0" algn="l">
              <a:buNone/>
            </a:pPr>
            <a:r>
              <a:rPr lang="en-US" sz="1000" b="1" dirty="0">
                <a:solidFill>
                  <a:schemeClr val="tx1"/>
                </a:solidFill>
              </a:rPr>
              <a:t>Approval &amp; Potential Go-Live</a:t>
            </a:r>
            <a:endParaRPr lang="en-US" sz="1000" dirty="0"/>
          </a:p>
        </p:txBody>
      </p:sp>
      <p:sp>
        <p:nvSpPr>
          <p:cNvPr id="131" name="Phase description"/>
          <p:cNvSpPr txBox="1"/>
          <p:nvPr/>
        </p:nvSpPr>
        <p:spPr>
          <a:xfrm>
            <a:off x="9584740" y="1792224"/>
            <a:ext cx="1973275" cy="246888"/>
          </a:xfrm>
          <a:prstGeom prst="rect">
            <a:avLst/>
          </a:prstGeom>
          <a:noFill/>
          <a:ln/>
        </p:spPr>
        <p:txBody>
          <a:bodyPr wrap="square" lIns="0" tIns="0" rIns="0" bIns="0" rtlCol="0" anchor="t"/>
          <a:lstStyle/>
          <a:p>
            <a:pPr marL="0" indent="0" algn="l">
              <a:buNone/>
            </a:pPr>
            <a:r>
              <a:rPr lang="en-US" sz="850" dirty="0">
                <a:solidFill>
                  <a:schemeClr val="tx2"/>
                </a:solidFill>
              </a:rPr>
              <a:t>Go/No-Go approval, deployment preparation, and potential DPC switch</a:t>
            </a:r>
            <a:endParaRPr lang="en-US" sz="850" dirty="0"/>
          </a:p>
        </p:txBody>
      </p:sp>
      <p:sp>
        <p:nvSpPr>
          <p:cNvPr id="132" name="Phase status"/>
          <p:cNvSpPr txBox="1"/>
          <p:nvPr/>
        </p:nvSpPr>
        <p:spPr>
          <a:xfrm>
            <a:off x="9584740" y="2039112"/>
            <a:ext cx="1973275" cy="128016"/>
          </a:xfrm>
          <a:prstGeom prst="rect">
            <a:avLst/>
          </a:prstGeom>
          <a:noFill/>
          <a:ln/>
        </p:spPr>
        <p:txBody>
          <a:bodyPr wrap="square" lIns="0" tIns="0" rIns="0" bIns="0" rtlCol="0" anchor="t"/>
          <a:lstStyle/>
          <a:p>
            <a:pPr marL="0" indent="0" algn="l">
              <a:buNone/>
            </a:pPr>
            <a:r>
              <a:rPr lang="en-US" sz="850" b="1" dirty="0">
                <a:solidFill>
                  <a:schemeClr val="tx1"/>
                </a:solidFill>
              </a:rPr>
              <a:t>Exact date TBD</a:t>
            </a:r>
            <a:endParaRPr lang="en-US" sz="850" dirty="0"/>
          </a:p>
        </p:txBody>
      </p:sp>
      <p:sp>
        <p:nvSpPr>
          <p:cNvPr id="133" name="Conditional chip"/>
          <p:cNvSpPr txBox="1"/>
          <p:nvPr/>
        </p:nvSpPr>
        <p:spPr>
          <a:xfrm>
            <a:off x="10771632" y="2046427"/>
            <a:ext cx="786384" cy="132588"/>
          </a:xfrm>
          <a:prstGeom prst="roundRect">
            <a:avLst>
              <a:gd name="adj" fmla="val 50000"/>
            </a:avLst>
          </a:prstGeom>
          <a:solidFill>
            <a:schemeClr val="accent2"/>
          </a:solidFill>
          <a:ln/>
        </p:spPr>
        <p:txBody>
          <a:bodyPr wrap="square" lIns="0" tIns="0" rIns="0" bIns="0" rtlCol="0" anchor="ctr"/>
          <a:lstStyle/>
          <a:p>
            <a:pPr marL="0" indent="0" algn="ctr">
              <a:buNone/>
            </a:pPr>
            <a:r>
              <a:rPr lang="en-US" sz="750" b="1" kern="0" spc="60" dirty="0">
                <a:solidFill>
                  <a:schemeClr val="bg1"/>
                </a:solidFill>
              </a:rPr>
              <a:t>CONDITIONAL</a:t>
            </a:r>
            <a:endParaRPr lang="en-US" sz="750" dirty="0"/>
          </a:p>
        </p:txBody>
      </p:sp>
      <p:sp>
        <p:nvSpPr>
          <p:cNvPr id="134" name="Sept 30 note"/>
          <p:cNvSpPr txBox="1"/>
          <p:nvPr/>
        </p:nvSpPr>
        <p:spPr>
          <a:xfrm>
            <a:off x="548640" y="2267712"/>
            <a:ext cx="11091672" cy="182880"/>
          </a:xfrm>
          <a:prstGeom prst="rect">
            <a:avLst/>
          </a:prstGeom>
          <a:noFill/>
          <a:ln/>
        </p:spPr>
        <p:txBody>
          <a:bodyPr wrap="square" lIns="0" tIns="0" rIns="0" bIns="0" rtlCol="0" anchor="ctr"/>
          <a:lstStyle/>
          <a:p>
            <a:pPr marL="0" indent="0" algn="l">
              <a:buNone/>
            </a:pPr>
            <a:r>
              <a:rPr lang="en-US" sz="1050" dirty="0">
                <a:solidFill>
                  <a:schemeClr val="tx2"/>
                </a:solidFill>
              </a:rPr>
              <a:t xml:space="preserve">September 30 completes a planned pre-production validation phase. </a:t>
            </a:r>
            <a:r>
              <a:rPr lang="en-US" sz="1050" b="1" dirty="0">
                <a:solidFill>
                  <a:schemeClr val="accent4"/>
                </a:solidFill>
              </a:rPr>
              <a:t>It does not represent production approval, production cutover, or DPC go-live.</a:t>
            </a:r>
            <a:endParaRPr lang="en-US" sz="1050" dirty="0"/>
          </a:p>
        </p:txBody>
      </p:sp>
      <p:sp>
        <p:nvSpPr>
          <p:cNvPr id="135" name="Milestone label"/>
          <p:cNvSpPr txBox="1"/>
          <p:nvPr/>
        </p:nvSpPr>
        <p:spPr>
          <a:xfrm>
            <a:off x="548640" y="2505456"/>
            <a:ext cx="6144768" cy="155448"/>
          </a:xfrm>
          <a:prstGeom prst="rect">
            <a:avLst/>
          </a:prstGeom>
          <a:noFill/>
          <a:ln/>
        </p:spPr>
        <p:txBody>
          <a:bodyPr wrap="square" lIns="0" tIns="0" rIns="0" bIns="0" rtlCol="0" anchor="t"/>
          <a:lstStyle/>
          <a:p>
            <a:pPr marL="0" indent="0" algn="l">
              <a:buNone/>
            </a:pPr>
            <a:r>
              <a:rPr lang="en-US" sz="1000" b="1" kern="0" spc="100" dirty="0">
                <a:solidFill>
                  <a:schemeClr val="accent2"/>
                </a:solidFill>
              </a:rPr>
              <a:t>MILESTONE STATUS AND OUTLOOK</a:t>
            </a:r>
            <a:endParaRPr lang="en-US" sz="1000" dirty="0"/>
          </a:p>
        </p:txBody>
      </p:sp>
      <p:sp>
        <p:nvSpPr>
          <p:cNvPr id="136" name="Issues label"/>
          <p:cNvSpPr txBox="1"/>
          <p:nvPr/>
        </p:nvSpPr>
        <p:spPr>
          <a:xfrm>
            <a:off x="6876288" y="2505456"/>
            <a:ext cx="4764024" cy="155448"/>
          </a:xfrm>
          <a:prstGeom prst="rect">
            <a:avLst/>
          </a:prstGeom>
          <a:noFill/>
          <a:ln/>
        </p:spPr>
        <p:txBody>
          <a:bodyPr wrap="square" lIns="0" tIns="0" rIns="0" bIns="0" rtlCol="0" anchor="t"/>
          <a:lstStyle/>
          <a:p>
            <a:pPr marL="0" indent="0" algn="l">
              <a:buNone/>
            </a:pPr>
            <a:r>
              <a:rPr lang="en-US" sz="1000" b="1" kern="0" spc="100" dirty="0">
                <a:solidFill>
                  <a:schemeClr val="accent2"/>
                </a:solidFill>
              </a:rPr>
              <a:t>DRIVING ISSUES</a:t>
            </a:r>
            <a:endParaRPr lang="en-US" sz="1000" dirty="0"/>
          </a:p>
        </p:txBody>
      </p:sp>
      <p:graphicFrame>
        <p:nvGraphicFramePr>
          <p:cNvPr id="137" name="Milestone status and outlook"/>
          <p:cNvGraphicFramePr>
            <a:graphicFrameLocks noGrp="1"/>
          </p:cNvGraphicFramePr>
          <p:nvPr/>
        </p:nvGraphicFramePr>
        <p:xfrm>
          <a:off x="548640" y="2688336"/>
          <a:ext cx="6144768" cy="2642616"/>
        </p:xfrm>
        <a:graphic>
          <a:graphicData uri="http://schemas.openxmlformats.org/drawingml/2006/table">
            <a:tbl>
              <a:tblPr firstRow="1"/>
              <a:tblGrid>
                <a:gridCol w="1828800"/>
                <a:gridCol w="621792"/>
                <a:gridCol w="3200400"/>
                <a:gridCol w="493776"/>
              </a:tblGrid>
              <a:tr h="228600">
                <a:tc>
                  <a:txBody>
                    <a:bodyPr/>
                    <a:lstStyle/>
                    <a:p>
                      <a:pPr marL="0" indent="0" algn="l">
                        <a:buNone/>
                      </a:pPr>
                      <a:r>
                        <a:rPr lang="en-US" sz="850" b="1" dirty="0">
                          <a:solidFill>
                            <a:schemeClr val="bg1"/>
                          </a:solidFill>
                        </a:rPr>
                        <a:t>Key task</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Target</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Status</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ctr">
                        <a:buNone/>
                      </a:pPr>
                      <a:r>
                        <a:rPr lang="en-US" sz="850" b="1" dirty="0">
                          <a:solidFill>
                            <a:schemeClr val="bg1"/>
                          </a:solidFill>
                        </a:rPr>
                        <a:t>Issue #</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r>
              <a:tr h="201168">
                <a:tc>
                  <a:txBody>
                    <a:bodyPr/>
                    <a:lstStyle/>
                    <a:p>
                      <a:pPr marL="0" indent="0" algn="l">
                        <a:buNone/>
                      </a:pPr>
                      <a:r>
                        <a:rPr lang="en-US" sz="800" dirty="0">
                          <a:solidFill>
                            <a:schemeClr val="tx1"/>
                          </a:solidFill>
                        </a:rPr>
                        <a:t>Provisioning of UAT Environment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8/7/26</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8/15/26 · </a:t>
                      </a:r>
                      <a:r>
                        <a:rPr lang="en-US" sz="800" dirty="0">
                          <a:solidFill>
                            <a:schemeClr val="tx2"/>
                          </a:solidFill>
                        </a:rPr>
                        <a:t>Late due to access and environment remediation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1, 9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UAT Code &amp; Data Move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8/10–8/24</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8/21/26 · </a:t>
                      </a:r>
                      <a:r>
                        <a:rPr lang="en-US" sz="800" dirty="0">
                          <a:solidFill>
                            <a:schemeClr val="tx2"/>
                          </a:solidFill>
                        </a:rPr>
                        <a:t>Continuing technical issues created risk to subsequent validation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3, 4, 9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UAT Tech Validation &amp; Sign-off</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8/25–9/1</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9/16/26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3, 4</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UAT Business Validation (Conformance &amp; Curation)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9/2–9/16</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9/25/26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2, 5, 6</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Tech Validation (Sourcing, upstream/downstream connectivity)</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9/17–9/30</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9/30/26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7, 9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UAT Business Validation (RAW)</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10/1–10/8</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10/14/26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1, 7</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Pre-Prod Operation Readiness &amp; Business &amp; Tech Sign-off</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10/1–10/8</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 xml:space="preserve">Completed 10/14/26 · </a:t>
                      </a:r>
                      <a:r>
                        <a:rPr lang="en-US" sz="800" dirty="0">
                          <a:solidFill>
                            <a:schemeClr val="tx2"/>
                          </a:solidFill>
                        </a:rPr>
                        <a:t>Validation completed with delay due to issues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Prod Preparation and Readiness (Tech)</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10/1–10/8</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4"/>
                          </a:solidFill>
                        </a:rPr>
                        <a:t xml:space="preserve">Expected completion 10/16/26 · </a:t>
                      </a:r>
                      <a:r>
                        <a:rPr lang="en-US" sz="800" dirty="0">
                          <a:solidFill>
                            <a:schemeClr val="tx2"/>
                          </a:solidFill>
                        </a:rPr>
                        <a:t>Delayed due to access and environment issues; outstanding issues awaiting confirmation of resolution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1, 2, 3, 4, 7, 9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Prod Parallel Testing (Business &amp; Tech)</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10/9–11/9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4"/>
                          </a:solidFill>
                        </a:rPr>
                        <a:t xml:space="preserve">Will begin 10/19/26 · </a:t>
                      </a:r>
                      <a:r>
                        <a:rPr lang="en-US" sz="800" dirty="0">
                          <a:solidFill>
                            <a:schemeClr val="tx2"/>
                          </a:solidFill>
                        </a:rPr>
                        <a:t>Delayed validation compresses parallel testing timelines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1, 2, 3, 4, 7</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Go/No-Go Decisioning: Prod Operational Readiness (Prod Sign-off Period)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11/9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3"/>
                          </a:solidFill>
                        </a:rPr>
                        <a:t xml:space="preserve">On track with risks · </a:t>
                      </a:r>
                      <a:r>
                        <a:rPr lang="en-US" sz="800" dirty="0">
                          <a:solidFill>
                            <a:schemeClr val="tx2"/>
                          </a:solidFill>
                        </a:rPr>
                        <a:t>Unresolved validation may limit the evidence available for production approval</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7</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Deployment Freeze for In-flight Project Work</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11/9–11/30</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3"/>
                          </a:solidFill>
                        </a:rPr>
                        <a:t xml:space="preserve">On track with risks · </a:t>
                      </a:r>
                      <a:r>
                        <a:rPr lang="en-US" sz="800" dirty="0">
                          <a:solidFill>
                            <a:schemeClr val="tx2"/>
                          </a:solidFill>
                        </a:rPr>
                        <a:t>Timing depends on completion of preceding readiness and sign-off activities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l">
                        <a:buNone/>
                      </a:pPr>
                      <a:r>
                        <a:rPr lang="en-US" sz="800" dirty="0">
                          <a:solidFill>
                            <a:schemeClr val="tx1"/>
                          </a:solidFill>
                        </a:rPr>
                        <a:t>Go-Live / Switch Over to DPC</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11/9–11/30</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accent3"/>
                          </a:solidFill>
                        </a:rPr>
                        <a:t xml:space="preserve">On track with risks · </a:t>
                      </a:r>
                      <a:r>
                        <a:rPr lang="en-US" sz="800" dirty="0">
                          <a:solidFill>
                            <a:schemeClr val="tx2"/>
                          </a:solidFill>
                        </a:rPr>
                        <a:t>Go-live timing depends on successful validation, readiness, and approval</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ctr">
                        <a:buNone/>
                      </a:pPr>
                      <a:r>
                        <a:rPr lang="en-US" sz="800" dirty="0">
                          <a:solidFill>
                            <a:schemeClr val="tx1"/>
                          </a:solidFill>
                        </a:rPr>
                        <a: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bl>
          </a:graphicData>
        </a:graphic>
      </p:graphicFrame>
      <p:graphicFrame>
        <p:nvGraphicFramePr>
          <p:cNvPr id="138" name="Driving issues"/>
          <p:cNvGraphicFramePr>
            <a:graphicFrameLocks noGrp="1"/>
          </p:cNvGraphicFramePr>
          <p:nvPr/>
        </p:nvGraphicFramePr>
        <p:xfrm>
          <a:off x="6876288" y="2688336"/>
          <a:ext cx="4764024" cy="2039112"/>
        </p:xfrm>
        <a:graphic>
          <a:graphicData uri="http://schemas.openxmlformats.org/drawingml/2006/table">
            <a:tbl>
              <a:tblPr firstRow="1"/>
              <a:tblGrid>
                <a:gridCol w="219456"/>
                <a:gridCol w="841248"/>
                <a:gridCol w="2212848"/>
                <a:gridCol w="1490472"/>
              </a:tblGrid>
              <a:tr h="228600">
                <a:tc>
                  <a:txBody>
                    <a:bodyPr/>
                    <a:lstStyle/>
                    <a:p>
                      <a:pPr marL="0" indent="0" algn="ctr">
                        <a:buNone/>
                      </a:pPr>
                      <a:r>
                        <a:rPr lang="en-US" sz="850" b="1" dirty="0">
                          <a:solidFill>
                            <a:schemeClr val="bg1"/>
                          </a:solidFill>
                        </a:rPr>
                        <a:t>#</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Issue</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Description</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lgn="l">
                        <a:buNone/>
                      </a:pPr>
                      <a:r>
                        <a:rPr lang="en-US" sz="850" b="1" dirty="0">
                          <a:solidFill>
                            <a:schemeClr val="bg1"/>
                          </a:solidFill>
                        </a:rPr>
                        <a:t>Current status</a:t>
                      </a:r>
                      <a:endParaRPr lang="en-US" sz="85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r>
              <a:tr h="201168">
                <a:tc>
                  <a:txBody>
                    <a:bodyPr/>
                    <a:lstStyle/>
                    <a:p>
                      <a:pPr marL="0" indent="0" algn="ctr">
                        <a:buNone/>
                      </a:pPr>
                      <a:r>
                        <a:rPr lang="en-US" sz="800" b="1" dirty="0">
                          <a:solidFill>
                            <a:schemeClr val="tx1"/>
                          </a:solidFill>
                        </a:rPr>
                        <a:t>1</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Access Reliability</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Entitlements were late or incomplete; access remained sporadic.</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Fixed in UAT; need to confirm no issues in Prod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2</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Functional Coverage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Edit/upload functionality and supporting business utilities remained unavailable.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Fixed in UAT; need to confirm no issues in Prod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3</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Performance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Performance and processing were slower than the current production environment.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Supposedly limited to UAT environment and a non-issue in Prod (needs to be validated)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4</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Data Completeness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Audit and control tables were sparse or missing.</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Not currently testable in UAT; will be tested again in Prod Parallel</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5</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ADS Alignment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Data organization did not appear aligned with target ADS principles.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Fix after Prod deployment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6</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Sign-off &amp; Deployment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Testing constraints prevented complete sign-off and created deployment timing risk.</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No longer an issue, but has pushed everything back</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7</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Production Parity</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DPC UAT was migrated from an RDS UAT environment that was not aligned with RDS Production, limiting assurance that UAT results represent the baseline intended for DPC Production.</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Fix after Prod deployment, but risk of “junk data” being available in Prod post go-live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8</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Finance/Risk Alignment</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Separate Risk and Finance Dremio instances complicate a shared data plane, with gaps joining between the separate instances.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Escalated to Architect week of 9/14</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r h="201168">
                <a:tc>
                  <a:txBody>
                    <a:bodyPr/>
                    <a:lstStyle/>
                    <a:p>
                      <a:pPr marL="0" indent="0" algn="ctr">
                        <a:buNone/>
                      </a:pPr>
                      <a:r>
                        <a:rPr lang="en-US" sz="800" b="1" dirty="0">
                          <a:solidFill>
                            <a:schemeClr val="tx1"/>
                          </a:solidFill>
                        </a:rPr>
                        <a:t>9</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b="1" dirty="0">
                          <a:solidFill>
                            <a:schemeClr val="tx1"/>
                          </a:solidFill>
                        </a:rPr>
                        <a:t>Technology Constraints</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Technology teams unable to perform expected maintenance; resolution times are extended.</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lgn="l">
                        <a:buNone/>
                      </a:pPr>
                      <a:r>
                        <a:rPr lang="en-US" sz="800" dirty="0">
                          <a:solidFill>
                            <a:schemeClr val="tx1"/>
                          </a:solidFill>
                        </a:rPr>
                        <a:t>Mostly resolved; unforeseen issues continue to arise</a:t>
                      </a:r>
                      <a:endParaRPr lang="en-US" sz="800" dirty="0"/>
                    </a:p>
                  </a:txBody>
                  <a:tcPr marL="54864" marR="54864" marT="13716" marB="13716"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r>
            </a:tbl>
          </a:graphicData>
        </a:graphic>
      </p:graphicFrame>
      <p:sp>
        <p:nvSpPr>
          <p:cNvPr id="139" name="Slide Number Placeholder 0"/>
          <p:cNvSpPr>
            <a:spLocks noGrp="1"/>
          </p:cNvSpPr>
          <p:nvPr>
            <p:ph type="sldNum" sz="quarter" idx="4294967295"/>
          </p:nvPr>
        </p:nvSpPr>
        <p:spPr>
          <a:xfrm>
            <a:off x="11091672" y="6419088"/>
            <a:ext cx="548640" cy="256032"/>
          </a:xfrm>
          <a:prstGeom prst="rect">
            <a:avLst/>
          </a:prstGeom>
        </p:spPr>
        <p:txBody>
          <a:bodyPr lIns="0" tIns="0" rIns="0" bIns="0"/>
          <a:lstStyle>
            <a:lvl1pPr>
              <a:defRPr sz="1000">
                <a:solidFill>
                  <a:schemeClr val="tx2"/>
                </a:solidFill>
              </a:defRPr>
            </a:lvl1pPr>
          </a:lstStyle>
          <a:p>
            <a:pPr algn="r"/>
            <a:fld id="{F7021451-1387-4CA6-816F-3879F97B5CBC}" type="slidenum">
              <a:rPr lang="en-US" b="0"/>
              <a:t>21</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Next Steps</a:t>
            </a:r>
            <a:endParaRPr lang="en-US" sz="2800" dirty="0"/>
          </a:p>
        </p:txBody>
      </p:sp>
      <p:sp>
        <p:nvSpPr>
          <p:cNvPr id="3" name="Section tag"/>
          <p:cNvSpPr txBox="1"/>
          <p:nvPr/>
        </p:nvSpPr>
        <p:spPr>
          <a:xfrm>
            <a:off x="548640" y="274320"/>
            <a:ext cx="1133856" cy="274320"/>
          </a:xfrm>
          <a:prstGeom prst="roundRect">
            <a:avLst>
              <a:gd name="adj" fmla="val 50000"/>
            </a:avLst>
          </a:prstGeom>
          <a:solidFill>
            <a:schemeClr val="tx1"/>
          </a:solidFill>
          <a:ln/>
        </p:spPr>
        <p:txBody>
          <a:bodyPr wrap="square" lIns="0" tIns="0" rIns="0" bIns="0" rtlCol="0" anchor="ctr"/>
          <a:lstStyle/>
          <a:p>
            <a:pPr marL="0" indent="0" algn="ctr">
              <a:buNone/>
            </a:pPr>
            <a:r>
              <a:rPr lang="en-US" sz="1000" b="1" kern="0" spc="150" dirty="0">
                <a:solidFill>
                  <a:schemeClr val="bg1"/>
                </a:solidFill>
              </a:rPr>
              <a:t>NEXT STEPS</a:t>
            </a:r>
            <a:endParaRPr lang="en-US" sz="1000" dirty="0"/>
          </a:p>
        </p:txBody>
      </p:sp>
      <p:graphicFrame>
        <p:nvGraphicFramePr>
          <p:cNvPr id="22" name="Next steps"/>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608576"/>
        </p:xfrm>
        <a:graphic>
          <a:graphicData uri="http://schemas.openxmlformats.org/drawingml/2006/table">
            <a:tbl>
              <a:tblPr/>
              <a:tblGrid>
                <a:gridCol w="557784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496312">
                  <a:extLst>
                    <a:ext uri="{9D8B030D-6E8A-4147-A177-3AD203B41FA5}">
                      <a16:colId xmlns:a16="http://schemas.microsoft.com/office/drawing/2014/main" val="20002"/>
                    </a:ext>
                  </a:extLst>
                </a:gridCol>
              </a:tblGrid>
              <a:tr h="384048">
                <a:tc>
                  <a:txBody>
                    <a:bodyPr/>
                    <a:lstStyle/>
                    <a:p>
                      <a:pPr marL="0" indent="0">
                        <a:buNone/>
                      </a:pPr>
                      <a:r>
                        <a:rPr lang="en-US" sz="1200" b="1" dirty="0">
                          <a:solidFill>
                            <a:schemeClr val="bg1"/>
                          </a:solidFill>
                        </a:rPr>
                        <a:t>Action</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Owner</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tc>
                  <a:txBody>
                    <a:bodyPr/>
                    <a:lstStyle/>
                    <a:p>
                      <a:pPr marL="0" indent="0">
                        <a:buNone/>
                      </a:pPr>
                      <a:r>
                        <a:rPr lang="en-US" sz="1200" b="1" dirty="0">
                          <a:solidFill>
                            <a:schemeClr val="bg1"/>
                          </a:solidFill>
                        </a:rPr>
                        <a:t>When / notes</a:t>
                      </a:r>
                      <a:endParaRPr lang="en-US" sz="120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chemeClr val="tx1"/>
                          </a:solidFill>
                        </a:rPr>
                        <a:t>Review the deck; send feedback, ideas, and gaps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Everyone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Before it goes to Jacqueline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dirty="0">
                          <a:solidFill>
                            <a:schemeClr val="tx1"/>
                          </a:solidFill>
                        </a:rPr>
                        <a:t>Finalize the data plane structure</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Mike G (proposed)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Pillar 2; pineapples, kiwis, bananas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chemeClr val="tx1"/>
                          </a:solidFill>
                        </a:rPr>
                        <a:t>Decide whether controls sit in Pillar 1 or Pillar 2</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 with the team</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Open question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dirty="0">
                          <a:solidFill>
                            <a:schemeClr val="tx1"/>
                          </a:solidFill>
                        </a:rPr>
                        <a:t>Fold DSA, Excel BRD, and RDS intake into one requirements process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Pillar 1</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Intake tool workstream</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buNone/>
                      </a:pPr>
                      <a:r>
                        <a:rPr lang="en-US" sz="1250" dirty="0">
                          <a:solidFill>
                            <a:schemeClr val="tx1"/>
                          </a:solidFill>
                        </a:rPr>
                        <a:t>Take intake tool requirements and DataHub priorities to technology</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Pillar 1</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For Jacqueline to back with Manav</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50" dirty="0">
                          <a:solidFill>
                            <a:schemeClr val="tx1"/>
                          </a:solidFill>
                        </a:rPr>
                        <a:t>Ask Jacqueline and partners what else to prioritize into 2027</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Fifth workstream bucket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84048">
                <a:tc>
                  <a:txBody>
                    <a:bodyPr/>
                    <a:lstStyle/>
                    <a:p>
                      <a:pPr marL="0" indent="0">
                        <a:buNone/>
                      </a:pPr>
                      <a:r>
                        <a:rPr lang="en-US" sz="1250" dirty="0">
                          <a:solidFill>
                            <a:schemeClr val="tx1"/>
                          </a:solidFill>
                        </a:rPr>
                        <a:t>Ask Jacqueline who to talk to about eGRC</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Including how Tandems relates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250" dirty="0">
                          <a:solidFill>
                            <a:schemeClr val="tx1"/>
                          </a:solidFill>
                        </a:rPr>
                        <a:t>Get a Sentinel sourcing summary: existing vs. new sources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Vic and Jake, with Yaginesh and Nick</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Confirms the Pillar 2 / 3 split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84048">
                <a:tc>
                  <a:txBody>
                    <a:bodyPr/>
                    <a:lstStyle/>
                    <a:p>
                      <a:pPr marL="0" indent="0">
                        <a:buNone/>
                      </a:pPr>
                      <a:r>
                        <a:rPr lang="en-US" sz="1250" dirty="0">
                          <a:solidFill>
                            <a:schemeClr val="tx1"/>
                          </a:solidFill>
                        </a:rPr>
                        <a:t>Confirm the 6 high-priority ORM sources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Jennifer</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ORM AI first cohort</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09"/>
                  </a:ext>
                </a:extLst>
              </a:tr>
              <a:tr h="384048">
                <a:tc>
                  <a:txBody>
                    <a:bodyPr/>
                    <a:lstStyle/>
                    <a:p>
                      <a:pPr marL="0" indent="0">
                        <a:buNone/>
                      </a:pPr>
                      <a:r>
                        <a:rPr lang="en-US" sz="1250" dirty="0">
                          <a:solidFill>
                            <a:schemeClr val="tx1"/>
                          </a:solidFill>
                        </a:rPr>
                        <a:t>Keep the DPC timeline current as the tracking view</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b="1" dirty="0">
                          <a:solidFill>
                            <a:schemeClr val="tx1"/>
                          </a:solidFill>
                        </a:rPr>
                        <a:t>Ryan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tc>
                  <a:txBody>
                    <a:bodyPr/>
                    <a:lstStyle/>
                    <a:p>
                      <a:pPr marL="0" indent="0">
                        <a:buNone/>
                      </a:pPr>
                      <a:r>
                        <a:rPr lang="en-US" sz="1250" dirty="0">
                          <a:solidFill>
                            <a:schemeClr val="tx1"/>
                          </a:solidFill>
                        </a:rPr>
                        <a:t>Ongoing to year end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solidFill>
                      <a:schemeClr val="bg2"/>
                    </a:solidFill>
                  </a:tcPr>
                </a:tc>
                <a:extLst>
                  <a:ext uri="{0D108BD9-81ED-4DB2-BD59-A6C34878D82A}">
                    <a16:rowId xmlns:a16="http://schemas.microsoft.com/office/drawing/2014/main" val="10010"/>
                  </a:ext>
                </a:extLst>
              </a:tr>
              <a:tr h="384048">
                <a:tc>
                  <a:txBody>
                    <a:bodyPr/>
                    <a:lstStyle/>
                    <a:p>
                      <a:pPr marL="0" indent="0">
                        <a:buNone/>
                      </a:pPr>
                      <a:r>
                        <a:rPr lang="en-US" sz="1250" dirty="0">
                          <a:solidFill>
                            <a:schemeClr val="tx1"/>
                          </a:solidFill>
                        </a:rPr>
                        <a:t>Assign pillar owners once direction is confirmed</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b="1" dirty="0">
                          <a:solidFill>
                            <a:schemeClr val="tx1"/>
                          </a:solidFill>
                        </a:rPr>
                        <a:t>Kevin</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tc>
                  <a:txBody>
                    <a:bodyPr/>
                    <a:lstStyle/>
                    <a:p>
                      <a:pPr marL="0" indent="0">
                        <a:buNone/>
                      </a:pPr>
                      <a:r>
                        <a:rPr lang="en-US" sz="1250" dirty="0">
                          <a:solidFill>
                            <a:schemeClr val="tx1"/>
                          </a:solidFill>
                        </a:rPr>
                        <a:t>After Jacqueline aligns</a:t>
                      </a:r>
                      <a:endParaRPr lang="en-US" sz="1250" dirty="0"/>
                    </a:p>
                  </a:txBody>
                  <a:tcPr marT="27432" marB="27432" anchor="ctr">
                    <a:lnL w="9525" cap="flat" cmpd="sng" algn="ctr">
                      <a:solidFill>
                        <a:srgbClr val="C9D0D8"/>
                      </a:solidFill>
                      <a:prstDash val="solid"/>
                      <a:round/>
                      <a:headEnd type="none" w="med" len="med"/>
                      <a:tailEnd type="none" w="med" len="med"/>
                    </a:lnL>
                    <a:lnR w="9525" cap="flat" cmpd="sng" algn="ctr">
                      <a:solidFill>
                        <a:srgbClr val="C9D0D8"/>
                      </a:solidFill>
                      <a:prstDash val="solid"/>
                      <a:round/>
                      <a:headEnd type="none" w="med" len="med"/>
                      <a:tailEnd type="none" w="med" len="med"/>
                    </a:lnR>
                    <a:lnT w="9525" cap="flat" cmpd="sng" algn="ctr">
                      <a:solidFill>
                        <a:srgbClr val="C9D0D8"/>
                      </a:solidFill>
                      <a:prstDash val="solid"/>
                      <a:round/>
                      <a:headEnd type="none" w="med" len="med"/>
                      <a:tailEnd type="none" w="med" len="med"/>
                    </a:lnT>
                    <a:lnB w="9525" cap="flat" cmpd="sng" algn="ctr">
                      <a:solidFill>
                        <a:srgbClr val="C9D0D8"/>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lIns="0" tIns="0" rIns="0" bIns="0" rtlCol="0" anchor="b"/>
          <a:lstStyle/>
          <a:p>
            <a:pPr marL="0" indent="0" algn="l">
              <a:buNone/>
            </a:pPr>
            <a:r>
              <a:rPr lang="en-US" sz="4400" b="1" dirty="0">
                <a:solidFill>
                  <a:schemeClr val="bg1"/>
                </a:solidFill>
              </a:rPr>
              <a:t>Appendix</a:t>
            </a: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lIns="0" tIns="0" rIns="0" bIns="0" rtlCol="0" anchor="t"/>
          <a:lstStyle/>
          <a:p>
            <a:pPr marL="0" indent="0" algn="l">
              <a:buNone/>
            </a:pPr>
            <a:r>
              <a:rPr lang="en-US" sz="2000" dirty="0">
                <a:solidFill>
                  <a:schemeClr val="bg2"/>
                </a:solidFill>
              </a:rPr>
              <a:t>eGRC workstream detail</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eGRC: Learn the Priorities Before We Source</a:t>
            </a:r>
            <a:endParaRPr lang="en-US" sz="2800" dirty="0"/>
          </a:p>
        </p:txBody>
      </p:sp>
      <p:sp>
        <p:nvSpPr>
          <p:cNvPr id="3" name="Section tag"/>
          <p:cNvSpPr txBox="1"/>
          <p:nvPr/>
        </p:nvSpPr>
        <p:spPr>
          <a:xfrm>
            <a:off x="548640" y="274320"/>
            <a:ext cx="2421331"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000" b="1" kern="0" spc="150" dirty="0">
                <a:solidFill>
                  <a:schemeClr val="bg1"/>
                </a:solidFill>
              </a:rPr>
              <a:t>PILLAR 3 · eGRC WORKSTREAM</a:t>
            </a:r>
            <a:endParaRPr lang="en-US" sz="1000" dirty="0"/>
          </a:p>
        </p:txBody>
      </p:sp>
      <p:sp>
        <p:nvSpPr>
          <p:cNvPr id="5" name="Card"/>
          <p:cNvSpPr/>
          <p:nvPr/>
        </p:nvSpPr>
        <p:spPr>
          <a:xfrm>
            <a:off x="548640"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6" name="Text 3"/>
          <p:cNvSpPr txBox="1"/>
          <p:nvPr/>
        </p:nvSpPr>
        <p:spPr>
          <a:xfrm>
            <a:off x="749808"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IRP</a:t>
            </a:r>
            <a:endParaRPr lang="en-US" sz="2200" dirty="0"/>
          </a:p>
        </p:txBody>
      </p:sp>
      <p:sp>
        <p:nvSpPr>
          <p:cNvPr id="7" name="Text 4"/>
          <p:cNvSpPr txBox="1"/>
          <p:nvPr/>
        </p:nvSpPr>
        <p:spPr>
          <a:xfrm>
            <a:off x="749808"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Issues management; replaces SHARP</a:t>
            </a:r>
            <a:endParaRPr lang="en-US" sz="1300" dirty="0"/>
          </a:p>
        </p:txBody>
      </p:sp>
      <p:sp>
        <p:nvSpPr>
          <p:cNvPr id="8" name="Status chip"/>
          <p:cNvSpPr txBox="1"/>
          <p:nvPr/>
        </p:nvSpPr>
        <p:spPr>
          <a:xfrm>
            <a:off x="749808" y="2761488"/>
            <a:ext cx="855878"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Unknown</a:t>
            </a:r>
            <a:endParaRPr lang="en-US" sz="1100" dirty="0"/>
          </a:p>
        </p:txBody>
      </p:sp>
      <p:sp>
        <p:nvSpPr>
          <p:cNvPr id="9" name="Text 6"/>
          <p:cNvSpPr txBox="1"/>
          <p:nvPr/>
        </p:nvSpPr>
        <p:spPr>
          <a:xfrm>
            <a:off x="749808"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Data needs and priorities</a:t>
            </a:r>
            <a:endParaRPr lang="en-US" sz="1400" dirty="0"/>
          </a:p>
        </p:txBody>
      </p:sp>
      <p:sp>
        <p:nvSpPr>
          <p:cNvPr id="10" name="Card"/>
          <p:cNvSpPr/>
          <p:nvPr/>
        </p:nvSpPr>
        <p:spPr>
          <a:xfrm>
            <a:off x="3378708"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11" name="Text 8"/>
          <p:cNvSpPr txBox="1"/>
          <p:nvPr/>
        </p:nvSpPr>
        <p:spPr>
          <a:xfrm>
            <a:off x="3579876"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PMT</a:t>
            </a:r>
            <a:endParaRPr lang="en-US" sz="2200" dirty="0"/>
          </a:p>
        </p:txBody>
      </p:sp>
      <p:sp>
        <p:nvSpPr>
          <p:cNvPr id="12" name="Text 9"/>
          <p:cNvSpPr txBox="1"/>
          <p:nvPr/>
        </p:nvSpPr>
        <p:spPr>
          <a:xfrm>
            <a:off x="3579876"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Policy management</a:t>
            </a:r>
            <a:endParaRPr lang="en-US" sz="1300" dirty="0"/>
          </a:p>
        </p:txBody>
      </p:sp>
      <p:sp>
        <p:nvSpPr>
          <p:cNvPr id="13" name="Status chip"/>
          <p:cNvSpPr txBox="1"/>
          <p:nvPr/>
        </p:nvSpPr>
        <p:spPr>
          <a:xfrm>
            <a:off x="3579876" y="2761488"/>
            <a:ext cx="1660550"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May not be risk's</a:t>
            </a:r>
            <a:endParaRPr lang="en-US" sz="1100" dirty="0"/>
          </a:p>
        </p:txBody>
      </p:sp>
      <p:sp>
        <p:nvSpPr>
          <p:cNvPr id="14" name="Text 11"/>
          <p:cNvSpPr txBox="1"/>
          <p:nvPr/>
        </p:nvSpPr>
        <p:spPr>
          <a:xfrm>
            <a:off x="3579876"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Who owns it, and whether it belongs to risk</a:t>
            </a:r>
            <a:endParaRPr lang="en-US" sz="1400" dirty="0"/>
          </a:p>
        </p:txBody>
      </p:sp>
      <p:sp>
        <p:nvSpPr>
          <p:cNvPr id="15" name="Card"/>
          <p:cNvSpPr/>
          <p:nvPr/>
        </p:nvSpPr>
        <p:spPr>
          <a:xfrm>
            <a:off x="6208776"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16" name="Text 13"/>
          <p:cNvSpPr txBox="1"/>
          <p:nvPr/>
        </p:nvSpPr>
        <p:spPr>
          <a:xfrm>
            <a:off x="6409944"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Tandems</a:t>
            </a:r>
            <a:endParaRPr lang="en-US" sz="2200" dirty="0"/>
          </a:p>
        </p:txBody>
      </p:sp>
      <p:sp>
        <p:nvSpPr>
          <p:cNvPr id="17" name="Text 14"/>
          <p:cNvSpPr txBox="1"/>
          <p:nvPr/>
        </p:nvSpPr>
        <p:spPr>
          <a:xfrm>
            <a:off x="6409944"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IT&amp;V testing</a:t>
            </a:r>
            <a:endParaRPr lang="en-US" sz="1300" dirty="0"/>
          </a:p>
        </p:txBody>
      </p:sp>
      <p:sp>
        <p:nvSpPr>
          <p:cNvPr id="18" name="Status chip"/>
          <p:cNvSpPr txBox="1"/>
          <p:nvPr/>
        </p:nvSpPr>
        <p:spPr>
          <a:xfrm>
            <a:off x="6409944" y="2761488"/>
            <a:ext cx="1258214"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Partly known</a:t>
            </a:r>
            <a:endParaRPr lang="en-US" sz="1100" dirty="0"/>
          </a:p>
        </p:txBody>
      </p:sp>
      <p:sp>
        <p:nvSpPr>
          <p:cNvPr id="19" name="Text 16"/>
          <p:cNvSpPr txBox="1"/>
          <p:nvPr/>
        </p:nvSpPr>
        <p:spPr>
          <a:xfrm>
            <a:off x="6409944"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Its S3 bucket persists data: per-app buckets or one eGRC bucket? How does it relate to this effort?</a:t>
            </a:r>
            <a:endParaRPr lang="en-US" sz="1400" dirty="0"/>
          </a:p>
        </p:txBody>
      </p:sp>
      <p:sp>
        <p:nvSpPr>
          <p:cNvPr id="20" name="Card"/>
          <p:cNvSpPr/>
          <p:nvPr/>
        </p:nvSpPr>
        <p:spPr>
          <a:xfrm>
            <a:off x="9038844" y="1645920"/>
            <a:ext cx="2601468" cy="3017520"/>
          </a:xfrm>
          <a:prstGeom prst="roundRect">
            <a:avLst>
              <a:gd name="adj" fmla="val 2812"/>
            </a:avLst>
          </a:prstGeom>
          <a:solidFill>
            <a:schemeClr val="bg1"/>
          </a:solidFill>
          <a:ln w="15875">
            <a:solidFill>
              <a:schemeClr val="accent3"/>
            </a:solidFill>
            <a:prstDash val="dash"/>
          </a:ln>
        </p:spPr>
        <p:txBody>
          <a:bodyPr/>
          <a:lstStyle/>
          <a:p>
            <a:endParaRPr lang="en-US"/>
          </a:p>
        </p:txBody>
      </p:sp>
      <p:sp>
        <p:nvSpPr>
          <p:cNvPr id="21" name="Text 18"/>
          <p:cNvSpPr txBox="1"/>
          <p:nvPr/>
        </p:nvSpPr>
        <p:spPr>
          <a:xfrm>
            <a:off x="9240012" y="1810512"/>
            <a:ext cx="2199132" cy="457200"/>
          </a:xfrm>
          <a:prstGeom prst="rect">
            <a:avLst/>
          </a:prstGeom>
          <a:noFill/>
          <a:ln/>
        </p:spPr>
        <p:txBody>
          <a:bodyPr wrap="square" lIns="0" tIns="0" rIns="0" bIns="0" rtlCol="0" anchor="t"/>
          <a:lstStyle/>
          <a:p>
            <a:pPr marL="0" indent="0">
              <a:buNone/>
            </a:pPr>
            <a:r>
              <a:rPr lang="en-US" sz="2200" b="1" dirty="0">
                <a:solidFill>
                  <a:schemeClr val="tx1"/>
                </a:solidFill>
              </a:rPr>
              <a:t>SNAP</a:t>
            </a:r>
            <a:endParaRPr lang="en-US" sz="2200" dirty="0"/>
          </a:p>
        </p:txBody>
      </p:sp>
      <p:sp>
        <p:nvSpPr>
          <p:cNvPr id="22" name="Text 19"/>
          <p:cNvSpPr txBox="1"/>
          <p:nvPr/>
        </p:nvSpPr>
        <p:spPr>
          <a:xfrm>
            <a:off x="9240012" y="2267712"/>
            <a:ext cx="2199132" cy="457200"/>
          </a:xfrm>
          <a:prstGeom prst="rect">
            <a:avLst/>
          </a:prstGeom>
          <a:noFill/>
          <a:ln/>
        </p:spPr>
        <p:txBody>
          <a:bodyPr wrap="square" lIns="0" tIns="0" rIns="0" bIns="0" rtlCol="0" anchor="t"/>
          <a:lstStyle/>
          <a:p>
            <a:pPr marL="0" indent="0">
              <a:buNone/>
            </a:pPr>
            <a:r>
              <a:rPr lang="en-US" sz="1300" dirty="0">
                <a:solidFill>
                  <a:schemeClr val="tx2"/>
                </a:solidFill>
              </a:rPr>
              <a:t>Audit</a:t>
            </a:r>
            <a:endParaRPr lang="en-US" sz="1300" dirty="0"/>
          </a:p>
        </p:txBody>
      </p:sp>
      <p:sp>
        <p:nvSpPr>
          <p:cNvPr id="23" name="Status chip"/>
          <p:cNvSpPr txBox="1"/>
          <p:nvPr/>
        </p:nvSpPr>
        <p:spPr>
          <a:xfrm>
            <a:off x="9240012" y="2761488"/>
            <a:ext cx="1660550" cy="274320"/>
          </a:xfrm>
          <a:prstGeom prst="roundRect">
            <a:avLst>
              <a:gd name="adj" fmla="val 50000"/>
            </a:avLst>
          </a:prstGeom>
          <a:solidFill>
            <a:schemeClr val="accent3">
              <a:alpha val="22000"/>
            </a:schemeClr>
          </a:solidFill>
          <a:ln/>
        </p:spPr>
        <p:txBody>
          <a:bodyPr wrap="square" lIns="0" tIns="0" rIns="0" bIns="0" rtlCol="0" anchor="ctr"/>
          <a:lstStyle/>
          <a:p>
            <a:pPr marL="0" indent="0" algn="ctr">
              <a:buNone/>
            </a:pPr>
            <a:r>
              <a:rPr lang="en-US" sz="1100" b="1" dirty="0">
                <a:solidFill>
                  <a:schemeClr val="tx1"/>
                </a:solidFill>
              </a:rPr>
              <a:t>May not be risk's</a:t>
            </a:r>
            <a:endParaRPr lang="en-US" sz="1100" dirty="0"/>
          </a:p>
        </p:txBody>
      </p:sp>
      <p:sp>
        <p:nvSpPr>
          <p:cNvPr id="24" name="Text 21"/>
          <p:cNvSpPr txBox="1"/>
          <p:nvPr/>
        </p:nvSpPr>
        <p:spPr>
          <a:xfrm>
            <a:off x="9240012" y="3200400"/>
            <a:ext cx="2199132" cy="1417320"/>
          </a:xfrm>
          <a:prstGeom prst="rect">
            <a:avLst/>
          </a:prstGeom>
          <a:noFill/>
          <a:ln/>
        </p:spPr>
        <p:txBody>
          <a:bodyPr wrap="square" lIns="0" tIns="0" rIns="0" bIns="0" rtlCol="0" anchor="t"/>
          <a:lstStyle/>
          <a:p>
            <a:pPr marL="0" indent="0">
              <a:buNone/>
            </a:pPr>
            <a:r>
              <a:rPr lang="en-US" sz="1000" b="1" kern="0" spc="100" dirty="0">
                <a:solidFill>
                  <a:schemeClr val="tx2"/>
                </a:solidFill>
              </a:rPr>
              <a:t>FIND OUT</a:t>
            </a:r>
            <a:endParaRPr lang="en-US" sz="1400" dirty="0"/>
          </a:p>
          <a:p>
            <a:pPr marL="0" indent="0">
              <a:buNone/>
            </a:pPr>
            <a:r>
              <a:rPr lang="en-US" sz="1350" dirty="0">
                <a:solidFill>
                  <a:schemeClr val="tx1"/>
                </a:solidFill>
              </a:rPr>
              <a:t>Whether it belongs to risk at all</a:t>
            </a:r>
            <a:endParaRPr lang="en-US" sz="1400" dirty="0"/>
          </a:p>
        </p:txBody>
      </p:sp>
      <p:sp>
        <p:nvSpPr>
          <p:cNvPr id="25" name="Card"/>
          <p:cNvSpPr/>
          <p:nvPr/>
        </p:nvSpPr>
        <p:spPr>
          <a:xfrm>
            <a:off x="548640" y="4846320"/>
            <a:ext cx="3514344" cy="1371600"/>
          </a:xfrm>
          <a:prstGeom prst="roundRect">
            <a:avLst>
              <a:gd name="adj" fmla="val 5333"/>
            </a:avLst>
          </a:prstGeom>
          <a:solidFill>
            <a:schemeClr val="bg2"/>
          </a:solidFill>
          <a:ln/>
        </p:spPr>
        <p:txBody>
          <a:bodyPr/>
          <a:lstStyle/>
          <a:p>
            <a:endParaRPr lang="en-US"/>
          </a:p>
        </p:txBody>
      </p:sp>
      <p:sp>
        <p:nvSpPr>
          <p:cNvPr id="26" name="Text 23"/>
          <p:cNvSpPr txBox="1"/>
          <p:nvPr/>
        </p:nvSpPr>
        <p:spPr>
          <a:xfrm>
            <a:off x="731520"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Not a friction point</a:t>
            </a:r>
            <a:endParaRPr lang="en-US" sz="1400" dirty="0"/>
          </a:p>
          <a:p>
            <a:pPr marL="0" indent="0">
              <a:spcAft>
                <a:spcPts val="300"/>
              </a:spcAft>
              <a:buNone/>
            </a:pPr>
            <a:r>
              <a:rPr lang="en-US" sz="1400" dirty="0">
                <a:solidFill>
                  <a:schemeClr val="tx1"/>
                </a:solidFill>
              </a:rPr>
              <a:t>eGRC's owner has said Jacqueline gets all of its data.</a:t>
            </a:r>
            <a:endParaRPr lang="en-US" sz="1400" dirty="0"/>
          </a:p>
        </p:txBody>
      </p:sp>
      <p:sp>
        <p:nvSpPr>
          <p:cNvPr id="27" name="Card"/>
          <p:cNvSpPr/>
          <p:nvPr/>
        </p:nvSpPr>
        <p:spPr>
          <a:xfrm>
            <a:off x="4337304" y="4846320"/>
            <a:ext cx="3514344" cy="1371600"/>
          </a:xfrm>
          <a:prstGeom prst="roundRect">
            <a:avLst>
              <a:gd name="adj" fmla="val 5333"/>
            </a:avLst>
          </a:prstGeom>
          <a:solidFill>
            <a:schemeClr val="bg2"/>
          </a:solidFill>
          <a:ln/>
        </p:spPr>
        <p:txBody>
          <a:bodyPr/>
          <a:lstStyle/>
          <a:p>
            <a:endParaRPr lang="en-US"/>
          </a:p>
        </p:txBody>
      </p:sp>
      <p:sp>
        <p:nvSpPr>
          <p:cNvPr id="28" name="Text 25"/>
          <p:cNvSpPr txBox="1"/>
          <p:nvPr/>
        </p:nvSpPr>
        <p:spPr>
          <a:xfrm>
            <a:off x="4520184"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A Pillar 3 workstream</a:t>
            </a:r>
            <a:endParaRPr lang="en-US" sz="1400" dirty="0"/>
          </a:p>
          <a:p>
            <a:pPr marL="0" indent="0">
              <a:spcAft>
                <a:spcPts val="300"/>
              </a:spcAft>
              <a:buNone/>
            </a:pPr>
            <a:r>
              <a:rPr lang="en-US" sz="1400" dirty="0">
                <a:solidFill>
                  <a:schemeClr val="tx1"/>
                </a:solidFill>
              </a:rPr>
              <a:t>Same template, same decision tree, same tracker as FCI, Sentinel, and ORM AI.</a:t>
            </a:r>
            <a:endParaRPr lang="en-US" sz="1400" dirty="0"/>
          </a:p>
        </p:txBody>
      </p:sp>
      <p:sp>
        <p:nvSpPr>
          <p:cNvPr id="29" name="Card"/>
          <p:cNvSpPr/>
          <p:nvPr/>
        </p:nvSpPr>
        <p:spPr>
          <a:xfrm>
            <a:off x="8125968" y="4846320"/>
            <a:ext cx="3514344" cy="1371600"/>
          </a:xfrm>
          <a:prstGeom prst="roundRect">
            <a:avLst>
              <a:gd name="adj" fmla="val 5333"/>
            </a:avLst>
          </a:prstGeom>
          <a:solidFill>
            <a:schemeClr val="bg2"/>
          </a:solidFill>
          <a:ln/>
        </p:spPr>
        <p:txBody>
          <a:bodyPr/>
          <a:lstStyle/>
          <a:p>
            <a:endParaRPr lang="en-US"/>
          </a:p>
        </p:txBody>
      </p:sp>
      <p:sp>
        <p:nvSpPr>
          <p:cNvPr id="30" name="Text 27"/>
          <p:cNvSpPr txBox="1"/>
          <p:nvPr/>
        </p:nvSpPr>
        <p:spPr>
          <a:xfrm>
            <a:off x="8308848" y="4937760"/>
            <a:ext cx="3148584" cy="123444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Next step</a:t>
            </a:r>
            <a:endParaRPr lang="en-US" sz="1400" dirty="0"/>
          </a:p>
          <a:p>
            <a:pPr marL="0" indent="0">
              <a:spcAft>
                <a:spcPts val="300"/>
              </a:spcAft>
              <a:buNone/>
            </a:pPr>
            <a:r>
              <a:rPr lang="en-US" sz="1400" dirty="0">
                <a:solidFill>
                  <a:schemeClr val="tx1"/>
                </a:solidFill>
              </a:rPr>
              <a:t>Kevin asks Jacqueline who to talk to, so we can learn eGRC's priorities.</a:t>
            </a:r>
            <a:endParaRPr lang="en-US" sz="1400" dirty="0"/>
          </a:p>
        </p:txBody>
      </p:sp>
      <p:sp>
        <p:nvSpPr>
          <p:cNvPr id="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lang="en-US" b="0"/>
              <a:t>24</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PC Landing and Post-Migration Organization">
    <p:spTree>
      <p:nvGrpSpPr>
        <p:cNvPr id="1" name=""/>
        <p:cNvGrpSpPr/>
        <p:nvPr/>
      </p:nvGrpSpPr>
      <p:grpSpPr>
        <a:xfrm>
          <a:off x="0" y="0"/>
          <a:ext cx="0" cy="0"/>
          <a:chOff x="0" y="0"/>
          <a:chExt cx="0" cy="0"/>
        </a:xfrm>
      </p:grpSpPr>
      <p:sp>
        <p:nvSpPr>
          <p:cNvPr id="101" name="Title"/>
          <p:cNvSpPr>
            <a:spLocks noGrp="1"/>
          </p:cNvSpPr>
          <p:nvPr>
            <p:ph type="title" idx="100" hasCustomPrompt="1"/>
          </p:nvPr>
        </p:nvSpPr>
        <p:spPr>
          <a:xfrm>
            <a:off x="548640" y="676656"/>
            <a:ext cx="11091672" cy="658368"/>
          </a:xfrm>
          <a:prstGeom prst="rect">
            <a:avLst/>
          </a:prstGeom>
          <a:noFill/>
          <a:ln/>
        </p:spPr>
        <p:txBody>
          <a:bodyPr wrap="square" lIns="0" tIns="0" rIns="0" bIns="0" rtlCol="0" anchor="t"/>
          <a:lstStyle/>
          <a:p>
            <a:pPr marL="0" indent="0" algn="l">
              <a:buNone/>
            </a:pPr>
            <a:r>
              <a:rPr lang="en-US" sz="2800" b="1" dirty="0">
                <a:solidFill>
                  <a:schemeClr val="tx1"/>
                </a:solidFill>
              </a:rPr>
              <a:t>DPC Landing and Post-Migration Organization</a:t>
            </a:r>
            <a:endParaRPr lang="en-US" sz="2800" dirty="0"/>
          </a:p>
        </p:txBody>
      </p:sp>
      <p:sp>
        <p:nvSpPr>
          <p:cNvPr id="102" name="Lead"/>
          <p:cNvSpPr txBox="1"/>
          <p:nvPr/>
        </p:nvSpPr>
        <p:spPr>
          <a:xfrm>
            <a:off x="548640" y="1335024"/>
            <a:ext cx="11091672" cy="301752"/>
          </a:xfrm>
          <a:prstGeom prst="rect">
            <a:avLst/>
          </a:prstGeom>
          <a:noFill/>
          <a:ln/>
        </p:spPr>
        <p:txBody>
          <a:bodyPr wrap="square" lIns="0" tIns="0" rIns="0" bIns="0" rtlCol="0" anchor="t"/>
          <a:lstStyle/>
          <a:p>
            <a:pPr marL="0" indent="0" algn="l">
              <a:buNone/>
            </a:pPr>
            <a:r>
              <a:rPr lang="en-US" sz="1400" dirty="0">
                <a:solidFill>
                  <a:schemeClr val="tx2"/>
                </a:solidFill>
              </a:rPr>
              <a:t>Data lands in DPC before the future-state organization is applied; folders are then assessed, sequenced, and organized into logical data categories.</a:t>
            </a:r>
            <a:endParaRPr lang="en-US" sz="1400" dirty="0"/>
          </a:p>
        </p:txBody>
      </p:sp>
      <p:sp>
        <p:nvSpPr>
          <p:cNvPr id="103" name="Eyebrow"/>
          <p:cNvSpPr txBox="1"/>
          <p:nvPr/>
        </p:nvSpPr>
        <p:spPr>
          <a:xfrm>
            <a:off x="548640" y="1737360"/>
            <a:ext cx="4572000" cy="237744"/>
          </a:xfrm>
          <a:prstGeom prst="rect">
            <a:avLst/>
          </a:prstGeom>
          <a:noFill/>
          <a:ln/>
        </p:spPr>
        <p:txBody>
          <a:bodyPr wrap="square" lIns="0" tIns="0" rIns="0" bIns="0" rtlCol="0" anchor="t"/>
          <a:lstStyle/>
          <a:p>
            <a:pPr marL="0" indent="0" algn="l">
              <a:buNone/>
            </a:pPr>
            <a:r>
              <a:rPr lang="en-US" sz="1100" b="1" kern="0" spc="100" dirty="0">
                <a:solidFill>
                  <a:schemeClr val="accent2"/>
                </a:solidFill>
              </a:rPr>
              <a:t>COMMON RISK DATA PLANE</a:t>
            </a:r>
            <a:endParaRPr lang="en-US" sz="1100" dirty="0"/>
          </a:p>
        </p:txBody>
      </p:sp>
      <p:sp>
        <p:nvSpPr>
          <p:cNvPr id="104" name="Target state"/>
          <p:cNvSpPr txBox="1"/>
          <p:nvPr/>
        </p:nvSpPr>
        <p:spPr>
          <a:xfrm>
            <a:off x="4782312" y="1737360"/>
            <a:ext cx="6858000" cy="237744"/>
          </a:xfrm>
          <a:prstGeom prst="rect">
            <a:avLst/>
          </a:prstGeom>
          <a:noFill/>
          <a:ln/>
        </p:spPr>
        <p:txBody>
          <a:bodyPr wrap="square" lIns="0" tIns="0" rIns="0" bIns="0" rtlCol="0" anchor="t"/>
          <a:lstStyle/>
          <a:p>
            <a:pPr marL="0" indent="0" algn="r">
              <a:buNone/>
            </a:pPr>
            <a:r>
              <a:rPr lang="en-US" sz="1100" b="1" dirty="0">
                <a:solidFill>
                  <a:schemeClr val="tx2"/>
                </a:solidFill>
              </a:rPr>
              <a:t xml:space="preserve">Target state: </a:t>
            </a:r>
            <a:r>
              <a:rPr lang="en-US" sz="1100" dirty="0">
                <a:solidFill>
                  <a:schemeClr val="tx2"/>
                </a:solidFill>
              </a:rPr>
              <a:t>common data plane · data-category driven · centralized sourcing</a:t>
            </a:r>
            <a:endParaRPr lang="en-US" sz="1100" dirty="0"/>
          </a:p>
        </p:txBody>
      </p:sp>
      <p:sp>
        <p:nvSpPr>
          <p:cNvPr id="105" name="Card"/>
          <p:cNvSpPr/>
          <p:nvPr/>
        </p:nvSpPr>
        <p:spPr>
          <a:xfrm>
            <a:off x="548640" y="2011680"/>
            <a:ext cx="2926080" cy="3172968"/>
          </a:xfrm>
          <a:prstGeom prst="roundRect">
            <a:avLst>
              <a:gd name="adj" fmla="val 2500"/>
            </a:avLst>
          </a:prstGeom>
          <a:solidFill>
            <a:schemeClr val="bg2"/>
          </a:solidFill>
          <a:ln/>
        </p:spPr>
        <p:txBody>
          <a:bodyPr/>
          <a:lstStyle/>
          <a:p>
            <a:endParaRPr lang="en-US"/>
          </a:p>
        </p:txBody>
      </p:sp>
      <p:sp>
        <p:nvSpPr>
          <p:cNvPr id="106" name="STEP 1 label"/>
          <p:cNvSpPr txBox="1"/>
          <p:nvPr/>
        </p:nvSpPr>
        <p:spPr>
          <a:xfrm>
            <a:off x="749808" y="2176272"/>
            <a:ext cx="2523744"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1</a:t>
            </a:r>
            <a:endParaRPr lang="en-US" sz="1100" dirty="0"/>
          </a:p>
        </p:txBody>
      </p:sp>
      <p:sp>
        <p:nvSpPr>
          <p:cNvPr id="107" name="STEP 1 heading"/>
          <p:cNvSpPr txBox="1"/>
          <p:nvPr/>
        </p:nvSpPr>
        <p:spPr>
          <a:xfrm>
            <a:off x="749808" y="2386584"/>
            <a:ext cx="2523744" cy="283464"/>
          </a:xfrm>
          <a:prstGeom prst="rect">
            <a:avLst/>
          </a:prstGeom>
          <a:noFill/>
          <a:ln/>
        </p:spPr>
        <p:txBody>
          <a:bodyPr wrap="square" lIns="0" tIns="0" rIns="0" bIns="0" rtlCol="0" anchor="t"/>
          <a:lstStyle/>
          <a:p>
            <a:pPr marL="0" indent="0" algn="l">
              <a:buNone/>
            </a:pPr>
            <a:r>
              <a:rPr lang="en-US" sz="1700" b="1" dirty="0">
                <a:solidFill>
                  <a:schemeClr val="tx1"/>
                </a:solidFill>
              </a:rPr>
              <a:t>Land in DPC</a:t>
            </a:r>
            <a:endParaRPr lang="en-US" sz="1700" dirty="0"/>
          </a:p>
        </p:txBody>
      </p:sp>
      <p:sp>
        <p:nvSpPr>
          <p:cNvPr id="108" name="STEP 1 description"/>
          <p:cNvSpPr txBox="1"/>
          <p:nvPr/>
        </p:nvSpPr>
        <p:spPr>
          <a:xfrm>
            <a:off x="749808" y="2706624"/>
            <a:ext cx="2523744" cy="640080"/>
          </a:xfrm>
          <a:prstGeom prst="rect">
            <a:avLst/>
          </a:prstGeom>
          <a:noFill/>
          <a:ln/>
        </p:spPr>
        <p:txBody>
          <a:bodyPr wrap="square" lIns="0" tIns="0" rIns="0" bIns="0" rtlCol="0" anchor="t"/>
          <a:lstStyle/>
          <a:p>
            <a:pPr marL="0" indent="0" algn="l">
              <a:buNone/>
            </a:pPr>
            <a:r>
              <a:rPr lang="en-US" sz="1300" dirty="0">
                <a:solidFill>
                  <a:schemeClr val="tx1"/>
                </a:solidFill>
              </a:rPr>
              <a:t>Data initially lands without the future-state category structure.</a:t>
            </a:r>
            <a:endParaRPr lang="en-US" sz="1300" dirty="0"/>
          </a:p>
        </p:txBody>
      </p:sp>
      <p:sp>
        <p:nvSpPr>
          <p:cNvPr id="109" name="Card"/>
          <p:cNvSpPr/>
          <p:nvPr/>
        </p:nvSpPr>
        <p:spPr>
          <a:xfrm>
            <a:off x="3840480" y="2011680"/>
            <a:ext cx="4507992" cy="3172968"/>
          </a:xfrm>
          <a:prstGeom prst="roundRect">
            <a:avLst>
              <a:gd name="adj" fmla="val 2305"/>
            </a:avLst>
          </a:prstGeom>
          <a:solidFill>
            <a:schemeClr val="bg2"/>
          </a:solidFill>
          <a:ln/>
        </p:spPr>
        <p:txBody>
          <a:bodyPr/>
          <a:lstStyle/>
          <a:p>
            <a:endParaRPr lang="en-US"/>
          </a:p>
        </p:txBody>
      </p:sp>
      <p:sp>
        <p:nvSpPr>
          <p:cNvPr id="110" name="STEP 2 label"/>
          <p:cNvSpPr txBox="1"/>
          <p:nvPr/>
        </p:nvSpPr>
        <p:spPr>
          <a:xfrm>
            <a:off x="4041648" y="2176272"/>
            <a:ext cx="4105656"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2</a:t>
            </a:r>
            <a:endParaRPr lang="en-US" sz="1100" dirty="0"/>
          </a:p>
        </p:txBody>
      </p:sp>
      <p:sp>
        <p:nvSpPr>
          <p:cNvPr id="111" name="STEP 2 heading"/>
          <p:cNvSpPr txBox="1"/>
          <p:nvPr/>
        </p:nvSpPr>
        <p:spPr>
          <a:xfrm>
            <a:off x="4041648" y="2386584"/>
            <a:ext cx="4105656" cy="283464"/>
          </a:xfrm>
          <a:prstGeom prst="rect">
            <a:avLst/>
          </a:prstGeom>
          <a:noFill/>
          <a:ln/>
        </p:spPr>
        <p:txBody>
          <a:bodyPr wrap="square" lIns="0" tIns="0" rIns="0" bIns="0" rtlCol="0" anchor="t"/>
          <a:lstStyle/>
          <a:p>
            <a:pPr marL="0" indent="0" algn="l">
              <a:buNone/>
            </a:pPr>
            <a:r>
              <a:rPr lang="en-US" sz="1700" b="1" dirty="0">
                <a:solidFill>
                  <a:schemeClr val="tx1"/>
                </a:solidFill>
              </a:rPr>
              <a:t>Assess and sequence</a:t>
            </a:r>
            <a:endParaRPr lang="en-US" sz="1700" dirty="0"/>
          </a:p>
        </p:txBody>
      </p:sp>
      <p:sp>
        <p:nvSpPr>
          <p:cNvPr id="112" name="STEP 2 description"/>
          <p:cNvSpPr txBox="1"/>
          <p:nvPr/>
        </p:nvSpPr>
        <p:spPr>
          <a:xfrm>
            <a:off x="4041648" y="2706624"/>
            <a:ext cx="4105656" cy="640080"/>
          </a:xfrm>
          <a:prstGeom prst="rect">
            <a:avLst/>
          </a:prstGeom>
          <a:noFill/>
          <a:ln/>
        </p:spPr>
        <p:txBody>
          <a:bodyPr wrap="square" lIns="0" tIns="0" rIns="0" bIns="0" rtlCol="0" anchor="t"/>
          <a:lstStyle/>
          <a:p>
            <a:pPr marL="0" indent="0" algn="l">
              <a:buNone/>
            </a:pPr>
            <a:r>
              <a:rPr lang="en-US" sz="1300" dirty="0">
                <a:solidFill>
                  <a:schemeClr val="tx1"/>
                </a:solidFill>
              </a:rPr>
              <a:t>Inventory current folders, identify dependencies, and determine the order in which each folder can be addressed.</a:t>
            </a:r>
            <a:endParaRPr lang="en-US" sz="1300" dirty="0"/>
          </a:p>
        </p:txBody>
      </p:sp>
      <p:sp>
        <p:nvSpPr>
          <p:cNvPr id="113" name="Card"/>
          <p:cNvSpPr/>
          <p:nvPr/>
        </p:nvSpPr>
        <p:spPr>
          <a:xfrm>
            <a:off x="8714232" y="2011680"/>
            <a:ext cx="2926080" cy="3172968"/>
          </a:xfrm>
          <a:prstGeom prst="roundRect">
            <a:avLst>
              <a:gd name="adj" fmla="val 2500"/>
            </a:avLst>
          </a:prstGeom>
          <a:solidFill>
            <a:schemeClr val="accent2">
              <a:alpha val="7000"/>
            </a:schemeClr>
          </a:solidFill>
          <a:ln w="12700">
            <a:solidFill>
              <a:schemeClr val="accent2"/>
            </a:solidFill>
            <a:prstDash val="solid"/>
          </a:ln>
        </p:spPr>
        <p:txBody>
          <a:bodyPr/>
          <a:lstStyle/>
          <a:p>
            <a:endParaRPr lang="en-US"/>
          </a:p>
        </p:txBody>
      </p:sp>
      <p:sp>
        <p:nvSpPr>
          <p:cNvPr id="114" name="STEP 3 label"/>
          <p:cNvSpPr txBox="1"/>
          <p:nvPr/>
        </p:nvSpPr>
        <p:spPr>
          <a:xfrm>
            <a:off x="8915400" y="2176272"/>
            <a:ext cx="2523744" cy="201168"/>
          </a:xfrm>
          <a:prstGeom prst="rect">
            <a:avLst/>
          </a:prstGeom>
          <a:noFill/>
          <a:ln/>
        </p:spPr>
        <p:txBody>
          <a:bodyPr wrap="square" lIns="0" tIns="0" rIns="0" bIns="0" rtlCol="0" anchor="t"/>
          <a:lstStyle/>
          <a:p>
            <a:pPr marL="0" indent="0" algn="l">
              <a:buNone/>
            </a:pPr>
            <a:r>
              <a:rPr lang="en-US" sz="1100" b="1" kern="0" spc="100" dirty="0">
                <a:solidFill>
                  <a:schemeClr val="accent2"/>
                </a:solidFill>
              </a:rPr>
              <a:t>STEP 3</a:t>
            </a:r>
            <a:endParaRPr lang="en-US" sz="1100" dirty="0"/>
          </a:p>
        </p:txBody>
      </p:sp>
      <p:sp>
        <p:nvSpPr>
          <p:cNvPr id="115" name="STEP 3 heading"/>
          <p:cNvSpPr txBox="1"/>
          <p:nvPr/>
        </p:nvSpPr>
        <p:spPr>
          <a:xfrm>
            <a:off x="8915400" y="2386584"/>
            <a:ext cx="2523744" cy="283464"/>
          </a:xfrm>
          <a:prstGeom prst="rect">
            <a:avLst/>
          </a:prstGeom>
          <a:noFill/>
          <a:ln/>
        </p:spPr>
        <p:txBody>
          <a:bodyPr wrap="square" lIns="0" tIns="0" rIns="0" bIns="0" rtlCol="0" anchor="t"/>
          <a:lstStyle/>
          <a:p>
            <a:pPr marL="0" indent="0" algn="l">
              <a:buNone/>
            </a:pPr>
            <a:r>
              <a:rPr lang="en-US" sz="1700" b="1" dirty="0">
                <a:solidFill>
                  <a:schemeClr val="tx1"/>
                </a:solidFill>
              </a:rPr>
              <a:t>Organize post-migration</a:t>
            </a:r>
            <a:endParaRPr lang="en-US" sz="1700" dirty="0"/>
          </a:p>
        </p:txBody>
      </p:sp>
      <p:sp>
        <p:nvSpPr>
          <p:cNvPr id="116" name="STEP 3 description"/>
          <p:cNvSpPr txBox="1"/>
          <p:nvPr/>
        </p:nvSpPr>
        <p:spPr>
          <a:xfrm>
            <a:off x="8915400" y="2706624"/>
            <a:ext cx="2523744" cy="640080"/>
          </a:xfrm>
          <a:prstGeom prst="rect">
            <a:avLst/>
          </a:prstGeom>
          <a:noFill/>
          <a:ln/>
        </p:spPr>
        <p:txBody>
          <a:bodyPr wrap="square" lIns="0" tIns="0" rIns="0" bIns="0" rtlCol="0" anchor="t"/>
          <a:lstStyle/>
          <a:p>
            <a:pPr marL="0" indent="0" algn="l">
              <a:buNone/>
            </a:pPr>
            <a:r>
              <a:rPr lang="en-US" sz="1300" dirty="0">
                <a:solidFill>
                  <a:schemeClr val="tx1"/>
                </a:solidFill>
              </a:rPr>
              <a:t>Apply the agreed logical category model without disrupting required dependencies.</a:t>
            </a:r>
            <a:endParaRPr lang="en-US" sz="1300" dirty="0"/>
          </a:p>
        </p:txBody>
      </p:sp>
      <p:sp>
        <p:nvSpPr>
          <p:cNvPr id="117" name="Arrow"/>
          <p:cNvSpPr/>
          <p:nvPr/>
        </p:nvSpPr>
        <p:spPr>
          <a:xfrm>
            <a:off x="3543300" y="3831336"/>
            <a:ext cx="228600" cy="256032"/>
          </a:xfrm>
          <a:prstGeom prst="rightArrow">
            <a:avLst/>
          </a:prstGeom>
          <a:solidFill>
            <a:schemeClr val="accent2"/>
          </a:solidFill>
          <a:ln/>
        </p:spPr>
        <p:txBody>
          <a:bodyPr/>
          <a:lstStyle/>
          <a:p>
            <a:endParaRPr lang="en-US"/>
          </a:p>
        </p:txBody>
      </p:sp>
      <p:sp>
        <p:nvSpPr>
          <p:cNvPr id="118" name="Arrow"/>
          <p:cNvSpPr/>
          <p:nvPr/>
        </p:nvSpPr>
        <p:spPr>
          <a:xfrm>
            <a:off x="8417052" y="3831336"/>
            <a:ext cx="228600" cy="256032"/>
          </a:xfrm>
          <a:prstGeom prst="rightArrow">
            <a:avLst/>
          </a:prstGeom>
          <a:solidFill>
            <a:schemeClr val="accent2"/>
          </a:solidFill>
          <a:ln/>
        </p:spPr>
        <p:txBody>
          <a:bodyPr/>
          <a:lstStyle/>
          <a:p>
            <a:endParaRPr lang="en-US"/>
          </a:p>
        </p:txBody>
      </p:sp>
      <p:pic>
        <p:nvPicPr>
          <p:cNvPr id="119" name="Migrated folder" descr="Migrated folder"/>
          <p:cNvPicPr>
            <a:picLocks noChangeAspect="1"/>
          </p:cNvPicPr>
          <p:nvPr/>
        </p:nvPicPr>
        <p:blipFill>
          <a:blip r:embed="rId10"/>
          <a:stretch>
            <a:fillRect/>
          </a:stretch>
        </p:blipFill>
        <p:spPr>
          <a:xfrm>
            <a:off x="1243584" y="3579876"/>
            <a:ext cx="347472" cy="347472"/>
          </a:xfrm>
          <a:prstGeom prst="rect">
            <a:avLst/>
          </a:prstGeom>
        </p:spPr>
      </p:pic>
      <p:pic>
        <p:nvPicPr>
          <p:cNvPr id="120" name="Migrated folder" descr="Migrated folder"/>
          <p:cNvPicPr>
            <a:picLocks noChangeAspect="1"/>
          </p:cNvPicPr>
          <p:nvPr/>
        </p:nvPicPr>
        <p:blipFill>
          <a:blip r:embed="rId11"/>
          <a:stretch>
            <a:fillRect/>
          </a:stretch>
        </p:blipFill>
        <p:spPr>
          <a:xfrm>
            <a:off x="1837944" y="3579876"/>
            <a:ext cx="347472" cy="347472"/>
          </a:xfrm>
          <a:prstGeom prst="rect">
            <a:avLst/>
          </a:prstGeom>
        </p:spPr>
      </p:pic>
      <p:pic>
        <p:nvPicPr>
          <p:cNvPr id="121" name="Migrated folder" descr="Migrated folder"/>
          <p:cNvPicPr>
            <a:picLocks noChangeAspect="1"/>
          </p:cNvPicPr>
          <p:nvPr/>
        </p:nvPicPr>
        <p:blipFill>
          <a:blip r:embed="rId12"/>
          <a:stretch>
            <a:fillRect/>
          </a:stretch>
        </p:blipFill>
        <p:spPr>
          <a:xfrm>
            <a:off x="2432304" y="3579876"/>
            <a:ext cx="347472" cy="347472"/>
          </a:xfrm>
          <a:prstGeom prst="rect">
            <a:avLst/>
          </a:prstGeom>
        </p:spPr>
      </p:pic>
      <p:pic>
        <p:nvPicPr>
          <p:cNvPr id="122" name="Migrated folder" descr="Migrated folder"/>
          <p:cNvPicPr>
            <a:picLocks noChangeAspect="1"/>
          </p:cNvPicPr>
          <p:nvPr/>
        </p:nvPicPr>
        <p:blipFill>
          <a:blip r:embed="rId13"/>
          <a:stretch>
            <a:fillRect/>
          </a:stretch>
        </p:blipFill>
        <p:spPr>
          <a:xfrm>
            <a:off x="1243584" y="3991356"/>
            <a:ext cx="347472" cy="347472"/>
          </a:xfrm>
          <a:prstGeom prst="rect">
            <a:avLst/>
          </a:prstGeom>
        </p:spPr>
      </p:pic>
      <p:pic>
        <p:nvPicPr>
          <p:cNvPr id="123" name="Migrated folder" descr="Migrated folder"/>
          <p:cNvPicPr>
            <a:picLocks noChangeAspect="1"/>
          </p:cNvPicPr>
          <p:nvPr/>
        </p:nvPicPr>
        <p:blipFill>
          <a:blip r:embed="rId14"/>
          <a:stretch>
            <a:fillRect/>
          </a:stretch>
        </p:blipFill>
        <p:spPr>
          <a:xfrm>
            <a:off x="1837944" y="3991356"/>
            <a:ext cx="347472" cy="347472"/>
          </a:xfrm>
          <a:prstGeom prst="rect">
            <a:avLst/>
          </a:prstGeom>
        </p:spPr>
      </p:pic>
      <p:pic>
        <p:nvPicPr>
          <p:cNvPr id="124" name="Migrated folder" descr="Migrated folder"/>
          <p:cNvPicPr>
            <a:picLocks noChangeAspect="1"/>
          </p:cNvPicPr>
          <p:nvPr/>
        </p:nvPicPr>
        <p:blipFill>
          <a:blip r:embed="rId15"/>
          <a:stretch>
            <a:fillRect/>
          </a:stretch>
        </p:blipFill>
        <p:spPr>
          <a:xfrm>
            <a:off x="2432304" y="3991356"/>
            <a:ext cx="347472" cy="347472"/>
          </a:xfrm>
          <a:prstGeom prst="rect">
            <a:avLst/>
          </a:prstGeom>
        </p:spPr>
      </p:pic>
      <p:sp>
        <p:nvSpPr>
          <p:cNvPr id="125" name="Step 1 caption"/>
          <p:cNvSpPr txBox="1"/>
          <p:nvPr/>
        </p:nvSpPr>
        <p:spPr>
          <a:xfrm>
            <a:off x="749808" y="4448556"/>
            <a:ext cx="2523744" cy="548640"/>
          </a:xfrm>
          <a:prstGeom prst="rect">
            <a:avLst/>
          </a:prstGeom>
          <a:noFill/>
          <a:ln/>
        </p:spPr>
        <p:txBody>
          <a:bodyPr wrap="square" lIns="0" tIns="0" rIns="0" bIns="0" rtlCol="0" anchor="t"/>
          <a:lstStyle/>
          <a:p>
            <a:pPr marL="0" indent="0" algn="ctr">
              <a:buNone/>
            </a:pPr>
            <a:r>
              <a:rPr lang="en-US" sz="1200" b="1" dirty="0">
                <a:solidFill>
                  <a:schemeClr val="tx1"/>
                </a:solidFill>
              </a:rPr>
              <a:t>Source-aligned migrated folders</a:t>
            </a:r>
            <a:endParaRPr lang="en-US" sz="1200" dirty="0"/>
          </a:p>
          <a:p>
            <a:pPr marL="0" indent="0" algn="ctr">
              <a:spcBef>
                <a:spcPts val="200"/>
              </a:spcBef>
              <a:buNone/>
            </a:pPr>
            <a:r>
              <a:rPr lang="en-US" sz="1100" dirty="0">
                <a:solidFill>
                  <a:schemeClr val="tx2"/>
                </a:solidFill>
              </a:rPr>
              <a:t>Multiple current folders / data groupings</a:t>
            </a:r>
            <a:endParaRPr lang="en-US" sz="1100" dirty="0"/>
          </a:p>
        </p:txBody>
      </p:sp>
      <p:sp>
        <p:nvSpPr>
          <p:cNvPr id="126" name="Risk-owned data circle"/>
          <p:cNvSpPr/>
          <p:nvPr/>
        </p:nvSpPr>
        <p:spPr>
          <a:xfrm>
            <a:off x="4257675" y="3662172"/>
            <a:ext cx="594360" cy="594360"/>
          </a:xfrm>
          <a:prstGeom prst="ellipse">
            <a:avLst/>
          </a:prstGeom>
          <a:solidFill>
            <a:schemeClr val="bg1"/>
          </a:solidFill>
          <a:ln w="28575">
            <a:solidFill>
              <a:schemeClr val="accent2"/>
            </a:solidFill>
            <a:prstDash val="solid"/>
          </a:ln>
        </p:spPr>
        <p:txBody>
          <a:bodyPr/>
          <a:lstStyle/>
          <a:p>
            <a:endParaRPr lang="en-US"/>
          </a:p>
        </p:txBody>
      </p:sp>
      <p:pic>
        <p:nvPicPr>
          <p:cNvPr id="127" name="Risk-owned data folder" descr="Risk-owned data folder"/>
          <p:cNvPicPr>
            <a:picLocks noChangeAspect="1"/>
          </p:cNvPicPr>
          <p:nvPr/>
        </p:nvPicPr>
        <p:blipFill>
          <a:blip r:embed="rId16"/>
          <a:stretch>
            <a:fillRect/>
          </a:stretch>
        </p:blipFill>
        <p:spPr>
          <a:xfrm>
            <a:off x="4390263" y="3794760"/>
            <a:ext cx="329184" cy="329184"/>
          </a:xfrm>
          <a:prstGeom prst="rect">
            <a:avLst/>
          </a:prstGeom>
        </p:spPr>
      </p:pic>
      <p:sp>
        <p:nvSpPr>
          <p:cNvPr id="128" name="Sequence 1"/>
          <p:cNvSpPr/>
          <p:nvPr/>
        </p:nvSpPr>
        <p:spPr>
          <a:xfrm>
            <a:off x="4202811" y="3607308"/>
            <a:ext cx="228600" cy="228600"/>
          </a:xfrm>
          <a:prstGeom prst="ellipse">
            <a:avLst/>
          </a:prstGeom>
          <a:solidFill>
            <a:schemeClr val="accent2"/>
          </a:solidFill>
          <a:ln/>
        </p:spPr>
        <p:txBody>
          <a:bodyPr wrap="square" lIns="0" tIns="0" rIns="0" bIns="0" rtlCol="0" anchor="ctr"/>
          <a:lstStyle/>
          <a:p>
            <a:pPr marL="0" indent="0" algn="ctr">
              <a:buNone/>
            </a:pPr>
            <a:r>
              <a:rPr lang="en-US" sz="1000" b="1" dirty="0">
                <a:solidFill>
                  <a:schemeClr val="bg1"/>
                </a:solidFill>
              </a:rPr>
              <a:t>1</a:t>
            </a:r>
            <a:endParaRPr lang="en-US" sz="1000" dirty="0"/>
          </a:p>
        </p:txBody>
      </p:sp>
      <p:sp>
        <p:nvSpPr>
          <p:cNvPr id="129" name="Risk-owned data label"/>
          <p:cNvSpPr txBox="1"/>
          <p:nvPr/>
        </p:nvSpPr>
        <p:spPr>
          <a:xfrm>
            <a:off x="4041648"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Risk-owned data</a:t>
            </a:r>
            <a:endParaRPr lang="en-US" sz="1200" dirty="0"/>
          </a:p>
          <a:p>
            <a:pPr marL="0" indent="0" algn="ctr">
              <a:spcBef>
                <a:spcPts val="100"/>
              </a:spcBef>
              <a:buNone/>
            </a:pPr>
            <a:r>
              <a:rPr lang="en-US" sz="1100" dirty="0">
                <a:solidFill>
                  <a:schemeClr val="tx2"/>
                </a:solidFill>
              </a:rPr>
              <a:t>e.g., issues, RCSA</a:t>
            </a:r>
            <a:endParaRPr lang="en-US" sz="1100" dirty="0"/>
          </a:p>
          <a:p>
            <a:pPr marL="0" indent="0" algn="ctr">
              <a:spcBef>
                <a:spcPts val="100"/>
              </a:spcBef>
              <a:buNone/>
            </a:pPr>
            <a:r>
              <a:rPr lang="en-US" sz="1100" b="1" dirty="0">
                <a:solidFill>
                  <a:schemeClr val="accent2"/>
                </a:solidFill>
              </a:rPr>
              <a:t>Priority 1</a:t>
            </a:r>
            <a:endParaRPr lang="en-US" sz="1100" dirty="0"/>
          </a:p>
        </p:txBody>
      </p:sp>
      <p:sp>
        <p:nvSpPr>
          <p:cNvPr id="130" name="Priority 2 circle"/>
          <p:cNvSpPr/>
          <p:nvPr/>
        </p:nvSpPr>
        <p:spPr>
          <a:xfrm>
            <a:off x="5284089" y="3662172"/>
            <a:ext cx="594360" cy="594360"/>
          </a:xfrm>
          <a:prstGeom prst="ellipse">
            <a:avLst/>
          </a:prstGeom>
          <a:solidFill>
            <a:schemeClr val="bg1"/>
          </a:solidFill>
          <a:ln w="12700">
            <a:solidFill>
              <a:schemeClr val="accent2"/>
            </a:solidFill>
            <a:prstDash val="solid"/>
          </a:ln>
        </p:spPr>
        <p:txBody>
          <a:bodyPr/>
          <a:lstStyle/>
          <a:p>
            <a:endParaRPr lang="en-US"/>
          </a:p>
        </p:txBody>
      </p:sp>
      <p:pic>
        <p:nvPicPr>
          <p:cNvPr id="131" name="Priority 2 folder" descr="Priority 2 folder"/>
          <p:cNvPicPr>
            <a:picLocks noChangeAspect="1"/>
          </p:cNvPicPr>
          <p:nvPr/>
        </p:nvPicPr>
        <p:blipFill>
          <a:blip r:embed="rId17"/>
          <a:stretch>
            <a:fillRect/>
          </a:stretch>
        </p:blipFill>
        <p:spPr>
          <a:xfrm>
            <a:off x="5416677" y="3794760"/>
            <a:ext cx="329184" cy="329184"/>
          </a:xfrm>
          <a:prstGeom prst="rect">
            <a:avLst/>
          </a:prstGeom>
        </p:spPr>
      </p:pic>
      <p:sp>
        <p:nvSpPr>
          <p:cNvPr id="132" name="Sequence 2"/>
          <p:cNvSpPr/>
          <p:nvPr/>
        </p:nvSpPr>
        <p:spPr>
          <a:xfrm>
            <a:off x="5229225" y="3607308"/>
            <a:ext cx="228600" cy="228600"/>
          </a:xfrm>
          <a:prstGeom prst="ellipse">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000" b="1" dirty="0">
                <a:solidFill>
                  <a:schemeClr val="accent2"/>
                </a:solidFill>
              </a:rPr>
              <a:t>2</a:t>
            </a:r>
            <a:endParaRPr lang="en-US" sz="1000" dirty="0"/>
          </a:p>
        </p:txBody>
      </p:sp>
      <p:sp>
        <p:nvSpPr>
          <p:cNvPr id="133" name="Priority 2 label"/>
          <p:cNvSpPr txBox="1"/>
          <p:nvPr/>
        </p:nvSpPr>
        <p:spPr>
          <a:xfrm>
            <a:off x="5068062"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Priority 2</a:t>
            </a:r>
            <a:endParaRPr lang="en-US" sz="1200" dirty="0"/>
          </a:p>
          <a:p>
            <a:pPr marL="0" indent="0" algn="ctr">
              <a:spcBef>
                <a:spcPts val="100"/>
              </a:spcBef>
              <a:buNone/>
            </a:pPr>
            <a:r>
              <a:rPr lang="en-US" sz="1100" dirty="0">
                <a:solidFill>
                  <a:schemeClr val="tx2"/>
                </a:solidFill>
              </a:rPr>
              <a:t>Name TBD</a:t>
            </a:r>
            <a:endParaRPr lang="en-US" sz="1100" dirty="0"/>
          </a:p>
        </p:txBody>
      </p:sp>
      <p:sp>
        <p:nvSpPr>
          <p:cNvPr id="134" name="Dependency constrained circle"/>
          <p:cNvSpPr/>
          <p:nvPr/>
        </p:nvSpPr>
        <p:spPr>
          <a:xfrm>
            <a:off x="6310503" y="3662172"/>
            <a:ext cx="594360" cy="594360"/>
          </a:xfrm>
          <a:prstGeom prst="ellipse">
            <a:avLst/>
          </a:prstGeom>
          <a:solidFill>
            <a:schemeClr val="bg1"/>
          </a:solidFill>
          <a:ln w="12700">
            <a:solidFill>
              <a:srgbClr val="C9D0D8"/>
            </a:solidFill>
            <a:prstDash val="dash"/>
          </a:ln>
        </p:spPr>
        <p:txBody>
          <a:bodyPr/>
          <a:lstStyle/>
          <a:p>
            <a:endParaRPr lang="en-US"/>
          </a:p>
        </p:txBody>
      </p:sp>
      <p:pic>
        <p:nvPicPr>
          <p:cNvPr id="135" name="Dependency constrained folder" descr="Dependency constrained folder"/>
          <p:cNvPicPr>
            <a:picLocks noChangeAspect="1"/>
          </p:cNvPicPr>
          <p:nvPr/>
        </p:nvPicPr>
        <p:blipFill>
          <a:blip r:embed="rId18"/>
          <a:stretch>
            <a:fillRect/>
          </a:stretch>
        </p:blipFill>
        <p:spPr>
          <a:xfrm>
            <a:off x="6443091" y="3794760"/>
            <a:ext cx="329184" cy="329184"/>
          </a:xfrm>
          <a:prstGeom prst="rect">
            <a:avLst/>
          </a:prstGeom>
        </p:spPr>
      </p:pic>
      <p:sp>
        <p:nvSpPr>
          <p:cNvPr id="136" name="Dependency lock"/>
          <p:cNvSpPr/>
          <p:nvPr/>
        </p:nvSpPr>
        <p:spPr>
          <a:xfrm>
            <a:off x="6255639" y="3607308"/>
            <a:ext cx="228600" cy="228600"/>
          </a:xfrm>
          <a:prstGeom prst="ellipse">
            <a:avLst/>
          </a:prstGeom>
          <a:solidFill>
            <a:schemeClr val="tx2"/>
          </a:solidFill>
          <a:ln/>
        </p:spPr>
        <p:txBody>
          <a:bodyPr/>
          <a:lstStyle/>
          <a:p>
            <a:endParaRPr lang="en-US"/>
          </a:p>
        </p:txBody>
      </p:sp>
      <p:pic>
        <p:nvPicPr>
          <p:cNvPr id="137" name="Lock" descr="Lock"/>
          <p:cNvPicPr>
            <a:picLocks noChangeAspect="1"/>
          </p:cNvPicPr>
          <p:nvPr/>
        </p:nvPicPr>
        <p:blipFill>
          <a:blip r:embed="rId19"/>
          <a:stretch>
            <a:fillRect/>
          </a:stretch>
        </p:blipFill>
        <p:spPr>
          <a:xfrm>
            <a:off x="6310503" y="3662172"/>
            <a:ext cx="118872" cy="118872"/>
          </a:xfrm>
          <a:prstGeom prst="rect">
            <a:avLst/>
          </a:prstGeom>
        </p:spPr>
      </p:pic>
      <p:sp>
        <p:nvSpPr>
          <p:cNvPr id="138" name="Dependency constrained label"/>
          <p:cNvSpPr txBox="1"/>
          <p:nvPr/>
        </p:nvSpPr>
        <p:spPr>
          <a:xfrm>
            <a:off x="6094476"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Dependency constrained</a:t>
            </a:r>
            <a:endParaRPr lang="en-US" sz="1200" dirty="0"/>
          </a:p>
        </p:txBody>
      </p:sp>
      <p:sp>
        <p:nvSpPr>
          <p:cNvPr id="139" name="Remaining folders circle"/>
          <p:cNvSpPr/>
          <p:nvPr/>
        </p:nvSpPr>
        <p:spPr>
          <a:xfrm>
            <a:off x="7336917" y="3662172"/>
            <a:ext cx="594360" cy="594360"/>
          </a:xfrm>
          <a:prstGeom prst="ellipse">
            <a:avLst/>
          </a:prstGeom>
          <a:solidFill>
            <a:schemeClr val="bg1"/>
          </a:solidFill>
          <a:ln w="12700">
            <a:solidFill>
              <a:srgbClr val="C9D0D8"/>
            </a:solidFill>
            <a:prstDash val="dash"/>
          </a:ln>
        </p:spPr>
        <p:txBody>
          <a:bodyPr/>
          <a:lstStyle/>
          <a:p>
            <a:endParaRPr lang="en-US"/>
          </a:p>
        </p:txBody>
      </p:sp>
      <p:pic>
        <p:nvPicPr>
          <p:cNvPr id="140" name="Remaining folders folder" descr="Remaining folders folder"/>
          <p:cNvPicPr>
            <a:picLocks noChangeAspect="1"/>
          </p:cNvPicPr>
          <p:nvPr/>
        </p:nvPicPr>
        <p:blipFill>
          <a:blip r:embed="rId20"/>
          <a:stretch>
            <a:fillRect/>
          </a:stretch>
        </p:blipFill>
        <p:spPr>
          <a:xfrm>
            <a:off x="7469505" y="3794760"/>
            <a:ext cx="329184" cy="329184"/>
          </a:xfrm>
          <a:prstGeom prst="rect">
            <a:avLst/>
          </a:prstGeom>
        </p:spPr>
      </p:pic>
      <p:sp>
        <p:nvSpPr>
          <p:cNvPr id="141" name="Remaining folders label"/>
          <p:cNvSpPr txBox="1"/>
          <p:nvPr/>
        </p:nvSpPr>
        <p:spPr>
          <a:xfrm>
            <a:off x="7120890" y="4329684"/>
            <a:ext cx="1026414" cy="640080"/>
          </a:xfrm>
          <a:prstGeom prst="rect">
            <a:avLst/>
          </a:prstGeom>
          <a:noFill/>
          <a:ln/>
        </p:spPr>
        <p:txBody>
          <a:bodyPr wrap="square" lIns="0" tIns="0" rIns="0" bIns="0" rtlCol="0" anchor="t"/>
          <a:lstStyle/>
          <a:p>
            <a:pPr marL="0" indent="0" algn="ctr">
              <a:buNone/>
            </a:pPr>
            <a:r>
              <a:rPr lang="en-US" sz="1200" b="1" dirty="0">
                <a:solidFill>
                  <a:schemeClr val="tx1"/>
                </a:solidFill>
              </a:rPr>
              <a:t>Remaining folders</a:t>
            </a:r>
            <a:endParaRPr lang="en-US" sz="1200" dirty="0"/>
          </a:p>
        </p:txBody>
      </p:sp>
      <p:sp>
        <p:nvSpPr>
          <p:cNvPr id="142" name="Organized folder circle"/>
          <p:cNvSpPr/>
          <p:nvPr/>
        </p:nvSpPr>
        <p:spPr>
          <a:xfrm>
            <a:off x="8915400" y="3662172"/>
            <a:ext cx="594360" cy="594360"/>
          </a:xfrm>
          <a:prstGeom prst="ellipse">
            <a:avLst/>
          </a:prstGeom>
          <a:solidFill>
            <a:schemeClr val="bg1"/>
          </a:solidFill>
          <a:ln w="28575">
            <a:solidFill>
              <a:schemeClr val="accent2"/>
            </a:solidFill>
            <a:prstDash val="solid"/>
          </a:ln>
        </p:spPr>
        <p:txBody>
          <a:bodyPr/>
          <a:lstStyle/>
          <a:p>
            <a:endParaRPr lang="en-US"/>
          </a:p>
        </p:txBody>
      </p:sp>
      <p:pic>
        <p:nvPicPr>
          <p:cNvPr id="143" name="Organized folder" descr="Organized folder"/>
          <p:cNvPicPr>
            <a:picLocks noChangeAspect="1"/>
          </p:cNvPicPr>
          <p:nvPr/>
        </p:nvPicPr>
        <p:blipFill>
          <a:blip r:embed="rId21"/>
          <a:stretch>
            <a:fillRect/>
          </a:stretch>
        </p:blipFill>
        <p:spPr>
          <a:xfrm>
            <a:off x="9047988" y="3794760"/>
            <a:ext cx="329184" cy="329184"/>
          </a:xfrm>
          <a:prstGeom prst="rect">
            <a:avLst/>
          </a:prstGeom>
        </p:spPr>
      </p:pic>
      <p:sp>
        <p:nvSpPr>
          <p:cNvPr id="144" name="Arrow"/>
          <p:cNvSpPr/>
          <p:nvPr/>
        </p:nvSpPr>
        <p:spPr>
          <a:xfrm>
            <a:off x="9592056" y="3858768"/>
            <a:ext cx="164592" cy="201168"/>
          </a:xfrm>
          <a:prstGeom prst="rightArrow">
            <a:avLst/>
          </a:prstGeom>
          <a:solidFill>
            <a:schemeClr val="accent2"/>
          </a:solidFill>
          <a:ln/>
        </p:spPr>
        <p:txBody>
          <a:bodyPr/>
          <a:lstStyle/>
          <a:p>
            <a:endParaRPr lang="en-US"/>
          </a:p>
        </p:txBody>
      </p:sp>
      <p:sp>
        <p:nvSpPr>
          <p:cNvPr id="145" name="Data category A"/>
          <p:cNvSpPr txBox="1"/>
          <p:nvPr/>
        </p:nvSpPr>
        <p:spPr>
          <a:xfrm>
            <a:off x="9838944" y="3483864"/>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A</a:t>
            </a:r>
            <a:endParaRPr lang="en-US" sz="1100" dirty="0"/>
          </a:p>
        </p:txBody>
      </p:sp>
      <p:sp>
        <p:nvSpPr>
          <p:cNvPr id="146" name="Data category B"/>
          <p:cNvSpPr txBox="1"/>
          <p:nvPr/>
        </p:nvSpPr>
        <p:spPr>
          <a:xfrm>
            <a:off x="9838944" y="3822192"/>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B</a:t>
            </a:r>
            <a:endParaRPr lang="en-US" sz="1100" dirty="0"/>
          </a:p>
        </p:txBody>
      </p:sp>
      <p:sp>
        <p:nvSpPr>
          <p:cNvPr id="147" name="Data category C"/>
          <p:cNvSpPr txBox="1"/>
          <p:nvPr/>
        </p:nvSpPr>
        <p:spPr>
          <a:xfrm>
            <a:off x="9838944" y="4160520"/>
            <a:ext cx="1600200" cy="274320"/>
          </a:xfrm>
          <a:prstGeom prst="roundRect">
            <a:avLst>
              <a:gd name="adj" fmla="val 16667"/>
            </a:avLst>
          </a:prstGeom>
          <a:solidFill>
            <a:schemeClr val="bg1"/>
          </a:solidFill>
          <a:ln w="12700">
            <a:solidFill>
              <a:schemeClr val="accent2"/>
            </a:solidFill>
            <a:prstDash val="solid"/>
          </a:ln>
        </p:spPr>
        <p:txBody>
          <a:bodyPr wrap="square" lIns="0" tIns="0" rIns="0" bIns="0" rtlCol="0" anchor="ctr"/>
          <a:lstStyle/>
          <a:p>
            <a:pPr marL="0" indent="0" algn="ctr">
              <a:buNone/>
            </a:pPr>
            <a:r>
              <a:rPr lang="en-US" sz="1100" b="1" dirty="0">
                <a:solidFill>
                  <a:schemeClr val="accent2"/>
                </a:solidFill>
              </a:rPr>
              <a:t>Data category C</a:t>
            </a:r>
            <a:endParaRPr lang="en-US" sz="1100" dirty="0"/>
          </a:p>
        </p:txBody>
      </p:sp>
      <p:sp>
        <p:nvSpPr>
          <p:cNvPr id="148" name="Legend"/>
          <p:cNvSpPr txBox="1"/>
          <p:nvPr/>
        </p:nvSpPr>
        <p:spPr>
          <a:xfrm>
            <a:off x="548640" y="5266944"/>
            <a:ext cx="11091672" cy="201168"/>
          </a:xfrm>
          <a:prstGeom prst="rect">
            <a:avLst/>
          </a:prstGeom>
          <a:noFill/>
          <a:ln/>
        </p:spPr>
        <p:txBody>
          <a:bodyPr wrap="square" lIns="0" tIns="0" rIns="0" bIns="0" rtlCol="0" anchor="t"/>
          <a:lstStyle/>
          <a:p>
            <a:pPr marL="0" indent="0" algn="l">
              <a:buNone/>
            </a:pPr>
            <a:r>
              <a:rPr lang="en-US" sz="1000" dirty="0">
                <a:solidFill>
                  <a:schemeClr val="tx2"/>
                </a:solidFill>
              </a:rPr>
              <a:t>Folder = current grouping  ·  Numbered circle = sequence  ·  Lock = dependency</a:t>
            </a:r>
            <a:endParaRPr lang="en-US" sz="1000" dirty="0"/>
          </a:p>
        </p:txBody>
      </p:sp>
      <p:sp>
        <p:nvSpPr>
          <p:cNvPr id="149" name="Callout"/>
          <p:cNvSpPr/>
          <p:nvPr/>
        </p:nvSpPr>
        <p:spPr>
          <a:xfrm>
            <a:off x="548640" y="5541264"/>
            <a:ext cx="11091672" cy="548640"/>
          </a:xfrm>
          <a:prstGeom prst="roundRect">
            <a:avLst>
              <a:gd name="adj" fmla="val 12903"/>
            </a:avLst>
          </a:prstGeom>
          <a:solidFill>
            <a:schemeClr val="bg1"/>
          </a:solidFill>
          <a:ln w="15875">
            <a:solidFill>
              <a:schemeClr val="accent2"/>
            </a:solidFill>
            <a:prstDash val="solid"/>
          </a:ln>
        </p:spPr>
        <p:txBody>
          <a:bodyPr/>
          <a:lstStyle/>
          <a:p>
            <a:endParaRPr lang="en-US"/>
          </a:p>
        </p:txBody>
      </p:sp>
      <p:sp>
        <p:nvSpPr>
          <p:cNvPr id="150" name="Callout circle"/>
          <p:cNvSpPr/>
          <p:nvPr/>
        </p:nvSpPr>
        <p:spPr>
          <a:xfrm>
            <a:off x="713232" y="5623560"/>
            <a:ext cx="384048" cy="384048"/>
          </a:xfrm>
          <a:prstGeom prst="ellipse">
            <a:avLst/>
          </a:prstGeom>
          <a:solidFill>
            <a:schemeClr val="accent2"/>
          </a:solidFill>
          <a:ln/>
        </p:spPr>
        <p:txBody>
          <a:bodyPr/>
          <a:lstStyle/>
          <a:p>
            <a:endParaRPr lang="en-US"/>
          </a:p>
        </p:txBody>
      </p:sp>
      <p:pic>
        <p:nvPicPr>
          <p:cNvPr id="151" name="Timing" descr="Timing"/>
          <p:cNvPicPr>
            <a:picLocks noChangeAspect="1"/>
          </p:cNvPicPr>
          <p:nvPr/>
        </p:nvPicPr>
        <p:blipFill>
          <a:blip r:embed="rId22"/>
          <a:stretch>
            <a:fillRect/>
          </a:stretch>
        </p:blipFill>
        <p:spPr>
          <a:xfrm>
            <a:off x="797722" y="5708050"/>
            <a:ext cx="215067" cy="215067"/>
          </a:xfrm>
          <a:prstGeom prst="rect">
            <a:avLst/>
          </a:prstGeom>
        </p:spPr>
      </p:pic>
      <p:sp>
        <p:nvSpPr>
          <p:cNvPr id="152" name="Callout text"/>
          <p:cNvSpPr txBox="1"/>
          <p:nvPr/>
        </p:nvSpPr>
        <p:spPr>
          <a:xfrm>
            <a:off x="1234440" y="5541264"/>
            <a:ext cx="10222992" cy="548640"/>
          </a:xfrm>
          <a:prstGeom prst="rect">
            <a:avLst/>
          </a:prstGeom>
          <a:noFill/>
          <a:ln/>
        </p:spPr>
        <p:txBody>
          <a:bodyPr wrap="square" lIns="0" tIns="0" rIns="0" bIns="0" rtlCol="0" anchor="ctr"/>
          <a:lstStyle/>
          <a:p>
            <a:pPr marL="0" indent="0" algn="l">
              <a:buNone/>
            </a:pPr>
            <a:r>
              <a:rPr lang="en-US" sz="1300" b="1" dirty="0">
                <a:solidFill>
                  <a:schemeClr val="tx1"/>
                </a:solidFill>
              </a:rPr>
              <a:t xml:space="preserve">Migration order determines when a folder can be addressed. </a:t>
            </a:r>
            <a:r>
              <a:rPr lang="en-US" sz="1300" dirty="0">
                <a:solidFill>
                  <a:schemeClr val="tx1"/>
                </a:solidFill>
              </a:rPr>
              <a:t>It does not determine the folder's final target-state category.</a:t>
            </a:r>
            <a:endParaRPr lang="en-US" sz="1300" dirty="0"/>
          </a:p>
        </p:txBody>
      </p:sp>
      <p:sp>
        <p:nvSpPr>
          <p:cNvPr id="153" name="Slide Number Placeholder 0"/>
          <p:cNvSpPr>
            <a:spLocks noGrp="1"/>
          </p:cNvSpPr>
          <p:nvPr>
            <p:ph type="sldNum" sz="quarter" idx="4294967295"/>
          </p:nvPr>
        </p:nvSpPr>
        <p:spPr>
          <a:xfrm>
            <a:off x="11091672" y="6419088"/>
            <a:ext cx="548640" cy="256032"/>
          </a:xfrm>
          <a:prstGeom prst="rect">
            <a:avLst/>
          </a:prstGeom>
        </p:spPr>
        <p:txBody>
          <a:bodyPr lIns="0" tIns="0" rIns="0" bIns="0"/>
          <a:lstStyle>
            <a:lvl1pPr>
              <a:defRPr sz="1000">
                <a:solidFill>
                  <a:schemeClr val="tx2"/>
                </a:solidFill>
              </a:defRPr>
            </a:lvl1pPr>
          </a:lstStyle>
          <a:p>
            <a:pPr algn="r"/>
            <a:fld id="{F7021451-1387-4CA6-816F-3879F97B5CBC}" type="slidenum">
              <a:rPr lang="en-US" b="0"/>
              <a:t>12</a:t>
            </a:fld>
            <a:endParaRPr lang="en-US"/>
          </a:p>
        </p:txBody>
      </p:sp>
      <p:sp>
        <p:nvSpPr>
          <p:cNvPr id="154" name="Section tag"/>
          <p:cNvSpPr txBox="1"/>
          <p:nvPr/>
        </p:nvSpPr>
        <p:spPr>
          <a:xfrm>
            <a:off x="548640" y="274320"/>
            <a:ext cx="3625596"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000" b="1" kern="0" spc="150" dirty="0">
                <a:solidFill>
                  <a:schemeClr val="bg1"/>
                </a:solidFill>
              </a:rPr>
              <a:t>PILLAR 2 · DATA PLANE LIFECYCLE MANAGEMENT</a:t>
            </a:r>
            <a:endParaRPr lang="en-US" sz="1000" dirty="0"/>
          </a:p>
        </p:txBody>
      </p:sp>
    </p:spTree>
  </p:cSld>
  <p:clrMapOvr>
    <a:masterClrMapping/>
  </p:clrMapOvr>
</p:sld>
</file>

<file path=ppt/theme/theme1.xml><?xml version="1.0" encoding="utf-8"?>
<a:theme xmlns:a="http://schemas.openxmlformats.org/drawingml/2006/main" name="Risk Data Sourcing">
  <a:themeElements>
    <a:clrScheme name="Risk Data Sourcing">
      <a:dk1>
        <a:srgbClr val="1B2631"/>
      </a:dk1>
      <a:lt1>
        <a:srgbClr val="FFFFFF"/>
      </a:lt1>
      <a:dk2>
        <a:srgbClr val="5A6472"/>
      </a:dk2>
      <a:lt2>
        <a:srgbClr val="F4F6F8"/>
      </a:lt2>
      <a:accent1>
        <a:srgbClr val="1F6F5C"/>
      </a:accent1>
      <a:accent2>
        <a:srgbClr val="2F5D8A"/>
      </a:accent2>
      <a:accent3>
        <a:srgbClr val="A86A12"/>
      </a:accent3>
      <a:accent4>
        <a:srgbClr val="9A3B32"/>
      </a:accent4>
      <a:accent5>
        <a:srgbClr val="2B3F7E"/>
      </a:accent5>
      <a:accent6>
        <a:srgbClr val="5E6670"/>
      </a:accent6>
      <a:hlink>
        <a:srgbClr val="2F5D8A"/>
      </a:hlink>
      <a:folHlink>
        <a:srgbClr val="2B3F7E"/>
      </a:folHlink>
    </a:clrScheme>
    <a:fontScheme name="Risk Data Sourc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6031</Words>
  <Application>Microsoft Office PowerPoint</Application>
  <PresentationFormat>Widescreen</PresentationFormat>
  <Paragraphs>659</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Risk Data Sourcing</vt:lpstr>
      <vt:lpstr>Risk Data Sourcing Strategy</vt:lpstr>
      <vt:lpstr>Three Pillars Enable Trusted Risk Data for AI, Reporting &amp; Analytics</vt:lpstr>
      <vt:lpstr>Three Pillars on One Common Data Plane</vt:lpstr>
      <vt:lpstr>Data Readiness First: Enabling Trusted AI and Business Use Cases</vt:lpstr>
      <vt:lpstr>How Each Pillar Works Across the Five Phases</vt:lpstr>
      <vt:lpstr>Pillar 1: Enabling the Data Capabilities and Tools We Need</vt:lpstr>
      <vt:lpstr>Pillar 1: Assess Current Tooling and Define Future Capabilities</vt:lpstr>
      <vt:lpstr>Intake Tool: One Shared Capability Across Three Pillars</vt:lpstr>
      <vt:lpstr>Intake Tool: Workstream Status &amp; Key Milestones</vt:lpstr>
      <vt:lpstr>Pillar 2: Assess, Rationalize &amp; Manage the Data Plane</vt:lpstr>
      <vt:lpstr>Organizing Risk Data on the Plane: ORCAP First</vt:lpstr>
      <vt:lpstr>Data Plane Organization: Workstream Status &amp; Key Milestones</vt:lpstr>
      <vt:lpstr>Pillar 3: From Business Demand to Strategic Data Sourcing</vt:lpstr>
      <vt:lpstr>Define the Business Need, Not Just the Data Elements</vt:lpstr>
      <vt:lpstr>How Pillars 2 and 3 Connect: Aligning Demand to Strategic Sources</vt:lpstr>
      <vt:lpstr>Workstreams: Coordinating New Demand &amp; Existing Sourcing</vt:lpstr>
      <vt:lpstr>ORM AI: Workstream Status &amp; Key Milestones</vt:lpstr>
      <vt:lpstr>Standardized Workstream Tracking - ORM AI Example</vt:lpstr>
      <vt:lpstr>DPC Migration Underpins All Three Pillars</vt:lpstr>
      <vt:lpstr>PowerPoint Presentation</vt:lpstr>
      <vt:lpstr>Next Steps</vt:lpstr>
      <vt:lpstr>Appendix</vt:lpstr>
      <vt:lpstr>eGRC: Learn the Priorities Before We Source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Sourcing Strategy</dc:title>
  <dc:subject>Three pillars, the order of work, and how we track it</dc:subject>
  <dc:creator>Jake and Vic</dc:creator>
  <cp:lastModifiedBy>Victor Sanchez</cp:lastModifiedBy>
  <cp:revision>1</cp:revision>
  <dcterms:created xsi:type="dcterms:W3CDTF">2026-10-15T22:14:50Z</dcterms:created>
  <dcterms:modified xsi:type="dcterms:W3CDTF">2026-10-16T02:50:11Z</dcterms:modified>
</cp:coreProperties>
</file>